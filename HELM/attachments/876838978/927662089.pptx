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  <p:sldMasterId id="2147483668" r:id="rId2"/>
    <p:sldMasterId id="2147483676" r:id="rId3"/>
    <p:sldMasterId id="2147483685" r:id="rId4"/>
    <p:sldMasterId id="2147483696" r:id="rId5"/>
  </p:sldMasterIdLst>
  <p:notesMasterIdLst>
    <p:notesMasterId r:id="rId31"/>
  </p:notesMasterIdLst>
  <p:handoutMasterIdLst>
    <p:handoutMasterId r:id="rId32"/>
  </p:handoutMasterIdLst>
  <p:sldIdLst>
    <p:sldId id="283" r:id="rId6"/>
    <p:sldId id="284" r:id="rId7"/>
    <p:sldId id="395" r:id="rId8"/>
    <p:sldId id="411" r:id="rId9"/>
    <p:sldId id="419" r:id="rId10"/>
    <p:sldId id="425" r:id="rId11"/>
    <p:sldId id="412" r:id="rId12"/>
    <p:sldId id="414" r:id="rId13"/>
    <p:sldId id="415" r:id="rId14"/>
    <p:sldId id="426" r:id="rId15"/>
    <p:sldId id="423" r:id="rId16"/>
    <p:sldId id="421" r:id="rId17"/>
    <p:sldId id="424" r:id="rId18"/>
    <p:sldId id="416" r:id="rId19"/>
    <p:sldId id="417" r:id="rId20"/>
    <p:sldId id="422" r:id="rId21"/>
    <p:sldId id="418" r:id="rId22"/>
    <p:sldId id="420" r:id="rId23"/>
    <p:sldId id="427" r:id="rId24"/>
    <p:sldId id="403" r:id="rId25"/>
    <p:sldId id="310" r:id="rId26"/>
    <p:sldId id="410" r:id="rId27"/>
    <p:sldId id="394" r:id="rId28"/>
    <p:sldId id="396" r:id="rId29"/>
    <p:sldId id="39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826E"/>
    <a:srgbClr val="1A1C1E"/>
    <a:srgbClr val="FFFFFF"/>
    <a:srgbClr val="228B96"/>
    <a:srgbClr val="4C5156"/>
    <a:srgbClr val="249797"/>
    <a:srgbClr val="259958"/>
    <a:srgbClr val="818991"/>
    <a:srgbClr val="66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62" autoAdjust="0"/>
    <p:restoredTop sz="95468" autoAdjust="0"/>
  </p:normalViewPr>
  <p:slideViewPr>
    <p:cSldViewPr snapToObjects="1" showGuides="1">
      <p:cViewPr varScale="1">
        <p:scale>
          <a:sx n="103" d="100"/>
          <a:sy n="103" d="100"/>
        </p:scale>
        <p:origin x="66" y="123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698"/>
    </p:cViewPr>
  </p:sorterViewPr>
  <p:notesViewPr>
    <p:cSldViewPr snapToObjects="1">
      <p:cViewPr varScale="1">
        <p:scale>
          <a:sx n="118" d="100"/>
          <a:sy n="118" d="100"/>
        </p:scale>
        <p:origin x="-2080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34000" y="228600"/>
            <a:ext cx="1306068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C2EC1-B70D-4CB4-BC58-2E1D99067EF3}" type="datetime3">
              <a:rPr lang="en-US" smtClean="0">
                <a:latin typeface="Open Sans Light"/>
              </a:rPr>
              <a:t>28 September 2018</a:t>
            </a:fld>
            <a:endParaRPr lang="en-US">
              <a:latin typeface="Open Sans Light"/>
              <a:cs typeface="Open Sans Ligh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28600" y="8451279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34000" y="8461947"/>
            <a:ext cx="838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DAA28-FB28-3D4F-ABDC-2F79D633598F}" type="slidenum">
              <a:rPr lang="en-US" smtClean="0">
                <a:latin typeface="Open Sans Light"/>
                <a:cs typeface="Open Sans Light"/>
              </a:rPr>
              <a:pPr/>
              <a:t>‹#›</a:t>
            </a:fld>
            <a:endParaRPr lang="en-US">
              <a:latin typeface="Open Sans Light"/>
              <a:cs typeface="Open Sans Light"/>
            </a:endParaRPr>
          </a:p>
        </p:txBody>
      </p:sp>
      <p:pic>
        <p:nvPicPr>
          <p:cNvPr id="6" name="Picture 5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0759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286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4C1CEAC1-DD32-42DA-A5A2-1FFBC5A2CB4B}" type="datetime3">
              <a:rPr lang="en-US" smtClean="0"/>
              <a:t>28 September 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8600" y="4343400"/>
            <a:ext cx="641146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28600" y="8461947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51279"/>
            <a:ext cx="2287587" cy="4678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9719C4BD-C343-8542-86CF-082388D36B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209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uFillTx/>
              </a:rPr>
              <a:t>Opening title </a:t>
            </a:r>
            <a:r>
              <a:rPr lang="en-US" dirty="0">
                <a:uFillTx/>
              </a:rPr>
              <a:t>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9C4BD-C343-8542-86CF-082388D36B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9BA951-405A-CF43-8A34-B810397C321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September 2018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0935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uFillTx/>
              </a:rPr>
              <a:t>Opening title </a:t>
            </a:r>
            <a:r>
              <a:rPr lang="en-US" dirty="0">
                <a:uFillTx/>
              </a:rPr>
              <a:t>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9C4BD-C343-8542-86CF-082388D36B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9BA951-405A-CF43-8A34-B810397C321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 September 2018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0787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9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4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122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87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39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13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81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993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9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7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56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57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768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81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167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338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67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021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82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6255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235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70028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0777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Master subtitle style</a:t>
            </a:r>
            <a:endParaRPr lang="en-US" dirty="0">
              <a:uFillTx/>
            </a:endParaRPr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uFillTx/>
              </a:defRPr>
            </a:lvl1pPr>
          </a:lstStyle>
          <a:p>
            <a:pPr lvl="0"/>
            <a:fld id="{7C324731-B2AA-714B-A8FD-B25E71C667AC}" type="datetime4">
              <a:rPr lang="en-US" smtClean="0">
                <a:uFillTx/>
              </a:rPr>
              <a:pPr lvl="0"/>
              <a:t>October 10, 2016</a:t>
            </a:fld>
            <a:endParaRPr lang="en-GB" dirty="0">
              <a:uFillTx/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presenter</a:t>
            </a:r>
            <a:endParaRPr lang="en-US" dirty="0">
              <a:uFillTx/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0"/>
            <a:ext cx="2514600" cy="15525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236275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744474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852352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528029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23318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505175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127112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webinar recording message</a:t>
            </a:r>
            <a:endParaRPr lang="en-US" dirty="0">
              <a:uFillTx/>
            </a:endParaRPr>
          </a:p>
        </p:txBody>
      </p:sp>
      <p:sp>
        <p:nvSpPr>
          <p:cNvPr id="6" name="Oval 5"/>
          <p:cNvSpPr>
            <a:spLocks/>
          </p:cNvSpPr>
          <p:nvPr userDrawn="1"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250408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51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uFillTx/>
              </a:defRPr>
            </a:lvl1pPr>
            <a:lvl2pPr>
              <a:buNone/>
              <a:defRPr>
                <a:uFillTx/>
              </a:defRPr>
            </a:lvl2pPr>
            <a:lvl3pPr>
              <a:buNone/>
              <a:defRPr>
                <a:uFillTx/>
              </a:defRPr>
            </a:lvl3pPr>
            <a:lvl4pPr>
              <a:buNone/>
              <a:defRPr>
                <a:uFillTx/>
              </a:defRPr>
            </a:lvl4pPr>
            <a:lvl5pPr>
              <a:buNone/>
              <a:defRPr>
                <a:uFillTx/>
              </a:defRPr>
            </a:lvl5pPr>
          </a:lstStyle>
          <a:p>
            <a:pPr lvl="0"/>
            <a:r>
              <a:rPr lang="en-GB" dirty="0" err="1">
                <a:uFillTx/>
              </a:rPr>
              <a:t>presenter@pistoiaalliance.org</a:t>
            </a:r>
            <a:endParaRPr lang="en-US" dirty="0">
              <a:uFillTx/>
            </a:endParaRP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uFillTx/>
              </a:defRPr>
            </a:lvl1pPr>
            <a:lvl2pPr>
              <a:buNone/>
              <a:defRPr>
                <a:uFillTx/>
              </a:defRPr>
            </a:lvl2pPr>
            <a:lvl3pPr>
              <a:buNone/>
              <a:defRPr>
                <a:uFillTx/>
              </a:defRPr>
            </a:lvl3pPr>
            <a:lvl4pPr>
              <a:buNone/>
              <a:defRPr>
                <a:uFillTx/>
              </a:defRPr>
            </a:lvl4pPr>
            <a:lvl5pPr>
              <a:buNone/>
              <a:defRPr>
                <a:uFillTx/>
              </a:defRPr>
            </a:lvl5pPr>
          </a:lstStyle>
          <a:p>
            <a:pPr lvl="0"/>
            <a:r>
              <a:rPr lang="en-GB" dirty="0">
                <a:uFillTx/>
              </a:rPr>
              <a:t>@</a:t>
            </a:r>
            <a:r>
              <a:rPr lang="en-GB" dirty="0" err="1">
                <a:uFillTx/>
              </a:rPr>
              <a:t>pistoiaalliance</a:t>
            </a:r>
            <a:endParaRPr lang="en-US" dirty="0">
              <a:uFillTx/>
            </a:endParaRPr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uFillTx/>
              </a:defRPr>
            </a:lvl1pPr>
            <a:lvl2pPr>
              <a:buNone/>
              <a:defRPr>
                <a:uFillTx/>
              </a:defRPr>
            </a:lvl2pPr>
            <a:lvl3pPr>
              <a:buNone/>
              <a:defRPr>
                <a:uFillTx/>
              </a:defRPr>
            </a:lvl3pPr>
            <a:lvl4pPr>
              <a:buNone/>
              <a:defRPr>
                <a:uFillTx/>
              </a:defRPr>
            </a:lvl4pPr>
            <a:lvl5pPr>
              <a:buNone/>
              <a:defRPr>
                <a:uFillTx/>
              </a:defRPr>
            </a:lvl5pPr>
          </a:lstStyle>
          <a:p>
            <a:pPr lvl="0"/>
            <a:r>
              <a:rPr lang="en-GB" dirty="0" err="1">
                <a:uFillTx/>
              </a:rPr>
              <a:t>www.pistoiaalliance.org</a:t>
            </a:r>
            <a:endParaRPr lang="en-US" dirty="0">
              <a:uFillTx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thank you message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0168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7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9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1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3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1856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uFillTx/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 lang="en-US">
          <a:uFillTx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0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HELM and monomers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11300" y="3239610"/>
            <a:ext cx="8001000" cy="461665"/>
          </a:xfrm>
        </p:spPr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uFillTx/>
              </a:rPr>
              <a:t>28</a:t>
            </a:r>
            <a:r>
              <a:rPr lang="en-US" baseline="30000" dirty="0">
                <a:solidFill>
                  <a:schemeClr val="tx1"/>
                </a:solidFill>
                <a:uFillTx/>
              </a:rPr>
              <a:t>th</a:t>
            </a:r>
            <a:r>
              <a:rPr lang="en-US" dirty="0">
                <a:solidFill>
                  <a:schemeClr val="tx1"/>
                </a:solidFill>
                <a:uFillTx/>
              </a:rPr>
              <a:t> September 2018</a:t>
            </a:r>
            <a:endParaRPr lang="en-US" dirty="0">
              <a:uFillTx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85800" y="4800600"/>
            <a:ext cx="8001000" cy="701731"/>
          </a:xfrm>
        </p:spPr>
        <p:txBody>
          <a:bodyPr/>
          <a:lstStyle/>
          <a:p>
            <a:r>
              <a:rPr lang="en-US" dirty="0">
                <a:uFillTx/>
              </a:rPr>
              <a:t>HELM Manager: Claire Bellamy</a:t>
            </a:r>
          </a:p>
          <a:p>
            <a:r>
              <a:rPr lang="en-US" dirty="0">
                <a:uFillTx/>
              </a:rPr>
              <a:t>HELM Domain Lead: Sergio </a:t>
            </a:r>
            <a:r>
              <a:rPr lang="en-US" dirty="0" err="1">
                <a:uFillTx/>
              </a:rPr>
              <a:t>Rotstein</a:t>
            </a:r>
            <a:endParaRPr lang="en-US" dirty="0">
              <a:uFillTx/>
            </a:endParaRPr>
          </a:p>
        </p:txBody>
      </p:sp>
      <p:pic>
        <p:nvPicPr>
          <p:cNvPr id="12" name="FB1F45B8-119D-43F7-BC41-9AB4E47E34F3" descr="CB0BB25A-6207-4835-9E6F-B6B2462FAE90@gatewa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520" y="222770"/>
            <a:ext cx="2448272" cy="11488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6574038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This Webinar is being recorded</a:t>
            </a:r>
          </a:p>
        </p:txBody>
      </p:sp>
      <p:pic>
        <p:nvPicPr>
          <p:cNvPr id="5" name="FB1F45B8-119D-43F7-BC41-9AB4E47E34F3" descr="CB0BB25A-6207-4835-9E6F-B6B2462FAE90@gatewa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520" y="222770"/>
            <a:ext cx="2448272" cy="11488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547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Monomer Guidelines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700808"/>
            <a:ext cx="7213352" cy="3811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Agenda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000" dirty="0"/>
              <a:t>Scope</a:t>
            </a:r>
          </a:p>
          <a:p>
            <a:r>
              <a:rPr lang="en-GB" sz="2000" dirty="0"/>
              <a:t>Questions</a:t>
            </a:r>
          </a:p>
          <a:p>
            <a:pPr lvl="1"/>
            <a:r>
              <a:rPr lang="en-GB" sz="1600" dirty="0"/>
              <a:t>Canonicalization</a:t>
            </a:r>
          </a:p>
          <a:p>
            <a:pPr lvl="1"/>
            <a:r>
              <a:rPr lang="en-GB" sz="1600" dirty="0"/>
              <a:t>Variants</a:t>
            </a:r>
          </a:p>
          <a:p>
            <a:pPr lvl="1"/>
            <a:r>
              <a:rPr lang="en-GB" sz="1600" dirty="0"/>
              <a:t>R groups</a:t>
            </a:r>
          </a:p>
          <a:p>
            <a:r>
              <a:rPr lang="en-GB" sz="2000" dirty="0"/>
              <a:t>Next steps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6178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88" y="1268760"/>
            <a:ext cx="7861424" cy="52303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Agree and publish a set of good practice guidelines for HELM Monomer Sets </a:t>
            </a:r>
            <a:endParaRPr lang="en-GB" sz="1800" dirty="0"/>
          </a:p>
          <a:p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Aim</a:t>
            </a:r>
          </a:p>
          <a:p>
            <a:r>
              <a:rPr lang="en-US" sz="1800" dirty="0"/>
              <a:t>To provide a framework for organizations to use when creating their own monomer sets. </a:t>
            </a:r>
          </a:p>
          <a:p>
            <a:r>
              <a:rPr lang="en-US" sz="1800" dirty="0"/>
              <a:t>To create rules to be used by monomers in any future public monomer set. 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Risks</a:t>
            </a:r>
            <a:r>
              <a:rPr lang="en-GB" sz="1800" dirty="0"/>
              <a:t> </a:t>
            </a:r>
          </a:p>
          <a:p>
            <a:pPr marL="0" indent="0">
              <a:buNone/>
            </a:pPr>
            <a:r>
              <a:rPr lang="en-GB" sz="1800" dirty="0"/>
              <a:t>This is an area where is will be easy to disagree and spend a lot of time discussing options and not making a decision. </a:t>
            </a:r>
          </a:p>
          <a:p>
            <a:r>
              <a:rPr lang="en-GB" sz="1600" dirty="0"/>
              <a:t>Please give timely feedback.</a:t>
            </a:r>
          </a:p>
          <a:p>
            <a:r>
              <a:rPr lang="en-GB" sz="1600" dirty="0"/>
              <a:t>All offers to prepare proposals are very welcome. </a:t>
            </a:r>
          </a:p>
          <a:p>
            <a:r>
              <a:rPr lang="en-GB" sz="1600" dirty="0"/>
              <a:t>We may not be able to come to a unanimous conclusion on every issue, but will need to move forward with a core set of recommendations.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2331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What is a monomer?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432" y="1103188"/>
            <a:ext cx="7747136" cy="5452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This is too big a question to tackle as a whole.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 want to explore what issues that will affect our decisions – what do we need a monomers to do, and what is possible while ensuring the set can be constructed in a practical way.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Many of the decisions will require trade-offs. We need to weigh the consequences and decide which are worth living with.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US" sz="1800" dirty="0"/>
              <a:t>Naming will be the last topic. We need to decide what we want in the monomer set, before we try to name them.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US" sz="1800" dirty="0"/>
              <a:t>We may loop back during discussions if later considerations change our mind on earlier proposals. We will try to avoid this as far as possible, but it may happen.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We need as much input as possible, particularly from your experiences actually using or creating your own monomer sets.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8968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E151-D1BD-4DF3-A6F4-9CADF0CDB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Canonicalization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E73CA-4524-46CC-8A6D-FDCC7E72FD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8AE17-526F-4D56-871D-01A54DD71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59FBF1-84C4-4991-B407-28AB27DA5B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3363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Canonicalization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208912" cy="4752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/>
              <a:t>For HELM to be </a:t>
            </a:r>
            <a:r>
              <a:rPr lang="en-GB" sz="1600" dirty="0" err="1"/>
              <a:t>canonicalizable</a:t>
            </a:r>
            <a:r>
              <a:rPr lang="en-GB" sz="1600" dirty="0"/>
              <a:t> all monomers must be orthogonal. </a:t>
            </a:r>
          </a:p>
          <a:p>
            <a:pPr marL="0" indent="0">
              <a:buNone/>
            </a:pPr>
            <a:r>
              <a:rPr lang="en-GB" sz="1600" dirty="0"/>
              <a:t>i.e. it must not be possible to create a monomer from 2 other monomers in the set </a:t>
            </a:r>
            <a:endParaRPr lang="en-GB" sz="1400" dirty="0"/>
          </a:p>
          <a:p>
            <a:pPr marL="0" indent="0">
              <a:buNone/>
            </a:pPr>
            <a:r>
              <a:rPr lang="en-GB" sz="1600" dirty="0"/>
              <a:t>Issues: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The current set includes </a:t>
            </a:r>
            <a:r>
              <a:rPr lang="en-GB" sz="1600" dirty="0" err="1"/>
              <a:t>glutaminc</a:t>
            </a:r>
            <a:r>
              <a:rPr lang="en-GB" sz="1600" dirty="0"/>
              <a:t> acid, glutamine and an amino capping group…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There are also complex monomers containing a lot of functionality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7BBFC-2F7D-49CF-9EAE-2F916AF16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617" y="5663122"/>
            <a:ext cx="5730737" cy="908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A038AC-4FB7-40E4-A88C-7F8F624618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112" t="65494" r="2094" b="2695"/>
          <a:stretch/>
        </p:blipFill>
        <p:spPr>
          <a:xfrm>
            <a:off x="1251961" y="3171018"/>
            <a:ext cx="1728192" cy="1088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C0281E-5A45-41A9-B48C-CEFC8E09A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532" y="3471460"/>
            <a:ext cx="914479" cy="4755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E3F50F-3369-4D17-B6DA-ABCE24FCA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810" y="3078252"/>
            <a:ext cx="1800200" cy="116530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B7BDBC3-D1D0-4D83-A242-1754AFDD9FDF}"/>
              </a:ext>
            </a:extLst>
          </p:cNvPr>
          <p:cNvSpPr/>
          <p:nvPr/>
        </p:nvSpPr>
        <p:spPr>
          <a:xfrm>
            <a:off x="1691681" y="4232404"/>
            <a:ext cx="59766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E					am						Q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2F9412-5BC3-4F53-8EAE-FEFDF5DAE8AE}"/>
              </a:ext>
            </a:extLst>
          </p:cNvPr>
          <p:cNvCxnSpPr>
            <a:cxnSpLocks/>
          </p:cNvCxnSpPr>
          <p:nvPr/>
        </p:nvCxnSpPr>
        <p:spPr>
          <a:xfrm>
            <a:off x="4780353" y="3668692"/>
            <a:ext cx="86409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59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D3FE321-08B9-4E35-B97F-0F89B9146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2060848"/>
            <a:ext cx="1942517" cy="199847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9D5C909-E232-47A2-AD05-28B182358A4E}"/>
              </a:ext>
            </a:extLst>
          </p:cNvPr>
          <p:cNvSpPr/>
          <p:nvPr/>
        </p:nvSpPr>
        <p:spPr>
          <a:xfrm rot="20749719">
            <a:off x="3409049" y="2991130"/>
            <a:ext cx="1534772" cy="1074142"/>
          </a:xfrm>
          <a:prstGeom prst="ellipse">
            <a:avLst/>
          </a:prstGeom>
          <a:solidFill>
            <a:srgbClr val="E5826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Canonicalization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208912" cy="51074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/>
              <a:t>And there are monomers that are obviously contain at least one other monomer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	PMA adenine (</a:t>
            </a:r>
            <a:r>
              <a:rPr lang="en-GB" sz="1600" dirty="0" err="1"/>
              <a:t>pnA</a:t>
            </a:r>
            <a:r>
              <a:rPr lang="en-GB" sz="1600" dirty="0"/>
              <a:t>)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“Monomers” like this are in the set because they can be bought as building blocks and the scientists want to reflect their practice in the notation.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If you take a very theoretical view - are all alpha amino acids a variation on glycine? 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28FD8D8-7F2F-4EB5-9F62-738529162086}"/>
              </a:ext>
            </a:extLst>
          </p:cNvPr>
          <p:cNvSpPr/>
          <p:nvPr/>
        </p:nvSpPr>
        <p:spPr>
          <a:xfrm rot="417289">
            <a:off x="4392672" y="2105038"/>
            <a:ext cx="870859" cy="659031"/>
          </a:xfrm>
          <a:prstGeom prst="ellipse">
            <a:avLst/>
          </a:prstGeom>
          <a:solidFill>
            <a:schemeClr val="tx2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53C120-3103-44F2-B2B0-24D4D6025DA8}"/>
              </a:ext>
            </a:extLst>
          </p:cNvPr>
          <p:cNvSpPr/>
          <p:nvPr/>
        </p:nvSpPr>
        <p:spPr>
          <a:xfrm rot="19197948">
            <a:off x="4041279" y="2535924"/>
            <a:ext cx="773923" cy="659031"/>
          </a:xfrm>
          <a:prstGeom prst="ellipse">
            <a:avLst/>
          </a:prstGeom>
          <a:solidFill>
            <a:schemeClr val="accent2">
              <a:lumMod val="50000"/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28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340768"/>
            <a:ext cx="8208912" cy="3096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What does HELM do best? It provides:</a:t>
            </a:r>
          </a:p>
          <a:p>
            <a:r>
              <a:rPr lang="en-GB" sz="1800" dirty="0"/>
              <a:t>A monomer level view for polymers.</a:t>
            </a:r>
          </a:p>
          <a:p>
            <a:r>
              <a:rPr lang="en-GB" sz="1800" dirty="0"/>
              <a:t>The ability to search by monomer motifs.</a:t>
            </a:r>
          </a:p>
          <a:p>
            <a:pPr marL="0" indent="0">
              <a:spcBef>
                <a:spcPts val="600"/>
              </a:spcBef>
              <a:buNone/>
            </a:pPr>
            <a:endParaRPr lang="en-GB" sz="1800" dirty="0"/>
          </a:p>
          <a:p>
            <a:pPr marL="0" indent="0">
              <a:spcBef>
                <a:spcPts val="600"/>
              </a:spcBef>
              <a:buNone/>
            </a:pPr>
            <a:r>
              <a:rPr lang="en-GB" sz="1800" dirty="0"/>
              <a:t>Compound registration could be handled by converting into small molecule format e.g. InChI and performing uniqueness checks on that. </a:t>
            </a:r>
          </a:p>
          <a:p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Canonicalization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A3C99D-E1C8-4E6F-9173-460C3AFC0AA0}"/>
              </a:ext>
            </a:extLst>
          </p:cNvPr>
          <p:cNvSpPr/>
          <p:nvPr/>
        </p:nvSpPr>
        <p:spPr>
          <a:xfrm>
            <a:off x="1597546" y="4188328"/>
            <a:ext cx="1440160" cy="491862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244210-B44A-4FB9-974D-4C351E36A1E8}"/>
              </a:ext>
            </a:extLst>
          </p:cNvPr>
          <p:cNvSpPr/>
          <p:nvPr/>
        </p:nvSpPr>
        <p:spPr>
          <a:xfrm>
            <a:off x="5125938" y="4188328"/>
            <a:ext cx="2232248" cy="491862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InChI, Mol, SMILES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138FD48-BD4E-4488-95F3-E5B9E720EF93}"/>
              </a:ext>
            </a:extLst>
          </p:cNvPr>
          <p:cNvSpPr/>
          <p:nvPr/>
        </p:nvSpPr>
        <p:spPr>
          <a:xfrm>
            <a:off x="3685778" y="4326247"/>
            <a:ext cx="1008112" cy="216024"/>
          </a:xfrm>
          <a:prstGeom prst="rightArrow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6605439-0377-4BE4-B96C-3CD5C5981946}"/>
              </a:ext>
            </a:extLst>
          </p:cNvPr>
          <p:cNvSpPr/>
          <p:nvPr/>
        </p:nvSpPr>
        <p:spPr>
          <a:xfrm rot="16200000">
            <a:off x="2101602" y="4443178"/>
            <a:ext cx="432048" cy="1440160"/>
          </a:xfrm>
          <a:prstGeom prst="leftBrace">
            <a:avLst>
              <a:gd name="adj1" fmla="val 22047"/>
              <a:gd name="adj2" fmla="val 50000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D168B936-067D-40A5-9EE5-9A79AB2544BB}"/>
              </a:ext>
            </a:extLst>
          </p:cNvPr>
          <p:cNvSpPr/>
          <p:nvPr/>
        </p:nvSpPr>
        <p:spPr>
          <a:xfrm rot="16200000">
            <a:off x="6026038" y="4047135"/>
            <a:ext cx="432048" cy="2232248"/>
          </a:xfrm>
          <a:prstGeom prst="leftBrace">
            <a:avLst>
              <a:gd name="adj1" fmla="val 17638"/>
              <a:gd name="adj2" fmla="val 50000"/>
            </a:avLst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AE1B01-FB5B-4854-A661-A73D52257B2B}"/>
              </a:ext>
            </a:extLst>
          </p:cNvPr>
          <p:cNvSpPr/>
          <p:nvPr/>
        </p:nvSpPr>
        <p:spPr>
          <a:xfrm>
            <a:off x="902945" y="5521390"/>
            <a:ext cx="30031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/>
              <a:t>Monomer view</a:t>
            </a:r>
          </a:p>
          <a:p>
            <a:pPr algn="ctr"/>
            <a:r>
              <a:rPr lang="en-GB" dirty="0"/>
              <a:t>Searching by monomer motifs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27D525-55CA-4159-8268-5EA32423CED1}"/>
              </a:ext>
            </a:extLst>
          </p:cNvPr>
          <p:cNvSpPr/>
          <p:nvPr/>
        </p:nvSpPr>
        <p:spPr>
          <a:xfrm>
            <a:off x="4787872" y="5525548"/>
            <a:ext cx="312008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/>
              <a:t>Atom/bond view</a:t>
            </a:r>
          </a:p>
          <a:p>
            <a:pPr algn="ctr"/>
            <a:r>
              <a:rPr lang="en-GB" dirty="0"/>
              <a:t>Searching by chemical moieties</a:t>
            </a:r>
          </a:p>
          <a:p>
            <a:pPr algn="ctr"/>
            <a:r>
              <a:rPr lang="en-GB" dirty="0"/>
              <a:t>Uniqueness checking</a:t>
            </a:r>
          </a:p>
        </p:txBody>
      </p:sp>
    </p:spTree>
    <p:extLst>
      <p:ext uri="{BB962C8B-B14F-4D97-AF65-F5344CB8AC3E}">
        <p14:creationId xmlns:p14="http://schemas.microsoft.com/office/powerpoint/2010/main" val="3483387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827" y="1412776"/>
            <a:ext cx="8208912" cy="58076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i="1" dirty="0">
                <a:solidFill>
                  <a:schemeClr val="tx2"/>
                </a:solidFill>
              </a:rPr>
              <a:t>QUESTION 1: </a:t>
            </a:r>
            <a:r>
              <a:rPr lang="en-GB" sz="1800" i="1" dirty="0">
                <a:solidFill>
                  <a:schemeClr val="tx2"/>
                </a:solidFill>
              </a:rPr>
              <a:t>must monomers be entirely independent of each other, so you can canonicalize HELM directly or should we rely on conversion to a small molecule representation for canonicalization?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>
                <a:solidFill>
                  <a:schemeClr val="tx2"/>
                </a:solidFill>
              </a:rPr>
              <a:t>Consider</a:t>
            </a:r>
          </a:p>
          <a:p>
            <a:pPr marL="0" indent="0">
              <a:buNone/>
            </a:pPr>
            <a:r>
              <a:rPr lang="en-GB" sz="1600" dirty="0"/>
              <a:t>What are the disadvantages of not being able to canonicalize HELM directly?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>
                <a:solidFill>
                  <a:schemeClr val="tx2"/>
                </a:solidFill>
              </a:rPr>
              <a:t>Issues</a:t>
            </a:r>
          </a:p>
          <a:p>
            <a:pPr marL="0" indent="0">
              <a:buNone/>
            </a:pPr>
            <a:r>
              <a:rPr lang="en-GB" sz="1600" dirty="0"/>
              <a:t>If there is no clear definition of a monomer, how can you fragment an existing large molecule? </a:t>
            </a:r>
          </a:p>
          <a:p>
            <a:pPr marL="0" indent="0">
              <a:buNone/>
            </a:pPr>
            <a:r>
              <a:rPr lang="en-GB" sz="1600" dirty="0"/>
              <a:t>If molecules are not orthogonal then how do you decide what is and isn’t a monomer? Are any of the following acceptable? (we may have to come back to this later)</a:t>
            </a:r>
          </a:p>
          <a:p>
            <a:r>
              <a:rPr lang="en-US" sz="1600" dirty="0"/>
              <a:t>Starting materials of the synthetic route taken to the final product. (this has some problems with multi-step syntheses)?</a:t>
            </a:r>
          </a:p>
          <a:p>
            <a:r>
              <a:rPr lang="en-US" sz="1600" dirty="0"/>
              <a:t>Common monomers available for purchase?</a:t>
            </a:r>
          </a:p>
          <a:p>
            <a:pPr marL="0" indent="0">
              <a:buNone/>
            </a:pPr>
            <a:endParaRPr lang="en-GB" sz="1600" dirty="0"/>
          </a:p>
          <a:p>
            <a:endParaRPr lang="en-GB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Canonicalization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7469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1927-5A32-4F5F-B65B-D9ABD7F5D4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Exploding monomer sets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7FAE3-62CC-4FC5-9AF5-D48501D8E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1A6A-6AB3-4814-9EF5-8448AC698D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8362678-4BCE-409D-B547-FBB575B7D1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343678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208912" cy="510748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600" dirty="0"/>
          </a:p>
          <a:p>
            <a:endParaRPr lang="en-GB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Exploding monomer sets?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A938C-A50D-4200-A12F-E9DF467EA2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6" b="1164"/>
          <a:stretch/>
        </p:blipFill>
        <p:spPr>
          <a:xfrm>
            <a:off x="1122949" y="1268761"/>
            <a:ext cx="7265475" cy="545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74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Variations on amino acids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611560" y="1268760"/>
            <a:ext cx="793343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There are many monomers that are a minor variation on the naturally occurring set. </a:t>
            </a:r>
            <a:endParaRPr lang="en-US" sz="2000" dirty="0"/>
          </a:p>
          <a:p>
            <a:endParaRPr lang="en-GB" sz="2000" dirty="0">
              <a:solidFill>
                <a:schemeClr val="tx2"/>
              </a:solidFill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</a:rPr>
              <a:t>L amino acids </a:t>
            </a:r>
            <a:endParaRPr lang="en-GB" sz="2000" dirty="0">
              <a:latin typeface="Arial" panose="020B060402020202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6E71"/>
                </a:solidFill>
                <a:latin typeface="Calibri" panose="020F0502020204030204" pitchFamily="34" charset="0"/>
              </a:rPr>
              <a:t>Stereoisomers – D, DL </a:t>
            </a:r>
            <a:endParaRPr lang="en-GB" sz="2000" dirty="0">
              <a:latin typeface="Arial" panose="020B060402020202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6E71"/>
                </a:solidFill>
                <a:latin typeface="Calibri" panose="020F0502020204030204" pitchFamily="34" charset="0"/>
              </a:rPr>
              <a:t>Beta, homo, iso forms</a:t>
            </a:r>
          </a:p>
          <a:p>
            <a:pPr fontAlgn="t"/>
            <a:endParaRPr lang="en-US" sz="2000" dirty="0">
              <a:solidFill>
                <a:srgbClr val="666E71"/>
              </a:solidFill>
              <a:latin typeface="Calibri" panose="020F0502020204030204" pitchFamily="34" charset="0"/>
            </a:endParaRPr>
          </a:p>
          <a:p>
            <a:pPr fontAlgn="t"/>
            <a:endParaRPr lang="en-US" sz="2000" dirty="0">
              <a:solidFill>
                <a:srgbClr val="666E71"/>
              </a:solidFill>
              <a:latin typeface="Calibri" panose="020F050202020403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6E71"/>
                </a:solidFill>
                <a:latin typeface="Calibri" panose="020F0502020204030204" pitchFamily="34" charset="0"/>
              </a:rPr>
              <a:t>N substitutions – Me, Et, </a:t>
            </a:r>
            <a:r>
              <a:rPr lang="en-US" sz="2000" dirty="0" err="1">
                <a:solidFill>
                  <a:srgbClr val="666E71"/>
                </a:solidFill>
                <a:latin typeface="Calibri" panose="020F0502020204030204" pitchFamily="34" charset="0"/>
              </a:rPr>
              <a:t>Pr</a:t>
            </a:r>
            <a:r>
              <a:rPr lang="en-US" sz="2000" dirty="0">
                <a:solidFill>
                  <a:srgbClr val="666E71"/>
                </a:solidFill>
                <a:latin typeface="Calibri" panose="020F0502020204030204" pitchFamily="34" charset="0"/>
              </a:rPr>
              <a:t>, Bu, </a:t>
            </a:r>
            <a:r>
              <a:rPr lang="en-US" sz="2000" dirty="0" err="1">
                <a:solidFill>
                  <a:srgbClr val="666E71"/>
                </a:solidFill>
                <a:latin typeface="Calibri" panose="020F0502020204030204" pitchFamily="34" charset="0"/>
              </a:rPr>
              <a:t>tBu</a:t>
            </a:r>
            <a:r>
              <a:rPr lang="en-US" sz="2000" dirty="0">
                <a:solidFill>
                  <a:srgbClr val="666E71"/>
                </a:solidFill>
                <a:latin typeface="Calibri" panose="020F0502020204030204" pitchFamily="34" charset="0"/>
              </a:rPr>
              <a:t>, Ac, </a:t>
            </a:r>
            <a:endParaRPr lang="en-GB" sz="2000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6E71"/>
                </a:solidFill>
                <a:latin typeface="Calibri" panose="020F0502020204030204" pitchFamily="34" charset="0"/>
              </a:rPr>
              <a:t>N and C terminal substitutions – all, or if not all, which ones?</a:t>
            </a:r>
            <a:r>
              <a:rPr lang="en-GB" sz="2000" dirty="0">
                <a:solidFill>
                  <a:srgbClr val="666E71"/>
                </a:solidFill>
                <a:latin typeface="Arial" panose="020B0604020202020204" pitchFamily="34" charset="0"/>
              </a:rPr>
              <a:t> </a:t>
            </a:r>
            <a:r>
              <a:rPr lang="en-GB" sz="2000" dirty="0" err="1">
                <a:solidFill>
                  <a:srgbClr val="666E71"/>
                </a:solidFill>
              </a:rPr>
              <a:t>Boc</a:t>
            </a:r>
            <a:r>
              <a:rPr lang="en-GB" sz="2000" dirty="0">
                <a:solidFill>
                  <a:srgbClr val="666E71"/>
                </a:solidFill>
              </a:rPr>
              <a:t>, </a:t>
            </a:r>
            <a:r>
              <a:rPr lang="en-GB" sz="2000" dirty="0" err="1">
                <a:solidFill>
                  <a:srgbClr val="666E71"/>
                </a:solidFill>
              </a:rPr>
              <a:t>Fmoc</a:t>
            </a:r>
            <a:r>
              <a:rPr lang="en-GB" sz="2000" dirty="0">
                <a:solidFill>
                  <a:srgbClr val="666E71"/>
                </a:solidFill>
              </a:rPr>
              <a:t>, </a:t>
            </a:r>
            <a:r>
              <a:rPr lang="en-GB" sz="2000" dirty="0" err="1">
                <a:solidFill>
                  <a:srgbClr val="666E71"/>
                </a:solidFill>
              </a:rPr>
              <a:t>Tos</a:t>
            </a:r>
            <a:endParaRPr lang="en-GB" sz="2000" dirty="0"/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6E71"/>
                </a:solidFill>
                <a:latin typeface="Calibri" panose="020F0502020204030204" pitchFamily="34" charset="0"/>
              </a:rPr>
              <a:t>Alpha and other substitutions?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666E71"/>
                </a:solidFill>
                <a:latin typeface="Calibri" panose="020F0502020204030204" pitchFamily="34" charset="0"/>
              </a:rPr>
              <a:t>What else? </a:t>
            </a:r>
            <a:endParaRPr lang="en-GB" sz="2000" dirty="0">
              <a:latin typeface="Arial" panose="020B0604020202020204" pitchFamily="34" charset="0"/>
            </a:endParaRPr>
          </a:p>
          <a:p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6C61A-29EF-47AE-8677-A935DE72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061" y="1889358"/>
            <a:ext cx="1345003" cy="1305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0576B4-EE08-4234-A875-B03160CEB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2027199"/>
            <a:ext cx="1354042" cy="10301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7F653F-DF78-4015-8307-7025E3E0C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663" y="1889358"/>
            <a:ext cx="1589549" cy="130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47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00098"/>
            <a:ext cx="8208912" cy="546042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dirty="0"/>
              <a:t>Readability of the HELM string itself could be improved by allowing caps to be included:</a:t>
            </a:r>
          </a:p>
          <a:p>
            <a:pPr marL="0" indent="0">
              <a:buNone/>
            </a:pPr>
            <a:r>
              <a:rPr lang="en-US" sz="1600" dirty="0"/>
              <a:t>1.	PEPTIDE1{[</a:t>
            </a:r>
            <a:r>
              <a:rPr lang="en-US" sz="1600" dirty="0" err="1"/>
              <a:t>meA</a:t>
            </a:r>
            <a:r>
              <a:rPr lang="en-US" sz="1600" dirty="0"/>
              <a:t>].A}$$$$V2.0 </a:t>
            </a:r>
          </a:p>
          <a:p>
            <a:pPr marL="0" indent="0">
              <a:buNone/>
            </a:pPr>
            <a:r>
              <a:rPr lang="en-US" sz="1600" dirty="0"/>
              <a:t>Is easier to read than </a:t>
            </a:r>
          </a:p>
          <a:p>
            <a:pPr marL="0" indent="0">
              <a:buNone/>
            </a:pPr>
            <a:r>
              <a:rPr lang="en-US" sz="1600" dirty="0"/>
              <a:t>2.	PEPTIDE1{</a:t>
            </a:r>
            <a:r>
              <a:rPr lang="en-US" sz="1600" dirty="0">
                <a:highlight>
                  <a:srgbClr val="FFFF00"/>
                </a:highlight>
              </a:rPr>
              <a:t>([Me])</a:t>
            </a:r>
            <a:r>
              <a:rPr lang="en-US" sz="1600" dirty="0"/>
              <a:t>.A.A}$$$$V2.0 although not by much. (Note that I have made up the methyl peptide capping group [Me] for this example and it would require an R3 on the alanine nitrogen if the alanine were to be part of a continuing polymer.)</a:t>
            </a:r>
          </a:p>
          <a:p>
            <a:pPr marL="0" indent="0">
              <a:buNone/>
            </a:pPr>
            <a:r>
              <a:rPr lang="en-US" sz="1600" dirty="0"/>
              <a:t>And the following is even less easy to read</a:t>
            </a:r>
          </a:p>
          <a:p>
            <a:pPr marL="0" indent="0">
              <a:buNone/>
            </a:pPr>
            <a:r>
              <a:rPr lang="en-US" sz="1600" dirty="0"/>
              <a:t>3.	CHEM1{[Me]}|PEPTIDE1{A.A}$CHEM1,PEPTIDE1,1:R1-1:R1$$$V2.0</a:t>
            </a:r>
          </a:p>
          <a:p>
            <a:pPr marL="0" indent="0">
              <a:buNone/>
            </a:pPr>
            <a:r>
              <a:rPr lang="en-GB" sz="160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00819"/>
            <a:ext cx="8087792" cy="584775"/>
          </a:xfrm>
        </p:spPr>
        <p:txBody>
          <a:bodyPr/>
          <a:lstStyle/>
          <a:p>
            <a:pPr lvl="2"/>
            <a:r>
              <a:rPr lang="en-GB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Variation and the exploding monomer set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803F34-8A77-4E46-9BD5-D41408CBB586}"/>
              </a:ext>
            </a:extLst>
          </p:cNvPr>
          <p:cNvGrpSpPr/>
          <p:nvPr/>
        </p:nvGrpSpPr>
        <p:grpSpPr>
          <a:xfrm>
            <a:off x="4639006" y="4550786"/>
            <a:ext cx="3796671" cy="2170690"/>
            <a:chOff x="1091301" y="2326219"/>
            <a:chExt cx="6690227" cy="36102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FB8DB6D-A66F-4BEA-A21E-9EBCAF32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6488" y="2326219"/>
              <a:ext cx="6275040" cy="326302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6DA8EC-B399-4A0B-B660-F5A6C2A1E147}"/>
                </a:ext>
              </a:extLst>
            </p:cNvPr>
            <p:cNvSpPr txBox="1"/>
            <p:nvPr/>
          </p:nvSpPr>
          <p:spPr>
            <a:xfrm rot="16200000">
              <a:off x="-157793" y="3797802"/>
              <a:ext cx="3040531" cy="542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Number of times used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5EBEF8-E72C-42E6-B150-A506842E6D80}"/>
                </a:ext>
              </a:extLst>
            </p:cNvPr>
            <p:cNvSpPr txBox="1"/>
            <p:nvPr/>
          </p:nvSpPr>
          <p:spPr>
            <a:xfrm>
              <a:off x="3779912" y="5475730"/>
              <a:ext cx="2605854" cy="460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Monomers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55AE684-4B92-4E50-A05E-0F6B8EB30948}"/>
                </a:ext>
              </a:extLst>
            </p:cNvPr>
            <p:cNvCxnSpPr>
              <a:cxnSpLocks/>
            </p:cNvCxnSpPr>
            <p:nvPr/>
          </p:nvCxnSpPr>
          <p:spPr>
            <a:xfrm>
              <a:off x="1638418" y="2420888"/>
              <a:ext cx="125270" cy="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582E8B7-CA03-4B59-8BFA-D62BD530F903}"/>
              </a:ext>
            </a:extLst>
          </p:cNvPr>
          <p:cNvSpPr/>
          <p:nvPr/>
        </p:nvSpPr>
        <p:spPr>
          <a:xfrm>
            <a:off x="440372" y="4758400"/>
            <a:ext cx="35610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But including all minor variations in monomers will result in a very large monomer set many of which will be in the long tail of usefulness. </a:t>
            </a:r>
          </a:p>
          <a:p>
            <a:r>
              <a:rPr lang="en-GB" dirty="0"/>
              <a:t>They could also clutter up a user interface for the user. </a:t>
            </a:r>
          </a:p>
        </p:txBody>
      </p:sp>
    </p:spTree>
    <p:extLst>
      <p:ext uri="{BB962C8B-B14F-4D97-AF65-F5344CB8AC3E}">
        <p14:creationId xmlns:p14="http://schemas.microsoft.com/office/powerpoint/2010/main" val="1532721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Variations on amino acids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611560" y="1268760"/>
            <a:ext cx="7933432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>
                <a:solidFill>
                  <a:schemeClr val="tx2"/>
                </a:solidFill>
              </a:rPr>
              <a:t>Question 2: Which of these should be individual monomers and which substituted existing monomers? 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</a:rPr>
              <a:t>L amino acids </a:t>
            </a:r>
            <a:endParaRPr lang="en-GB" dirty="0">
              <a:latin typeface="Arial" panose="020B060402020202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E71"/>
                </a:solidFill>
                <a:latin typeface="Calibri" panose="020F0502020204030204" pitchFamily="34" charset="0"/>
              </a:rPr>
              <a:t>Stereoisomers – D, DL </a:t>
            </a:r>
            <a:endParaRPr lang="en-GB" dirty="0">
              <a:latin typeface="Arial" panose="020B060402020202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E71"/>
                </a:solidFill>
                <a:latin typeface="Calibri" panose="020F0502020204030204" pitchFamily="34" charset="0"/>
              </a:rPr>
              <a:t>Beta, homo, iso forms</a:t>
            </a:r>
          </a:p>
          <a:p>
            <a:pPr fontAlgn="t"/>
            <a:endParaRPr lang="en-US" dirty="0">
              <a:solidFill>
                <a:srgbClr val="666E71"/>
              </a:solidFill>
              <a:latin typeface="Calibri" panose="020F0502020204030204" pitchFamily="34" charset="0"/>
            </a:endParaRPr>
          </a:p>
          <a:p>
            <a:pPr fontAlgn="t"/>
            <a:endParaRPr lang="en-US" dirty="0">
              <a:solidFill>
                <a:srgbClr val="666E71"/>
              </a:solidFill>
              <a:latin typeface="Calibri" panose="020F050202020403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E71"/>
                </a:solidFill>
                <a:latin typeface="Calibri" panose="020F0502020204030204" pitchFamily="34" charset="0"/>
              </a:rPr>
              <a:t>N substitutions – all, or if not all, which ones? Me, Et, </a:t>
            </a:r>
            <a:r>
              <a:rPr lang="en-US" dirty="0" err="1">
                <a:solidFill>
                  <a:srgbClr val="666E71"/>
                </a:solidFill>
                <a:latin typeface="Calibri" panose="020F0502020204030204" pitchFamily="34" charset="0"/>
              </a:rPr>
              <a:t>Pr</a:t>
            </a:r>
            <a:r>
              <a:rPr lang="en-US" dirty="0">
                <a:solidFill>
                  <a:srgbClr val="666E71"/>
                </a:solidFill>
                <a:latin typeface="Calibri" panose="020F0502020204030204" pitchFamily="34" charset="0"/>
              </a:rPr>
              <a:t>, Bu, </a:t>
            </a:r>
            <a:r>
              <a:rPr lang="en-US" dirty="0" err="1">
                <a:solidFill>
                  <a:srgbClr val="666E71"/>
                </a:solidFill>
                <a:latin typeface="Calibri" panose="020F0502020204030204" pitchFamily="34" charset="0"/>
              </a:rPr>
              <a:t>tBu</a:t>
            </a:r>
            <a:r>
              <a:rPr lang="en-US" dirty="0">
                <a:solidFill>
                  <a:srgbClr val="666E71"/>
                </a:solidFill>
                <a:latin typeface="Calibri" panose="020F0502020204030204" pitchFamily="34" charset="0"/>
              </a:rPr>
              <a:t>, Ac. Should we create a basic set of ‘core’ substituted monomers? If so, which ones? </a:t>
            </a:r>
            <a:endParaRPr lang="en-GB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E71"/>
                </a:solidFill>
                <a:latin typeface="Calibri" panose="020F0502020204030204" pitchFamily="34" charset="0"/>
              </a:rPr>
              <a:t>N and C terminal substitutions – all, or if not all, which ones?</a:t>
            </a:r>
            <a:r>
              <a:rPr lang="en-GB" dirty="0">
                <a:solidFill>
                  <a:srgbClr val="666E71"/>
                </a:solidFill>
                <a:latin typeface="Arial" panose="020B0604020202020204" pitchFamily="34" charset="0"/>
              </a:rPr>
              <a:t> </a:t>
            </a:r>
            <a:r>
              <a:rPr lang="en-GB" dirty="0" err="1">
                <a:solidFill>
                  <a:srgbClr val="666E71"/>
                </a:solidFill>
              </a:rPr>
              <a:t>Boc</a:t>
            </a:r>
            <a:r>
              <a:rPr lang="en-GB" dirty="0">
                <a:solidFill>
                  <a:srgbClr val="666E71"/>
                </a:solidFill>
              </a:rPr>
              <a:t>, </a:t>
            </a:r>
            <a:r>
              <a:rPr lang="en-GB" dirty="0" err="1">
                <a:solidFill>
                  <a:srgbClr val="666E71"/>
                </a:solidFill>
              </a:rPr>
              <a:t>Fmoc</a:t>
            </a:r>
            <a:r>
              <a:rPr lang="en-GB" dirty="0">
                <a:solidFill>
                  <a:srgbClr val="666E71"/>
                </a:solidFill>
              </a:rPr>
              <a:t>, </a:t>
            </a: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E71"/>
                </a:solidFill>
                <a:latin typeface="Calibri" panose="020F0502020204030204" pitchFamily="34" charset="0"/>
              </a:rPr>
              <a:t>Alpha and other substitutions?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6E71"/>
                </a:solidFill>
                <a:latin typeface="Calibri" panose="020F0502020204030204" pitchFamily="34" charset="0"/>
              </a:rPr>
              <a:t>What else? </a:t>
            </a:r>
            <a:endParaRPr lang="en-GB" dirty="0">
              <a:latin typeface="Arial" panose="020B0604020202020204" pitchFamily="34" charset="0"/>
            </a:endParaRPr>
          </a:p>
          <a:p>
            <a:endParaRPr lang="en-GB" dirty="0"/>
          </a:p>
          <a:p>
            <a:r>
              <a:rPr lang="en-GB" dirty="0">
                <a:solidFill>
                  <a:schemeClr val="tx2"/>
                </a:solidFill>
              </a:rPr>
              <a:t>Considerations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Readability for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Flexibility of the set. Should an extra substitution really be an additional monomer?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6C61A-29EF-47AE-8677-A935DE72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734" y="1916832"/>
            <a:ext cx="1345003" cy="1305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0576B4-EE08-4234-A875-B03160CEB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472" y="2060847"/>
            <a:ext cx="1354042" cy="10301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7F653F-DF78-4015-8307-7025E3E0C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039" y="1861884"/>
            <a:ext cx="1589549" cy="130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6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3D3E-0107-421C-97DA-F8FAA1513E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 groups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C9F16-7547-434C-9D1B-116687A9E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ABDA8-4022-47B1-9BCF-4A63F46D86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41C5F4D-AF48-46DE-A2A6-1C54690EDF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698686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857"/>
            <a:ext cx="8087792" cy="707886"/>
          </a:xfrm>
        </p:spPr>
        <p:txBody>
          <a:bodyPr/>
          <a:lstStyle/>
          <a:p>
            <a:r>
              <a:rPr lang="en-GB" dirty="0"/>
              <a:t>R group variations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597594" y="948690"/>
            <a:ext cx="8366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dirty="0">
                <a:latin typeface="Calibri" panose="020F0502020204030204" pitchFamily="34" charset="0"/>
              </a:rPr>
              <a:t>Are monomers with different numbers of R groups different monomers?</a:t>
            </a: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How many R groups should monomers have in a standard set?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Should we have different monomers for variants with different numbers of caps?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If R groups are not used in HELM then they are capped. Does this mean all monomers should have the ‘maximum’ number of R groups? </a:t>
            </a: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r>
              <a:rPr lang="en-GB" dirty="0">
                <a:solidFill>
                  <a:schemeClr val="tx2"/>
                </a:solidFill>
              </a:rPr>
              <a:t>Considerations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Readability for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Flexibility of the set.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0AFF817-7A17-4C3B-BB49-2B38EBD613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91265"/>
              </p:ext>
            </p:extLst>
          </p:nvPr>
        </p:nvGraphicFramePr>
        <p:xfrm>
          <a:off x="6423381" y="1484784"/>
          <a:ext cx="1209675" cy="195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CS ChemDraw Drawing" r:id="rId3" imgW="1570843" imgH="2543239" progId="ChemDraw.Document.6.0">
                  <p:embed/>
                </p:oleObj>
              </mc:Choice>
              <mc:Fallback>
                <p:oleObj name="CS ChemDraw Drawing" r:id="rId3" imgW="1570843" imgH="25432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23381" y="1484784"/>
                        <a:ext cx="1209675" cy="195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F5CFE69-B74E-450B-98F9-EC3FA1EEB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325468"/>
              </p:ext>
            </p:extLst>
          </p:nvPr>
        </p:nvGraphicFramePr>
        <p:xfrm>
          <a:off x="1475656" y="1484784"/>
          <a:ext cx="1368425" cy="1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CS ChemDraw Drawing" r:id="rId5" imgW="1570843" imgH="2247343" progId="ChemDraw.Document.6.0">
                  <p:embed/>
                </p:oleObj>
              </mc:Choice>
              <mc:Fallback>
                <p:oleObj name="CS ChemDraw Drawing" r:id="rId5" imgW="1570843" imgH="224734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5656" y="1484784"/>
                        <a:ext cx="1368425" cy="1957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56D74CD-62B5-4A96-99C1-80932FE730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080015"/>
              </p:ext>
            </p:extLst>
          </p:nvPr>
        </p:nvGraphicFramePr>
        <p:xfrm>
          <a:off x="3980309" y="1484784"/>
          <a:ext cx="1304629" cy="2111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CS ChemDraw Drawing" r:id="rId7" imgW="1570843" imgH="2543239" progId="ChemDraw.Document.6.0">
                  <p:embed/>
                </p:oleObj>
              </mc:Choice>
              <mc:Fallback>
                <p:oleObj name="CS ChemDraw Drawing" r:id="rId7" imgW="1570843" imgH="25432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80309" y="1484784"/>
                        <a:ext cx="1304629" cy="2111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AD18F00-952E-47BC-A7AE-A31EBEB5E172}"/>
              </a:ext>
            </a:extLst>
          </p:cNvPr>
          <p:cNvSpPr/>
          <p:nvPr/>
        </p:nvSpPr>
        <p:spPr>
          <a:xfrm>
            <a:off x="1978968" y="3763387"/>
            <a:ext cx="60164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Norine example 3,4-dihydroxyphenylalanine diOH-Phe</a:t>
            </a:r>
            <a:r>
              <a:rPr lang="pt-BR" sz="1200" dirty="0"/>
              <a:t> </a:t>
            </a:r>
            <a:r>
              <a:rPr lang="pt-BR" dirty="0"/>
              <a:t>A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174793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087792" cy="707886"/>
          </a:xfrm>
        </p:spPr>
        <p:txBody>
          <a:bodyPr/>
          <a:lstStyle/>
          <a:p>
            <a:r>
              <a:rPr lang="en-GB" dirty="0"/>
              <a:t>R group variations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57200" y="1139249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dirty="0">
                <a:latin typeface="Calibri" panose="020F0502020204030204" pitchFamily="34" charset="0"/>
              </a:rPr>
              <a:t>What about monomers with different R group positions?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A1A1A7-50BC-47C9-A6FC-4CC163E9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242" y="1878254"/>
            <a:ext cx="5002772" cy="21550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595EDE9-AFFE-4765-BA5D-482AF553F104}"/>
              </a:ext>
            </a:extLst>
          </p:cNvPr>
          <p:cNvSpPr/>
          <p:nvPr/>
        </p:nvSpPr>
        <p:spPr>
          <a:xfrm>
            <a:off x="4864834" y="5118586"/>
            <a:ext cx="29309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</a:rPr>
              <a:t>Both of these are amino acids (the second one is not in the current set).</a:t>
            </a:r>
          </a:p>
          <a:p>
            <a:endParaRPr lang="en-GB" dirty="0"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2C3269-7556-49CE-8EA5-2E818948B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52" y="4495639"/>
            <a:ext cx="3384376" cy="205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21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087792" cy="707886"/>
          </a:xfrm>
        </p:spPr>
        <p:txBody>
          <a:bodyPr/>
          <a:lstStyle/>
          <a:p>
            <a:r>
              <a:rPr lang="en-GB" dirty="0"/>
              <a:t>R group variations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67544" y="102597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sz="2000" dirty="0">
                <a:latin typeface="Calibri" panose="020F0502020204030204" pitchFamily="34" charset="0"/>
              </a:rPr>
              <a:t>What about monomers with different caps?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BF464A9-5E2F-4524-9CB0-CC547E417D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877378"/>
              </p:ext>
            </p:extLst>
          </p:nvPr>
        </p:nvGraphicFramePr>
        <p:xfrm>
          <a:off x="1403648" y="2040654"/>
          <a:ext cx="1728192" cy="279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CS ChemDraw Drawing" r:id="rId3" imgW="1570843" imgH="2543239" progId="ChemDraw.Document.6.0">
                  <p:embed/>
                </p:oleObj>
              </mc:Choice>
              <mc:Fallback>
                <p:oleObj name="CS ChemDraw Drawing" r:id="rId3" imgW="1570843" imgH="2543239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56D74CD-62B5-4A96-99C1-80932FE730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2040654"/>
                        <a:ext cx="1728192" cy="2796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33BB03-570C-4BB4-BD56-9E63C74FA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582326"/>
              </p:ext>
            </p:extLst>
          </p:nvPr>
        </p:nvGraphicFramePr>
        <p:xfrm>
          <a:off x="4455591" y="2316480"/>
          <a:ext cx="342877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89">
                  <a:extLst>
                    <a:ext uri="{9D8B030D-6E8A-4147-A177-3AD203B41FA5}">
                      <a16:colId xmlns:a16="http://schemas.microsoft.com/office/drawing/2014/main" val="362465395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89255838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347684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070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247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71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054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63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6936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16A6066-F3F8-4F7C-BBB9-FCEFD3C721AF}"/>
              </a:ext>
            </a:extLst>
          </p:cNvPr>
          <p:cNvSpPr txBox="1"/>
          <p:nvPr/>
        </p:nvSpPr>
        <p:spPr>
          <a:xfrm>
            <a:off x="467544" y="5327473"/>
            <a:ext cx="80774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sz="2000" dirty="0">
                <a:latin typeface="Calibri" panose="020F0502020204030204" pitchFamily="34" charset="0"/>
              </a:rPr>
              <a:t>We currently have the option of X. If we have many R groups on a single molecule, should this be allowed? </a:t>
            </a:r>
          </a:p>
          <a:p>
            <a:pPr fontAlgn="t"/>
            <a:r>
              <a:rPr lang="en-GB" sz="2000" dirty="0">
                <a:latin typeface="Calibri" panose="020F0502020204030204" pitchFamily="34" charset="0"/>
              </a:rPr>
              <a:t>Should we include more complex capping groups – </a:t>
            </a:r>
            <a:r>
              <a:rPr lang="en-GB" sz="2000" dirty="0" err="1">
                <a:latin typeface="Calibri" panose="020F0502020204030204" pitchFamily="34" charset="0"/>
              </a:rPr>
              <a:t>OMe</a:t>
            </a:r>
            <a:r>
              <a:rPr lang="en-GB" sz="2000" dirty="0">
                <a:latin typeface="Calibri" panose="020F0502020204030204" pitchFamily="34" charset="0"/>
              </a:rPr>
              <a:t>, Ac, </a:t>
            </a:r>
            <a:r>
              <a:rPr lang="en-GB" sz="2000" dirty="0" err="1">
                <a:latin typeface="Calibri" panose="020F0502020204030204" pitchFamily="34" charset="0"/>
              </a:rPr>
              <a:t>Tos</a:t>
            </a:r>
            <a:r>
              <a:rPr lang="en-GB" sz="2000" dirty="0">
                <a:latin typeface="Calibri" panose="020F0502020204030204" pitchFamily="34" charset="0"/>
              </a:rPr>
              <a:t>, </a:t>
            </a:r>
            <a:r>
              <a:rPr lang="en-GB" sz="2000" dirty="0" err="1">
                <a:latin typeface="Calibri" panose="020F0502020204030204" pitchFamily="34" charset="0"/>
              </a:rPr>
              <a:t>Boc</a:t>
            </a:r>
            <a:r>
              <a:rPr lang="en-GB" sz="2000" dirty="0">
                <a:latin typeface="Calibri" panose="020F0502020204030204" pitchFamily="34" charset="0"/>
              </a:rPr>
              <a:t> etc… </a:t>
            </a:r>
          </a:p>
          <a:p>
            <a:pPr fontAlgn="t"/>
            <a:endParaRPr lang="en-GB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977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1BDBA91-733C-4D04-8E56-2A166BC07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76" y="1204080"/>
            <a:ext cx="8147248" cy="51756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Actions: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Future meeting times</a:t>
            </a:r>
          </a:p>
          <a:p>
            <a:r>
              <a:rPr lang="en-GB" sz="1800" dirty="0"/>
              <a:t>Fridays at this time every 2 weeks</a:t>
            </a:r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579519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7"/>
          </p:nvPr>
        </p:nvSpPr>
        <p:spPr>
          <a:xfrm>
            <a:off x="8172400" y="6358432"/>
            <a:ext cx="514400" cy="34523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Title 7"/>
          <p:cNvSpPr txBox="1">
            <a:spLocks/>
          </p:cNvSpPr>
          <p:nvPr/>
        </p:nvSpPr>
        <p:spPr>
          <a:xfrm>
            <a:off x="530741" y="1700808"/>
            <a:ext cx="8155180" cy="70788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249797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249797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Thank you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159" y="2442163"/>
            <a:ext cx="3096344" cy="28537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82565"/>
            <a:ext cx="3096344" cy="101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4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Backup slides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11300" y="3239610"/>
            <a:ext cx="8001000" cy="461665"/>
          </a:xfrm>
        </p:spPr>
        <p:txBody>
          <a:bodyPr/>
          <a:lstStyle/>
          <a:p>
            <a:r>
              <a:rPr lang="en-US" dirty="0">
                <a:uFillTx/>
              </a:rPr>
              <a:t>Monomer Kick-off Meeting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uFillTx/>
              </a:rPr>
              <a:t>7</a:t>
            </a:r>
            <a:r>
              <a:rPr lang="en-US" baseline="30000" dirty="0">
                <a:solidFill>
                  <a:schemeClr val="tx1"/>
                </a:solidFill>
                <a:uFillTx/>
              </a:rPr>
              <a:t>th</a:t>
            </a:r>
            <a:r>
              <a:rPr lang="en-US" dirty="0">
                <a:solidFill>
                  <a:schemeClr val="tx1"/>
                </a:solidFill>
                <a:uFillTx/>
              </a:rPr>
              <a:t> September 2018</a:t>
            </a:r>
            <a:endParaRPr lang="en-US" dirty="0">
              <a:uFillTx/>
            </a:endParaRPr>
          </a:p>
        </p:txBody>
      </p:sp>
      <p:pic>
        <p:nvPicPr>
          <p:cNvPr id="12" name="FB1F45B8-119D-43F7-BC41-9AB4E47E34F3" descr="CB0BB25A-6207-4835-9E6F-B6B2462FAE90@gatewa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520" y="222770"/>
            <a:ext cx="2448272" cy="11488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6A42E-684C-49A9-BF59-FB0AA4DCD7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51249"/>
      </p:ext>
    </p:extLst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7B7202-E70A-4618-81A2-3E4C9E79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296" y="1571278"/>
            <a:ext cx="1697565" cy="39263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56557"/>
            <a:ext cx="7067128" cy="707886"/>
          </a:xfrm>
        </p:spPr>
        <p:txBody>
          <a:bodyPr/>
          <a:lstStyle/>
          <a:p>
            <a:r>
              <a:rPr lang="en-GB" dirty="0"/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07" y="1124745"/>
            <a:ext cx="6928081" cy="55766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800" dirty="0"/>
              <a:t>HELM tools and definition released in 2013.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Monomer set was derived from the Pfizer internal set and is used in the online demo HELM tools today.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Initial adopters were pharma companies who generally wanted to use their own monomer sets aligned with their research projects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To facilitate communication between groups, HELM developed: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In-line HELM – the ability to describe a monomer using SMILES within the HELM string and without fully registering it in the monomer set. </a:t>
            </a:r>
          </a:p>
          <a:p>
            <a:pPr lvl="1"/>
            <a:r>
              <a:rPr lang="en-GB" sz="1800" dirty="0"/>
              <a:t>PEPTIDE1{A.[[*:2]C(=O)[C@H](C)N([*:1])C].A}$$$$</a:t>
            </a:r>
          </a:p>
          <a:p>
            <a:pPr marL="457200" lvl="1" indent="0">
              <a:buNone/>
            </a:pPr>
            <a:endParaRPr lang="en-GB" sz="1600" dirty="0"/>
          </a:p>
          <a:p>
            <a:r>
              <a:rPr lang="en-GB" sz="1800" dirty="0" err="1"/>
              <a:t>xHELM</a:t>
            </a:r>
            <a:r>
              <a:rPr lang="en-GB" sz="1800" dirty="0"/>
              <a:t> – an xml format that allows the user to bundle the monomers required to interpret the HELM strings in the file. The toolkit enables you to import </a:t>
            </a:r>
            <a:r>
              <a:rPr lang="en-GB" sz="1800" dirty="0" err="1"/>
              <a:t>xHELM</a:t>
            </a:r>
            <a:r>
              <a:rPr lang="en-GB" sz="1800" dirty="0"/>
              <a:t> into an existing set-up with your own monomer set.</a:t>
            </a:r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6709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146BC8-BAE7-4E9D-86F0-EC292BD313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59" t="4004" r="6281" b="3960"/>
          <a:stretch/>
        </p:blipFill>
        <p:spPr>
          <a:xfrm>
            <a:off x="3825143" y="188640"/>
            <a:ext cx="5318858" cy="33843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688392"/>
            <a:ext cx="4255969" cy="1687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HELM has been adopted widely in the last 5 years and expanded beyond pharma companies. 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B73FB-E4BC-4763-BE6C-546CC8A8150E}"/>
              </a:ext>
            </a:extLst>
          </p:cNvPr>
          <p:cNvSpPr/>
          <p:nvPr/>
        </p:nvSpPr>
        <p:spPr>
          <a:xfrm>
            <a:off x="398383" y="3807038"/>
            <a:ext cx="79695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In particular we now have content providers defining biologics using HELM: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tx1">
                    <a:lumMod val="75000"/>
                  </a:schemeClr>
                </a:solidFill>
              </a:rPr>
              <a:t>ChEMBL</a:t>
            </a:r>
            <a:endParaRPr lang="en-GB" sz="2000" dirty="0">
              <a:solidFill>
                <a:schemeClr val="tx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PubChem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Norine</a:t>
            </a:r>
          </a:p>
          <a:p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And interest from more.</a:t>
            </a:r>
          </a:p>
          <a:p>
            <a:endParaRPr lang="en-GB" sz="2000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We also have small companies who would like a starter-pack monomer set that can be adopted easily and be aligned to the majority of other HELM users. </a:t>
            </a:r>
          </a:p>
        </p:txBody>
      </p:sp>
    </p:spTree>
    <p:extLst>
      <p:ext uri="{BB962C8B-B14F-4D97-AF65-F5344CB8AC3E}">
        <p14:creationId xmlns:p14="http://schemas.microsoft.com/office/powerpoint/2010/main" val="1359047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56557"/>
            <a:ext cx="7067128" cy="707886"/>
          </a:xfrm>
        </p:spPr>
        <p:txBody>
          <a:bodyPr/>
          <a:lstStyle/>
          <a:p>
            <a:r>
              <a:rPr lang="en-GB" dirty="0"/>
              <a:t>Public monomer 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853116-7049-479C-9529-A45B290BA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872897"/>
              </p:ext>
            </p:extLst>
          </p:nvPr>
        </p:nvGraphicFramePr>
        <p:xfrm>
          <a:off x="395536" y="1222517"/>
          <a:ext cx="820891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104407295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388201877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814045200"/>
                    </a:ext>
                  </a:extLst>
                </a:gridCol>
              </a:tblGrid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Monomer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Size (approx.)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301985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HELM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Used in the HELM tools from the beginning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40282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Ionis set (initial monomer.org 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Enhanced nucleotide set. Documented approach to naming. Some differences with HELM1.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276144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 err="1"/>
                        <a:t>ChEMBL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840216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Norine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Published in another form, but being converted into HELM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923438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PubChem?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542303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Novartis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Oligonucleotides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29254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7CCB34D4-A59C-485C-A884-00D802EF8C42}"/>
              </a:ext>
            </a:extLst>
          </p:cNvPr>
          <p:cNvSpPr/>
          <p:nvPr/>
        </p:nvSpPr>
        <p:spPr>
          <a:xfrm>
            <a:off x="457200" y="5360581"/>
            <a:ext cx="83632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A more published set of principles about what makes a good monomer set would help us create a common monomer set that all could adopt and give guidance to new adopters wanting to use their own. </a:t>
            </a:r>
          </a:p>
        </p:txBody>
      </p:sp>
    </p:spTree>
    <p:extLst>
      <p:ext uri="{BB962C8B-B14F-4D97-AF65-F5344CB8AC3E}">
        <p14:creationId xmlns:p14="http://schemas.microsoft.com/office/powerpoint/2010/main" val="1319587743"/>
      </p:ext>
    </p:extLst>
  </p:cSld>
  <p:clrMapOvr>
    <a:masterClrMapping/>
  </p:clrMapOvr>
</p:sld>
</file>

<file path=ppt/theme/theme1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5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6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_Pistoia Alliance">
  <a:themeElements>
    <a:clrScheme name="Pistoia">
      <a:dk1>
        <a:srgbClr val="666E71"/>
      </a:dk1>
      <a:lt1>
        <a:srgbClr val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2016_11_08 HELM Project Team Meeting</Template>
  <TotalTime>9233</TotalTime>
  <Words>1401</Words>
  <Application>Microsoft Office PowerPoint</Application>
  <PresentationFormat>On-screen Show (4:3)</PresentationFormat>
  <Paragraphs>264</Paragraphs>
  <Slides>25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Open Sans Light</vt:lpstr>
      <vt:lpstr>Pistoia Content Theme</vt:lpstr>
      <vt:lpstr>5_Pistoia Content Theme</vt:lpstr>
      <vt:lpstr>6_Pistoia Content Theme</vt:lpstr>
      <vt:lpstr>1_Pistoia Content Theme</vt:lpstr>
      <vt:lpstr>1_Pistoia Alliance</vt:lpstr>
      <vt:lpstr>CS ChemDraw Drawing</vt:lpstr>
      <vt:lpstr>HELM and monomers</vt:lpstr>
      <vt:lpstr>This Webinar is being recorded</vt:lpstr>
      <vt:lpstr>Monomer Guidelines Discussion</vt:lpstr>
      <vt:lpstr>Scope</vt:lpstr>
      <vt:lpstr>What is a monomer?</vt:lpstr>
      <vt:lpstr>Canonicalization</vt:lpstr>
      <vt:lpstr>Canonicalization</vt:lpstr>
      <vt:lpstr>Canonicalization</vt:lpstr>
      <vt:lpstr>Canonicalization</vt:lpstr>
      <vt:lpstr>Canonicalization</vt:lpstr>
      <vt:lpstr>Exploding monomer sets</vt:lpstr>
      <vt:lpstr>Exploding monomer sets?</vt:lpstr>
      <vt:lpstr>Variations on amino acids</vt:lpstr>
      <vt:lpstr>Variation and the exploding monomer set</vt:lpstr>
      <vt:lpstr>Variations on amino acids</vt:lpstr>
      <vt:lpstr>R groups</vt:lpstr>
      <vt:lpstr>R group variations</vt:lpstr>
      <vt:lpstr>R group variations</vt:lpstr>
      <vt:lpstr>R group variations</vt:lpstr>
      <vt:lpstr>Next steps</vt:lpstr>
      <vt:lpstr>PowerPoint Presentation</vt:lpstr>
      <vt:lpstr>Backup slides</vt:lpstr>
      <vt:lpstr>History</vt:lpstr>
      <vt:lpstr>History</vt:lpstr>
      <vt:lpstr>Public monomer 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Pistoia Alliance HELM Project</dc:title>
  <dc:creator>Claire Bellamy</dc:creator>
  <cp:lastModifiedBy>Claire Bellamy</cp:lastModifiedBy>
  <cp:revision>205</cp:revision>
  <dcterms:created xsi:type="dcterms:W3CDTF">2016-11-21T10:54:48Z</dcterms:created>
  <dcterms:modified xsi:type="dcterms:W3CDTF">2018-09-28T15:03:12Z</dcterms:modified>
</cp:coreProperties>
</file>