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759" r:id="rId2"/>
    <p:sldId id="763" r:id="rId3"/>
    <p:sldId id="768" r:id="rId4"/>
    <p:sldId id="770" r:id="rId5"/>
    <p:sldId id="769" r:id="rId6"/>
    <p:sldId id="772" r:id="rId7"/>
    <p:sldId id="773" r:id="rId8"/>
    <p:sldId id="774" r:id="rId9"/>
    <p:sldId id="775" r:id="rId10"/>
    <p:sldId id="780" r:id="rId11"/>
    <p:sldId id="782" r:id="rId12"/>
    <p:sldId id="783" r:id="rId13"/>
    <p:sldId id="779" r:id="rId14"/>
    <p:sldId id="778" r:id="rId15"/>
    <p:sldId id="776" r:id="rId16"/>
    <p:sldId id="771" r:id="rId17"/>
  </p:sldIdLst>
  <p:sldSz cx="9144000" cy="6858000" type="screen4x3"/>
  <p:notesSz cx="6797675" cy="9926638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rgbClr val="173B64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rgbClr val="173B64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orient="horz" pos="624">
          <p15:clr>
            <a:srgbClr val="A4A3A4"/>
          </p15:clr>
        </p15:guide>
        <p15:guide id="3" orient="horz" pos="384">
          <p15:clr>
            <a:srgbClr val="A4A3A4"/>
          </p15:clr>
        </p15:guide>
        <p15:guide id="4" orient="horz" pos="3168">
          <p15:clr>
            <a:srgbClr val="A4A3A4"/>
          </p15:clr>
        </p15:guide>
        <p15:guide id="5" pos="4704">
          <p15:clr>
            <a:srgbClr val="A4A3A4"/>
          </p15:clr>
        </p15:guide>
        <p15:guide id="6" pos="5424">
          <p15:clr>
            <a:srgbClr val="A4A3A4"/>
          </p15:clr>
        </p15:guide>
        <p15:guide id="7" pos="384">
          <p15:clr>
            <a:srgbClr val="A4A3A4"/>
          </p15:clr>
        </p15:guide>
        <p15:guide id="8" pos="3936">
          <p15:clr>
            <a:srgbClr val="A4A3A4"/>
          </p15:clr>
        </p15:guide>
        <p15:guide id="9" pos="4272">
          <p15:clr>
            <a:srgbClr val="A4A3A4"/>
          </p15:clr>
        </p15:guide>
        <p15:guide id="10" pos="26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A9E3C6"/>
    <a:srgbClr val="2143A1"/>
    <a:srgbClr val="3BA19C"/>
    <a:srgbClr val="36947B"/>
    <a:srgbClr val="2E8C5D"/>
    <a:srgbClr val="A9B2C2"/>
    <a:srgbClr val="DDDDDD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Helle Formatvorlage 3 - Akz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3" autoAdjust="0"/>
    <p:restoredTop sz="96362" autoAdjust="0"/>
  </p:normalViewPr>
  <p:slideViewPr>
    <p:cSldViewPr snapToObjects="1">
      <p:cViewPr varScale="1">
        <p:scale>
          <a:sx n="128" d="100"/>
          <a:sy n="128" d="100"/>
        </p:scale>
        <p:origin x="1326" y="114"/>
      </p:cViewPr>
      <p:guideLst>
        <p:guide orient="horz" pos="1200"/>
        <p:guide orient="horz" pos="624"/>
        <p:guide orient="horz" pos="384"/>
        <p:guide orient="horz" pos="3168"/>
        <p:guide pos="4704"/>
        <p:guide pos="5424"/>
        <p:guide pos="384"/>
        <p:guide pos="3936"/>
        <p:guide pos="4272"/>
        <p:guide pos="2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4" d="100"/>
          <a:sy n="74" d="100"/>
        </p:scale>
        <p:origin x="-1506" y="-114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t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04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70" tIns="45986" rIns="91970" bIns="45986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823A9E6-A197-4234-8084-99068B00AB0B}" type="slidenum">
              <a:rPr lang="es-ES"/>
              <a:pPr>
                <a:defRPr/>
              </a:pPr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0993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Mastertextformat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79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798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19163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2B1C483-5161-44F5-98D4-B730574E53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16903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" name="Rectangle 106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763713" y="4988768"/>
            <a:ext cx="6400800" cy="1176536"/>
          </a:xfrm>
        </p:spPr>
        <p:txBody>
          <a:bodyPr lIns="91440" tIns="45720" rIns="91440" bIns="45720"/>
          <a:lstStyle>
            <a:lvl1pPr marL="0" indent="0" algn="r">
              <a:buFont typeface="Wingdings 3" pitchFamily="18" charset="2"/>
              <a:buNone/>
              <a:defRPr>
                <a:solidFill>
                  <a:srgbClr val="173B64"/>
                </a:solidFill>
              </a:defRPr>
            </a:lvl1pPr>
          </a:lstStyle>
          <a:p>
            <a:r>
              <a:rPr lang="en-US"/>
              <a:t>Formatvorlage des Untertitelmasters durch Klicken bearbeiten</a:t>
            </a:r>
          </a:p>
        </p:txBody>
      </p:sp>
      <p:pic>
        <p:nvPicPr>
          <p:cNvPr id="2052" name="Picture 4" descr="http://www.quattro-research.com/wp-content/uploads/software-solutions-for-life-science-chemistry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" y="1988841"/>
            <a:ext cx="9133486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05" y="836712"/>
            <a:ext cx="258127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3873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65372-B929-454B-AC40-6926AEC9B88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9832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102DD7-3429-40B2-A3A2-244CE046022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37866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66D7F7-3994-4EDF-812C-AC8AA0F9999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84768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24F77-E695-471D-B292-3569A8AF717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820229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35376-096F-4B9E-AF0B-577937939A5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8777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5383EA-C4C5-4A02-9912-F94C844E8B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99289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95FEB-30EB-4DF1-8A7A-723C1AF01C0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2096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AEF67-FC9F-49A6-8D0F-E20D73E3B64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305237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4FED3-F7EB-4A65-BD01-012305613DF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46001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935788" y="844550"/>
            <a:ext cx="2106612" cy="46561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11188" y="844550"/>
            <a:ext cx="6172200" cy="4656138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B64B4-33A6-4F17-8E38-2926C33BBE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006097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188" y="844550"/>
            <a:ext cx="8431212" cy="5969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611188" y="1600200"/>
            <a:ext cx="2855912" cy="3900488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619500" y="1600200"/>
            <a:ext cx="2857500" cy="3900488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FBB69-2B93-4376-90E9-69A3D5A6E00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7343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844550"/>
            <a:ext cx="8431212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600200"/>
            <a:ext cx="5865812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Mastertextformat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89950" y="6499225"/>
            <a:ext cx="762000" cy="204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defRPr sz="1000" b="1">
                <a:solidFill>
                  <a:srgbClr val="2143A1"/>
                </a:solidFill>
              </a:defRPr>
            </a:lvl1pPr>
          </a:lstStyle>
          <a:p>
            <a:pPr>
              <a:defRPr/>
            </a:pPr>
            <a:fld id="{ADDD1306-1064-423A-837A-B3EDBE2C751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29" name="Line 28"/>
          <p:cNvSpPr>
            <a:spLocks noChangeShapeType="1"/>
          </p:cNvSpPr>
          <p:nvPr/>
        </p:nvSpPr>
        <p:spPr bwMode="auto">
          <a:xfrm>
            <a:off x="0" y="6597650"/>
            <a:ext cx="8567738" cy="0"/>
          </a:xfrm>
          <a:prstGeom prst="line">
            <a:avLst/>
          </a:prstGeom>
          <a:noFill/>
          <a:ln w="38100">
            <a:solidFill>
              <a:srgbClr val="A9E3C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http://www.quattro-research.com/wp-content/themes/quattroresearch/gfx/quattro-research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7427" y="303244"/>
            <a:ext cx="1763045" cy="533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173B64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095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" pitchFamily="2" charset="2"/>
        <a:buChar char="§"/>
        <a:defRPr sz="2000">
          <a:solidFill>
            <a:srgbClr val="173B64"/>
          </a:solidFill>
          <a:latin typeface="+mn-lt"/>
        </a:defRPr>
      </a:lvl2pPr>
      <a:lvl3pPr marL="1147763" indent="-2143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Font typeface="Wingdings 3" pitchFamily="18" charset="2"/>
        <a:buChar char="_"/>
        <a:defRPr>
          <a:solidFill>
            <a:schemeClr val="tx1"/>
          </a:solidFill>
          <a:latin typeface="+mn-lt"/>
        </a:defRPr>
      </a:lvl3pPr>
      <a:lvl4pPr marL="1658938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•"/>
        <a:defRPr sz="1600">
          <a:solidFill>
            <a:srgbClr val="173B64"/>
          </a:solidFill>
          <a:latin typeface="+mn-lt"/>
        </a:defRPr>
      </a:lvl4pPr>
      <a:lvl5pPr marL="2078038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5pPr>
      <a:lvl6pPr marL="25352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6pPr>
      <a:lvl7pPr marL="29924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7pPr>
      <a:lvl8pPr marL="34496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8pPr>
      <a:lvl9pPr marL="3906838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rgbClr val="2143A1"/>
        </a:buClr>
        <a:buChar char="-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dirty="0" smtClean="0"/>
              <a:t>HELM 2.0 </a:t>
            </a:r>
          </a:p>
          <a:p>
            <a:r>
              <a:rPr lang="en-US" dirty="0" smtClean="0"/>
              <a:t>Toolkit Code Orientation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951258"/>
            <a:ext cx="3007066" cy="184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37390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 2.0 Package </a:t>
            </a:r>
            <a:r>
              <a:rPr lang="de-DE" dirty="0" err="1" smtClean="0"/>
              <a:t>overview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199"/>
            <a:ext cx="7417196" cy="4899025"/>
          </a:xfrm>
        </p:spPr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2195737" y="1747143"/>
            <a:ext cx="3312368" cy="1113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HELM2NotationToolkit</a:t>
            </a:r>
            <a:endParaRPr lang="de-DE" dirty="0"/>
          </a:p>
        </p:txBody>
      </p:sp>
      <p:sp>
        <p:nvSpPr>
          <p:cNvPr id="21" name="Rechteck 20"/>
          <p:cNvSpPr/>
          <p:nvPr/>
        </p:nvSpPr>
        <p:spPr>
          <a:xfrm>
            <a:off x="1475656" y="3323051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3073900" y="5085423"/>
            <a:ext cx="22901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ChemistryToolkitMarvin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611188" y="5085422"/>
            <a:ext cx="216024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ChemistryToolkitCDK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4674470" y="3323052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HELMNotationParser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6167164" y="1799716"/>
            <a:ext cx="2183854" cy="747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HELM2WebService</a:t>
            </a:r>
            <a:endParaRPr lang="de-DE" dirty="0"/>
          </a:p>
        </p:txBody>
      </p:sp>
      <p:cxnSp>
        <p:nvCxnSpPr>
          <p:cNvPr id="26" name="Gewinkelte Verbindung 25"/>
          <p:cNvCxnSpPr>
            <a:stCxn id="23" idx="0"/>
            <a:endCxn id="21" idx="2"/>
          </p:cNvCxnSpPr>
          <p:nvPr/>
        </p:nvCxnSpPr>
        <p:spPr>
          <a:xfrm rot="5400000" flipH="1" flipV="1">
            <a:off x="1749703" y="3991317"/>
            <a:ext cx="1035711" cy="1152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 Verbindung 26"/>
          <p:cNvCxnSpPr>
            <a:stCxn id="22" idx="0"/>
            <a:endCxn id="21" idx="2"/>
          </p:cNvCxnSpPr>
          <p:nvPr/>
        </p:nvCxnSpPr>
        <p:spPr>
          <a:xfrm rot="16200000" flipV="1">
            <a:off x="3013545" y="3879974"/>
            <a:ext cx="1035712" cy="1375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Nach rechts gekrümmter Pfeil 27"/>
          <p:cNvSpPr/>
          <p:nvPr/>
        </p:nvSpPr>
        <p:spPr>
          <a:xfrm>
            <a:off x="1644652" y="2680476"/>
            <a:ext cx="504056" cy="5568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Nach links gekrümmter Pfeil 28"/>
          <p:cNvSpPr/>
          <p:nvPr/>
        </p:nvSpPr>
        <p:spPr>
          <a:xfrm>
            <a:off x="5555134" y="2712234"/>
            <a:ext cx="487488" cy="4933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ingekerbter Pfeil nach rechts 29"/>
          <p:cNvSpPr/>
          <p:nvPr/>
        </p:nvSpPr>
        <p:spPr>
          <a:xfrm>
            <a:off x="5569049" y="2016087"/>
            <a:ext cx="537171" cy="42291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46689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 2.0 Package </a:t>
            </a:r>
            <a:r>
              <a:rPr lang="de-DE" dirty="0" err="1" smtClean="0"/>
              <a:t>overview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199"/>
            <a:ext cx="7417196" cy="4899025"/>
          </a:xfrm>
        </p:spPr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3</a:t>
            </a:fld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2195737" y="1747143"/>
            <a:ext cx="3312368" cy="1113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HELM2NotationToolkit</a:t>
            </a:r>
            <a:endParaRPr lang="de-DE" dirty="0"/>
          </a:p>
        </p:txBody>
      </p:sp>
      <p:sp>
        <p:nvSpPr>
          <p:cNvPr id="21" name="Rechteck 20"/>
          <p:cNvSpPr/>
          <p:nvPr/>
        </p:nvSpPr>
        <p:spPr>
          <a:xfrm>
            <a:off x="1475656" y="3323051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3073899" y="5085184"/>
            <a:ext cx="2290189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ChemistryToolkitMarvin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611188" y="5085422"/>
            <a:ext cx="216024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ChemistryToolkitCDK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4674470" y="3323052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HELMNotationParser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6167164" y="1799716"/>
            <a:ext cx="2183854" cy="747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HELM2WebService</a:t>
            </a:r>
            <a:endParaRPr lang="de-DE" dirty="0"/>
          </a:p>
        </p:txBody>
      </p:sp>
      <p:cxnSp>
        <p:nvCxnSpPr>
          <p:cNvPr id="26" name="Gewinkelte Verbindung 25"/>
          <p:cNvCxnSpPr>
            <a:stCxn id="23" idx="0"/>
            <a:endCxn id="21" idx="2"/>
          </p:cNvCxnSpPr>
          <p:nvPr/>
        </p:nvCxnSpPr>
        <p:spPr>
          <a:xfrm rot="5400000" flipH="1" flipV="1">
            <a:off x="1749703" y="3991317"/>
            <a:ext cx="1035711" cy="1152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 Verbindung 26"/>
          <p:cNvCxnSpPr>
            <a:stCxn id="22" idx="0"/>
            <a:endCxn id="21" idx="2"/>
          </p:cNvCxnSpPr>
          <p:nvPr/>
        </p:nvCxnSpPr>
        <p:spPr>
          <a:xfrm rot="16200000" flipV="1">
            <a:off x="3013665" y="3879855"/>
            <a:ext cx="1035473" cy="1375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Nach rechts gekrümmter Pfeil 27"/>
          <p:cNvSpPr/>
          <p:nvPr/>
        </p:nvSpPr>
        <p:spPr>
          <a:xfrm>
            <a:off x="1644652" y="2680476"/>
            <a:ext cx="504056" cy="5568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Nach links gekrümmter Pfeil 28"/>
          <p:cNvSpPr/>
          <p:nvPr/>
        </p:nvSpPr>
        <p:spPr>
          <a:xfrm>
            <a:off x="5555134" y="2712234"/>
            <a:ext cx="487488" cy="4933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ingekerbter Pfeil nach rechts 29"/>
          <p:cNvSpPr/>
          <p:nvPr/>
        </p:nvSpPr>
        <p:spPr>
          <a:xfrm>
            <a:off x="5569049" y="2016087"/>
            <a:ext cx="537171" cy="42291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>
            <a:off x="1924499" y="1498584"/>
            <a:ext cx="3816424" cy="163712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726579" y="4393795"/>
            <a:ext cx="32876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de-DE" dirty="0" err="1" smtClean="0"/>
              <a:t>core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HELM2</a:t>
            </a:r>
          </a:p>
          <a:p>
            <a:pPr marL="285750" indent="-285750" algn="l">
              <a:buFontTx/>
              <a:buChar char="-"/>
            </a:pPr>
            <a:r>
              <a:rPr lang="de-DE" dirty="0" err="1"/>
              <a:t>w</a:t>
            </a:r>
            <a:r>
              <a:rPr lang="de-DE" dirty="0" err="1" smtClean="0"/>
              <a:t>orking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HELM2Notation </a:t>
            </a:r>
            <a:r>
              <a:rPr lang="de-DE" dirty="0" err="1" smtClean="0"/>
              <a:t>object</a:t>
            </a:r>
            <a:r>
              <a:rPr lang="de-DE" dirty="0" smtClean="0"/>
              <a:t> </a:t>
            </a:r>
            <a:r>
              <a:rPr lang="de-DE" dirty="0" err="1" smtClean="0"/>
              <a:t>instead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HELM Notation</a:t>
            </a:r>
          </a:p>
          <a:p>
            <a:pPr marL="285750" indent="-285750" algn="l">
              <a:buFontTx/>
              <a:buChar char="-"/>
            </a:pPr>
            <a:r>
              <a:rPr lang="de-DE" dirty="0" err="1" smtClean="0"/>
              <a:t>classes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methods</a:t>
            </a:r>
            <a:r>
              <a:rPr lang="de-DE" dirty="0" smtClean="0"/>
              <a:t> </a:t>
            </a:r>
            <a:r>
              <a:rPr lang="de-DE" dirty="0" smtClean="0"/>
              <a:t>e.g.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calculate</a:t>
            </a:r>
            <a:r>
              <a:rPr lang="de-DE" dirty="0" smtClean="0"/>
              <a:t> </a:t>
            </a:r>
            <a:r>
              <a:rPr lang="de-DE" dirty="0" err="1" smtClean="0"/>
              <a:t>molecule</a:t>
            </a:r>
            <a:r>
              <a:rPr lang="de-DE" dirty="0" smtClean="0"/>
              <a:t> </a:t>
            </a:r>
            <a:r>
              <a:rPr lang="de-DE" dirty="0" err="1" smtClean="0"/>
              <a:t>properties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42895710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HELM2NotationToolkit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  <p:pic>
        <p:nvPicPr>
          <p:cNvPr id="5" name="Inhaltsplatzhalt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74608" y="2495839"/>
            <a:ext cx="5976664" cy="2462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179512" y="3311811"/>
            <a:ext cx="32067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 </a:t>
            </a:r>
            <a:r>
              <a:rPr lang="de-DE" dirty="0" err="1" smtClean="0"/>
              <a:t>calculates</a:t>
            </a:r>
            <a:r>
              <a:rPr lang="de-DE" dirty="0" smtClean="0"/>
              <a:t> </a:t>
            </a:r>
            <a:r>
              <a:rPr lang="de-DE" dirty="0" err="1" smtClean="0"/>
              <a:t>molecule</a:t>
            </a:r>
            <a:r>
              <a:rPr lang="de-DE" dirty="0" smtClean="0"/>
              <a:t> </a:t>
            </a:r>
            <a:r>
              <a:rPr lang="de-DE" dirty="0" err="1" smtClean="0"/>
              <a:t>information</a:t>
            </a:r>
            <a:r>
              <a:rPr lang="de-DE" dirty="0" smtClean="0"/>
              <a:t> like </a:t>
            </a:r>
            <a:r>
              <a:rPr lang="de-DE" dirty="0" err="1" smtClean="0"/>
              <a:t>molecular</a:t>
            </a:r>
            <a:r>
              <a:rPr lang="de-DE" dirty="0" smtClean="0"/>
              <a:t> </a:t>
            </a:r>
            <a:r>
              <a:rPr lang="de-DE" dirty="0" err="1" smtClean="0"/>
              <a:t>weight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HELM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extinction</a:t>
            </a:r>
            <a:r>
              <a:rPr lang="de-DE" dirty="0" smtClean="0"/>
              <a:t> </a:t>
            </a:r>
            <a:r>
              <a:rPr lang="de-DE" dirty="0" err="1" smtClean="0"/>
              <a:t>coefficient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2915816" y="5064138"/>
            <a:ext cx="3206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 </a:t>
            </a:r>
            <a:r>
              <a:rPr lang="de-DE" dirty="0" err="1" smtClean="0"/>
              <a:t>loads</a:t>
            </a:r>
            <a:r>
              <a:rPr lang="de-DE" dirty="0" smtClean="0"/>
              <a:t> </a:t>
            </a:r>
            <a:r>
              <a:rPr lang="de-DE" dirty="0" err="1" smtClean="0"/>
              <a:t>monomers</a:t>
            </a:r>
            <a:r>
              <a:rPr lang="de-DE" dirty="0" smtClean="0"/>
              <a:t>/</a:t>
            </a:r>
            <a:r>
              <a:rPr lang="de-DE" dirty="0" err="1" smtClean="0"/>
              <a:t>nucleotides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REST API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6499808" y="3429000"/>
            <a:ext cx="246782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de-DE" dirty="0" err="1" smtClean="0"/>
              <a:t>generates</a:t>
            </a:r>
            <a:r>
              <a:rPr lang="de-DE" dirty="0" smtClean="0"/>
              <a:t> </a:t>
            </a:r>
            <a:r>
              <a:rPr lang="de-DE" dirty="0" err="1" smtClean="0"/>
              <a:t>images</a:t>
            </a:r>
            <a:r>
              <a:rPr lang="de-DE" dirty="0" smtClean="0"/>
              <a:t>, </a:t>
            </a:r>
            <a:r>
              <a:rPr lang="de-DE" dirty="0" err="1" smtClean="0"/>
              <a:t>producing</a:t>
            </a:r>
            <a:r>
              <a:rPr lang="de-DE" dirty="0" smtClean="0"/>
              <a:t> </a:t>
            </a:r>
            <a:r>
              <a:rPr lang="de-DE" dirty="0" err="1" smtClean="0"/>
              <a:t>smiles</a:t>
            </a:r>
            <a:r>
              <a:rPr lang="de-DE" dirty="0" smtClean="0"/>
              <a:t>, </a:t>
            </a:r>
            <a:r>
              <a:rPr lang="de-DE" dirty="0" err="1" smtClean="0"/>
              <a:t>molfiles</a:t>
            </a:r>
            <a:endParaRPr lang="de-DE" dirty="0"/>
          </a:p>
          <a:p>
            <a:pPr marL="285750" indent="-285750" algn="l">
              <a:buFontTx/>
              <a:buChar char="-"/>
            </a:pPr>
            <a:r>
              <a:rPr lang="de-DE" dirty="0" err="1" smtClean="0"/>
              <a:t>converts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FASTA, </a:t>
            </a:r>
            <a:r>
              <a:rPr lang="de-DE" dirty="0" err="1" smtClean="0"/>
              <a:t>sequence</a:t>
            </a:r>
            <a:r>
              <a:rPr lang="de-DE" dirty="0" smtClean="0"/>
              <a:t>, </a:t>
            </a:r>
            <a:r>
              <a:rPr lang="de-DE" dirty="0" err="1" smtClean="0"/>
              <a:t>canonical</a:t>
            </a:r>
            <a:r>
              <a:rPr lang="de-DE" dirty="0" smtClean="0"/>
              <a:t> …</a:t>
            </a:r>
          </a:p>
          <a:p>
            <a:pPr marL="285750" indent="-285750" algn="l">
              <a:buFontTx/>
              <a:buChar char="-"/>
            </a:pPr>
            <a:r>
              <a:rPr lang="de-DE" dirty="0" err="1"/>
              <a:t>c</a:t>
            </a:r>
            <a:r>
              <a:rPr lang="de-DE" dirty="0" err="1" smtClean="0"/>
              <a:t>hanges</a:t>
            </a:r>
            <a:r>
              <a:rPr lang="de-DE" dirty="0" smtClean="0"/>
              <a:t> HELM2Notation </a:t>
            </a:r>
            <a:r>
              <a:rPr lang="de-DE" dirty="0" err="1" smtClean="0"/>
              <a:t>object</a:t>
            </a:r>
            <a:r>
              <a:rPr lang="de-DE" dirty="0" smtClean="0"/>
              <a:t> </a:t>
            </a:r>
            <a:r>
              <a:rPr lang="de-DE" dirty="0" err="1" smtClean="0"/>
              <a:t>by</a:t>
            </a:r>
            <a:r>
              <a:rPr lang="de-DE" dirty="0" smtClean="0"/>
              <a:t> </a:t>
            </a:r>
            <a:r>
              <a:rPr lang="de-DE" dirty="0" err="1" smtClean="0"/>
              <a:t>adding</a:t>
            </a:r>
            <a:r>
              <a:rPr lang="de-DE" dirty="0" smtClean="0"/>
              <a:t>/</a:t>
            </a:r>
            <a:r>
              <a:rPr lang="de-DE" dirty="0" err="1" smtClean="0"/>
              <a:t>changing</a:t>
            </a:r>
            <a:r>
              <a:rPr lang="de-DE" dirty="0" smtClean="0"/>
              <a:t> …</a:t>
            </a:r>
          </a:p>
          <a:p>
            <a:pPr marL="285750" indent="-285750" algn="l">
              <a:buFontTx/>
              <a:buChar char="-"/>
            </a:pP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4084045" y="2044701"/>
            <a:ext cx="21988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data</a:t>
            </a:r>
            <a:r>
              <a:rPr lang="de-DE" dirty="0" smtClean="0"/>
              <a:t> </a:t>
            </a:r>
            <a:r>
              <a:rPr lang="de-DE" dirty="0" err="1" smtClean="0"/>
              <a:t>structures</a:t>
            </a:r>
            <a:endParaRPr lang="de-DE" dirty="0" smtClean="0"/>
          </a:p>
          <a:p>
            <a:r>
              <a:rPr lang="de-DE" dirty="0" smtClean="0"/>
              <a:t> e.g. monomer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86804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 2.0 Package </a:t>
            </a:r>
            <a:r>
              <a:rPr lang="de-DE" dirty="0" err="1" smtClean="0"/>
              <a:t>overview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199"/>
            <a:ext cx="7417196" cy="4899025"/>
          </a:xfrm>
        </p:spPr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2195737" y="1747143"/>
            <a:ext cx="3312368" cy="1113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HELM2NotationToolkit</a:t>
            </a:r>
            <a:endParaRPr lang="de-DE" dirty="0"/>
          </a:p>
        </p:txBody>
      </p:sp>
      <p:sp>
        <p:nvSpPr>
          <p:cNvPr id="21" name="Rechteck 20"/>
          <p:cNvSpPr/>
          <p:nvPr/>
        </p:nvSpPr>
        <p:spPr>
          <a:xfrm>
            <a:off x="1475656" y="3323051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3073900" y="5085423"/>
            <a:ext cx="22901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ChemistryToolkitMarvin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611188" y="5085422"/>
            <a:ext cx="216024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ChemistryToolkitCDK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4674470" y="3323052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HELMNotationParser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6167164" y="1799716"/>
            <a:ext cx="2183854" cy="747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HELM2WebService</a:t>
            </a:r>
            <a:endParaRPr lang="de-DE" dirty="0"/>
          </a:p>
        </p:txBody>
      </p:sp>
      <p:cxnSp>
        <p:nvCxnSpPr>
          <p:cNvPr id="26" name="Gewinkelte Verbindung 25"/>
          <p:cNvCxnSpPr>
            <a:stCxn id="23" idx="0"/>
            <a:endCxn id="21" idx="2"/>
          </p:cNvCxnSpPr>
          <p:nvPr/>
        </p:nvCxnSpPr>
        <p:spPr>
          <a:xfrm rot="5400000" flipH="1" flipV="1">
            <a:off x="1749703" y="3991317"/>
            <a:ext cx="1035711" cy="1152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 Verbindung 26"/>
          <p:cNvCxnSpPr>
            <a:stCxn id="22" idx="0"/>
            <a:endCxn id="21" idx="2"/>
          </p:cNvCxnSpPr>
          <p:nvPr/>
        </p:nvCxnSpPr>
        <p:spPr>
          <a:xfrm rot="16200000" flipV="1">
            <a:off x="3013545" y="3879974"/>
            <a:ext cx="1035712" cy="1375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Nach rechts gekrümmter Pfeil 27"/>
          <p:cNvSpPr/>
          <p:nvPr/>
        </p:nvSpPr>
        <p:spPr>
          <a:xfrm>
            <a:off x="1644652" y="2680476"/>
            <a:ext cx="504056" cy="5568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Nach links gekrümmter Pfeil 28"/>
          <p:cNvSpPr/>
          <p:nvPr/>
        </p:nvSpPr>
        <p:spPr>
          <a:xfrm>
            <a:off x="5555134" y="2712234"/>
            <a:ext cx="487488" cy="4933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ingekerbter Pfeil nach rechts 29"/>
          <p:cNvSpPr/>
          <p:nvPr/>
        </p:nvSpPr>
        <p:spPr>
          <a:xfrm>
            <a:off x="5569049" y="2016087"/>
            <a:ext cx="537171" cy="42291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>
            <a:off x="4211960" y="3033734"/>
            <a:ext cx="3816424" cy="130529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726579" y="4393795"/>
            <a:ext cx="32876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de-DE" dirty="0" err="1" smtClean="0"/>
              <a:t>generates</a:t>
            </a:r>
            <a:r>
              <a:rPr lang="de-DE" dirty="0" smtClean="0"/>
              <a:t> </a:t>
            </a:r>
            <a:r>
              <a:rPr lang="de-DE" dirty="0" err="1" smtClean="0"/>
              <a:t>input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HELM2NotationToolkit</a:t>
            </a:r>
          </a:p>
          <a:p>
            <a:pPr marL="285750" indent="-285750" algn="l">
              <a:buFontTx/>
              <a:buChar char="-"/>
            </a:pPr>
            <a:r>
              <a:rPr lang="de-DE" dirty="0" err="1"/>
              <a:t>c</a:t>
            </a:r>
            <a:r>
              <a:rPr lang="de-DE" dirty="0" err="1" smtClean="0"/>
              <a:t>onverts</a:t>
            </a:r>
            <a:r>
              <a:rPr lang="de-DE" dirty="0" smtClean="0"/>
              <a:t> HELM </a:t>
            </a:r>
            <a:r>
              <a:rPr lang="de-DE" dirty="0" err="1" smtClean="0"/>
              <a:t>string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HELM2Notation </a:t>
            </a:r>
            <a:r>
              <a:rPr lang="de-DE" dirty="0" err="1" smtClean="0"/>
              <a:t>object</a:t>
            </a:r>
            <a:r>
              <a:rPr lang="de-DE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25786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HELM2Notation.class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  <p:pic>
        <p:nvPicPr>
          <p:cNvPr id="5" name="Grafik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600200"/>
            <a:ext cx="7621016" cy="315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062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 2.0 Package </a:t>
            </a:r>
            <a:r>
              <a:rPr lang="de-DE" dirty="0" err="1" smtClean="0"/>
              <a:t>overview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199"/>
            <a:ext cx="7417196" cy="4899025"/>
          </a:xfrm>
        </p:spPr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2195737" y="1747143"/>
            <a:ext cx="3312368" cy="1113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HELM2NotationToolkit</a:t>
            </a:r>
            <a:endParaRPr lang="de-DE" dirty="0"/>
          </a:p>
        </p:txBody>
      </p:sp>
      <p:sp>
        <p:nvSpPr>
          <p:cNvPr id="21" name="Rechteck 20"/>
          <p:cNvSpPr/>
          <p:nvPr/>
        </p:nvSpPr>
        <p:spPr>
          <a:xfrm>
            <a:off x="1475656" y="3323051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3073899" y="5085423"/>
            <a:ext cx="2330045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ChemistryToolkitMarvin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611188" y="5085422"/>
            <a:ext cx="216024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ChemistryToolkitCDK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4674470" y="3323052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HELMNotationParser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6167164" y="1799716"/>
            <a:ext cx="2183854" cy="747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HELM2WebService</a:t>
            </a:r>
            <a:endParaRPr lang="de-DE" dirty="0"/>
          </a:p>
        </p:txBody>
      </p:sp>
      <p:cxnSp>
        <p:nvCxnSpPr>
          <p:cNvPr id="26" name="Gewinkelte Verbindung 25"/>
          <p:cNvCxnSpPr>
            <a:stCxn id="23" idx="0"/>
            <a:endCxn id="21" idx="2"/>
          </p:cNvCxnSpPr>
          <p:nvPr/>
        </p:nvCxnSpPr>
        <p:spPr>
          <a:xfrm rot="5400000" flipH="1" flipV="1">
            <a:off x="1749703" y="3991317"/>
            <a:ext cx="1035711" cy="1152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 Verbindung 26"/>
          <p:cNvCxnSpPr>
            <a:stCxn id="22" idx="0"/>
            <a:endCxn id="21" idx="2"/>
          </p:cNvCxnSpPr>
          <p:nvPr/>
        </p:nvCxnSpPr>
        <p:spPr>
          <a:xfrm rot="16200000" flipV="1">
            <a:off x="3023509" y="3870010"/>
            <a:ext cx="1035712" cy="13951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Nach rechts gekrümmter Pfeil 27"/>
          <p:cNvSpPr/>
          <p:nvPr/>
        </p:nvSpPr>
        <p:spPr>
          <a:xfrm>
            <a:off x="1644652" y="2680476"/>
            <a:ext cx="504056" cy="5568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Nach links gekrümmter Pfeil 28"/>
          <p:cNvSpPr/>
          <p:nvPr/>
        </p:nvSpPr>
        <p:spPr>
          <a:xfrm>
            <a:off x="5555134" y="2712234"/>
            <a:ext cx="487488" cy="4933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ingekerbter Pfeil nach rechts 29"/>
          <p:cNvSpPr/>
          <p:nvPr/>
        </p:nvSpPr>
        <p:spPr>
          <a:xfrm>
            <a:off x="5569049" y="2016087"/>
            <a:ext cx="537171" cy="42291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>
            <a:off x="467545" y="3189594"/>
            <a:ext cx="4641424" cy="297570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726579" y="4393795"/>
            <a:ext cx="3287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de-DE" dirty="0" err="1" smtClean="0"/>
              <a:t>chemistry</a:t>
            </a:r>
            <a:r>
              <a:rPr lang="de-DE" dirty="0" smtClean="0"/>
              <a:t> </a:t>
            </a:r>
            <a:r>
              <a:rPr lang="de-DE" dirty="0" err="1" smtClean="0"/>
              <a:t>stored</a:t>
            </a:r>
            <a:r>
              <a:rPr lang="de-DE" dirty="0" smtClean="0"/>
              <a:t> in </a:t>
            </a:r>
            <a:r>
              <a:rPr lang="de-DE" dirty="0" err="1" smtClean="0"/>
              <a:t>ChemistryToolkit</a:t>
            </a:r>
            <a:endParaRPr lang="de-DE" dirty="0" smtClean="0"/>
          </a:p>
          <a:p>
            <a:pPr marL="285750" indent="-285750" algn="l">
              <a:buFontTx/>
              <a:buChar char="-"/>
            </a:pPr>
            <a:r>
              <a:rPr lang="de-DE" dirty="0" err="1" smtClean="0"/>
              <a:t>chemistry.property</a:t>
            </a:r>
            <a:r>
              <a:rPr lang="de-DE" dirty="0" smtClean="0"/>
              <a:t> </a:t>
            </a:r>
            <a:r>
              <a:rPr lang="de-DE" dirty="0" err="1" smtClean="0"/>
              <a:t>file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define</a:t>
            </a:r>
            <a:r>
              <a:rPr lang="de-DE" dirty="0" smtClean="0"/>
              <a:t> </a:t>
            </a:r>
            <a:r>
              <a:rPr lang="de-DE" dirty="0" err="1" smtClean="0"/>
              <a:t>which</a:t>
            </a:r>
            <a:r>
              <a:rPr lang="de-DE" dirty="0" smtClean="0"/>
              <a:t> </a:t>
            </a:r>
            <a:r>
              <a:rPr lang="de-DE" dirty="0" err="1" smtClean="0"/>
              <a:t>implementation</a:t>
            </a:r>
            <a:r>
              <a:rPr lang="de-DE" dirty="0" smtClean="0"/>
              <a:t> </a:t>
            </a:r>
            <a:r>
              <a:rPr lang="de-DE" dirty="0" err="1" smtClean="0"/>
              <a:t>is</a:t>
            </a:r>
            <a:r>
              <a:rPr lang="de-DE" dirty="0" smtClean="0"/>
              <a:t> </a:t>
            </a:r>
            <a:r>
              <a:rPr lang="de-DE" dirty="0" err="1" smtClean="0"/>
              <a:t>used</a:t>
            </a:r>
            <a:endParaRPr lang="de-DE" dirty="0" smtClean="0"/>
          </a:p>
          <a:p>
            <a:pPr marL="285750" indent="-285750" algn="l">
              <a:buFontTx/>
              <a:buChar char="-"/>
            </a:pP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0156213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 2.0 Package </a:t>
            </a:r>
            <a:r>
              <a:rPr lang="de-DE" dirty="0" err="1" smtClean="0"/>
              <a:t>overview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199"/>
            <a:ext cx="7417196" cy="4899025"/>
          </a:xfrm>
        </p:spPr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2195737" y="1747143"/>
            <a:ext cx="3312368" cy="1113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HELM2NotationToolkit</a:t>
            </a:r>
            <a:endParaRPr lang="de-DE" dirty="0"/>
          </a:p>
        </p:txBody>
      </p:sp>
      <p:sp>
        <p:nvSpPr>
          <p:cNvPr id="21" name="Rechteck 20"/>
          <p:cNvSpPr/>
          <p:nvPr/>
        </p:nvSpPr>
        <p:spPr>
          <a:xfrm>
            <a:off x="1475656" y="3323051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3073899" y="5085423"/>
            <a:ext cx="2330045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ChemistryToolkitMarvin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611188" y="5085422"/>
            <a:ext cx="216024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ChemistryToolkitCDK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4674470" y="3323052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HELMNotationParser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6167164" y="1799716"/>
            <a:ext cx="2183854" cy="747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HELM2WebService</a:t>
            </a:r>
            <a:endParaRPr lang="de-DE" dirty="0"/>
          </a:p>
        </p:txBody>
      </p:sp>
      <p:cxnSp>
        <p:nvCxnSpPr>
          <p:cNvPr id="26" name="Gewinkelte Verbindung 25"/>
          <p:cNvCxnSpPr>
            <a:stCxn id="23" idx="0"/>
            <a:endCxn id="21" idx="2"/>
          </p:cNvCxnSpPr>
          <p:nvPr/>
        </p:nvCxnSpPr>
        <p:spPr>
          <a:xfrm rot="5400000" flipH="1" flipV="1">
            <a:off x="1749703" y="3991317"/>
            <a:ext cx="1035711" cy="1152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 Verbindung 26"/>
          <p:cNvCxnSpPr>
            <a:stCxn id="22" idx="0"/>
            <a:endCxn id="21" idx="2"/>
          </p:cNvCxnSpPr>
          <p:nvPr/>
        </p:nvCxnSpPr>
        <p:spPr>
          <a:xfrm rot="16200000" flipV="1">
            <a:off x="3023509" y="3870010"/>
            <a:ext cx="1035712" cy="13951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Nach rechts gekrümmter Pfeil 27"/>
          <p:cNvSpPr/>
          <p:nvPr/>
        </p:nvSpPr>
        <p:spPr>
          <a:xfrm>
            <a:off x="1644652" y="2680476"/>
            <a:ext cx="504056" cy="5568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Nach links gekrümmter Pfeil 28"/>
          <p:cNvSpPr/>
          <p:nvPr/>
        </p:nvSpPr>
        <p:spPr>
          <a:xfrm>
            <a:off x="5555134" y="2712234"/>
            <a:ext cx="487488" cy="4933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ingekerbter Pfeil nach rechts 29"/>
          <p:cNvSpPr/>
          <p:nvPr/>
        </p:nvSpPr>
        <p:spPr>
          <a:xfrm>
            <a:off x="5569049" y="2016087"/>
            <a:ext cx="537171" cy="42291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>
            <a:off x="5940151" y="1441450"/>
            <a:ext cx="2549799" cy="15375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726579" y="4393795"/>
            <a:ext cx="3287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de-DE" dirty="0" smtClean="0"/>
              <a:t>Rest API </a:t>
            </a:r>
            <a:r>
              <a:rPr lang="de-DE" dirty="0" err="1" smtClean="0"/>
              <a:t>stored</a:t>
            </a:r>
            <a:r>
              <a:rPr lang="de-DE" dirty="0" smtClean="0"/>
              <a:t> in HELM2WebService</a:t>
            </a:r>
          </a:p>
          <a:p>
            <a:pPr algn="l"/>
            <a:r>
              <a:rPr lang="de-DE" dirty="0" smtClean="0"/>
              <a:t>-    war-file </a:t>
            </a:r>
            <a:r>
              <a:rPr lang="de-DE" dirty="0" err="1" smtClean="0"/>
              <a:t>available</a:t>
            </a:r>
            <a:r>
              <a:rPr lang="de-DE" dirty="0" smtClean="0"/>
              <a:t> on </a:t>
            </a:r>
            <a:r>
              <a:rPr lang="de-DE" dirty="0" err="1" smtClean="0"/>
              <a:t>github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920993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HELM 2.0 Package </a:t>
            </a:r>
            <a:r>
              <a:rPr lang="de-DE" dirty="0" err="1" smtClean="0"/>
              <a:t>overview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199"/>
            <a:ext cx="7417196" cy="4899025"/>
          </a:xfrm>
        </p:spPr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2195737" y="1747143"/>
            <a:ext cx="3312368" cy="1113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HELM2NotationToolkit</a:t>
            </a:r>
            <a:endParaRPr lang="de-DE" dirty="0"/>
          </a:p>
        </p:txBody>
      </p:sp>
      <p:sp>
        <p:nvSpPr>
          <p:cNvPr id="21" name="Rechteck 20"/>
          <p:cNvSpPr/>
          <p:nvPr/>
        </p:nvSpPr>
        <p:spPr>
          <a:xfrm>
            <a:off x="1475656" y="3323051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</a:t>
            </a:r>
            <a:endParaRPr lang="de-DE" dirty="0"/>
          </a:p>
        </p:txBody>
      </p:sp>
      <p:sp>
        <p:nvSpPr>
          <p:cNvPr id="22" name="Rechteck 21"/>
          <p:cNvSpPr/>
          <p:nvPr/>
        </p:nvSpPr>
        <p:spPr>
          <a:xfrm>
            <a:off x="3073900" y="5085423"/>
            <a:ext cx="2290188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ChemistryToolkitMarvin</a:t>
            </a:r>
            <a:endParaRPr lang="de-DE" dirty="0"/>
          </a:p>
        </p:txBody>
      </p:sp>
      <p:sp>
        <p:nvSpPr>
          <p:cNvPr id="23" name="Rechteck 22"/>
          <p:cNvSpPr/>
          <p:nvPr/>
        </p:nvSpPr>
        <p:spPr>
          <a:xfrm>
            <a:off x="611188" y="5085422"/>
            <a:ext cx="2160240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ChemistryToolkitCDK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4674470" y="3323052"/>
            <a:ext cx="2736304" cy="726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HELMNotationParser</a:t>
            </a:r>
            <a:endParaRPr lang="de-DE" dirty="0"/>
          </a:p>
        </p:txBody>
      </p:sp>
      <p:sp>
        <p:nvSpPr>
          <p:cNvPr id="25" name="Rechteck 24"/>
          <p:cNvSpPr/>
          <p:nvPr/>
        </p:nvSpPr>
        <p:spPr>
          <a:xfrm>
            <a:off x="6167164" y="1799716"/>
            <a:ext cx="2183854" cy="747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HELM2WebService</a:t>
            </a:r>
            <a:endParaRPr lang="de-DE" dirty="0"/>
          </a:p>
        </p:txBody>
      </p:sp>
      <p:cxnSp>
        <p:nvCxnSpPr>
          <p:cNvPr id="26" name="Gewinkelte Verbindung 25"/>
          <p:cNvCxnSpPr>
            <a:stCxn id="23" idx="0"/>
            <a:endCxn id="21" idx="2"/>
          </p:cNvCxnSpPr>
          <p:nvPr/>
        </p:nvCxnSpPr>
        <p:spPr>
          <a:xfrm rot="5400000" flipH="1" flipV="1">
            <a:off x="1749703" y="3991317"/>
            <a:ext cx="1035711" cy="1152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winkelte Verbindung 26"/>
          <p:cNvCxnSpPr>
            <a:stCxn id="22" idx="0"/>
            <a:endCxn id="21" idx="2"/>
          </p:cNvCxnSpPr>
          <p:nvPr/>
        </p:nvCxnSpPr>
        <p:spPr>
          <a:xfrm rot="16200000" flipV="1">
            <a:off x="3013545" y="3879974"/>
            <a:ext cx="1035712" cy="1375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Nach rechts gekrümmter Pfeil 27"/>
          <p:cNvSpPr/>
          <p:nvPr/>
        </p:nvSpPr>
        <p:spPr>
          <a:xfrm>
            <a:off x="1644652" y="2680476"/>
            <a:ext cx="504056" cy="55684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9" name="Nach links gekrümmter Pfeil 28"/>
          <p:cNvSpPr/>
          <p:nvPr/>
        </p:nvSpPr>
        <p:spPr>
          <a:xfrm>
            <a:off x="5555134" y="2712234"/>
            <a:ext cx="487488" cy="4933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0" name="Eingekerbter Pfeil nach rechts 29"/>
          <p:cNvSpPr/>
          <p:nvPr/>
        </p:nvSpPr>
        <p:spPr>
          <a:xfrm>
            <a:off x="5569049" y="2016087"/>
            <a:ext cx="537171" cy="42291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/>
          <p:cNvSpPr/>
          <p:nvPr/>
        </p:nvSpPr>
        <p:spPr>
          <a:xfrm>
            <a:off x="1896680" y="1580144"/>
            <a:ext cx="3869902" cy="15375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/>
        </p:nvSpPr>
        <p:spPr>
          <a:xfrm>
            <a:off x="5726579" y="4393795"/>
            <a:ext cx="3287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Tx/>
              <a:buChar char="-"/>
            </a:pPr>
            <a:r>
              <a:rPr lang="de-DE" dirty="0" err="1" smtClean="0"/>
              <a:t>serves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client</a:t>
            </a:r>
            <a:r>
              <a:rPr lang="de-DE" dirty="0" smtClean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load</a:t>
            </a:r>
            <a:r>
              <a:rPr lang="de-DE" dirty="0" smtClean="0"/>
              <a:t> monomer </a:t>
            </a:r>
            <a:r>
              <a:rPr lang="de-DE" dirty="0" err="1" smtClean="0"/>
              <a:t>store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 REST API </a:t>
            </a:r>
          </a:p>
        </p:txBody>
      </p:sp>
    </p:spTree>
    <p:extLst>
      <p:ext uri="{BB962C8B-B14F-4D97-AF65-F5344CB8AC3E}">
        <p14:creationId xmlns:p14="http://schemas.microsoft.com/office/powerpoint/2010/main" val="37998880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Define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location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monomer </a:t>
            </a:r>
            <a:r>
              <a:rPr lang="de-DE" dirty="0" err="1" smtClean="0"/>
              <a:t>store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  <p:sp>
        <p:nvSpPr>
          <p:cNvPr id="5" name="Rechteck 4"/>
          <p:cNvSpPr/>
          <p:nvPr/>
        </p:nvSpPr>
        <p:spPr bwMode="auto">
          <a:xfrm>
            <a:off x="603094" y="3429000"/>
            <a:ext cx="2304256" cy="9361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/>
              <a:t>HELM2NotationToolkit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608568" y="1617402"/>
            <a:ext cx="3816424" cy="10772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de-DE" b="1" dirty="0" err="1" smtClean="0"/>
              <a:t>MonomerStoreConfig.properties</a:t>
            </a:r>
            <a:endParaRPr lang="de-DE" b="1" dirty="0" smtClean="0"/>
          </a:p>
          <a:p>
            <a:pPr algn="just"/>
            <a:r>
              <a:rPr lang="de-DE" dirty="0" err="1" smtClean="0"/>
              <a:t>use.webservice</a:t>
            </a:r>
            <a:r>
              <a:rPr lang="de-DE" dirty="0" smtClean="0"/>
              <a:t>=</a:t>
            </a:r>
            <a:r>
              <a:rPr lang="de-DE" dirty="0" err="1" smtClean="0">
                <a:solidFill>
                  <a:srgbClr val="FF0000"/>
                </a:solidFill>
              </a:rPr>
              <a:t>true</a:t>
            </a:r>
            <a:endParaRPr lang="de-DE" dirty="0">
              <a:solidFill>
                <a:srgbClr val="FF0000"/>
              </a:solidFill>
            </a:endParaRPr>
          </a:p>
          <a:p>
            <a:pPr algn="just"/>
            <a:r>
              <a:rPr lang="de-DE" dirty="0" err="1" smtClean="0"/>
              <a:t>use.external.monomers</a:t>
            </a:r>
            <a:r>
              <a:rPr lang="de-DE" dirty="0" smtClean="0"/>
              <a:t>=</a:t>
            </a:r>
            <a:r>
              <a:rPr lang="de-DE" dirty="0" err="1" smtClean="0"/>
              <a:t>false</a:t>
            </a:r>
            <a:endParaRPr lang="de-DE" dirty="0"/>
          </a:p>
          <a:p>
            <a:pPr algn="just"/>
            <a:r>
              <a:rPr lang="de-DE" dirty="0" err="1" smtClean="0"/>
              <a:t>use.external.nucleotides</a:t>
            </a:r>
            <a:r>
              <a:rPr lang="de-DE" dirty="0" smtClean="0"/>
              <a:t>=</a:t>
            </a:r>
            <a:r>
              <a:rPr lang="de-DE" dirty="0" err="1" smtClean="0"/>
              <a:t>false</a:t>
            </a:r>
            <a:endParaRPr lang="de-DE" dirty="0"/>
          </a:p>
        </p:txBody>
      </p:sp>
      <p:cxnSp>
        <p:nvCxnSpPr>
          <p:cNvPr id="8" name="Gerade Verbindung mit Pfeil 7"/>
          <p:cNvCxnSpPr/>
          <p:nvPr/>
        </p:nvCxnSpPr>
        <p:spPr bwMode="auto">
          <a:xfrm>
            <a:off x="3131840" y="3861048"/>
            <a:ext cx="1080120" cy="0"/>
          </a:xfrm>
          <a:prstGeom prst="straightConnector1">
            <a:avLst/>
          </a:prstGeom>
          <a:solidFill>
            <a:srgbClr val="00A88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Pfeil nach rechts 8"/>
          <p:cNvSpPr/>
          <p:nvPr/>
        </p:nvSpPr>
        <p:spPr bwMode="auto">
          <a:xfrm>
            <a:off x="3275856" y="3753036"/>
            <a:ext cx="936104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499992" y="3429000"/>
            <a:ext cx="1728192" cy="9361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Server 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4499992" y="4725144"/>
            <a:ext cx="27363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 smtClean="0"/>
              <a:t>GET </a:t>
            </a:r>
            <a:r>
              <a:rPr lang="de-DE" dirty="0" err="1" smtClean="0"/>
              <a:t>monomers</a:t>
            </a:r>
            <a:endParaRPr lang="de-DE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 smtClean="0"/>
              <a:t>PUT </a:t>
            </a:r>
            <a:r>
              <a:rPr lang="de-DE" dirty="0" err="1" smtClean="0"/>
              <a:t>monomers</a:t>
            </a:r>
            <a:endParaRPr lang="de-DE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 smtClean="0"/>
              <a:t>GET </a:t>
            </a:r>
            <a:r>
              <a:rPr lang="de-DE" dirty="0" err="1" smtClean="0"/>
              <a:t>nucleotides</a:t>
            </a:r>
            <a:endParaRPr lang="de-DE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 smtClean="0"/>
              <a:t>PUT </a:t>
            </a:r>
            <a:r>
              <a:rPr lang="de-DE" dirty="0" err="1" smtClean="0"/>
              <a:t>nucleotides</a:t>
            </a:r>
            <a:endParaRPr lang="de-DE" dirty="0"/>
          </a:p>
        </p:txBody>
      </p:sp>
      <p:sp>
        <p:nvSpPr>
          <p:cNvPr id="13" name="Rechteck 12"/>
          <p:cNvSpPr/>
          <p:nvPr/>
        </p:nvSpPr>
        <p:spPr bwMode="auto">
          <a:xfrm>
            <a:off x="603094" y="2917794"/>
            <a:ext cx="1872208" cy="36004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HELM2WebService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603094" y="4602614"/>
            <a:ext cx="2066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/>
              <a:t>serves</a:t>
            </a:r>
            <a:r>
              <a:rPr lang="de-DE" dirty="0" smtClean="0"/>
              <a:t> </a:t>
            </a:r>
            <a:r>
              <a:rPr lang="de-DE" dirty="0" err="1" smtClean="0"/>
              <a:t>here</a:t>
            </a:r>
            <a:r>
              <a:rPr lang="de-DE" dirty="0" smtClean="0"/>
              <a:t> </a:t>
            </a:r>
            <a:r>
              <a:rPr lang="de-DE" dirty="0" err="1" smtClean="0"/>
              <a:t>as</a:t>
            </a:r>
            <a:r>
              <a:rPr lang="de-DE" dirty="0" smtClean="0"/>
              <a:t> </a:t>
            </a:r>
            <a:r>
              <a:rPr lang="de-DE" dirty="0" err="1" smtClean="0"/>
              <a:t>client</a:t>
            </a:r>
            <a:endParaRPr lang="de-DE" dirty="0"/>
          </a:p>
        </p:txBody>
      </p:sp>
      <p:sp>
        <p:nvSpPr>
          <p:cNvPr id="15" name="Pfeil nach rechts 14"/>
          <p:cNvSpPr/>
          <p:nvPr/>
        </p:nvSpPr>
        <p:spPr bwMode="auto">
          <a:xfrm>
            <a:off x="4574766" y="1844824"/>
            <a:ext cx="504056" cy="50405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5552678" y="1499300"/>
            <a:ext cx="33182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 smtClean="0"/>
              <a:t>webservice.monomers.url=</a:t>
            </a:r>
          </a:p>
          <a:p>
            <a:pPr algn="l"/>
            <a:r>
              <a:rPr lang="de-DE" dirty="0" err="1" smtClean="0"/>
              <a:t>webservice.monomers.path</a:t>
            </a:r>
            <a:r>
              <a:rPr lang="de-DE" dirty="0" smtClean="0"/>
              <a:t>=</a:t>
            </a:r>
          </a:p>
          <a:p>
            <a:pPr algn="l"/>
            <a:r>
              <a:rPr lang="de-DE" dirty="0" err="1" smtClean="0"/>
              <a:t>webservice.monomers.put.path</a:t>
            </a:r>
            <a:r>
              <a:rPr lang="de-DE" dirty="0" smtClean="0"/>
              <a:t>=</a:t>
            </a:r>
          </a:p>
          <a:p>
            <a:pPr algn="l"/>
            <a:r>
              <a:rPr lang="de-DE" dirty="0" smtClean="0"/>
              <a:t>webservice.nucleotides.url=</a:t>
            </a:r>
          </a:p>
          <a:p>
            <a:pPr algn="l"/>
            <a:r>
              <a:rPr lang="de-DE" dirty="0" err="1" smtClean="0"/>
              <a:t>webservice.nucleotides.path</a:t>
            </a:r>
            <a:r>
              <a:rPr lang="de-DE" dirty="0" smtClean="0"/>
              <a:t>=</a:t>
            </a:r>
            <a:endParaRPr lang="de-DE" dirty="0"/>
          </a:p>
          <a:p>
            <a:pPr algn="l"/>
            <a:r>
              <a:rPr lang="de-DE" dirty="0" err="1" smtClean="0"/>
              <a:t>webservice.nucleotides.put.path</a:t>
            </a:r>
            <a:r>
              <a:rPr lang="de-DE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18940503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Define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location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monomer </a:t>
            </a:r>
            <a:r>
              <a:rPr lang="de-DE" dirty="0" err="1" smtClean="0"/>
              <a:t>store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  <p:sp>
        <p:nvSpPr>
          <p:cNvPr id="5" name="Rechteck 4"/>
          <p:cNvSpPr/>
          <p:nvPr/>
        </p:nvSpPr>
        <p:spPr bwMode="auto">
          <a:xfrm>
            <a:off x="603094" y="3429000"/>
            <a:ext cx="2304256" cy="9361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HELM2NotationToolkit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608568" y="1617402"/>
            <a:ext cx="3816424" cy="10772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de-DE" b="1" dirty="0" err="1" smtClean="0"/>
              <a:t>MonomerStoreConfig.properties</a:t>
            </a:r>
            <a:endParaRPr lang="de-DE" b="1" dirty="0" smtClean="0"/>
          </a:p>
          <a:p>
            <a:pPr algn="just"/>
            <a:r>
              <a:rPr lang="de-DE" dirty="0" err="1" smtClean="0"/>
              <a:t>use.webservice</a:t>
            </a:r>
            <a:r>
              <a:rPr lang="de-DE" dirty="0" smtClean="0"/>
              <a:t>=</a:t>
            </a:r>
            <a:r>
              <a:rPr lang="de-DE" dirty="0" err="1" smtClean="0">
                <a:solidFill>
                  <a:schemeClr val="tx1"/>
                </a:solidFill>
              </a:rPr>
              <a:t>false</a:t>
            </a:r>
            <a:endParaRPr lang="de-DE" dirty="0">
              <a:solidFill>
                <a:schemeClr val="tx1"/>
              </a:solidFill>
            </a:endParaRPr>
          </a:p>
          <a:p>
            <a:pPr algn="just"/>
            <a:r>
              <a:rPr lang="de-DE" dirty="0" err="1" smtClean="0"/>
              <a:t>use.external.monomers</a:t>
            </a:r>
            <a:r>
              <a:rPr lang="de-DE" dirty="0" smtClean="0"/>
              <a:t>=</a:t>
            </a:r>
            <a:r>
              <a:rPr lang="de-DE" dirty="0" err="1" smtClean="0">
                <a:solidFill>
                  <a:srgbClr val="FF0000"/>
                </a:solidFill>
              </a:rPr>
              <a:t>true</a:t>
            </a:r>
            <a:endParaRPr lang="de-DE" dirty="0"/>
          </a:p>
          <a:p>
            <a:pPr algn="just"/>
            <a:r>
              <a:rPr lang="de-DE" dirty="0" err="1" smtClean="0"/>
              <a:t>use.external.nucleotides</a:t>
            </a:r>
            <a:r>
              <a:rPr lang="de-DE" dirty="0" smtClean="0"/>
              <a:t>=</a:t>
            </a:r>
            <a:r>
              <a:rPr lang="de-DE" dirty="0" err="1" smtClean="0">
                <a:solidFill>
                  <a:srgbClr val="FF0000"/>
                </a:solidFill>
              </a:rPr>
              <a:t>true</a:t>
            </a:r>
            <a:endParaRPr lang="de-DE" dirty="0"/>
          </a:p>
        </p:txBody>
      </p:sp>
      <p:cxnSp>
        <p:nvCxnSpPr>
          <p:cNvPr id="8" name="Gerade Verbindung mit Pfeil 7"/>
          <p:cNvCxnSpPr/>
          <p:nvPr/>
        </p:nvCxnSpPr>
        <p:spPr bwMode="auto">
          <a:xfrm>
            <a:off x="3131840" y="3861048"/>
            <a:ext cx="1080120" cy="0"/>
          </a:xfrm>
          <a:prstGeom prst="straightConnector1">
            <a:avLst/>
          </a:prstGeom>
          <a:solidFill>
            <a:srgbClr val="00A88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Pfeil nach rechts 8"/>
          <p:cNvSpPr/>
          <p:nvPr/>
        </p:nvSpPr>
        <p:spPr bwMode="auto">
          <a:xfrm>
            <a:off x="3275856" y="3429000"/>
            <a:ext cx="936104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603094" y="2917794"/>
            <a:ext cx="1872208" cy="36004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HELM2WebService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5" name="Pfeil nach rechts 14"/>
          <p:cNvSpPr/>
          <p:nvPr/>
        </p:nvSpPr>
        <p:spPr bwMode="auto">
          <a:xfrm>
            <a:off x="4574766" y="1844824"/>
            <a:ext cx="504056" cy="50405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5527021" y="1764105"/>
            <a:ext cx="3318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 err="1" smtClean="0"/>
              <a:t>external.monomers.path</a:t>
            </a:r>
            <a:r>
              <a:rPr lang="de-DE" dirty="0" smtClean="0"/>
              <a:t>=</a:t>
            </a:r>
          </a:p>
          <a:p>
            <a:pPr algn="l"/>
            <a:r>
              <a:rPr lang="de-DE" dirty="0" err="1" smtClean="0"/>
              <a:t>external.nucleotides.path</a:t>
            </a:r>
            <a:r>
              <a:rPr lang="de-DE" dirty="0" smtClean="0"/>
              <a:t>=</a:t>
            </a:r>
            <a:endParaRPr lang="de-DE" dirty="0"/>
          </a:p>
        </p:txBody>
      </p:sp>
      <p:cxnSp>
        <p:nvCxnSpPr>
          <p:cNvPr id="7" name="Gerade Verbindung mit Pfeil 6"/>
          <p:cNvCxnSpPr/>
          <p:nvPr/>
        </p:nvCxnSpPr>
        <p:spPr bwMode="auto">
          <a:xfrm>
            <a:off x="-1476672" y="116632"/>
            <a:ext cx="0" cy="0"/>
          </a:xfrm>
          <a:prstGeom prst="straightConnector1">
            <a:avLst/>
          </a:prstGeom>
          <a:solidFill>
            <a:srgbClr val="00A88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Pfeil nach rechts 16"/>
          <p:cNvSpPr/>
          <p:nvPr/>
        </p:nvSpPr>
        <p:spPr bwMode="auto">
          <a:xfrm>
            <a:off x="3275856" y="4235388"/>
            <a:ext cx="936104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1" name="Rechteck 10"/>
          <p:cNvSpPr/>
          <p:nvPr/>
        </p:nvSpPr>
        <p:spPr bwMode="auto">
          <a:xfrm>
            <a:off x="4355976" y="3277834"/>
            <a:ext cx="1224136" cy="43919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Monomer.xml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8" name="Rechteck 17"/>
          <p:cNvSpPr/>
          <p:nvPr/>
        </p:nvSpPr>
        <p:spPr bwMode="auto">
          <a:xfrm>
            <a:off x="4355976" y="4051817"/>
            <a:ext cx="1512168" cy="439198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dirty="0" smtClean="0"/>
              <a:t>Nucleotide</a:t>
            </a: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.xml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96851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 smtClean="0"/>
              <a:t>Define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location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monomer </a:t>
            </a:r>
            <a:r>
              <a:rPr lang="de-DE" dirty="0" err="1" smtClean="0"/>
              <a:t>store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  <p:sp>
        <p:nvSpPr>
          <p:cNvPr id="5" name="Rechteck 4"/>
          <p:cNvSpPr/>
          <p:nvPr/>
        </p:nvSpPr>
        <p:spPr bwMode="auto">
          <a:xfrm>
            <a:off x="603094" y="3429000"/>
            <a:ext cx="2304256" cy="936104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HELM2NotationToolkit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6" name="Textfeld 5"/>
          <p:cNvSpPr txBox="1"/>
          <p:nvPr/>
        </p:nvSpPr>
        <p:spPr>
          <a:xfrm>
            <a:off x="608568" y="1617402"/>
            <a:ext cx="3816424" cy="10772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de-DE" b="1" dirty="0" err="1" smtClean="0"/>
              <a:t>MonomerStoreConfig.properties</a:t>
            </a:r>
            <a:endParaRPr lang="de-DE" b="1" dirty="0" smtClean="0"/>
          </a:p>
          <a:p>
            <a:pPr algn="just"/>
            <a:r>
              <a:rPr lang="de-DE" dirty="0" err="1" smtClean="0"/>
              <a:t>use.webservice</a:t>
            </a:r>
            <a:r>
              <a:rPr lang="de-DE" dirty="0" smtClean="0"/>
              <a:t>=</a:t>
            </a:r>
            <a:r>
              <a:rPr lang="de-DE" dirty="0" err="1" smtClean="0">
                <a:solidFill>
                  <a:schemeClr val="tx1"/>
                </a:solidFill>
              </a:rPr>
              <a:t>false</a:t>
            </a:r>
            <a:endParaRPr lang="de-DE" dirty="0">
              <a:solidFill>
                <a:schemeClr val="tx1"/>
              </a:solidFill>
            </a:endParaRPr>
          </a:p>
          <a:p>
            <a:pPr algn="just"/>
            <a:r>
              <a:rPr lang="de-DE" dirty="0" err="1" smtClean="0"/>
              <a:t>use.external.monomers</a:t>
            </a:r>
            <a:r>
              <a:rPr lang="de-DE" dirty="0" smtClean="0"/>
              <a:t>=</a:t>
            </a:r>
            <a:r>
              <a:rPr lang="de-DE" dirty="0" err="1" smtClean="0">
                <a:solidFill>
                  <a:schemeClr val="tx1"/>
                </a:solidFill>
              </a:rPr>
              <a:t>false</a:t>
            </a:r>
            <a:endParaRPr lang="de-DE" dirty="0"/>
          </a:p>
          <a:p>
            <a:pPr algn="just"/>
            <a:r>
              <a:rPr lang="de-DE" dirty="0" err="1" smtClean="0"/>
              <a:t>use.external.nucleotides</a:t>
            </a:r>
            <a:r>
              <a:rPr lang="de-DE" dirty="0" smtClean="0"/>
              <a:t>=</a:t>
            </a:r>
            <a:r>
              <a:rPr lang="de-DE" dirty="0" err="1" smtClean="0">
                <a:solidFill>
                  <a:schemeClr val="tx1"/>
                </a:solidFill>
              </a:rPr>
              <a:t>false</a:t>
            </a:r>
            <a:endParaRPr lang="de-DE" dirty="0"/>
          </a:p>
        </p:txBody>
      </p:sp>
      <p:cxnSp>
        <p:nvCxnSpPr>
          <p:cNvPr id="8" name="Gerade Verbindung mit Pfeil 7"/>
          <p:cNvCxnSpPr/>
          <p:nvPr/>
        </p:nvCxnSpPr>
        <p:spPr bwMode="auto">
          <a:xfrm>
            <a:off x="3131840" y="3861048"/>
            <a:ext cx="1080120" cy="0"/>
          </a:xfrm>
          <a:prstGeom prst="straightConnector1">
            <a:avLst/>
          </a:prstGeom>
          <a:solidFill>
            <a:srgbClr val="00A88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Rechteck 12"/>
          <p:cNvSpPr/>
          <p:nvPr/>
        </p:nvSpPr>
        <p:spPr bwMode="auto">
          <a:xfrm>
            <a:off x="603094" y="2917794"/>
            <a:ext cx="1872208" cy="36004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cap="none" normalizeH="0" baseline="0" dirty="0" smtClean="0">
                <a:ln>
                  <a:noFill/>
                </a:ln>
                <a:solidFill>
                  <a:srgbClr val="173B64"/>
                </a:solidFill>
                <a:effectLst/>
                <a:latin typeface="Arial" charset="0"/>
              </a:rPr>
              <a:t>HELM2WebService</a:t>
            </a:r>
            <a:endParaRPr kumimoji="0" lang="de-DE" sz="1600" b="0" i="0" u="none" strike="noStrike" cap="none" normalizeH="0" baseline="0" dirty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cxnSp>
        <p:nvCxnSpPr>
          <p:cNvPr id="7" name="Gerade Verbindung mit Pfeil 6"/>
          <p:cNvCxnSpPr/>
          <p:nvPr/>
        </p:nvCxnSpPr>
        <p:spPr bwMode="auto">
          <a:xfrm>
            <a:off x="-1476672" y="116632"/>
            <a:ext cx="0" cy="0"/>
          </a:xfrm>
          <a:prstGeom prst="straightConnector1">
            <a:avLst/>
          </a:prstGeom>
          <a:solidFill>
            <a:srgbClr val="00A886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Textfeld 2"/>
          <p:cNvSpPr txBox="1"/>
          <p:nvPr/>
        </p:nvSpPr>
        <p:spPr>
          <a:xfrm>
            <a:off x="4067944" y="3573016"/>
            <a:ext cx="4320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dirty="0" smtClean="0"/>
              <a:t> .</a:t>
            </a:r>
            <a:r>
              <a:rPr lang="de-DE" dirty="0" err="1" smtClean="0"/>
              <a:t>helm</a:t>
            </a:r>
            <a:r>
              <a:rPr lang="de-DE" dirty="0" smtClean="0"/>
              <a:t>/</a:t>
            </a:r>
            <a:r>
              <a:rPr lang="de-DE" dirty="0" err="1" smtClean="0"/>
              <a:t>MonomerCache.ser</a:t>
            </a:r>
            <a:endParaRPr lang="de-DE" dirty="0" smtClean="0"/>
          </a:p>
          <a:p>
            <a:pPr algn="l"/>
            <a:endParaRPr lang="de-DE" dirty="0"/>
          </a:p>
          <a:p>
            <a:pPr algn="l"/>
            <a:endParaRPr lang="de-DE" dirty="0" smtClean="0"/>
          </a:p>
          <a:p>
            <a:pPr algn="l"/>
            <a:endParaRPr lang="de-DE" dirty="0" smtClean="0"/>
          </a:p>
          <a:p>
            <a:pPr algn="l"/>
            <a:r>
              <a:rPr lang="de-DE" dirty="0" smtClean="0"/>
              <a:t>.</a:t>
            </a:r>
            <a:r>
              <a:rPr lang="de-DE" dirty="0" err="1" smtClean="0"/>
              <a:t>helm</a:t>
            </a:r>
            <a:r>
              <a:rPr lang="de-DE" dirty="0" smtClean="0"/>
              <a:t>/MonomerDBGZEncoded.xml</a:t>
            </a:r>
          </a:p>
          <a:p>
            <a:pPr algn="l"/>
            <a:endParaRPr lang="de-DE" dirty="0"/>
          </a:p>
          <a:p>
            <a:pPr algn="l"/>
            <a:endParaRPr lang="de-DE" dirty="0" smtClean="0"/>
          </a:p>
          <a:p>
            <a:pPr algn="l"/>
            <a:endParaRPr lang="de-DE" dirty="0" smtClean="0"/>
          </a:p>
          <a:p>
            <a:pPr algn="l"/>
            <a:r>
              <a:rPr lang="de-DE" dirty="0" err="1" smtClean="0"/>
              <a:t>src</a:t>
            </a:r>
            <a:r>
              <a:rPr lang="de-DE" dirty="0" smtClean="0"/>
              <a:t>/</a:t>
            </a:r>
            <a:r>
              <a:rPr lang="de-DE" dirty="0" err="1" smtClean="0"/>
              <a:t>main</a:t>
            </a:r>
            <a:r>
              <a:rPr lang="de-DE" dirty="0" smtClean="0"/>
              <a:t>/</a:t>
            </a:r>
            <a:r>
              <a:rPr lang="de-DE" dirty="0" err="1" smtClean="0"/>
              <a:t>resources</a:t>
            </a:r>
            <a:r>
              <a:rPr lang="de-DE" dirty="0" smtClean="0"/>
              <a:t>/MonomerDBGZEncoded.xml</a:t>
            </a:r>
            <a:endParaRPr lang="de-DE" dirty="0"/>
          </a:p>
        </p:txBody>
      </p:sp>
      <p:sp>
        <p:nvSpPr>
          <p:cNvPr id="10" name="Pfeil nach rechts 9"/>
          <p:cNvSpPr/>
          <p:nvPr/>
        </p:nvSpPr>
        <p:spPr bwMode="auto">
          <a:xfrm>
            <a:off x="3203848" y="3789040"/>
            <a:ext cx="648072" cy="36004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4" name="Pfeil nach unten 13"/>
          <p:cNvSpPr/>
          <p:nvPr/>
        </p:nvSpPr>
        <p:spPr bwMode="auto">
          <a:xfrm>
            <a:off x="5364088" y="5013176"/>
            <a:ext cx="432048" cy="43204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  <p:sp>
        <p:nvSpPr>
          <p:cNvPr id="19" name="Pfeil nach unten 18"/>
          <p:cNvSpPr/>
          <p:nvPr/>
        </p:nvSpPr>
        <p:spPr bwMode="auto">
          <a:xfrm>
            <a:off x="5354478" y="4077072"/>
            <a:ext cx="432048" cy="43204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rgbClr val="173B64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9994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Working in </a:t>
            </a:r>
            <a:r>
              <a:rPr lang="de-DE" dirty="0" err="1" smtClean="0"/>
              <a:t>general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8431212" cy="390048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 smtClean="0"/>
              <a:t>WebService.java: </a:t>
            </a:r>
            <a:r>
              <a:rPr lang="de-DE" dirty="0" err="1"/>
              <a:t>provides</a:t>
            </a:r>
            <a:r>
              <a:rPr lang="de-DE" dirty="0"/>
              <a:t> all REST – API </a:t>
            </a:r>
            <a:r>
              <a:rPr lang="de-DE" dirty="0" err="1"/>
              <a:t>methods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smtClean="0"/>
              <a:t>Validation.java: </a:t>
            </a:r>
            <a:r>
              <a:rPr lang="de-DE" dirty="0" err="1"/>
              <a:t>validates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HELM2Notation </a:t>
            </a:r>
            <a:r>
              <a:rPr lang="de-DE" dirty="0" err="1"/>
              <a:t>object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smtClean="0"/>
              <a:t>ChangeObjects.java</a:t>
            </a:r>
            <a:r>
              <a:rPr lang="de-DE" dirty="0"/>
              <a:t>: </a:t>
            </a:r>
            <a:r>
              <a:rPr lang="de-DE" dirty="0" err="1"/>
              <a:t>changes</a:t>
            </a:r>
            <a:r>
              <a:rPr lang="de-DE" dirty="0"/>
              <a:t> HELM2Notation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adding</a:t>
            </a:r>
            <a:r>
              <a:rPr lang="de-DE" dirty="0"/>
              <a:t>, </a:t>
            </a:r>
            <a:r>
              <a:rPr lang="de-DE" dirty="0" err="1"/>
              <a:t>changing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deleting</a:t>
            </a:r>
            <a:r>
              <a:rPr lang="de-DE" dirty="0"/>
              <a:t> </a:t>
            </a:r>
            <a:r>
              <a:rPr lang="de-DE" dirty="0" err="1"/>
              <a:t>parts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it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smtClean="0"/>
              <a:t>HELM1Utils.java</a:t>
            </a:r>
            <a:r>
              <a:rPr lang="de-DE" dirty="0"/>
              <a:t>: </a:t>
            </a:r>
            <a:r>
              <a:rPr lang="de-DE" dirty="0" err="1"/>
              <a:t>produces</a:t>
            </a:r>
            <a:r>
              <a:rPr lang="de-DE" dirty="0"/>
              <a:t> </a:t>
            </a:r>
            <a:r>
              <a:rPr lang="de-DE" dirty="0" err="1"/>
              <a:t>standard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canonical</a:t>
            </a:r>
            <a:r>
              <a:rPr lang="de-DE" dirty="0"/>
              <a:t> HELM2Notation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HELM2NotationUtils.java: </a:t>
            </a:r>
            <a:r>
              <a:rPr lang="de-DE" dirty="0" err="1" smtClean="0"/>
              <a:t>gets</a:t>
            </a:r>
            <a:r>
              <a:rPr lang="de-DE" dirty="0" smtClean="0"/>
              <a:t> </a:t>
            </a:r>
            <a:r>
              <a:rPr lang="de-DE" dirty="0"/>
              <a:t>additional 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HELM2Notation </a:t>
            </a:r>
            <a:r>
              <a:rPr lang="de-DE" dirty="0" err="1" smtClean="0"/>
              <a:t>object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smtClean="0"/>
              <a:t>MethodsMonomerUtils.java</a:t>
            </a:r>
            <a:r>
              <a:rPr lang="de-DE" dirty="0"/>
              <a:t>: </a:t>
            </a:r>
            <a:r>
              <a:rPr lang="de-DE" dirty="0" err="1"/>
              <a:t>gets</a:t>
            </a:r>
            <a:r>
              <a:rPr lang="de-DE" dirty="0"/>
              <a:t> </a:t>
            </a:r>
            <a:r>
              <a:rPr lang="de-DE" dirty="0" err="1"/>
              <a:t>monomers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HELM </a:t>
            </a:r>
            <a:r>
              <a:rPr lang="de-DE" dirty="0" err="1"/>
              <a:t>molecule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56581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</a:t>
            </a:r>
            <a:r>
              <a:rPr lang="de-DE" dirty="0" smtClean="0"/>
              <a:t>orking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structures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8353300" cy="485313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 smtClean="0"/>
              <a:t>SMILES.java: </a:t>
            </a:r>
            <a:r>
              <a:rPr lang="de-DE" dirty="0" err="1" smtClean="0"/>
              <a:t>generates</a:t>
            </a:r>
            <a:r>
              <a:rPr lang="de-DE" dirty="0" smtClean="0"/>
              <a:t> SMILES (</a:t>
            </a:r>
            <a:r>
              <a:rPr lang="de-DE" dirty="0" err="1" smtClean="0"/>
              <a:t>standard</a:t>
            </a:r>
            <a:r>
              <a:rPr lang="de-DE" dirty="0"/>
              <a:t> </a:t>
            </a:r>
            <a:r>
              <a:rPr lang="de-DE" dirty="0" err="1" smtClean="0"/>
              <a:t>or</a:t>
            </a:r>
            <a:r>
              <a:rPr lang="de-DE" dirty="0" smtClean="0"/>
              <a:t> </a:t>
            </a:r>
            <a:r>
              <a:rPr lang="de-DE" dirty="0" err="1" smtClean="0"/>
              <a:t>canonical</a:t>
            </a:r>
            <a:r>
              <a:rPr lang="de-DE" dirty="0" smtClean="0"/>
              <a:t>) </a:t>
            </a:r>
            <a:r>
              <a:rPr lang="de-DE" dirty="0" err="1" smtClean="0"/>
              <a:t>for</a:t>
            </a:r>
            <a:r>
              <a:rPr lang="de-DE" dirty="0" smtClean="0"/>
              <a:t> HELM </a:t>
            </a:r>
            <a:r>
              <a:rPr lang="de-DE" dirty="0" err="1" smtClean="0"/>
              <a:t>molecule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polymers</a:t>
            </a:r>
            <a:endParaRPr lang="de-DE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smtClean="0"/>
              <a:t>BuilderMolecule.java: </a:t>
            </a:r>
            <a:r>
              <a:rPr lang="de-DE" dirty="0" err="1" smtClean="0"/>
              <a:t>builds</a:t>
            </a:r>
            <a:r>
              <a:rPr lang="de-DE" dirty="0" smtClean="0"/>
              <a:t> </a:t>
            </a:r>
            <a:r>
              <a:rPr lang="de-DE" dirty="0" err="1" smtClean="0"/>
              <a:t>molecule</a:t>
            </a:r>
            <a:r>
              <a:rPr lang="de-DE" dirty="0" smtClean="0"/>
              <a:t>/s </a:t>
            </a:r>
            <a:r>
              <a:rPr lang="de-DE" dirty="0" err="1" smtClean="0"/>
              <a:t>for</a:t>
            </a:r>
            <a:r>
              <a:rPr lang="de-DE" dirty="0" smtClean="0"/>
              <a:t> HELM </a:t>
            </a:r>
            <a:r>
              <a:rPr lang="de-DE" dirty="0" err="1" smtClean="0"/>
              <a:t>molecule</a:t>
            </a:r>
            <a:r>
              <a:rPr lang="de-DE" dirty="0" smtClean="0"/>
              <a:t>, polymer </a:t>
            </a:r>
            <a:r>
              <a:rPr lang="de-DE" dirty="0" err="1" smtClean="0"/>
              <a:t>and</a:t>
            </a:r>
            <a:r>
              <a:rPr lang="de-DE" dirty="0" smtClean="0"/>
              <a:t> monomer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smtClean="0"/>
              <a:t>MDLUtils.java: </a:t>
            </a:r>
            <a:r>
              <a:rPr lang="de-DE" dirty="0" err="1" smtClean="0"/>
              <a:t>produce</a:t>
            </a:r>
            <a:r>
              <a:rPr lang="de-DE" dirty="0" smtClean="0"/>
              <a:t> </a:t>
            </a:r>
            <a:r>
              <a:rPr lang="de-DE" dirty="0" err="1" smtClean="0"/>
              <a:t>molfile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HELM </a:t>
            </a:r>
            <a:r>
              <a:rPr lang="de-DE" dirty="0" err="1" smtClean="0"/>
              <a:t>molecule</a:t>
            </a:r>
            <a:endParaRPr lang="de-DE" dirty="0" smtClean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8845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Working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sequences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188" y="1600200"/>
            <a:ext cx="8353300" cy="485313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FastaFormat.java: </a:t>
            </a:r>
            <a:r>
              <a:rPr lang="de-DE" dirty="0" err="1"/>
              <a:t>reads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writes</a:t>
            </a:r>
            <a:r>
              <a:rPr lang="de-DE" dirty="0"/>
              <a:t> FASTA </a:t>
            </a:r>
            <a:r>
              <a:rPr lang="de-DE" dirty="0" err="1" smtClean="0"/>
              <a:t>files</a:t>
            </a:r>
            <a:endParaRPr lang="de-DE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 smtClean="0"/>
              <a:t>SequenceConverter.class</a:t>
            </a:r>
            <a:r>
              <a:rPr lang="de-DE" dirty="0"/>
              <a:t>: </a:t>
            </a:r>
            <a:r>
              <a:rPr lang="de-DE" dirty="0" err="1"/>
              <a:t>converts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HELM2Notation </a:t>
            </a:r>
            <a:r>
              <a:rPr lang="de-DE" dirty="0" err="1"/>
              <a:t>and</a:t>
            </a:r>
            <a:r>
              <a:rPr lang="de-DE" dirty="0"/>
              <a:t> vice </a:t>
            </a:r>
            <a:r>
              <a:rPr lang="de-DE" dirty="0" err="1"/>
              <a:t>versa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PeptideUtils.java: </a:t>
            </a:r>
            <a:r>
              <a:rPr lang="de-DE" dirty="0" err="1"/>
              <a:t>gets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 </a:t>
            </a:r>
            <a:r>
              <a:rPr lang="de-DE" dirty="0" err="1"/>
              <a:t>peptide</a:t>
            </a:r>
            <a:r>
              <a:rPr lang="de-DE" dirty="0"/>
              <a:t> polymer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RNAUtils.java: </a:t>
            </a:r>
            <a:r>
              <a:rPr lang="de-DE" dirty="0" err="1"/>
              <a:t>gets</a:t>
            </a:r>
            <a:r>
              <a:rPr lang="de-DE" dirty="0"/>
              <a:t> </a:t>
            </a:r>
            <a:r>
              <a:rPr lang="de-DE" dirty="0" err="1"/>
              <a:t>sequence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 </a:t>
            </a:r>
            <a:r>
              <a:rPr lang="de-DE" dirty="0" err="1"/>
              <a:t>rna</a:t>
            </a:r>
            <a:r>
              <a:rPr lang="de-DE" dirty="0"/>
              <a:t> </a:t>
            </a:r>
            <a:r>
              <a:rPr lang="de-DE" dirty="0" smtClean="0"/>
              <a:t>polymer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 err="1" smtClean="0"/>
              <a:t>SiRNANotation.class</a:t>
            </a:r>
            <a:r>
              <a:rPr lang="de-DE" dirty="0" smtClean="0"/>
              <a:t>: </a:t>
            </a:r>
            <a:r>
              <a:rPr lang="de-DE" dirty="0" err="1" smtClean="0"/>
              <a:t>reading</a:t>
            </a:r>
            <a:r>
              <a:rPr lang="de-DE" dirty="0" smtClean="0"/>
              <a:t> </a:t>
            </a:r>
            <a:r>
              <a:rPr lang="de-DE" dirty="0" err="1" smtClean="0"/>
              <a:t>siRNA</a:t>
            </a:r>
            <a:r>
              <a:rPr lang="de-DE" dirty="0" smtClean="0"/>
              <a:t> + </a:t>
            </a:r>
            <a:r>
              <a:rPr lang="de-DE" dirty="0" err="1" smtClean="0"/>
              <a:t>producing</a:t>
            </a:r>
            <a:r>
              <a:rPr lang="de-DE" dirty="0" smtClean="0"/>
              <a:t> HELM2Notation </a:t>
            </a:r>
            <a:r>
              <a:rPr lang="de-DE" dirty="0" err="1" smtClean="0"/>
              <a:t>with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hydrogen </a:t>
            </a:r>
            <a:r>
              <a:rPr lang="de-DE" dirty="0" err="1" smtClean="0"/>
              <a:t>bonds</a:t>
            </a:r>
            <a:endParaRPr lang="de-DE" dirty="0" smtClean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5726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</a:t>
            </a:r>
            <a:r>
              <a:rPr lang="de-DE" dirty="0" err="1" smtClean="0"/>
              <a:t>mall</a:t>
            </a:r>
            <a:r>
              <a:rPr lang="de-DE" dirty="0" smtClean="0"/>
              <a:t> </a:t>
            </a:r>
            <a:r>
              <a:rPr lang="de-DE" dirty="0" err="1" smtClean="0"/>
              <a:t>coding</a:t>
            </a:r>
            <a:r>
              <a:rPr lang="de-DE" dirty="0" smtClean="0"/>
              <a:t> </a:t>
            </a:r>
            <a:r>
              <a:rPr lang="de-DE" dirty="0" err="1" smtClean="0"/>
              <a:t>examples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65372-B929-454B-AC40-6926AEC9B884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611188" y="1600200"/>
            <a:ext cx="8281292" cy="3900488"/>
          </a:xfrm>
        </p:spPr>
        <p:txBody>
          <a:bodyPr/>
          <a:lstStyle/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/*in every case convert notation to internal HELM2Notation object*/</a:t>
            </a: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HELM2Notation </a:t>
            </a: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helm2notation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HELM2NotationUtils.read(input);</a:t>
            </a: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/*this class checks if the </a:t>
            </a:r>
            <a:r>
              <a:rPr lang="en-GB" sz="1600" i="1" dirty="0" smtClean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HELM2Notation </a:t>
            </a:r>
            <a:r>
              <a:rPr lang="en-GB" sz="1600" i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object is valid*/</a:t>
            </a:r>
            <a:endParaRPr lang="de-DE" sz="1600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Validation.validateNotationObjects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(helm2notation</a:t>
            </a:r>
            <a:r>
              <a:rPr lang="en-GB" sz="1600" dirty="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endParaRPr lang="de-DE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/*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calculate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something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the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HELM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molecule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*/</a:t>
            </a: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dirty="0" err="1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MoleculeInformation.getMolecularWeight</a:t>
            </a:r>
            <a:r>
              <a:rPr lang="en-GB" sz="1600" dirty="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(helm2notation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  <a:endParaRPr lang="de-DE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Moleculeinformation.getExactMass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(helm2notation);</a:t>
            </a:r>
            <a:endParaRPr lang="de-DE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MoleculeInformation.getMolecularFormular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(helm2notation);</a:t>
            </a:r>
            <a:endParaRPr lang="de-DE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dirty="0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ExtinctionCoefficient.getInstance</a:t>
            </a: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().</a:t>
            </a:r>
            <a:r>
              <a:rPr lang="en-GB" sz="160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calculate(helm2notation</a:t>
            </a:r>
            <a:r>
              <a:rPr lang="en-GB" sz="1600" smtClean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</a:t>
            </a: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endParaRPr lang="en-GB" sz="1600" i="1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/*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get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canonical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or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standard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representation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of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HELM </a:t>
            </a:r>
            <a:r>
              <a:rPr lang="de-DE" sz="1600" dirty="0" err="1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molecule</a:t>
            </a:r>
            <a:r>
              <a:rPr lang="de-DE" sz="16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*/</a:t>
            </a: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HELM1Utils.getStandard (helm2notation);</a:t>
            </a:r>
          </a:p>
          <a:p>
            <a:pPr indent="0" algn="just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HELM1Utils.getCanonical(helm2notation);</a:t>
            </a:r>
            <a:endParaRPr lang="de-DE" sz="1600" dirty="0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8438969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sterlayo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BD5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D2E7FF"/>
      </a:accent5>
      <a:accent6>
        <a:srgbClr val="2D2DB9"/>
      </a:accent6>
      <a:hlink>
        <a:srgbClr val="CCCCFF"/>
      </a:hlink>
      <a:folHlink>
        <a:srgbClr val="B2B2B2"/>
      </a:folHlink>
    </a:clrScheme>
    <a:fontScheme name="Masterlayo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A886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rgbClr val="173B64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asterlayo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layo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layo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W:\Dokumentvorlagen\Präsentationsvorlagen\Masterlayout.pot</Template>
  <TotalTime>0</TotalTime>
  <Words>462</Words>
  <Application>Microsoft Office PowerPoint</Application>
  <PresentationFormat>Bildschirmpräsentation (4:3)</PresentationFormat>
  <Paragraphs>156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Wingdings</vt:lpstr>
      <vt:lpstr>Wingdings 3</vt:lpstr>
      <vt:lpstr>Masterlayout</vt:lpstr>
      <vt:lpstr>PowerPoint-Präsentation</vt:lpstr>
      <vt:lpstr>HELM 2.0 Package overview</vt:lpstr>
      <vt:lpstr>HELM 2.0 Package overview</vt:lpstr>
      <vt:lpstr>HELM2NotationToolkit</vt:lpstr>
      <vt:lpstr>HELM 2.0 Package overview</vt:lpstr>
      <vt:lpstr>HELM2Notation.class</vt:lpstr>
      <vt:lpstr>HELM 2.0 Package overview</vt:lpstr>
      <vt:lpstr>HELM 2.0 Package overview</vt:lpstr>
      <vt:lpstr>HELM 2.0 Package overview</vt:lpstr>
      <vt:lpstr>Define the location of monomer store</vt:lpstr>
      <vt:lpstr>Define the location of monomer store</vt:lpstr>
      <vt:lpstr>Define the location of monomer store</vt:lpstr>
      <vt:lpstr>Working in general</vt:lpstr>
      <vt:lpstr>Working with structures</vt:lpstr>
      <vt:lpstr>Working with sequences</vt:lpstr>
      <vt:lpstr>small coding examples</vt:lpstr>
    </vt:vector>
  </TitlesOfParts>
  <Company>4SC AG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Management in a Modern</dc:title>
  <dc:creator>Dr. Bernhard Schirm</dc:creator>
  <cp:lastModifiedBy>Sabrina Hecht</cp:lastModifiedBy>
  <cp:revision>520</cp:revision>
  <cp:lastPrinted>2003-04-23T12:33:14Z</cp:lastPrinted>
  <dcterms:created xsi:type="dcterms:W3CDTF">2002-10-17T13:00:31Z</dcterms:created>
  <dcterms:modified xsi:type="dcterms:W3CDTF">2016-02-18T08:49:33Z</dcterms:modified>
</cp:coreProperties>
</file>