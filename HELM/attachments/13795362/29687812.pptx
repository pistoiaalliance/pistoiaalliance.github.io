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571" r:id="rId5"/>
    <p:sldId id="572" r:id="rId6"/>
    <p:sldId id="573" r:id="rId7"/>
    <p:sldId id="574" r:id="rId8"/>
    <p:sldId id="597" r:id="rId9"/>
    <p:sldId id="577" r:id="rId10"/>
    <p:sldId id="576" r:id="rId11"/>
    <p:sldId id="579" r:id="rId12"/>
    <p:sldId id="581" r:id="rId13"/>
    <p:sldId id="580" r:id="rId14"/>
    <p:sldId id="584" r:id="rId15"/>
    <p:sldId id="587" r:id="rId16"/>
    <p:sldId id="589" r:id="rId17"/>
    <p:sldId id="588" r:id="rId18"/>
    <p:sldId id="590" r:id="rId19"/>
    <p:sldId id="598" r:id="rId20"/>
    <p:sldId id="595" r:id="rId21"/>
    <p:sldId id="596" r:id="rId22"/>
  </p:sldIdLst>
  <p:sldSz cx="9144000" cy="6858000" type="screen4x3"/>
  <p:notesSz cx="6797675" cy="9926638"/>
  <p:defaultTextStyle>
    <a:defPPr>
      <a:defRPr lang="de-DE"/>
    </a:defPPr>
    <a:lvl1pPr algn="ctr" rtl="0" fontAlgn="base">
      <a:spcBef>
        <a:spcPct val="0"/>
      </a:spcBef>
      <a:spcAft>
        <a:spcPct val="0"/>
      </a:spcAft>
      <a:defRPr sz="1600" kern="1200">
        <a:solidFill>
          <a:srgbClr val="173B64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600" kern="1200">
        <a:solidFill>
          <a:srgbClr val="173B64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600" kern="1200">
        <a:solidFill>
          <a:srgbClr val="173B64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600" kern="1200">
        <a:solidFill>
          <a:srgbClr val="173B64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600" kern="1200">
        <a:solidFill>
          <a:srgbClr val="173B64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rgbClr val="173B64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rgbClr val="173B64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rgbClr val="173B64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rgbClr val="173B64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>
          <p15:clr>
            <a:srgbClr val="A4A3A4"/>
          </p15:clr>
        </p15:guide>
        <p15:guide id="2" orient="horz" pos="624">
          <p15:clr>
            <a:srgbClr val="A4A3A4"/>
          </p15:clr>
        </p15:guide>
        <p15:guide id="3" orient="horz" pos="384">
          <p15:clr>
            <a:srgbClr val="A4A3A4"/>
          </p15:clr>
        </p15:guide>
        <p15:guide id="4" orient="horz" pos="3168">
          <p15:clr>
            <a:srgbClr val="A4A3A4"/>
          </p15:clr>
        </p15:guide>
        <p15:guide id="5" pos="4704">
          <p15:clr>
            <a:srgbClr val="A4A3A4"/>
          </p15:clr>
        </p15:guide>
        <p15:guide id="6" pos="5424">
          <p15:clr>
            <a:srgbClr val="A4A3A4"/>
          </p15:clr>
        </p15:guide>
        <p15:guide id="7" pos="384">
          <p15:clr>
            <a:srgbClr val="A4A3A4"/>
          </p15:clr>
        </p15:guide>
        <p15:guide id="8" pos="3936">
          <p15:clr>
            <a:srgbClr val="A4A3A4"/>
          </p15:clr>
        </p15:guide>
        <p15:guide id="9" pos="4272">
          <p15:clr>
            <a:srgbClr val="A4A3A4"/>
          </p15:clr>
        </p15:guide>
        <p15:guide id="10" pos="26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66"/>
    <a:srgbClr val="C0C0C0"/>
    <a:srgbClr val="2143A1"/>
    <a:srgbClr val="A9E3C6"/>
    <a:srgbClr val="3BA19C"/>
    <a:srgbClr val="36947B"/>
    <a:srgbClr val="2E8C5D"/>
    <a:srgbClr val="A9B2C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06" autoAdjust="0"/>
    <p:restoredTop sz="94550" autoAdjust="0"/>
  </p:normalViewPr>
  <p:slideViewPr>
    <p:cSldViewPr snapToObjects="1">
      <p:cViewPr varScale="1">
        <p:scale>
          <a:sx n="77" d="100"/>
          <a:sy n="77" d="100"/>
        </p:scale>
        <p:origin x="114" y="306"/>
      </p:cViewPr>
      <p:guideLst>
        <p:guide orient="horz" pos="1200"/>
        <p:guide orient="horz" pos="624"/>
        <p:guide orient="horz" pos="384"/>
        <p:guide orient="horz" pos="3168"/>
        <p:guide pos="4704"/>
        <p:guide pos="5424"/>
        <p:guide pos="384"/>
        <p:guide pos="3936"/>
        <p:guide pos="4272"/>
        <p:guide pos="26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74" d="100"/>
          <a:sy n="74" d="100"/>
        </p:scale>
        <p:origin x="-1506" y="-114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798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0" tIns="45986" rIns="91970" bIns="45986" numCol="1" anchor="t" anchorCtr="0" compatLnSpc="1">
            <a:prstTxWarp prst="textNoShape">
              <a:avLst/>
            </a:prstTxWarp>
          </a:bodyPr>
          <a:lstStyle>
            <a:lvl1pPr algn="l" defTabSz="919163">
              <a:defRPr sz="1100">
                <a:solidFill>
                  <a:schemeClr val="tx1"/>
                </a:solidFill>
              </a:defRPr>
            </a:lvl1pPr>
          </a:lstStyle>
          <a:p>
            <a:endParaRPr lang="es-ES"/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798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0" tIns="45986" rIns="91970" bIns="45986" numCol="1" anchor="t" anchorCtr="0" compatLnSpc="1">
            <a:prstTxWarp prst="textNoShape">
              <a:avLst/>
            </a:prstTxWarp>
          </a:bodyPr>
          <a:lstStyle>
            <a:lvl1pPr algn="r" defTabSz="919163">
              <a:defRPr sz="1100">
                <a:solidFill>
                  <a:schemeClr val="tx1"/>
                </a:solidFill>
              </a:defRPr>
            </a:lvl1pPr>
          </a:lstStyle>
          <a:p>
            <a:endParaRPr lang="es-ES"/>
          </a:p>
        </p:txBody>
      </p:sp>
      <p:sp>
        <p:nvSpPr>
          <p:cNvPr id="304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798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0" tIns="45986" rIns="91970" bIns="45986" numCol="1" anchor="b" anchorCtr="0" compatLnSpc="1">
            <a:prstTxWarp prst="textNoShape">
              <a:avLst/>
            </a:prstTxWarp>
          </a:bodyPr>
          <a:lstStyle>
            <a:lvl1pPr algn="l" defTabSz="919163">
              <a:defRPr sz="1100">
                <a:solidFill>
                  <a:schemeClr val="tx1"/>
                </a:solidFill>
              </a:defRPr>
            </a:lvl1pPr>
          </a:lstStyle>
          <a:p>
            <a:endParaRPr lang="es-ES"/>
          </a:p>
        </p:txBody>
      </p:sp>
      <p:sp>
        <p:nvSpPr>
          <p:cNvPr id="304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9750"/>
            <a:ext cx="294798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0" tIns="45986" rIns="91970" bIns="45986" numCol="1" anchor="b" anchorCtr="0" compatLnSpc="1">
            <a:prstTxWarp prst="textNoShape">
              <a:avLst/>
            </a:prstTxWarp>
          </a:bodyPr>
          <a:lstStyle>
            <a:lvl1pPr algn="r" defTabSz="919163">
              <a:defRPr sz="1100">
                <a:solidFill>
                  <a:schemeClr val="tx1"/>
                </a:solidFill>
              </a:defRPr>
            </a:lvl1pPr>
          </a:lstStyle>
          <a:p>
            <a:fld id="{2D9E0215-A3DA-4A92-9009-4373AF51F026}" type="slidenum">
              <a:rPr lang="es-ES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77162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798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919163">
              <a:defRPr sz="11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798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19163">
              <a:defRPr sz="11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0938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Mastertextformat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798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919163">
              <a:defRPr sz="11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798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19163">
              <a:defRPr sz="1100">
                <a:solidFill>
                  <a:schemeClr val="tx1"/>
                </a:solidFill>
              </a:defRPr>
            </a:lvl1pPr>
          </a:lstStyle>
          <a:p>
            <a:fld id="{29F37E8E-4698-4614-8A43-9CB7035AD62E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4991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1F6F99-552F-44A4-A6BD-40429EB0303A}" type="slidenum">
              <a:rPr lang="de-DE"/>
              <a:pPr/>
              <a:t>1</a:t>
            </a:fld>
            <a:endParaRPr lang="de-DE"/>
          </a:p>
        </p:txBody>
      </p:sp>
      <p:sp>
        <p:nvSpPr>
          <p:cNvPr id="832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2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790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1" name="Picture 1059" descr="Logo_RGB_med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4300" y="981075"/>
            <a:ext cx="4572000" cy="1295400"/>
          </a:xfrm>
          <a:prstGeom prst="rect">
            <a:avLst/>
          </a:prstGeom>
          <a:noFill/>
        </p:spPr>
      </p:pic>
      <p:sp>
        <p:nvSpPr>
          <p:cNvPr id="4133" name="Line 1061"/>
          <p:cNvSpPr>
            <a:spLocks noChangeShapeType="1"/>
          </p:cNvSpPr>
          <p:nvPr userDrawn="1"/>
        </p:nvSpPr>
        <p:spPr bwMode="auto">
          <a:xfrm>
            <a:off x="323850" y="3860800"/>
            <a:ext cx="8101013" cy="0"/>
          </a:xfrm>
          <a:prstGeom prst="line">
            <a:avLst/>
          </a:prstGeom>
          <a:noFill/>
          <a:ln w="38100">
            <a:solidFill>
              <a:srgbClr val="FFB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4135" name="Rectangle 1063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997200"/>
            <a:ext cx="7772400" cy="863600"/>
          </a:xfrm>
        </p:spPr>
        <p:txBody>
          <a:bodyPr lIns="91440" tIns="45720" rIns="91440" bIns="45720" anchor="ctr"/>
          <a:lstStyle>
            <a:lvl1pPr algn="r">
              <a:defRPr/>
            </a:lvl1pPr>
          </a:lstStyle>
          <a:p>
            <a:r>
              <a:rPr lang="en-US"/>
              <a:t>Titelmasterformat durch Klicken bearbeiten</a:t>
            </a:r>
          </a:p>
        </p:txBody>
      </p:sp>
      <p:sp>
        <p:nvSpPr>
          <p:cNvPr id="4136" name="Rectangle 106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763713" y="3860800"/>
            <a:ext cx="6400800" cy="1752600"/>
          </a:xfrm>
        </p:spPr>
        <p:txBody>
          <a:bodyPr lIns="91440" tIns="45720" rIns="91440" bIns="45720"/>
          <a:lstStyle>
            <a:lvl1pPr marL="0" indent="0" algn="r">
              <a:buFont typeface="Wingdings 3" pitchFamily="18" charset="2"/>
              <a:buNone/>
              <a:defRPr>
                <a:solidFill>
                  <a:srgbClr val="173B64"/>
                </a:solidFill>
              </a:defRPr>
            </a:lvl1pPr>
          </a:lstStyle>
          <a:p>
            <a:r>
              <a:rPr lang="en-US"/>
              <a:t>Formatvorlage des Untertitelmasters durch Klicken bearbeiten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4625"/>
            <a:ext cx="1531243" cy="937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1188" y="1221134"/>
            <a:ext cx="8431212" cy="596900"/>
          </a:xfrm>
        </p:spPr>
        <p:txBody>
          <a:bodyPr/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976784"/>
            <a:ext cx="5865812" cy="3900488"/>
          </a:xfr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20B66EF-41F5-4872-897F-D11CDBD3F78A}" type="slidenum">
              <a:rPr lang="de-DE"/>
              <a:pPr/>
              <a:t>‹#›</a:t>
            </a:fld>
            <a:endParaRPr lang="de-DE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55E16C0-703F-4C65-8C78-419017405C38}" type="slidenum">
              <a:rPr lang="de-DE"/>
              <a:pPr/>
              <a:t>‹#›</a:t>
            </a:fld>
            <a:endParaRPr lang="de-DE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11188" y="1600200"/>
            <a:ext cx="2855912" cy="3900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619500" y="1600200"/>
            <a:ext cx="2857500" cy="3900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6613FAA-C10C-4E0E-B45A-732A86F989EE}" type="slidenum">
              <a:rPr lang="de-DE"/>
              <a:pPr/>
              <a:t>‹#›</a:t>
            </a:fld>
            <a:endParaRPr lang="de-DE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55AEBE4-C408-4628-9675-B25A503BF219}" type="slidenum">
              <a:rPr lang="de-DE"/>
              <a:pPr/>
              <a:t>‹#›</a:t>
            </a:fld>
            <a:endParaRPr lang="de-DE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9E42B4F-8121-469D-90E8-F859F19A6409}" type="slidenum">
              <a:rPr lang="de-DE"/>
              <a:pPr/>
              <a:t>‹#›</a:t>
            </a:fld>
            <a:endParaRPr lang="de-DE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2CFE9A2-69C8-4737-A9C2-F43748AF07CB}" type="slidenum">
              <a:rPr lang="de-DE"/>
              <a:pPr/>
              <a:t>‹#›</a:t>
            </a:fld>
            <a:endParaRPr lang="de-DE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6C20230-4A53-41F3-83EE-F2074ABFCC32}" type="slidenum">
              <a:rPr lang="de-DE"/>
              <a:pPr/>
              <a:t>‹#›</a:t>
            </a:fld>
            <a:endParaRPr lang="de-DE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9B1C0E0-E8A8-4221-8EE4-CC07DFC0B2C9}" type="slidenum">
              <a:rPr lang="de-DE"/>
              <a:pPr/>
              <a:t>‹#›</a:t>
            </a:fld>
            <a:endParaRPr lang="de-DE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5CE6F0A-E95A-4CE5-B8AF-05C9F0F288C8}" type="slidenum">
              <a:rPr lang="de-DE"/>
              <a:pPr/>
              <a:t>‹#›</a:t>
            </a:fld>
            <a:endParaRPr lang="de-DE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935788" y="844550"/>
            <a:ext cx="2106612" cy="46561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11188" y="844550"/>
            <a:ext cx="6172200" cy="4656138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DA104D2-6063-4E3D-98E8-269E3F006CBF}" type="slidenum">
              <a:rPr lang="de-DE"/>
              <a:pPr/>
              <a:t>‹#›</a:t>
            </a:fld>
            <a:endParaRPr lang="de-DE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844550"/>
            <a:ext cx="8431212" cy="59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Mastertitelformat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600200"/>
            <a:ext cx="5865812" cy="3900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Mastertextformat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89950" y="6499225"/>
            <a:ext cx="762000" cy="204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 b="1">
                <a:solidFill>
                  <a:srgbClr val="2143A1"/>
                </a:solidFill>
              </a:defRPr>
            </a:lvl1pPr>
          </a:lstStyle>
          <a:p>
            <a:fld id="{3C855134-E8AA-4728-B86E-1433C1FB6AF0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1052" name="Line 28"/>
          <p:cNvSpPr>
            <a:spLocks noChangeShapeType="1"/>
          </p:cNvSpPr>
          <p:nvPr/>
        </p:nvSpPr>
        <p:spPr bwMode="auto">
          <a:xfrm>
            <a:off x="0" y="6597650"/>
            <a:ext cx="8567738" cy="0"/>
          </a:xfrm>
          <a:prstGeom prst="line">
            <a:avLst/>
          </a:prstGeom>
          <a:noFill/>
          <a:ln w="38100">
            <a:solidFill>
              <a:srgbClr val="FFB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pic>
        <p:nvPicPr>
          <p:cNvPr id="1056" name="Picture 32" descr="Logo_RGB_kl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156450" y="311150"/>
            <a:ext cx="1885950" cy="5334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9pPr>
    </p:titleStyle>
    <p:bodyStyle>
      <a:lvl1pPr marL="342900" indent="-3429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Font typeface="Wingdings 3" pitchFamily="18" charset="2"/>
        <a:buChar char="_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0955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Font typeface="Wingdings" pitchFamily="2" charset="2"/>
        <a:buChar char="§"/>
        <a:defRPr sz="2000">
          <a:solidFill>
            <a:srgbClr val="173B64"/>
          </a:solidFill>
          <a:latin typeface="+mn-lt"/>
        </a:defRPr>
      </a:lvl2pPr>
      <a:lvl3pPr marL="1147763" indent="-214313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Font typeface="Wingdings 3" pitchFamily="18" charset="2"/>
        <a:buChar char="_"/>
        <a:defRPr>
          <a:solidFill>
            <a:schemeClr val="tx1"/>
          </a:solidFill>
          <a:latin typeface="+mn-lt"/>
        </a:defRPr>
      </a:lvl3pPr>
      <a:lvl4pPr marL="1658938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•"/>
        <a:defRPr sz="1600">
          <a:solidFill>
            <a:srgbClr val="173B64"/>
          </a:solidFill>
          <a:latin typeface="+mn-lt"/>
        </a:defRPr>
      </a:lvl4pPr>
      <a:lvl5pPr marL="2078038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-"/>
        <a:defRPr sz="1600">
          <a:solidFill>
            <a:schemeClr val="tx1"/>
          </a:solidFill>
          <a:latin typeface="+mn-lt"/>
        </a:defRPr>
      </a:lvl5pPr>
      <a:lvl6pPr marL="2535238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-"/>
        <a:defRPr sz="1600">
          <a:solidFill>
            <a:schemeClr val="tx1"/>
          </a:solidFill>
          <a:latin typeface="+mn-lt"/>
        </a:defRPr>
      </a:lvl6pPr>
      <a:lvl7pPr marL="2992438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-"/>
        <a:defRPr sz="1600">
          <a:solidFill>
            <a:schemeClr val="tx1"/>
          </a:solidFill>
          <a:latin typeface="+mn-lt"/>
        </a:defRPr>
      </a:lvl7pPr>
      <a:lvl8pPr marL="3449638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-"/>
        <a:defRPr sz="1600">
          <a:solidFill>
            <a:schemeClr val="tx1"/>
          </a:solidFill>
          <a:latin typeface="+mn-lt"/>
        </a:defRPr>
      </a:lvl8pPr>
      <a:lvl9pPr marL="3906838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-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221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539750" y="2997200"/>
            <a:ext cx="7772400" cy="863600"/>
          </a:xfrm>
        </p:spPr>
        <p:txBody>
          <a:bodyPr/>
          <a:lstStyle/>
          <a:p>
            <a:r>
              <a:rPr lang="de-DE" err="1" smtClean="0"/>
              <a:t>Exchangeable</a:t>
            </a:r>
            <a:r>
              <a:rPr lang="de-DE" smtClean="0"/>
              <a:t> HELM</a:t>
            </a:r>
            <a:endParaRPr lang="en-US"/>
          </a:p>
        </p:txBody>
      </p:sp>
      <p:sp>
        <p:nvSpPr>
          <p:cNvPr id="649222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908175" y="3860800"/>
            <a:ext cx="6400800" cy="1752600"/>
          </a:xfrm>
        </p:spPr>
        <p:txBody>
          <a:bodyPr/>
          <a:lstStyle/>
          <a:p>
            <a:r>
              <a:rPr lang="en-US" smtClean="0"/>
              <a:t>Markus Weisser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296494"/>
            <a:ext cx="3638550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Status quo HELM notation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066275" y="4365104"/>
            <a:ext cx="7040688" cy="2016224"/>
          </a:xfrm>
        </p:spPr>
        <p:txBody>
          <a:bodyPr/>
          <a:lstStyle/>
          <a:p>
            <a:pPr marL="0" indent="0">
              <a:buNone/>
            </a:pPr>
            <a:r>
              <a:rPr lang="en-US" smtClean="0"/>
              <a:t>flexible for different types of biomolecules</a:t>
            </a:r>
          </a:p>
          <a:p>
            <a:pPr marL="0" indent="0">
              <a:buNone/>
            </a:pPr>
            <a:r>
              <a:rPr lang="en-US" smtClean="0"/>
              <a:t>compact notation</a:t>
            </a:r>
          </a:p>
          <a:p>
            <a:pPr marL="0" indent="0">
              <a:buNone/>
            </a:pPr>
            <a:r>
              <a:rPr lang="en-US" smtClean="0"/>
              <a:t>human readable</a:t>
            </a:r>
          </a:p>
          <a:p>
            <a:pPr marL="0" indent="0">
              <a:buNone/>
            </a:pPr>
            <a:r>
              <a:rPr lang="en-US" smtClean="0"/>
              <a:t>not self-contained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0B66EF-41F5-4872-897F-D11CDBD3F78A}" type="slidenum">
              <a:rPr lang="de-DE" smtClean="0"/>
              <a:pPr/>
              <a:t>2</a:t>
            </a:fld>
            <a:endParaRPr lang="de-DE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148" y="1831545"/>
            <a:ext cx="5677705" cy="2275755"/>
          </a:xfrm>
          <a:prstGeom prst="rect">
            <a:avLst/>
          </a:prstGeom>
        </p:spPr>
      </p:pic>
      <p:pic>
        <p:nvPicPr>
          <p:cNvPr id="1028" name="Picture 4" descr="http://www.labelident.com/images/product_images/info_images/32901_0_SMI01GN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365104"/>
            <a:ext cx="513946" cy="385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Qualitätskennzeichnung mit Smilies - negativ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5877272"/>
            <a:ext cx="513946" cy="385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http://www.labelident.com/images/product_images/info_images/32901_0_SMI01GN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869160"/>
            <a:ext cx="513946" cy="385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http://www.labelident.com/images/product_images/info_images/32901_0_SMI01GN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5373216"/>
            <a:ext cx="513946" cy="385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817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HELM use case </a:t>
            </a:r>
            <a:r>
              <a:rPr lang="en-US" err="1" smtClean="0"/>
              <a:t>pharma</a:t>
            </a:r>
            <a:r>
              <a:rPr lang="en-US" smtClean="0"/>
              <a:t> company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0B66EF-41F5-4872-897F-D11CDBD3F78A}" type="slidenum">
              <a:rPr lang="de-DE" smtClean="0"/>
              <a:pPr/>
              <a:t>3</a:t>
            </a:fld>
            <a:endParaRPr lang="de-DE"/>
          </a:p>
        </p:txBody>
      </p:sp>
      <p:grpSp>
        <p:nvGrpSpPr>
          <p:cNvPr id="13" name="Gruppieren 12"/>
          <p:cNvGrpSpPr/>
          <p:nvPr/>
        </p:nvGrpSpPr>
        <p:grpSpPr>
          <a:xfrm>
            <a:off x="899592" y="3340115"/>
            <a:ext cx="2020358" cy="1593598"/>
            <a:chOff x="2910139" y="1628800"/>
            <a:chExt cx="2958006" cy="2333187"/>
          </a:xfrm>
        </p:grpSpPr>
        <p:pic>
          <p:nvPicPr>
            <p:cNvPr id="14" name="Picture 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0139" y="1628800"/>
              <a:ext cx="2958006" cy="233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2028" y="2060848"/>
              <a:ext cx="1529607" cy="1040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" name="Gruppieren 9"/>
          <p:cNvGrpSpPr/>
          <p:nvPr/>
        </p:nvGrpSpPr>
        <p:grpSpPr>
          <a:xfrm>
            <a:off x="4954916" y="3340115"/>
            <a:ext cx="2020358" cy="1593598"/>
            <a:chOff x="2910139" y="1628800"/>
            <a:chExt cx="2958006" cy="2333187"/>
          </a:xfrm>
        </p:grpSpPr>
        <p:pic>
          <p:nvPicPr>
            <p:cNvPr id="11" name="Picture 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0139" y="1628800"/>
              <a:ext cx="2958006" cy="233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2028" y="2060848"/>
              <a:ext cx="1529607" cy="1040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" name="Gruppieren 5"/>
          <p:cNvGrpSpPr/>
          <p:nvPr/>
        </p:nvGrpSpPr>
        <p:grpSpPr>
          <a:xfrm>
            <a:off x="2957405" y="2816420"/>
            <a:ext cx="2020358" cy="1593598"/>
            <a:chOff x="2910139" y="1628800"/>
            <a:chExt cx="2958006" cy="2333187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0139" y="1628800"/>
              <a:ext cx="2958006" cy="233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2028" y="2060848"/>
              <a:ext cx="1529607" cy="1040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Flussdiagramm: Magnetplattenspeicher 6"/>
          <p:cNvSpPr/>
          <p:nvPr/>
        </p:nvSpPr>
        <p:spPr bwMode="auto">
          <a:xfrm>
            <a:off x="2526766" y="5157192"/>
            <a:ext cx="2921436" cy="811510"/>
          </a:xfrm>
          <a:prstGeom prst="flowChartMagneticDisk">
            <a:avLst/>
          </a:prstGeom>
          <a:solidFill>
            <a:srgbClr val="C00000"/>
          </a:solidFill>
          <a:ln w="1905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Monomer database</a:t>
            </a:r>
          </a:p>
        </p:txBody>
      </p:sp>
      <p:pic>
        <p:nvPicPr>
          <p:cNvPr id="16" name="Picture 2" descr="factory ic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501" y="1659077"/>
            <a:ext cx="1553899" cy="155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49234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HELM use case in small organizations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0B66EF-41F5-4872-897F-D11CDBD3F78A}" type="slidenum">
              <a:rPr lang="de-DE" smtClean="0"/>
              <a:pPr/>
              <a:t>4</a:t>
            </a:fld>
            <a:endParaRPr lang="de-DE"/>
          </a:p>
        </p:txBody>
      </p:sp>
      <p:grpSp>
        <p:nvGrpSpPr>
          <p:cNvPr id="5" name="Gruppieren 4"/>
          <p:cNvGrpSpPr/>
          <p:nvPr/>
        </p:nvGrpSpPr>
        <p:grpSpPr>
          <a:xfrm>
            <a:off x="1123382" y="2172900"/>
            <a:ext cx="2222394" cy="1752958"/>
            <a:chOff x="2910139" y="1628800"/>
            <a:chExt cx="2958006" cy="2333187"/>
          </a:xfrm>
        </p:grpSpPr>
        <p:pic>
          <p:nvPicPr>
            <p:cNvPr id="6" name="Picture 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0139" y="1628800"/>
              <a:ext cx="2958006" cy="233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2028" y="2060848"/>
              <a:ext cx="1529607" cy="1040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" name="Flussdiagramm: Dokument 10"/>
          <p:cNvSpPr/>
          <p:nvPr/>
        </p:nvSpPr>
        <p:spPr bwMode="auto">
          <a:xfrm>
            <a:off x="2915816" y="2507183"/>
            <a:ext cx="757409" cy="910096"/>
          </a:xfrm>
          <a:prstGeom prst="flowChartDocument">
            <a:avLst/>
          </a:prstGeom>
          <a:solidFill>
            <a:srgbClr val="C00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Local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Monomer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Store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grpSp>
        <p:nvGrpSpPr>
          <p:cNvPr id="12" name="Gruppieren 11"/>
          <p:cNvGrpSpPr/>
          <p:nvPr/>
        </p:nvGrpSpPr>
        <p:grpSpPr>
          <a:xfrm>
            <a:off x="4932040" y="4156277"/>
            <a:ext cx="2222394" cy="1752958"/>
            <a:chOff x="2910139" y="1628800"/>
            <a:chExt cx="2958006" cy="2333187"/>
          </a:xfrm>
        </p:grpSpPr>
        <p:pic>
          <p:nvPicPr>
            <p:cNvPr id="13" name="Picture 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0139" y="1628800"/>
              <a:ext cx="2958006" cy="233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2028" y="2060848"/>
              <a:ext cx="1529607" cy="1040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" name="Flussdiagramm: Dokument 14"/>
          <p:cNvSpPr/>
          <p:nvPr/>
        </p:nvSpPr>
        <p:spPr bwMode="auto">
          <a:xfrm>
            <a:off x="6732240" y="4490560"/>
            <a:ext cx="757409" cy="910096"/>
          </a:xfrm>
          <a:prstGeom prst="flowChartDocument">
            <a:avLst/>
          </a:prstGeom>
          <a:solidFill>
            <a:srgbClr val="C00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Local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Monomer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Store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pic>
        <p:nvPicPr>
          <p:cNvPr id="17" name="Picture 2" descr="http://www2.psd100.com/ppp/2013/11/2701/Laboratory-112723345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4327" y="1914943"/>
            <a:ext cx="1514057" cy="1514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Gerade Verbindung mit Pfeil 7"/>
          <p:cNvCxnSpPr/>
          <p:nvPr/>
        </p:nvCxnSpPr>
        <p:spPr bwMode="auto">
          <a:xfrm>
            <a:off x="3783104" y="3789040"/>
            <a:ext cx="1004920" cy="648072"/>
          </a:xfrm>
          <a:prstGeom prst="straightConnector1">
            <a:avLst/>
          </a:prstGeom>
          <a:solidFill>
            <a:srgbClr val="00A886"/>
          </a:solidFill>
          <a:ln w="57150" cap="flat" cmpd="sng" algn="ctr">
            <a:solidFill>
              <a:srgbClr val="00B0F0"/>
            </a:solidFill>
            <a:prstDash val="solid"/>
            <a:round/>
            <a:headEnd type="arrow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8397002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Collaboration between </a:t>
            </a:r>
            <a:r>
              <a:rPr lang="en-US" err="1" smtClean="0"/>
              <a:t>pharma</a:t>
            </a:r>
            <a:r>
              <a:rPr lang="en-US" smtClean="0"/>
              <a:t> and CRO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0B66EF-41F5-4872-897F-D11CDBD3F78A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15" name="Flussdiagramm: Magnetplattenspeicher 14"/>
          <p:cNvSpPr/>
          <p:nvPr/>
        </p:nvSpPr>
        <p:spPr bwMode="auto">
          <a:xfrm>
            <a:off x="1115616" y="4515706"/>
            <a:ext cx="1947624" cy="811510"/>
          </a:xfrm>
          <a:prstGeom prst="flowChartMagneticDisk">
            <a:avLst/>
          </a:prstGeom>
          <a:solidFill>
            <a:srgbClr val="C00000"/>
          </a:solidFill>
          <a:ln w="1905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Monomer database</a:t>
            </a:r>
          </a:p>
        </p:txBody>
      </p:sp>
      <p:sp>
        <p:nvSpPr>
          <p:cNvPr id="19" name="Flussdiagramm: Dokument 18"/>
          <p:cNvSpPr/>
          <p:nvPr/>
        </p:nvSpPr>
        <p:spPr bwMode="auto">
          <a:xfrm>
            <a:off x="6268159" y="4463120"/>
            <a:ext cx="757409" cy="910096"/>
          </a:xfrm>
          <a:prstGeom prst="flowChartDocument">
            <a:avLst/>
          </a:prstGeom>
          <a:solidFill>
            <a:srgbClr val="C00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Local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Monomer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Store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pic>
        <p:nvPicPr>
          <p:cNvPr id="23" name="Picture 2" descr="http://www2.psd100.com/ppp/2013/11/2701/Laboratory-112723345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371188"/>
            <a:ext cx="1514057" cy="1514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factory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909" y="2333157"/>
            <a:ext cx="1553899" cy="155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Gerade Verbindung mit Pfeil 6"/>
          <p:cNvCxnSpPr/>
          <p:nvPr/>
        </p:nvCxnSpPr>
        <p:spPr bwMode="auto">
          <a:xfrm>
            <a:off x="3923928" y="2952328"/>
            <a:ext cx="1008112" cy="0"/>
          </a:xfrm>
          <a:prstGeom prst="straightConnector1">
            <a:avLst/>
          </a:prstGeom>
          <a:solidFill>
            <a:srgbClr val="00A886"/>
          </a:solidFill>
          <a:ln w="5715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" name="Gerade Verbindung mit Pfeil 23"/>
          <p:cNvCxnSpPr/>
          <p:nvPr/>
        </p:nvCxnSpPr>
        <p:spPr bwMode="auto">
          <a:xfrm flipH="1">
            <a:off x="3923928" y="3168352"/>
            <a:ext cx="1008112" cy="0"/>
          </a:xfrm>
          <a:prstGeom prst="straightConnector1">
            <a:avLst/>
          </a:prstGeom>
          <a:solidFill>
            <a:srgbClr val="00A886"/>
          </a:solidFill>
          <a:ln w="5715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4" name="Gewitterblitz 13"/>
          <p:cNvSpPr/>
          <p:nvPr/>
        </p:nvSpPr>
        <p:spPr bwMode="auto">
          <a:xfrm>
            <a:off x="4283968" y="4391112"/>
            <a:ext cx="360040" cy="864096"/>
          </a:xfrm>
          <a:prstGeom prst="lightningBol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cxnSp>
        <p:nvCxnSpPr>
          <p:cNvPr id="26" name="Gerade Verbindung mit Pfeil 25"/>
          <p:cNvCxnSpPr>
            <a:stCxn id="15" idx="4"/>
          </p:cNvCxnSpPr>
          <p:nvPr/>
        </p:nvCxnSpPr>
        <p:spPr bwMode="auto">
          <a:xfrm>
            <a:off x="3063240" y="4921461"/>
            <a:ext cx="1292736" cy="0"/>
          </a:xfrm>
          <a:prstGeom prst="straightConnector1">
            <a:avLst/>
          </a:prstGeom>
          <a:solidFill>
            <a:srgbClr val="00A886"/>
          </a:solidFill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Gerade Verbindung mit Pfeil 26"/>
          <p:cNvCxnSpPr>
            <a:stCxn id="19" idx="1"/>
          </p:cNvCxnSpPr>
          <p:nvPr/>
        </p:nvCxnSpPr>
        <p:spPr bwMode="auto">
          <a:xfrm flipH="1">
            <a:off x="4644008" y="4918168"/>
            <a:ext cx="1624151" cy="3293"/>
          </a:xfrm>
          <a:prstGeom prst="straightConnector1">
            <a:avLst/>
          </a:prstGeom>
          <a:solidFill>
            <a:srgbClr val="00A886"/>
          </a:solidFill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8007284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Request for proposal for Exchangeable HELM</a:t>
            </a:r>
            <a:br>
              <a:rPr lang="en-US" smtClean="0"/>
            </a:br>
            <a:r>
              <a:rPr lang="en-US" smtClean="0"/>
              <a:t>from Pistoia Alliance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2408832"/>
            <a:ext cx="7705228" cy="3108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mtClean="0"/>
              <a:t>Definition of </a:t>
            </a:r>
            <a:r>
              <a:rPr lang="en-US" dirty="0" smtClean="0"/>
              <a:t>exchangeable HELM notation (</a:t>
            </a:r>
            <a:r>
              <a:rPr lang="en-US" dirty="0" err="1" smtClean="0"/>
              <a:t>xHELM</a:t>
            </a:r>
            <a:r>
              <a:rPr lang="en-US" dirty="0" smtClean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smtClean="0"/>
              <a:t>Modification </a:t>
            </a:r>
            <a:r>
              <a:rPr lang="en-US" dirty="0" smtClean="0"/>
              <a:t>HELM editor for exchangeable HELM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Support inline SMILES notation for </a:t>
            </a:r>
            <a:r>
              <a:rPr lang="en-US" smtClean="0"/>
              <a:t>all types </a:t>
            </a:r>
            <a:r>
              <a:rPr lang="en-US" dirty="0" smtClean="0"/>
              <a:t>of monomers</a:t>
            </a:r>
          </a:p>
          <a:p>
            <a:pPr marL="457200" indent="-457200">
              <a:buFont typeface="+mj-lt"/>
              <a:buAutoNum type="arabicPeriod"/>
            </a:pPr>
            <a:r>
              <a:rPr lang="en-US" smtClean="0"/>
              <a:t>Registration of </a:t>
            </a:r>
            <a:r>
              <a:rPr lang="en-US" dirty="0" smtClean="0"/>
              <a:t>new monomers from exchangeable HELM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0B66EF-41F5-4872-897F-D11CDBD3F78A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4092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Status quo HELM toolkit/editor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4581128"/>
            <a:ext cx="7878762" cy="1872208"/>
          </a:xfrm>
        </p:spPr>
        <p:txBody>
          <a:bodyPr/>
          <a:lstStyle/>
          <a:p>
            <a:r>
              <a:rPr lang="en-US" smtClean="0"/>
              <a:t>Create, edit, load and save HELM notation</a:t>
            </a:r>
          </a:p>
          <a:p>
            <a:r>
              <a:rPr lang="en-US" smtClean="0"/>
              <a:t>Register monomers in local ‘database’ (xml document)</a:t>
            </a:r>
          </a:p>
          <a:p>
            <a:r>
              <a:rPr lang="en-US" smtClean="0"/>
              <a:t>Modify chemical monomers (inline SMILES)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0B66EF-41F5-4872-897F-D11CDBD3F78A}" type="slidenum">
              <a:rPr lang="de-DE" smtClean="0"/>
              <a:pPr/>
              <a:t>7</a:t>
            </a:fld>
            <a:endParaRPr lang="de-DE"/>
          </a:p>
        </p:txBody>
      </p:sp>
      <p:grpSp>
        <p:nvGrpSpPr>
          <p:cNvPr id="5" name="Gruppieren 4"/>
          <p:cNvGrpSpPr/>
          <p:nvPr/>
        </p:nvGrpSpPr>
        <p:grpSpPr>
          <a:xfrm>
            <a:off x="2699792" y="1772816"/>
            <a:ext cx="2958006" cy="2333187"/>
            <a:chOff x="2910139" y="1628800"/>
            <a:chExt cx="2958006" cy="2333187"/>
          </a:xfrm>
        </p:grpSpPr>
        <p:pic>
          <p:nvPicPr>
            <p:cNvPr id="6" name="Picture 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0139" y="1628800"/>
              <a:ext cx="2958006" cy="233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2028" y="2060848"/>
              <a:ext cx="1529607" cy="1040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Flussdiagramm: Dokument 7"/>
          <p:cNvSpPr/>
          <p:nvPr/>
        </p:nvSpPr>
        <p:spPr bwMode="auto">
          <a:xfrm>
            <a:off x="5076056" y="2246592"/>
            <a:ext cx="1008112" cy="1211339"/>
          </a:xfrm>
          <a:prstGeom prst="flowChartDocument">
            <a:avLst/>
          </a:prstGeom>
          <a:solidFill>
            <a:srgbClr val="C00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Local</a:t>
            </a:r>
            <a:b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Monomer</a:t>
            </a:r>
            <a:b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Store</a:t>
            </a:r>
          </a:p>
        </p:txBody>
      </p:sp>
    </p:spTree>
    <p:extLst>
      <p:ext uri="{BB962C8B-B14F-4D97-AF65-F5344CB8AC3E}">
        <p14:creationId xmlns:p14="http://schemas.microsoft.com/office/powerpoint/2010/main" val="9010761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Exchangeable HELM – XML container for HELM notation and monomer information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0B66EF-41F5-4872-897F-D11CDBD3F78A}" type="slidenum">
              <a:rPr lang="de-DE" smtClean="0"/>
              <a:pPr/>
              <a:t>8</a:t>
            </a:fld>
            <a:endParaRPr lang="de-DE"/>
          </a:p>
        </p:txBody>
      </p:sp>
      <p:grpSp>
        <p:nvGrpSpPr>
          <p:cNvPr id="5" name="Gruppieren 4"/>
          <p:cNvGrpSpPr/>
          <p:nvPr/>
        </p:nvGrpSpPr>
        <p:grpSpPr>
          <a:xfrm>
            <a:off x="1115616" y="2968021"/>
            <a:ext cx="2958006" cy="2333187"/>
            <a:chOff x="2910139" y="1628800"/>
            <a:chExt cx="2958006" cy="2333187"/>
          </a:xfrm>
        </p:grpSpPr>
        <p:pic>
          <p:nvPicPr>
            <p:cNvPr id="6" name="Picture 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0139" y="1628800"/>
              <a:ext cx="2958006" cy="233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2028" y="2060848"/>
              <a:ext cx="1529607" cy="1040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Flussdiagramm: Dokument 7"/>
          <p:cNvSpPr/>
          <p:nvPr/>
        </p:nvSpPr>
        <p:spPr bwMode="auto">
          <a:xfrm>
            <a:off x="3491880" y="3441797"/>
            <a:ext cx="1008112" cy="1211339"/>
          </a:xfrm>
          <a:prstGeom prst="flowChartDocument">
            <a:avLst/>
          </a:prstGeom>
          <a:solidFill>
            <a:srgbClr val="C00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Local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Monomer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Store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9" name="Rechteck 8"/>
          <p:cNvSpPr/>
          <p:nvPr/>
        </p:nvSpPr>
        <p:spPr bwMode="auto">
          <a:xfrm>
            <a:off x="5364088" y="2492896"/>
            <a:ext cx="2376264" cy="2448272"/>
          </a:xfrm>
          <a:prstGeom prst="rect">
            <a:avLst/>
          </a:prstGeom>
          <a:solidFill>
            <a:srgbClr val="00B05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xHELM</a:t>
            </a:r>
            <a:endParaRPr kumimoji="0" lang="en-US" sz="16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0" name="Rechteck 9"/>
          <p:cNvSpPr/>
          <p:nvPr/>
        </p:nvSpPr>
        <p:spPr bwMode="auto">
          <a:xfrm>
            <a:off x="5546244" y="2924944"/>
            <a:ext cx="2016224" cy="3600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HELM notation</a:t>
            </a:r>
          </a:p>
        </p:txBody>
      </p:sp>
      <p:sp>
        <p:nvSpPr>
          <p:cNvPr id="11" name="Flussdiagramm: Mehrere Dokumente 10"/>
          <p:cNvSpPr/>
          <p:nvPr/>
        </p:nvSpPr>
        <p:spPr bwMode="auto">
          <a:xfrm>
            <a:off x="5546244" y="3441797"/>
            <a:ext cx="1978084" cy="1211339"/>
          </a:xfrm>
          <a:prstGeom prst="flowChartMultidocument">
            <a:avLst/>
          </a:prstGeom>
          <a:solidFill>
            <a:srgbClr val="C00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Monomers</a:t>
            </a:r>
          </a:p>
        </p:txBody>
      </p:sp>
      <p:cxnSp>
        <p:nvCxnSpPr>
          <p:cNvPr id="13" name="Gewinkelte Verbindung 12"/>
          <p:cNvCxnSpPr>
            <a:stCxn id="7" idx="0"/>
            <a:endCxn id="10" idx="1"/>
          </p:cNvCxnSpPr>
          <p:nvPr/>
        </p:nvCxnSpPr>
        <p:spPr bwMode="auto">
          <a:xfrm rot="5400000" flipH="1" flipV="1">
            <a:off x="3911724" y="1765550"/>
            <a:ext cx="295105" cy="2973935"/>
          </a:xfrm>
          <a:prstGeom prst="bentConnector2">
            <a:avLst/>
          </a:prstGeom>
          <a:solidFill>
            <a:srgbClr val="00A886"/>
          </a:solidFill>
          <a:ln w="38100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Gerade Verbindung mit Pfeil 14"/>
          <p:cNvCxnSpPr>
            <a:stCxn id="8" idx="3"/>
          </p:cNvCxnSpPr>
          <p:nvPr/>
        </p:nvCxnSpPr>
        <p:spPr bwMode="auto">
          <a:xfrm flipV="1">
            <a:off x="4499992" y="4047466"/>
            <a:ext cx="936104" cy="1"/>
          </a:xfrm>
          <a:prstGeom prst="straightConnector1">
            <a:avLst/>
          </a:prstGeom>
          <a:solidFill>
            <a:srgbClr val="00A886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Gerade Verbindung mit Pfeil 15"/>
          <p:cNvCxnSpPr>
            <a:stCxn id="8" idx="3"/>
          </p:cNvCxnSpPr>
          <p:nvPr/>
        </p:nvCxnSpPr>
        <p:spPr bwMode="auto">
          <a:xfrm flipV="1">
            <a:off x="4499992" y="3789040"/>
            <a:ext cx="936104" cy="258427"/>
          </a:xfrm>
          <a:prstGeom prst="straightConnector1">
            <a:avLst/>
          </a:prstGeom>
          <a:solidFill>
            <a:srgbClr val="00A886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Gerade Verbindung mit Pfeil 16"/>
          <p:cNvCxnSpPr>
            <a:stCxn id="8" idx="3"/>
          </p:cNvCxnSpPr>
          <p:nvPr/>
        </p:nvCxnSpPr>
        <p:spPr bwMode="auto">
          <a:xfrm>
            <a:off x="4499992" y="4047467"/>
            <a:ext cx="936104" cy="304800"/>
          </a:xfrm>
          <a:prstGeom prst="straightConnector1">
            <a:avLst/>
          </a:prstGeom>
          <a:solidFill>
            <a:srgbClr val="00A886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Textfeld 2"/>
          <p:cNvSpPr txBox="1"/>
          <p:nvPr/>
        </p:nvSpPr>
        <p:spPr>
          <a:xfrm>
            <a:off x="1467085" y="5970766"/>
            <a:ext cx="39467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HELM </a:t>
            </a:r>
            <a:r>
              <a:rPr lang="en-US"/>
              <a:t>Specification 1_1.doc 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http</a:t>
            </a:r>
            <a:r>
              <a:rPr lang="en-US"/>
              <a:t>://www.openhelm.org/HELM_Notation</a:t>
            </a:r>
            <a:endParaRPr lang="en-US" dirty="0"/>
          </a:p>
        </p:txBody>
      </p:sp>
      <p:pic>
        <p:nvPicPr>
          <p:cNvPr id="1026" name="Picture 2" descr="https://encrypted-tbn2.gstatic.com/images?q=tbn:ANd9GcQptQ2-bobiDHrfHWOD8HdKTHE3WlvXEisl6byL311T50MpXSqqMw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5906212"/>
            <a:ext cx="619132" cy="619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29978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 smtClean="0"/>
              <a:t>xHELM</a:t>
            </a:r>
            <a:r>
              <a:rPr lang="en-US" smtClean="0"/>
              <a:t> structure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20B66EF-41F5-4872-897F-D11CDBD3F78A}" type="slidenum">
              <a:rPr lang="de-DE" sz="1100" smtClean="0"/>
              <a:pPr/>
              <a:t>9</a:t>
            </a:fld>
            <a:endParaRPr lang="de-DE" sz="110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302454"/>
            <a:ext cx="3946435" cy="1494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uppieren 2"/>
          <p:cNvGrpSpPr/>
          <p:nvPr/>
        </p:nvGrpSpPr>
        <p:grpSpPr>
          <a:xfrm>
            <a:off x="551554" y="1988840"/>
            <a:ext cx="4884542" cy="4248472"/>
            <a:chOff x="323528" y="1700808"/>
            <a:chExt cx="5544616" cy="4824536"/>
          </a:xfrm>
        </p:grpSpPr>
        <p:sp>
          <p:nvSpPr>
            <p:cNvPr id="5" name="Rechteck 4"/>
            <p:cNvSpPr/>
            <p:nvPr/>
          </p:nvSpPr>
          <p:spPr>
            <a:xfrm>
              <a:off x="323528" y="1700808"/>
              <a:ext cx="1080120" cy="18002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err="1" smtClean="0"/>
                <a:t>Xhelm</a:t>
              </a:r>
              <a:endParaRPr lang="en-US" sz="1000"/>
            </a:p>
          </p:txBody>
        </p:sp>
        <p:sp>
          <p:nvSpPr>
            <p:cNvPr id="6" name="Rechteck 5"/>
            <p:cNvSpPr/>
            <p:nvPr/>
          </p:nvSpPr>
          <p:spPr>
            <a:xfrm>
              <a:off x="1187624" y="1988840"/>
              <a:ext cx="1320147" cy="1800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err="1" smtClean="0">
                  <a:solidFill>
                    <a:schemeClr val="tx1"/>
                  </a:solidFill>
                </a:rPr>
                <a:t>HelmNotation</a:t>
              </a:r>
              <a:endParaRPr lang="en-US" sz="10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7" name="Rechteck 6"/>
            <p:cNvSpPr/>
            <p:nvPr/>
          </p:nvSpPr>
          <p:spPr>
            <a:xfrm>
              <a:off x="1187624" y="2276872"/>
              <a:ext cx="1320147" cy="18002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smtClean="0"/>
                <a:t>Monomers</a:t>
              </a:r>
            </a:p>
          </p:txBody>
        </p:sp>
        <p:cxnSp>
          <p:nvCxnSpPr>
            <p:cNvPr id="8" name="Gewinkelte Verbindung 7"/>
            <p:cNvCxnSpPr>
              <a:stCxn id="5" idx="2"/>
              <a:endCxn id="6" idx="1"/>
            </p:cNvCxnSpPr>
            <p:nvPr/>
          </p:nvCxnSpPr>
          <p:spPr>
            <a:xfrm rot="16200000" flipH="1">
              <a:off x="926595" y="1817821"/>
              <a:ext cx="198022" cy="324036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winkelte Verbindung 8"/>
            <p:cNvCxnSpPr>
              <a:stCxn id="5" idx="2"/>
              <a:endCxn id="7" idx="1"/>
            </p:cNvCxnSpPr>
            <p:nvPr/>
          </p:nvCxnSpPr>
          <p:spPr>
            <a:xfrm rot="16200000" flipH="1">
              <a:off x="782579" y="1961837"/>
              <a:ext cx="486054" cy="324036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hteck 9"/>
            <p:cNvSpPr/>
            <p:nvPr/>
          </p:nvSpPr>
          <p:spPr>
            <a:xfrm>
              <a:off x="2099725" y="2600908"/>
              <a:ext cx="1320147" cy="18002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smtClean="0"/>
                <a:t>Monomer</a:t>
              </a:r>
            </a:p>
          </p:txBody>
        </p:sp>
        <p:cxnSp>
          <p:nvCxnSpPr>
            <p:cNvPr id="11" name="Gewinkelte Verbindung 10"/>
            <p:cNvCxnSpPr>
              <a:stCxn id="7" idx="2"/>
              <a:endCxn id="10" idx="1"/>
            </p:cNvCxnSpPr>
            <p:nvPr/>
          </p:nvCxnSpPr>
          <p:spPr>
            <a:xfrm rot="16200000" flipH="1">
              <a:off x="1856698" y="2447891"/>
              <a:ext cx="234026" cy="252027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hteck 11"/>
            <p:cNvSpPr/>
            <p:nvPr/>
          </p:nvSpPr>
          <p:spPr>
            <a:xfrm>
              <a:off x="2963821" y="2888940"/>
              <a:ext cx="1320147" cy="18002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err="1" smtClean="0"/>
                <a:t>MonomerID</a:t>
              </a:r>
              <a:endParaRPr lang="en-US" sz="1000" smtClean="0"/>
            </a:p>
          </p:txBody>
        </p:sp>
        <p:sp>
          <p:nvSpPr>
            <p:cNvPr id="13" name="Rechteck 12"/>
            <p:cNvSpPr/>
            <p:nvPr/>
          </p:nvSpPr>
          <p:spPr>
            <a:xfrm>
              <a:off x="2963821" y="3176972"/>
              <a:ext cx="1320147" cy="18002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err="1" smtClean="0"/>
                <a:t>MonomerSmiles</a:t>
              </a:r>
              <a:endParaRPr lang="en-US" sz="1000" smtClean="0"/>
            </a:p>
          </p:txBody>
        </p:sp>
        <p:sp>
          <p:nvSpPr>
            <p:cNvPr id="14" name="Rechteck 13"/>
            <p:cNvSpPr/>
            <p:nvPr/>
          </p:nvSpPr>
          <p:spPr>
            <a:xfrm>
              <a:off x="2963821" y="3465004"/>
              <a:ext cx="1320147" cy="18002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err="1" smtClean="0"/>
                <a:t>MonomerMolFile</a:t>
              </a:r>
              <a:endParaRPr lang="en-US" sz="1000" smtClean="0"/>
            </a:p>
          </p:txBody>
        </p:sp>
        <p:sp>
          <p:nvSpPr>
            <p:cNvPr id="15" name="Rechteck 14"/>
            <p:cNvSpPr/>
            <p:nvPr/>
          </p:nvSpPr>
          <p:spPr>
            <a:xfrm>
              <a:off x="2963821" y="3753036"/>
              <a:ext cx="1320147" cy="18002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err="1" smtClean="0"/>
                <a:t>MonomerType</a:t>
              </a:r>
              <a:endParaRPr lang="en-US" sz="1000" smtClean="0"/>
            </a:p>
          </p:txBody>
        </p:sp>
        <p:sp>
          <p:nvSpPr>
            <p:cNvPr id="16" name="Rechteck 15"/>
            <p:cNvSpPr/>
            <p:nvPr/>
          </p:nvSpPr>
          <p:spPr>
            <a:xfrm>
              <a:off x="2963821" y="4041068"/>
              <a:ext cx="1320147" cy="18002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err="1" smtClean="0"/>
                <a:t>PolymerType</a:t>
              </a:r>
              <a:endParaRPr lang="en-US" sz="1000" smtClean="0"/>
            </a:p>
          </p:txBody>
        </p:sp>
        <p:sp>
          <p:nvSpPr>
            <p:cNvPr id="17" name="Rechteck 16"/>
            <p:cNvSpPr/>
            <p:nvPr/>
          </p:nvSpPr>
          <p:spPr>
            <a:xfrm>
              <a:off x="2963821" y="4329100"/>
              <a:ext cx="1320147" cy="18002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err="1" smtClean="0"/>
                <a:t>NaturalAnalog</a:t>
              </a:r>
              <a:endParaRPr lang="en-US" sz="1000" smtClean="0"/>
            </a:p>
          </p:txBody>
        </p:sp>
        <p:sp>
          <p:nvSpPr>
            <p:cNvPr id="18" name="Rechteck 17"/>
            <p:cNvSpPr/>
            <p:nvPr/>
          </p:nvSpPr>
          <p:spPr>
            <a:xfrm>
              <a:off x="2963821" y="4617132"/>
              <a:ext cx="1320147" cy="18002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err="1" smtClean="0"/>
                <a:t>MonomerName</a:t>
              </a:r>
              <a:endParaRPr lang="en-US" sz="1000" smtClean="0"/>
            </a:p>
          </p:txBody>
        </p:sp>
        <p:sp>
          <p:nvSpPr>
            <p:cNvPr id="19" name="Rechteck 18"/>
            <p:cNvSpPr/>
            <p:nvPr/>
          </p:nvSpPr>
          <p:spPr>
            <a:xfrm>
              <a:off x="2963821" y="4905164"/>
              <a:ext cx="1320147" cy="18002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smtClean="0"/>
                <a:t>Attachments</a:t>
              </a:r>
            </a:p>
          </p:txBody>
        </p:sp>
        <p:sp>
          <p:nvSpPr>
            <p:cNvPr id="20" name="Rechteck 19"/>
            <p:cNvSpPr/>
            <p:nvPr/>
          </p:nvSpPr>
          <p:spPr>
            <a:xfrm>
              <a:off x="3755909" y="5193196"/>
              <a:ext cx="1320147" cy="18002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smtClean="0"/>
                <a:t>Attachment</a:t>
              </a:r>
            </a:p>
          </p:txBody>
        </p:sp>
        <p:sp>
          <p:nvSpPr>
            <p:cNvPr id="21" name="Rechteck 20"/>
            <p:cNvSpPr/>
            <p:nvPr/>
          </p:nvSpPr>
          <p:spPr>
            <a:xfrm>
              <a:off x="4547997" y="5481228"/>
              <a:ext cx="1320147" cy="18002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err="1" smtClean="0"/>
                <a:t>AttachmentID</a:t>
              </a:r>
              <a:endParaRPr lang="en-US" sz="1000" smtClean="0"/>
            </a:p>
          </p:txBody>
        </p:sp>
        <p:sp>
          <p:nvSpPr>
            <p:cNvPr id="22" name="Rechteck 21"/>
            <p:cNvSpPr/>
            <p:nvPr/>
          </p:nvSpPr>
          <p:spPr>
            <a:xfrm>
              <a:off x="4547997" y="5769260"/>
              <a:ext cx="1320147" cy="18002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err="1" smtClean="0"/>
                <a:t>AttachmentLabel</a:t>
              </a:r>
              <a:endParaRPr lang="en-US" sz="1000" smtClean="0"/>
            </a:p>
          </p:txBody>
        </p:sp>
        <p:sp>
          <p:nvSpPr>
            <p:cNvPr id="23" name="Rechteck 22"/>
            <p:cNvSpPr/>
            <p:nvPr/>
          </p:nvSpPr>
          <p:spPr>
            <a:xfrm>
              <a:off x="4547997" y="6057292"/>
              <a:ext cx="1320147" cy="18002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err="1" smtClean="0"/>
                <a:t>CapGroupName</a:t>
              </a:r>
              <a:endParaRPr lang="en-US" sz="1000" smtClean="0"/>
            </a:p>
          </p:txBody>
        </p:sp>
        <p:sp>
          <p:nvSpPr>
            <p:cNvPr id="24" name="Rechteck 23"/>
            <p:cNvSpPr/>
            <p:nvPr/>
          </p:nvSpPr>
          <p:spPr>
            <a:xfrm>
              <a:off x="4547997" y="6345324"/>
              <a:ext cx="1320147" cy="18002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err="1" smtClean="0"/>
                <a:t>CapGroupSmiles</a:t>
              </a:r>
              <a:endParaRPr lang="en-US" sz="1000" smtClean="0"/>
            </a:p>
          </p:txBody>
        </p:sp>
        <p:cxnSp>
          <p:nvCxnSpPr>
            <p:cNvPr id="25" name="Gewinkelte Verbindung 24"/>
            <p:cNvCxnSpPr>
              <a:stCxn id="10" idx="2"/>
              <a:endCxn id="12" idx="1"/>
            </p:cNvCxnSpPr>
            <p:nvPr/>
          </p:nvCxnSpPr>
          <p:spPr>
            <a:xfrm rot="16200000" flipH="1">
              <a:off x="2762799" y="2777928"/>
              <a:ext cx="198022" cy="204022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winkelte Verbindung 25"/>
            <p:cNvCxnSpPr>
              <a:stCxn id="10" idx="2"/>
              <a:endCxn id="13" idx="1"/>
            </p:cNvCxnSpPr>
            <p:nvPr/>
          </p:nvCxnSpPr>
          <p:spPr>
            <a:xfrm rot="16200000" flipH="1">
              <a:off x="2618783" y="2921944"/>
              <a:ext cx="486054" cy="204022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winkelte Verbindung 26"/>
            <p:cNvCxnSpPr>
              <a:stCxn id="10" idx="2"/>
              <a:endCxn id="14" idx="1"/>
            </p:cNvCxnSpPr>
            <p:nvPr/>
          </p:nvCxnSpPr>
          <p:spPr>
            <a:xfrm rot="16200000" flipH="1">
              <a:off x="2474767" y="3065960"/>
              <a:ext cx="774086" cy="204022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winkelte Verbindung 27"/>
            <p:cNvCxnSpPr>
              <a:stCxn id="10" idx="2"/>
              <a:endCxn id="15" idx="1"/>
            </p:cNvCxnSpPr>
            <p:nvPr/>
          </p:nvCxnSpPr>
          <p:spPr>
            <a:xfrm rot="16200000" flipH="1">
              <a:off x="2330751" y="3209976"/>
              <a:ext cx="1062118" cy="204022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winkelte Verbindung 28"/>
            <p:cNvCxnSpPr>
              <a:stCxn id="10" idx="2"/>
              <a:endCxn id="16" idx="1"/>
            </p:cNvCxnSpPr>
            <p:nvPr/>
          </p:nvCxnSpPr>
          <p:spPr>
            <a:xfrm rot="16200000" flipH="1">
              <a:off x="2186735" y="3353992"/>
              <a:ext cx="1350150" cy="204022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winkelte Verbindung 29"/>
            <p:cNvCxnSpPr>
              <a:stCxn id="10" idx="2"/>
              <a:endCxn id="17" idx="1"/>
            </p:cNvCxnSpPr>
            <p:nvPr/>
          </p:nvCxnSpPr>
          <p:spPr>
            <a:xfrm rot="16200000" flipH="1">
              <a:off x="2042719" y="3498008"/>
              <a:ext cx="1638182" cy="204022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winkelte Verbindung 30"/>
            <p:cNvCxnSpPr>
              <a:stCxn id="10" idx="2"/>
              <a:endCxn id="18" idx="1"/>
            </p:cNvCxnSpPr>
            <p:nvPr/>
          </p:nvCxnSpPr>
          <p:spPr>
            <a:xfrm rot="16200000" flipH="1">
              <a:off x="1898703" y="3642024"/>
              <a:ext cx="1926214" cy="204022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winkelte Verbindung 31"/>
            <p:cNvCxnSpPr>
              <a:stCxn id="10" idx="2"/>
              <a:endCxn id="19" idx="1"/>
            </p:cNvCxnSpPr>
            <p:nvPr/>
          </p:nvCxnSpPr>
          <p:spPr>
            <a:xfrm rot="16200000" flipH="1">
              <a:off x="1754687" y="3786040"/>
              <a:ext cx="2214246" cy="204022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winkelte Verbindung 32"/>
            <p:cNvCxnSpPr>
              <a:stCxn id="19" idx="2"/>
              <a:endCxn id="20" idx="1"/>
            </p:cNvCxnSpPr>
            <p:nvPr/>
          </p:nvCxnSpPr>
          <p:spPr>
            <a:xfrm rot="16200000" flipH="1">
              <a:off x="3590891" y="5118188"/>
              <a:ext cx="198022" cy="132014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winkelte Verbindung 33"/>
            <p:cNvCxnSpPr>
              <a:stCxn id="20" idx="2"/>
              <a:endCxn id="21" idx="1"/>
            </p:cNvCxnSpPr>
            <p:nvPr/>
          </p:nvCxnSpPr>
          <p:spPr>
            <a:xfrm rot="16200000" flipH="1">
              <a:off x="4382979" y="5406220"/>
              <a:ext cx="198022" cy="132014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winkelte Verbindung 34"/>
            <p:cNvCxnSpPr>
              <a:stCxn id="20" idx="2"/>
              <a:endCxn id="22" idx="1"/>
            </p:cNvCxnSpPr>
            <p:nvPr/>
          </p:nvCxnSpPr>
          <p:spPr>
            <a:xfrm rot="16200000" flipH="1">
              <a:off x="4238963" y="5550236"/>
              <a:ext cx="486054" cy="132014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winkelte Verbindung 35"/>
            <p:cNvCxnSpPr>
              <a:stCxn id="20" idx="2"/>
              <a:endCxn id="23" idx="1"/>
            </p:cNvCxnSpPr>
            <p:nvPr/>
          </p:nvCxnSpPr>
          <p:spPr>
            <a:xfrm rot="16200000" flipH="1">
              <a:off x="4094947" y="5694252"/>
              <a:ext cx="774086" cy="132014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winkelte Verbindung 36"/>
            <p:cNvCxnSpPr>
              <a:stCxn id="20" idx="2"/>
              <a:endCxn id="24" idx="1"/>
            </p:cNvCxnSpPr>
            <p:nvPr/>
          </p:nvCxnSpPr>
          <p:spPr>
            <a:xfrm rot="16200000" flipH="1">
              <a:off x="3950931" y="5838268"/>
              <a:ext cx="1062118" cy="132014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winkelte Verbindung 39"/>
            <p:cNvCxnSpPr>
              <a:stCxn id="7" idx="2"/>
            </p:cNvCxnSpPr>
            <p:nvPr/>
          </p:nvCxnSpPr>
          <p:spPr>
            <a:xfrm rot="16200000" flipH="1">
              <a:off x="-33512" y="4338101"/>
              <a:ext cx="3888432" cy="126013"/>
            </a:xfrm>
            <a:prstGeom prst="bentConnector3">
              <a:avLst>
                <a:gd name="adj1" fmla="val 9986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38056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 smtClean="0"/>
              <a:t>xHELM</a:t>
            </a:r>
            <a:r>
              <a:rPr lang="en-US" smtClean="0"/>
              <a:t> example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0B66EF-41F5-4872-897F-D11CDBD3F78A}" type="slidenum">
              <a:rPr lang="de-DE" smtClean="0"/>
              <a:pPr/>
              <a:t>10</a:t>
            </a:fld>
            <a:endParaRPr lang="de-DE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420888"/>
            <a:ext cx="1438275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feld 2"/>
          <p:cNvSpPr txBox="1"/>
          <p:nvPr/>
        </p:nvSpPr>
        <p:spPr>
          <a:xfrm>
            <a:off x="3275856" y="1988840"/>
            <a:ext cx="5184576" cy="4431983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7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&lt;?xml version="1.0" encoding="UTF-8"?&gt;</a:t>
            </a:r>
          </a:p>
          <a:p>
            <a:pPr algn="l"/>
            <a:r>
              <a:rPr lang="en-US" sz="7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7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Xhelm</a:t>
            </a:r>
            <a:r>
              <a:rPr lang="en-US" sz="7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algn="l"/>
            <a:r>
              <a:rPr lang="en-US" sz="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HelmNotation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9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PEPTIDE1{A.G}$$$$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HelmNotation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algn="l"/>
            <a:r>
              <a:rPr lang="en-US" sz="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&lt;Monomers&gt;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&lt;Monomer&gt;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MonomerID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&gt;A&lt;/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MonomerID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MonomerSmiles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&gt;C[C@H](N[*])C([*])=O |$;;;_R1;;_R2;$|&lt;/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MonomerSmiles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</a:t>
            </a:r>
            <a:r>
              <a:rPr lang="en-US" sz="700" dirty="0" err="1" smtClean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MonomerMolFile</a:t>
            </a:r>
            <a:r>
              <a:rPr lang="en-US" sz="700" dirty="0" smtClean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&gt;H4sIAAAAAA…&lt;/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MonomerMolFile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MonomerType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&gt;Backbone&lt;/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MonomerType</a:t>
            </a:r>
            <a:r>
              <a:rPr lang="en-US" sz="700" dirty="0" smtClean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PolymerType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&gt;PEPTIDE&lt;/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PolymerType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NaturalAnalog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&gt;A&lt;/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NaturalAnalog</a:t>
            </a:r>
            <a:r>
              <a:rPr lang="en-US" sz="700" dirty="0" smtClean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MonomerName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&gt;Alanine&lt;/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MonomerName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&lt;Attachments&gt;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&lt;Attachment&gt;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AttachmentID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&gt;R2-OH&lt;/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AttachmentID</a:t>
            </a:r>
            <a:r>
              <a:rPr lang="en-US" sz="700" dirty="0" smtClean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AttachmentLabel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&gt;R2&lt;/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AttachmentLabel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CapGroupName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&gt;OH&lt;/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CapGroupName</a:t>
            </a:r>
            <a:r>
              <a:rPr lang="en-US" sz="700" dirty="0" smtClean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CapGroupSmiles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&gt;O[*] |$;_R2$|&lt;/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CapGroupSmiles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&lt;/Attachment&gt;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&lt;Attachment&gt;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AttachmentID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&gt;R1-H&lt;/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AttachmentID</a:t>
            </a:r>
            <a:r>
              <a:rPr lang="en-US" sz="700" dirty="0" smtClean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AttachmentLabel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&gt;R1&lt;/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AttachmentLabel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CapGroupName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&gt;H&lt;/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CapGroupName</a:t>
            </a:r>
            <a:r>
              <a:rPr lang="en-US" sz="700" dirty="0" smtClean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CapGroupSmiles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&gt;[*][H] |$_R1;$|&lt;/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CapGroupSmiles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&lt;/Attachment&gt;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&lt;/Attachments&gt;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&lt;/Monomer&gt;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&lt;Monomer&gt;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MonomerID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&gt;G&lt;/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MonomerID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MonomerSmiles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&gt;[*]NCC([*])=O |$_R1;;;;_R2;$|&lt;/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MonomerSmiles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</a:t>
            </a:r>
            <a:r>
              <a:rPr lang="en-US" sz="700" dirty="0" err="1" smtClean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MonomerMolFile</a:t>
            </a:r>
            <a:r>
              <a:rPr lang="en-US" sz="700" dirty="0" smtClean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&gt;H4sIAAAAAAAAAKWSP…&lt;/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MonomerMolFile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MonomerType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&gt;Backbone&lt;/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MonomerType</a:t>
            </a:r>
            <a:r>
              <a:rPr lang="en-US" sz="700" dirty="0" smtClean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PolymerType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&gt;PEPTIDE&lt;/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PolymerType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NaturalAnalog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&gt;G&lt;/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NaturalAnalog</a:t>
            </a:r>
            <a:r>
              <a:rPr lang="en-US" sz="700" dirty="0" smtClean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MonomerName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&gt;Glycine&lt;/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MonomerName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&lt;Attachments&gt;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&lt;Attachment&gt;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AttachmentID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&gt;R2-OH&lt;/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AttachmentID</a:t>
            </a:r>
            <a:r>
              <a:rPr lang="en-US" sz="700" dirty="0" smtClean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AttachmentLabel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&gt;R2&lt;/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AttachmentLabel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CapGroupName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&gt;OH&lt;/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CapGroupName</a:t>
            </a:r>
            <a:r>
              <a:rPr lang="en-US" sz="700" dirty="0" smtClean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CapGroupSmiles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&gt;O[*] |$;_R2$|&lt;/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CapGroupSmiles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&lt;/Attachment&gt;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&lt;Attachment&gt;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AttachmentID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&gt;R1-H&lt;/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AttachmentID</a:t>
            </a:r>
            <a:r>
              <a:rPr lang="en-US" sz="700" dirty="0" smtClean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AttachmentLabel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&gt;R1&lt;/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AttachmentLabel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CapGroupName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&gt;H&lt;/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CapGroupName</a:t>
            </a:r>
            <a:r>
              <a:rPr lang="en-US" sz="700" dirty="0" smtClean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&gt;&lt;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CapGroupSmiles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&gt;[*][H] |$_R1;$|&lt;/</a:t>
            </a:r>
            <a:r>
              <a:rPr lang="en-US" sz="7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CapGroupSmiles</a:t>
            </a:r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&lt;/Attachment&gt;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&lt;/Attachments&gt;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&lt;/Monomer&gt;</a:t>
            </a:r>
          </a:p>
          <a:p>
            <a:pPr algn="l"/>
            <a:r>
              <a:rPr lang="en-US" sz="7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&lt;/Monomers&gt;</a:t>
            </a:r>
          </a:p>
          <a:p>
            <a:pPr algn="l"/>
            <a:r>
              <a:rPr lang="en-US" sz="7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7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Xhelm</a:t>
            </a:r>
            <a:r>
              <a:rPr lang="en-US" sz="7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sz="7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6338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xHELM</a:t>
            </a:r>
            <a:r>
              <a:rPr lang="en-US" dirty="0" smtClean="0"/>
              <a:t> support in HELM toolkit and editor</a:t>
            </a:r>
            <a:endParaRPr lang="en-US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Load and save HELM as well as xHELM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0B66EF-41F5-4872-897F-D11CDBD3F78A}" type="slidenum">
              <a:rPr lang="de-DE" smtClean="0"/>
              <a:pPr/>
              <a:t>11</a:t>
            </a:fld>
            <a:endParaRPr lang="de-DE"/>
          </a:p>
        </p:txBody>
      </p:sp>
      <p:grpSp>
        <p:nvGrpSpPr>
          <p:cNvPr id="8" name="Gruppieren 7"/>
          <p:cNvGrpSpPr/>
          <p:nvPr/>
        </p:nvGrpSpPr>
        <p:grpSpPr>
          <a:xfrm>
            <a:off x="6516216" y="4120149"/>
            <a:ext cx="936104" cy="1224136"/>
            <a:chOff x="4283968" y="1988840"/>
            <a:chExt cx="936104" cy="1224136"/>
          </a:xfrm>
        </p:grpSpPr>
        <p:sp>
          <p:nvSpPr>
            <p:cNvPr id="9" name="Rechteck 8"/>
            <p:cNvSpPr/>
            <p:nvPr/>
          </p:nvSpPr>
          <p:spPr bwMode="auto">
            <a:xfrm>
              <a:off x="4283968" y="1988840"/>
              <a:ext cx="936104" cy="1224136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 err="1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xHELM</a:t>
              </a:r>
              <a:endPara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Rechteck 9"/>
            <p:cNvSpPr/>
            <p:nvPr/>
          </p:nvSpPr>
          <p:spPr bwMode="auto">
            <a:xfrm>
              <a:off x="4347509" y="2285055"/>
              <a:ext cx="817390" cy="16365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" name="Flussdiagramm: Mehrere Dokumente 10"/>
            <p:cNvSpPr/>
            <p:nvPr/>
          </p:nvSpPr>
          <p:spPr bwMode="auto">
            <a:xfrm>
              <a:off x="4385427" y="2492896"/>
              <a:ext cx="762637" cy="648072"/>
            </a:xfrm>
            <a:prstGeom prst="flowChartMultidocument">
              <a:avLst/>
            </a:prstGeom>
            <a:solidFill>
              <a:srgbClr val="C00000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2" name="Rechteck 11"/>
          <p:cNvSpPr/>
          <p:nvPr/>
        </p:nvSpPr>
        <p:spPr bwMode="auto">
          <a:xfrm>
            <a:off x="1043608" y="4120149"/>
            <a:ext cx="936104" cy="1224136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HELM</a:t>
            </a:r>
          </a:p>
        </p:txBody>
      </p:sp>
      <p:grpSp>
        <p:nvGrpSpPr>
          <p:cNvPr id="15" name="Gruppieren 14"/>
          <p:cNvGrpSpPr/>
          <p:nvPr/>
        </p:nvGrpSpPr>
        <p:grpSpPr>
          <a:xfrm>
            <a:off x="2771800" y="3544085"/>
            <a:ext cx="2958006" cy="2333187"/>
            <a:chOff x="2910139" y="1628800"/>
            <a:chExt cx="2958006" cy="2333187"/>
          </a:xfrm>
        </p:grpSpPr>
        <p:pic>
          <p:nvPicPr>
            <p:cNvPr id="16" name="Picture 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0139" y="1628800"/>
              <a:ext cx="2958006" cy="233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2028" y="2060848"/>
              <a:ext cx="1529607" cy="1040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" name="Pfeil nach links und rechts 13"/>
          <p:cNvSpPr/>
          <p:nvPr/>
        </p:nvSpPr>
        <p:spPr bwMode="auto">
          <a:xfrm>
            <a:off x="5652120" y="4581075"/>
            <a:ext cx="720080" cy="288032"/>
          </a:xfrm>
          <a:prstGeom prst="left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3" name="Pfeil nach links und rechts 2"/>
          <p:cNvSpPr/>
          <p:nvPr/>
        </p:nvSpPr>
        <p:spPr bwMode="auto">
          <a:xfrm>
            <a:off x="2123728" y="4581075"/>
            <a:ext cx="720080" cy="288032"/>
          </a:xfrm>
          <a:prstGeom prst="left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0861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New monomers from xHELM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0B66EF-41F5-4872-897F-D11CDBD3F78A}" type="slidenum">
              <a:rPr lang="de-DE" smtClean="0"/>
              <a:pPr/>
              <a:t>12</a:t>
            </a:fld>
            <a:endParaRPr lang="de-DE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703" y="1984656"/>
            <a:ext cx="5707277" cy="418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99754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400" dirty="0" smtClean="0"/>
              <a:t>Monomer </a:t>
            </a:r>
            <a:r>
              <a:rPr lang="de-DE" sz="2400" dirty="0" err="1" smtClean="0"/>
              <a:t>Modification</a:t>
            </a:r>
            <a:r>
              <a:rPr lang="de-DE" sz="2400" dirty="0" smtClean="0"/>
              <a:t> </a:t>
            </a:r>
            <a:r>
              <a:rPr lang="de-DE" sz="2400" dirty="0" err="1" smtClean="0"/>
              <a:t>and</a:t>
            </a:r>
            <a:r>
              <a:rPr lang="de-DE" sz="2400" dirty="0" smtClean="0"/>
              <a:t> inline SMILES </a:t>
            </a:r>
            <a:r>
              <a:rPr lang="de-DE" sz="2400" dirty="0" err="1" smtClean="0"/>
              <a:t>notation</a:t>
            </a:r>
            <a:endParaRPr lang="en-US" sz="2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0B66EF-41F5-4872-897F-D11CDBD3F78A}" type="slidenum">
              <a:rPr lang="de-DE" smtClean="0"/>
              <a:pPr/>
              <a:t>13</a:t>
            </a:fld>
            <a:endParaRPr lang="de-DE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598" y="1949654"/>
            <a:ext cx="5919652" cy="422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7203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HELM inline SMILES </a:t>
            </a:r>
            <a:r>
              <a:rPr lang="de-DE" dirty="0" err="1" smtClean="0"/>
              <a:t>notation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976784"/>
            <a:ext cx="8137276" cy="4332536"/>
          </a:xfrm>
        </p:spPr>
        <p:txBody>
          <a:bodyPr/>
          <a:lstStyle/>
          <a:p>
            <a:r>
              <a:rPr lang="de-DE" dirty="0" err="1" smtClean="0"/>
              <a:t>Existing</a:t>
            </a:r>
            <a:r>
              <a:rPr lang="de-DE" dirty="0" smtClean="0"/>
              <a:t> SMILES inline </a:t>
            </a:r>
            <a:r>
              <a:rPr lang="de-DE" dirty="0" err="1" smtClean="0"/>
              <a:t>notation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chemical</a:t>
            </a:r>
            <a:r>
              <a:rPr lang="de-DE" dirty="0" smtClean="0"/>
              <a:t> </a:t>
            </a:r>
            <a:r>
              <a:rPr lang="de-DE" dirty="0" err="1" smtClean="0"/>
              <a:t>monomers</a:t>
            </a:r>
            <a:r>
              <a:rPr lang="de-DE" dirty="0" smtClean="0"/>
              <a:t> </a:t>
            </a:r>
            <a:r>
              <a:rPr lang="de-DE" dirty="0" err="1" smtClean="0"/>
              <a:t>extended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all monomer </a:t>
            </a:r>
            <a:r>
              <a:rPr lang="de-DE" dirty="0" err="1" smtClean="0"/>
              <a:t>types</a:t>
            </a:r>
            <a:r>
              <a:rPr lang="de-DE" dirty="0" smtClean="0"/>
              <a:t>.</a:t>
            </a:r>
          </a:p>
          <a:p>
            <a:r>
              <a:rPr lang="de-DE" smtClean="0"/>
              <a:t>Extended </a:t>
            </a:r>
            <a:r>
              <a:rPr lang="de-DE" dirty="0" smtClean="0"/>
              <a:t>SMILES </a:t>
            </a:r>
            <a:r>
              <a:rPr lang="de-DE" dirty="0" err="1" smtClean="0"/>
              <a:t>notation</a:t>
            </a:r>
            <a:r>
              <a:rPr lang="de-DE" dirty="0" smtClean="0"/>
              <a:t> in </a:t>
            </a:r>
            <a:r>
              <a:rPr lang="de-DE" dirty="0" err="1" smtClean="0"/>
              <a:t>square</a:t>
            </a:r>
            <a:r>
              <a:rPr lang="de-DE" dirty="0" smtClean="0"/>
              <a:t> </a:t>
            </a:r>
            <a:r>
              <a:rPr lang="de-DE" dirty="0" err="1" smtClean="0"/>
              <a:t>brackets</a:t>
            </a:r>
            <a:endParaRPr lang="de-DE" dirty="0" smtClean="0"/>
          </a:p>
          <a:p>
            <a:r>
              <a:rPr lang="de-DE" dirty="0" err="1" smtClean="0"/>
              <a:t>Example</a:t>
            </a:r>
            <a:r>
              <a:rPr lang="de-DE" dirty="0"/>
              <a:t>: 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PEPTIDE1{G.A.T}$$$$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 smtClean="0"/>
              <a:t>				→ </a:t>
            </a:r>
            <a:br>
              <a:rPr lang="de-DE" dirty="0" smtClean="0"/>
            </a:br>
            <a:r>
              <a:rPr lang="pt-BR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PEPTIDE1{G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pt-BR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[C[13C@H](N[*])C([*])=O |$;;;_R1;;_R2;$|]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.T}$$$$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0B66EF-41F5-4872-897F-D11CDBD3F78A}" type="slidenum">
              <a:rPr lang="de-DE" smtClean="0"/>
              <a:pPr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48865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Monomer Registration </a:t>
            </a:r>
            <a:r>
              <a:rPr lang="de-DE" dirty="0" err="1" smtClean="0"/>
              <a:t>from</a:t>
            </a:r>
            <a:r>
              <a:rPr lang="de-DE" dirty="0" smtClean="0"/>
              <a:t> </a:t>
            </a:r>
            <a:r>
              <a:rPr lang="de-DE" dirty="0" err="1" smtClean="0"/>
              <a:t>xHELM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inline SMILES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2264816"/>
            <a:ext cx="7878762" cy="3900488"/>
          </a:xfrm>
        </p:spPr>
        <p:txBody>
          <a:bodyPr/>
          <a:lstStyle/>
          <a:p>
            <a:r>
              <a:rPr lang="en-US"/>
              <a:t>Checking for mismatches and uniqueness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0B66EF-41F5-4872-897F-D11CDBD3F78A}" type="slidenum">
              <a:rPr lang="de-DE" smtClean="0"/>
              <a:pPr/>
              <a:t>15</a:t>
            </a:fld>
            <a:endParaRPr lang="de-DE"/>
          </a:p>
        </p:txBody>
      </p:sp>
      <p:grpSp>
        <p:nvGrpSpPr>
          <p:cNvPr id="5" name="Gruppieren 4"/>
          <p:cNvGrpSpPr/>
          <p:nvPr/>
        </p:nvGrpSpPr>
        <p:grpSpPr>
          <a:xfrm>
            <a:off x="3779912" y="3688101"/>
            <a:ext cx="2958006" cy="2333187"/>
            <a:chOff x="2910139" y="1628800"/>
            <a:chExt cx="2958006" cy="2333187"/>
          </a:xfrm>
        </p:grpSpPr>
        <p:pic>
          <p:nvPicPr>
            <p:cNvPr id="6" name="Picture 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0139" y="1628800"/>
              <a:ext cx="2958006" cy="233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2028" y="2060848"/>
              <a:ext cx="1529607" cy="1040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Flussdiagramm: Dokument 7"/>
          <p:cNvSpPr/>
          <p:nvPr/>
        </p:nvSpPr>
        <p:spPr bwMode="auto">
          <a:xfrm>
            <a:off x="6156176" y="4161877"/>
            <a:ext cx="1008112" cy="1211339"/>
          </a:xfrm>
          <a:prstGeom prst="flowChartDocument">
            <a:avLst/>
          </a:prstGeom>
          <a:solidFill>
            <a:srgbClr val="C00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Local</a:t>
            </a:r>
            <a:b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Monomer</a:t>
            </a:r>
            <a:b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Store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1962382" y="3933056"/>
            <a:ext cx="1194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 smtClean="0"/>
              <a:t>xHELM</a:t>
            </a:r>
            <a:endParaRPr lang="en-US" sz="2400" dirty="0"/>
          </a:p>
        </p:txBody>
      </p:sp>
      <p:sp>
        <p:nvSpPr>
          <p:cNvPr id="11" name="Textfeld 10"/>
          <p:cNvSpPr txBox="1"/>
          <p:nvPr/>
        </p:nvSpPr>
        <p:spPr>
          <a:xfrm>
            <a:off x="1043608" y="5178678"/>
            <a:ext cx="2135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smtClean="0"/>
              <a:t>Inline SMILES</a:t>
            </a:r>
            <a:endParaRPr lang="en-US" sz="2400" dirty="0"/>
          </a:p>
        </p:txBody>
      </p:sp>
      <p:cxnSp>
        <p:nvCxnSpPr>
          <p:cNvPr id="13" name="Gerade Verbindung mit Pfeil 12"/>
          <p:cNvCxnSpPr>
            <a:stCxn id="10" idx="3"/>
          </p:cNvCxnSpPr>
          <p:nvPr/>
        </p:nvCxnSpPr>
        <p:spPr bwMode="auto">
          <a:xfrm>
            <a:off x="3156941" y="4163889"/>
            <a:ext cx="1127027" cy="561255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Gerade Verbindung mit Pfeil 14"/>
          <p:cNvCxnSpPr>
            <a:stCxn id="11" idx="3"/>
          </p:cNvCxnSpPr>
          <p:nvPr/>
        </p:nvCxnSpPr>
        <p:spPr bwMode="auto">
          <a:xfrm flipV="1">
            <a:off x="3179129" y="4869161"/>
            <a:ext cx="1104839" cy="54035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8901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Collaboration between </a:t>
            </a:r>
            <a:r>
              <a:rPr lang="en-US" err="1" smtClean="0"/>
              <a:t>pharma</a:t>
            </a:r>
            <a:r>
              <a:rPr lang="en-US" smtClean="0"/>
              <a:t> and CRO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0B66EF-41F5-4872-897F-D11CDBD3F78A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15" name="Flussdiagramm: Magnetplattenspeicher 14"/>
          <p:cNvSpPr/>
          <p:nvPr/>
        </p:nvSpPr>
        <p:spPr bwMode="auto">
          <a:xfrm>
            <a:off x="1115616" y="4515706"/>
            <a:ext cx="1947624" cy="811510"/>
          </a:xfrm>
          <a:prstGeom prst="flowChartMagneticDisk">
            <a:avLst/>
          </a:prstGeom>
          <a:solidFill>
            <a:srgbClr val="C00000"/>
          </a:solidFill>
          <a:ln w="1905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Monomer database</a:t>
            </a:r>
          </a:p>
        </p:txBody>
      </p:sp>
      <p:sp>
        <p:nvSpPr>
          <p:cNvPr id="19" name="Flussdiagramm: Dokument 18"/>
          <p:cNvSpPr/>
          <p:nvPr/>
        </p:nvSpPr>
        <p:spPr bwMode="auto">
          <a:xfrm>
            <a:off x="6268159" y="4463120"/>
            <a:ext cx="757409" cy="910096"/>
          </a:xfrm>
          <a:prstGeom prst="flowChartDocument">
            <a:avLst/>
          </a:prstGeom>
          <a:solidFill>
            <a:srgbClr val="C00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Local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Monomer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Store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pic>
        <p:nvPicPr>
          <p:cNvPr id="23" name="Picture 2" descr="http://www2.psd100.com/ppp/2013/11/2701/Laboratory-112723345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371188"/>
            <a:ext cx="1514057" cy="1514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factory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909" y="2333157"/>
            <a:ext cx="1553899" cy="155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Gerade Verbindung mit Pfeil 6"/>
          <p:cNvCxnSpPr/>
          <p:nvPr/>
        </p:nvCxnSpPr>
        <p:spPr bwMode="auto">
          <a:xfrm>
            <a:off x="3923928" y="2952328"/>
            <a:ext cx="1008112" cy="0"/>
          </a:xfrm>
          <a:prstGeom prst="straightConnector1">
            <a:avLst/>
          </a:prstGeom>
          <a:solidFill>
            <a:srgbClr val="00A886"/>
          </a:solidFill>
          <a:ln w="5715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" name="Gerade Verbindung mit Pfeil 23"/>
          <p:cNvCxnSpPr/>
          <p:nvPr/>
        </p:nvCxnSpPr>
        <p:spPr bwMode="auto">
          <a:xfrm flipH="1">
            <a:off x="3923928" y="3168352"/>
            <a:ext cx="1008112" cy="0"/>
          </a:xfrm>
          <a:prstGeom prst="straightConnector1">
            <a:avLst/>
          </a:prstGeom>
          <a:solidFill>
            <a:srgbClr val="00A886"/>
          </a:solidFill>
          <a:ln w="5715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6" name="Gerade Verbindung mit Pfeil 25"/>
          <p:cNvCxnSpPr>
            <a:stCxn id="15" idx="4"/>
          </p:cNvCxnSpPr>
          <p:nvPr/>
        </p:nvCxnSpPr>
        <p:spPr bwMode="auto">
          <a:xfrm>
            <a:off x="3063240" y="4921461"/>
            <a:ext cx="932696" cy="68"/>
          </a:xfrm>
          <a:prstGeom prst="straightConnector1">
            <a:avLst/>
          </a:prstGeom>
          <a:solidFill>
            <a:srgbClr val="00A886"/>
          </a:solidFill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Gerade Verbindung mit Pfeil 26"/>
          <p:cNvCxnSpPr>
            <a:stCxn id="19" idx="1"/>
          </p:cNvCxnSpPr>
          <p:nvPr/>
        </p:nvCxnSpPr>
        <p:spPr bwMode="auto">
          <a:xfrm flipH="1">
            <a:off x="5004048" y="4918168"/>
            <a:ext cx="1264111" cy="0"/>
          </a:xfrm>
          <a:prstGeom prst="straightConnector1">
            <a:avLst/>
          </a:prstGeom>
          <a:solidFill>
            <a:srgbClr val="00A886"/>
          </a:solidFill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13" name="Gruppieren 12"/>
          <p:cNvGrpSpPr/>
          <p:nvPr/>
        </p:nvGrpSpPr>
        <p:grpSpPr>
          <a:xfrm>
            <a:off x="4059852" y="4365104"/>
            <a:ext cx="851004" cy="1112851"/>
            <a:chOff x="4283968" y="1988840"/>
            <a:chExt cx="936104" cy="1224136"/>
          </a:xfrm>
        </p:grpSpPr>
        <p:sp>
          <p:nvSpPr>
            <p:cNvPr id="16" name="Rechteck 15"/>
            <p:cNvSpPr/>
            <p:nvPr/>
          </p:nvSpPr>
          <p:spPr bwMode="auto">
            <a:xfrm>
              <a:off x="4283968" y="1988840"/>
              <a:ext cx="936104" cy="1224136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err="1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xHELM</a:t>
              </a:r>
              <a:endParaRPr kumimoji="0" lang="en-US" sz="12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7" name="Rechteck 16"/>
            <p:cNvSpPr/>
            <p:nvPr/>
          </p:nvSpPr>
          <p:spPr bwMode="auto">
            <a:xfrm>
              <a:off x="4347509" y="2285055"/>
              <a:ext cx="817390" cy="16365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Flussdiagramm: Mehrere Dokumente 17"/>
            <p:cNvSpPr/>
            <p:nvPr/>
          </p:nvSpPr>
          <p:spPr bwMode="auto">
            <a:xfrm>
              <a:off x="4385427" y="2492896"/>
              <a:ext cx="762637" cy="648072"/>
            </a:xfrm>
            <a:prstGeom prst="flowChartMultidocument">
              <a:avLst/>
            </a:prstGeom>
            <a:solidFill>
              <a:srgbClr val="C00000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69137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Project Summary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976784"/>
            <a:ext cx="7705228" cy="4332536"/>
          </a:xfrm>
        </p:spPr>
        <p:txBody>
          <a:bodyPr/>
          <a:lstStyle/>
          <a:p>
            <a:r>
              <a:rPr lang="de-DE" dirty="0" smtClean="0"/>
              <a:t>Definition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implementation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exchangeable</a:t>
            </a:r>
            <a:r>
              <a:rPr lang="de-DE" dirty="0" smtClean="0"/>
              <a:t> HELM </a:t>
            </a:r>
            <a:r>
              <a:rPr lang="de-DE" dirty="0" err="1" smtClean="0"/>
              <a:t>format</a:t>
            </a:r>
            <a:endParaRPr lang="de-DE" dirty="0" smtClean="0"/>
          </a:p>
          <a:p>
            <a:r>
              <a:rPr lang="de-DE" dirty="0" smtClean="0"/>
              <a:t>HELM </a:t>
            </a:r>
            <a:r>
              <a:rPr lang="de-DE" dirty="0" err="1" smtClean="0"/>
              <a:t>toolkit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editor</a:t>
            </a:r>
            <a:r>
              <a:rPr lang="de-DE" dirty="0" smtClean="0"/>
              <a:t> </a:t>
            </a:r>
            <a:r>
              <a:rPr lang="de-DE" dirty="0" err="1" smtClean="0"/>
              <a:t>support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xHELM</a:t>
            </a:r>
            <a:endParaRPr lang="de-DE" dirty="0" smtClean="0"/>
          </a:p>
          <a:p>
            <a:r>
              <a:rPr lang="de-DE" dirty="0" smtClean="0"/>
              <a:t>Definition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implementation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inline SMILES </a:t>
            </a:r>
            <a:r>
              <a:rPr lang="de-DE" dirty="0" err="1" smtClean="0"/>
              <a:t>for</a:t>
            </a:r>
            <a:r>
              <a:rPr lang="de-DE" dirty="0" smtClean="0"/>
              <a:t> all monomer </a:t>
            </a:r>
            <a:r>
              <a:rPr lang="de-DE" dirty="0" err="1" smtClean="0"/>
              <a:t>types</a:t>
            </a:r>
            <a:endParaRPr lang="de-DE" dirty="0" smtClean="0"/>
          </a:p>
          <a:p>
            <a:r>
              <a:rPr lang="de-DE" dirty="0" smtClean="0"/>
              <a:t>Inline </a:t>
            </a:r>
            <a:r>
              <a:rPr lang="de-DE" dirty="0" err="1" smtClean="0"/>
              <a:t>editing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all </a:t>
            </a:r>
            <a:r>
              <a:rPr lang="de-DE" dirty="0" err="1" smtClean="0"/>
              <a:t>types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monomers</a:t>
            </a:r>
            <a:r>
              <a:rPr lang="de-DE" dirty="0" smtClean="0"/>
              <a:t> in </a:t>
            </a:r>
            <a:r>
              <a:rPr lang="de-DE" dirty="0" err="1" smtClean="0"/>
              <a:t>editor</a:t>
            </a:r>
            <a:endParaRPr lang="de-DE" dirty="0" smtClean="0"/>
          </a:p>
          <a:p>
            <a:r>
              <a:rPr lang="de-DE" dirty="0" smtClean="0"/>
              <a:t>Registration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new</a:t>
            </a:r>
            <a:r>
              <a:rPr lang="de-DE" dirty="0" smtClean="0"/>
              <a:t> </a:t>
            </a:r>
            <a:r>
              <a:rPr lang="de-DE" dirty="0" err="1" smtClean="0"/>
              <a:t>monomers</a:t>
            </a:r>
            <a:r>
              <a:rPr lang="de-DE" dirty="0" smtClean="0"/>
              <a:t> out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xHELM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inline SMILES </a:t>
            </a:r>
            <a:r>
              <a:rPr lang="de-DE" dirty="0" err="1" smtClean="0"/>
              <a:t>notation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0B66EF-41F5-4872-897F-D11CDBD3F78A}" type="slidenum">
              <a:rPr lang="de-DE" smtClean="0"/>
              <a:pPr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82294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Acknowledgments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976784"/>
            <a:ext cx="7705228" cy="4332536"/>
          </a:xfrm>
        </p:spPr>
        <p:txBody>
          <a:bodyPr/>
          <a:lstStyle/>
          <a:p>
            <a:r>
              <a:rPr lang="de-DE" sz="1600" dirty="0" smtClean="0"/>
              <a:t>Stefanie </a:t>
            </a:r>
            <a:r>
              <a:rPr lang="de-DE" sz="1600" dirty="0" err="1" smtClean="0"/>
              <a:t>Maisel</a:t>
            </a:r>
            <a:r>
              <a:rPr lang="de-DE" sz="1600" dirty="0" smtClean="0"/>
              <a:t>, Marco </a:t>
            </a:r>
            <a:r>
              <a:rPr lang="de-DE" sz="1600" dirty="0" err="1" smtClean="0"/>
              <a:t>Lanig</a:t>
            </a:r>
            <a:r>
              <a:rPr lang="de-DE" sz="1600" dirty="0" smtClean="0"/>
              <a:t> (</a:t>
            </a:r>
            <a:r>
              <a:rPr lang="de-DE" sz="1600" dirty="0" err="1" smtClean="0"/>
              <a:t>quattro</a:t>
            </a:r>
            <a:r>
              <a:rPr lang="de-DE" sz="1600" dirty="0" smtClean="0"/>
              <a:t> </a:t>
            </a:r>
            <a:r>
              <a:rPr lang="de-DE" sz="1600" dirty="0" err="1" smtClean="0"/>
              <a:t>research</a:t>
            </a:r>
            <a:r>
              <a:rPr lang="de-DE" sz="1600" dirty="0" smtClean="0"/>
              <a:t>)</a:t>
            </a:r>
          </a:p>
          <a:p>
            <a:endParaRPr lang="de-DE" sz="1600" dirty="0" smtClean="0"/>
          </a:p>
          <a:p>
            <a:r>
              <a:rPr lang="de-DE" sz="1600" dirty="0" smtClean="0"/>
              <a:t>Roland Knispel (</a:t>
            </a:r>
            <a:r>
              <a:rPr lang="de-DE" sz="1600" dirty="0" err="1" smtClean="0"/>
              <a:t>ChemAxon</a:t>
            </a:r>
            <a:r>
              <a:rPr lang="de-DE" sz="1600" dirty="0" smtClean="0"/>
              <a:t>)</a:t>
            </a:r>
          </a:p>
          <a:p>
            <a:r>
              <a:rPr lang="de-DE" sz="1600" dirty="0" smtClean="0"/>
              <a:t>Matthias Nolte (BMS)</a:t>
            </a:r>
          </a:p>
          <a:p>
            <a:r>
              <a:rPr lang="de-DE" sz="1600" dirty="0" err="1" smtClean="0"/>
              <a:t>Tianhong</a:t>
            </a:r>
            <a:r>
              <a:rPr lang="de-DE" sz="1600" dirty="0" smtClean="0"/>
              <a:t> Zhang (Pfizer)</a:t>
            </a:r>
          </a:p>
          <a:p>
            <a:endParaRPr lang="de-DE" sz="1600" dirty="0"/>
          </a:p>
          <a:p>
            <a:r>
              <a:rPr lang="de-DE" sz="1600" dirty="0" smtClean="0"/>
              <a:t>Claire Bellamy (</a:t>
            </a:r>
            <a:r>
              <a:rPr lang="de-DE" sz="1600" dirty="0" err="1" smtClean="0"/>
              <a:t>Pistoia</a:t>
            </a:r>
            <a:r>
              <a:rPr lang="de-DE" sz="1600" dirty="0" smtClean="0"/>
              <a:t> Alliance)</a:t>
            </a:r>
            <a:endParaRPr lang="en-US" sz="16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0B66EF-41F5-4872-897F-D11CDBD3F78A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2967405" y="4860449"/>
            <a:ext cx="23246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smtClean="0"/>
              <a:t>Thank you !</a:t>
            </a:r>
            <a:endParaRPr lang="en-US" sz="3200"/>
          </a:p>
        </p:txBody>
      </p:sp>
      <p:sp>
        <p:nvSpPr>
          <p:cNvPr id="6" name="Textfeld 5"/>
          <p:cNvSpPr txBox="1"/>
          <p:nvPr/>
        </p:nvSpPr>
        <p:spPr>
          <a:xfrm>
            <a:off x="812305" y="6165304"/>
            <a:ext cx="3643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mtClean="0"/>
              <a:t>email: weisser@quattro-research.com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7941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sterlayout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BD5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D2E7FF"/>
      </a:accent5>
      <a:accent6>
        <a:srgbClr val="2D2DB9"/>
      </a:accent6>
      <a:hlink>
        <a:srgbClr val="CCCCFF"/>
      </a:hlink>
      <a:folHlink>
        <a:srgbClr val="B2B2B2"/>
      </a:folHlink>
    </a:clrScheme>
    <a:fontScheme name="Masterlay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A886"/>
        </a:solidFill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rgbClr val="173B64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A886"/>
        </a:solidFill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rgbClr val="173B64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asterlayou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layou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layou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layou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layo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layo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layo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CDD2B4ACA51342B7A34052BCBF2160" ma:contentTypeVersion="0" ma:contentTypeDescription="Create a new document." ma:contentTypeScope="" ma:versionID="9a2b7d66cc4781f8ae451708abc6923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292b2e8a5e88650274ba074c5be686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0452063-DB94-402A-A008-BE02799A0FC7}">
  <ds:schemaRefs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4EBF43C-E747-451A-A9EA-4BCAD5245F8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344764-5FC2-4A33-96EE-F3A91871BA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613</Words>
  <Application>Microsoft Office PowerPoint</Application>
  <PresentationFormat>On-screen Show (4:3)</PresentationFormat>
  <Paragraphs>143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Consolas</vt:lpstr>
      <vt:lpstr>Times New Roman</vt:lpstr>
      <vt:lpstr>Wingdings</vt:lpstr>
      <vt:lpstr>Wingdings 3</vt:lpstr>
      <vt:lpstr>Masterlayout</vt:lpstr>
      <vt:lpstr>Exchangeable HELM</vt:lpstr>
      <vt:lpstr>Status quo HELM notation</vt:lpstr>
      <vt:lpstr>HELM use case pharma company</vt:lpstr>
      <vt:lpstr>HELM use case in small organizations</vt:lpstr>
      <vt:lpstr>Collaboration between pharma and CRO</vt:lpstr>
      <vt:lpstr>Request for proposal for Exchangeable HELM from Pistoia Alliance</vt:lpstr>
      <vt:lpstr>Status quo HELM toolkit/editor</vt:lpstr>
      <vt:lpstr>Exchangeable HELM – XML container for HELM notation and monomer information</vt:lpstr>
      <vt:lpstr>xHELM structure</vt:lpstr>
      <vt:lpstr>xHELM example</vt:lpstr>
      <vt:lpstr>xHELM support in HELM toolkit and editor</vt:lpstr>
      <vt:lpstr>New monomers from xHELM</vt:lpstr>
      <vt:lpstr>Monomer Modification and inline SMILES notation</vt:lpstr>
      <vt:lpstr>HELM inline SMILES notation</vt:lpstr>
      <vt:lpstr>Monomer Registration from xHELM and inline SMILES</vt:lpstr>
      <vt:lpstr>Collaboration between pharma and CRO</vt:lpstr>
      <vt:lpstr>Project Summary</vt:lpstr>
      <vt:lpstr>Acknowledgments</vt:lpstr>
    </vt:vector>
  </TitlesOfParts>
  <Company>4SC AG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Management in a Modern</dc:title>
  <dc:creator>Dr. Bernhard Schirm</dc:creator>
  <cp:lastModifiedBy>Claire Bellamy</cp:lastModifiedBy>
  <cp:revision>518</cp:revision>
  <cp:lastPrinted>2003-04-23T12:33:14Z</cp:lastPrinted>
  <dcterms:created xsi:type="dcterms:W3CDTF">2002-10-17T13:00:31Z</dcterms:created>
  <dcterms:modified xsi:type="dcterms:W3CDTF">2016-01-05T16:36:50Z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0x0101004CCDD2B4ACA51342B7A34052BCBF2160</vt:lpwstr>
  </property>
  <property fmtid="{D5CDD505-2E9C-101B-9397-08002B2CF9AE}" pid="3" name="IsMyDocuments">
    <vt:bool>true</vt:bool>
  </property>
</Properties>
</file>