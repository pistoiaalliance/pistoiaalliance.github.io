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759" r:id="rId2"/>
    <p:sldId id="801" r:id="rId3"/>
    <p:sldId id="778" r:id="rId4"/>
    <p:sldId id="768" r:id="rId5"/>
    <p:sldId id="767" r:id="rId6"/>
    <p:sldId id="790" r:id="rId7"/>
    <p:sldId id="779" r:id="rId8"/>
    <p:sldId id="774" r:id="rId9"/>
    <p:sldId id="776" r:id="rId10"/>
    <p:sldId id="780" r:id="rId11"/>
    <p:sldId id="781" r:id="rId12"/>
    <p:sldId id="796" r:id="rId13"/>
    <p:sldId id="798" r:id="rId14"/>
    <p:sldId id="799" r:id="rId15"/>
    <p:sldId id="797" r:id="rId16"/>
    <p:sldId id="800" r:id="rId17"/>
    <p:sldId id="791" r:id="rId18"/>
    <p:sldId id="794" r:id="rId19"/>
    <p:sldId id="793" r:id="rId20"/>
  </p:sldIdLst>
  <p:sldSz cx="9144000" cy="6858000" type="screen4x3"/>
  <p:notesSz cx="6797675" cy="9926638"/>
  <p:defaultTextStyle>
    <a:defPPr>
      <a:defRPr lang="de-DE"/>
    </a:defPPr>
    <a:lvl1pPr algn="ctr" rtl="0" fontAlgn="base">
      <a:spcBef>
        <a:spcPct val="0"/>
      </a:spcBef>
      <a:spcAft>
        <a:spcPct val="0"/>
      </a:spcAft>
      <a:defRPr sz="1600" kern="1200">
        <a:solidFill>
          <a:srgbClr val="173B64"/>
        </a:solidFill>
        <a:latin typeface="Arial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1600" kern="1200">
        <a:solidFill>
          <a:srgbClr val="173B64"/>
        </a:solidFill>
        <a:latin typeface="Arial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1600" kern="1200">
        <a:solidFill>
          <a:srgbClr val="173B64"/>
        </a:solidFill>
        <a:latin typeface="Arial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1600" kern="1200">
        <a:solidFill>
          <a:srgbClr val="173B64"/>
        </a:solidFill>
        <a:latin typeface="Arial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1600" kern="1200">
        <a:solidFill>
          <a:srgbClr val="173B64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600" kern="1200">
        <a:solidFill>
          <a:srgbClr val="173B64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1600" kern="1200">
        <a:solidFill>
          <a:srgbClr val="173B64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1600" kern="1200">
        <a:solidFill>
          <a:srgbClr val="173B64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1600" kern="1200">
        <a:solidFill>
          <a:srgbClr val="173B64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00">
          <p15:clr>
            <a:srgbClr val="A4A3A4"/>
          </p15:clr>
        </p15:guide>
        <p15:guide id="2" orient="horz" pos="624">
          <p15:clr>
            <a:srgbClr val="A4A3A4"/>
          </p15:clr>
        </p15:guide>
        <p15:guide id="3" orient="horz" pos="384">
          <p15:clr>
            <a:srgbClr val="A4A3A4"/>
          </p15:clr>
        </p15:guide>
        <p15:guide id="4" orient="horz" pos="3168">
          <p15:clr>
            <a:srgbClr val="A4A3A4"/>
          </p15:clr>
        </p15:guide>
        <p15:guide id="5" pos="4704">
          <p15:clr>
            <a:srgbClr val="A4A3A4"/>
          </p15:clr>
        </p15:guide>
        <p15:guide id="6" pos="5424">
          <p15:clr>
            <a:srgbClr val="A4A3A4"/>
          </p15:clr>
        </p15:guide>
        <p15:guide id="7" pos="384">
          <p15:clr>
            <a:srgbClr val="A4A3A4"/>
          </p15:clr>
        </p15:guide>
        <p15:guide id="8" pos="3936">
          <p15:clr>
            <a:srgbClr val="A4A3A4"/>
          </p15:clr>
        </p15:guide>
        <p15:guide id="9" pos="4272">
          <p15:clr>
            <a:srgbClr val="A4A3A4"/>
          </p15:clr>
        </p15:guide>
        <p15:guide id="10" pos="26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E8C5D"/>
    <a:srgbClr val="A9E3C6"/>
    <a:srgbClr val="FF3300"/>
    <a:srgbClr val="FFFF99"/>
    <a:srgbClr val="2143A1"/>
    <a:srgbClr val="3BA19C"/>
    <a:srgbClr val="36947B"/>
    <a:srgbClr val="A9B2C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Helle Formatvorlage 3 - Akz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4B1156A-380E-4F78-BDF5-A606A8083BF9}" styleName="Mittlere Formatvorlage 4 - Akz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788" autoAdjust="0"/>
    <p:restoredTop sz="96362" autoAdjust="0"/>
  </p:normalViewPr>
  <p:slideViewPr>
    <p:cSldViewPr snapToObjects="1">
      <p:cViewPr varScale="1">
        <p:scale>
          <a:sx n="109" d="100"/>
          <a:sy n="109" d="100"/>
        </p:scale>
        <p:origin x="900" y="102"/>
      </p:cViewPr>
      <p:guideLst>
        <p:guide orient="horz" pos="1200"/>
        <p:guide orient="horz" pos="624"/>
        <p:guide orient="horz" pos="384"/>
        <p:guide orient="horz" pos="3168"/>
        <p:guide pos="4704"/>
        <p:guide pos="5424"/>
        <p:guide pos="384"/>
        <p:guide pos="3936"/>
        <p:guide pos="4272"/>
        <p:guide pos="26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Objects="1">
      <p:cViewPr varScale="1">
        <p:scale>
          <a:sx n="74" d="100"/>
          <a:sy n="74" d="100"/>
        </p:scale>
        <p:origin x="-1506" y="-114"/>
      </p:cViewPr>
      <p:guideLst>
        <p:guide orient="horz" pos="3126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7988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70" tIns="45986" rIns="91970" bIns="45986" numCol="1" anchor="t" anchorCtr="0" compatLnSpc="1">
            <a:prstTxWarp prst="textNoShape">
              <a:avLst/>
            </a:prstTxWarp>
          </a:bodyPr>
          <a:lstStyle>
            <a:lvl1pPr algn="l" defTabSz="919163">
              <a:defRPr sz="11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041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688" y="0"/>
            <a:ext cx="2947987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70" tIns="45986" rIns="91970" bIns="45986" numCol="1" anchor="t" anchorCtr="0" compatLnSpc="1">
            <a:prstTxWarp prst="textNoShape">
              <a:avLst/>
            </a:prstTxWarp>
          </a:bodyPr>
          <a:lstStyle>
            <a:lvl1pPr algn="r" defTabSz="919163">
              <a:defRPr sz="11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041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0"/>
            <a:ext cx="2947988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70" tIns="45986" rIns="91970" bIns="45986" numCol="1" anchor="b" anchorCtr="0" compatLnSpc="1">
            <a:prstTxWarp prst="textNoShape">
              <a:avLst/>
            </a:prstTxWarp>
          </a:bodyPr>
          <a:lstStyle>
            <a:lvl1pPr algn="l" defTabSz="919163">
              <a:defRPr sz="11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041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688" y="9429750"/>
            <a:ext cx="2947987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70" tIns="45986" rIns="91970" bIns="45986" numCol="1" anchor="b" anchorCtr="0" compatLnSpc="1">
            <a:prstTxWarp prst="textNoShape">
              <a:avLst/>
            </a:prstTxWarp>
          </a:bodyPr>
          <a:lstStyle>
            <a:lvl1pPr algn="r" defTabSz="919163">
              <a:defRPr sz="11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9823A9E6-A197-4234-8084-99068B00AB0B}" type="slidenum">
              <a:rPr lang="es-ES"/>
              <a:pPr>
                <a:defRPr/>
              </a:pPr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709932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7988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 defTabSz="919163">
              <a:defRPr sz="11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7987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defTabSz="919163">
              <a:defRPr sz="11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440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0938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463" y="4716463"/>
            <a:ext cx="4984750" cy="4465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215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750"/>
            <a:ext cx="2947988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 defTabSz="919163">
              <a:defRPr sz="11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215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429750"/>
            <a:ext cx="2947987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defTabSz="919163">
              <a:defRPr sz="11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72B1C483-5161-44F5-98D4-B730574E53AA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0169036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 userDrawn="1"/>
        </p:nvSpPr>
        <p:spPr bwMode="auto">
          <a:xfrm>
            <a:off x="2241" y="5028572"/>
            <a:ext cx="1873863" cy="1833164"/>
          </a:xfrm>
          <a:prstGeom prst="rect">
            <a:avLst/>
          </a:prstGeom>
          <a:solidFill>
            <a:srgbClr val="91DCE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>
              <a:ln>
                <a:noFill/>
              </a:ln>
              <a:solidFill>
                <a:srgbClr val="173B64"/>
              </a:solidFill>
              <a:effectLst/>
              <a:latin typeface="Arial" charset="0"/>
            </a:endParaRPr>
          </a:p>
        </p:txBody>
      </p:sp>
      <p:sp>
        <p:nvSpPr>
          <p:cNvPr id="4136" name="Rectangle 1064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763713" y="2612504"/>
            <a:ext cx="6400800" cy="1176536"/>
          </a:xfrm>
        </p:spPr>
        <p:txBody>
          <a:bodyPr lIns="91440" tIns="45720" rIns="91440" bIns="45720"/>
          <a:lstStyle>
            <a:lvl1pPr marL="0" indent="0" algn="r">
              <a:buFont typeface="Wingdings 3" pitchFamily="18" charset="2"/>
              <a:buNone/>
              <a:defRPr>
                <a:solidFill>
                  <a:srgbClr val="173B64"/>
                </a:solidFill>
              </a:defRPr>
            </a:lvl1pPr>
          </a:lstStyle>
          <a:p>
            <a:r>
              <a:rPr lang="en-US"/>
              <a:t>Formatvorlage des Untertitelmasters durch Klicken bearbeiten</a:t>
            </a:r>
          </a:p>
        </p:txBody>
      </p:sp>
      <p:pic>
        <p:nvPicPr>
          <p:cNvPr id="2052" name="Picture 4" descr="http://www.quattro-research.com/wp-content/uploads/software-solutions-for-life-science-chemistry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6306" y="5028571"/>
            <a:ext cx="5675285" cy="1833164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Grafik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1205" y="836712"/>
            <a:ext cx="2581275" cy="781050"/>
          </a:xfrm>
          <a:prstGeom prst="rect">
            <a:avLst/>
          </a:prstGeom>
        </p:spPr>
      </p:pic>
      <p:sp>
        <p:nvSpPr>
          <p:cNvPr id="6" name="Rechteck 5"/>
          <p:cNvSpPr/>
          <p:nvPr userDrawn="1"/>
        </p:nvSpPr>
        <p:spPr bwMode="auto">
          <a:xfrm>
            <a:off x="7275117" y="5028571"/>
            <a:ext cx="1873863" cy="1839300"/>
          </a:xfrm>
          <a:prstGeom prst="rect">
            <a:avLst/>
          </a:prstGeom>
          <a:solidFill>
            <a:srgbClr val="91DCE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>
              <a:ln>
                <a:noFill/>
              </a:ln>
              <a:solidFill>
                <a:srgbClr val="173B64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0538738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F65372-B929-454B-AC40-6926AEC9B884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  <p:pic>
        <p:nvPicPr>
          <p:cNvPr id="5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88462"/>
            <a:ext cx="1275289" cy="781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57983214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102DD7-3429-40B2-A3A2-244CE0460220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18378669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611188" y="1600200"/>
            <a:ext cx="2855912" cy="39004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3619500" y="1600200"/>
            <a:ext cx="2857500" cy="39004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66D7F7-3994-4EDF-812C-AC8AA0F99990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21847685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D24F77-E695-471D-B292-3569A8AF7173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38202298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035376-096F-4B9E-AF0B-577937939A53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70877745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5383EA-C4C5-4A02-9912-F94C844E8B9B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2992890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595FEB-30EB-4DF1-8A7A-723C1AF01C00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4209686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de-DE" noProof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AAEF67-FC9F-49A6-8D0F-E20D73E3B649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53052375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94FED3-F7EB-4A65-BD01-012305613DF5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64600136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935788" y="844550"/>
            <a:ext cx="2106612" cy="4656138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611188" y="844550"/>
            <a:ext cx="6172200" cy="4656138"/>
          </a:xfrm>
        </p:spPr>
        <p:txBody>
          <a:bodyPr vert="eaVert"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6B64B4-33A6-4F17-8E38-2926C33BBEE5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0060977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el, Text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11188" y="844550"/>
            <a:ext cx="8431212" cy="596900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half" idx="1"/>
          </p:nvPr>
        </p:nvSpPr>
        <p:spPr>
          <a:xfrm>
            <a:off x="611188" y="1600200"/>
            <a:ext cx="2855912" cy="3900488"/>
          </a:xfrm>
        </p:spPr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3619500" y="1600200"/>
            <a:ext cx="2857500" cy="3900488"/>
          </a:xfrm>
        </p:spPr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5FBB69-2B93-4376-90E9-69A3D5A6E002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5673439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11188" y="844550"/>
            <a:ext cx="8431212" cy="59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8" y="1600200"/>
            <a:ext cx="5865812" cy="3900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89950" y="6499225"/>
            <a:ext cx="762000" cy="204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>
              <a:defRPr sz="1000" b="1">
                <a:solidFill>
                  <a:srgbClr val="2143A1"/>
                </a:solidFill>
              </a:defRPr>
            </a:lvl1pPr>
          </a:lstStyle>
          <a:p>
            <a:pPr>
              <a:defRPr/>
            </a:pPr>
            <a:fld id="{ADDD1306-1064-423A-837A-B3EDBE2C751D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  <p:sp>
        <p:nvSpPr>
          <p:cNvPr id="1029" name="Line 28"/>
          <p:cNvSpPr>
            <a:spLocks noChangeShapeType="1"/>
          </p:cNvSpPr>
          <p:nvPr/>
        </p:nvSpPr>
        <p:spPr bwMode="auto">
          <a:xfrm>
            <a:off x="0" y="6597650"/>
            <a:ext cx="8567738" cy="0"/>
          </a:xfrm>
          <a:prstGeom prst="line">
            <a:avLst/>
          </a:prstGeom>
          <a:noFill/>
          <a:ln w="38100">
            <a:solidFill>
              <a:srgbClr val="A9E3C6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3074" name="Picture 2" descr="http://www.quattro-research.com/wp-content/themes/quattroresearch/gfx/quattro-research.png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7427" y="303244"/>
            <a:ext cx="1763045" cy="53346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</p:sldLayoutIdLst>
  <p:transition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73B64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73B64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73B64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73B64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73B64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800" b="1">
          <a:solidFill>
            <a:srgbClr val="173B64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800" b="1">
          <a:solidFill>
            <a:srgbClr val="173B64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800" b="1">
          <a:solidFill>
            <a:srgbClr val="173B64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800" b="1">
          <a:solidFill>
            <a:srgbClr val="173B64"/>
          </a:solidFill>
          <a:latin typeface="Arial" charset="0"/>
        </a:defRPr>
      </a:lvl9pPr>
    </p:titleStyle>
    <p:bodyStyle>
      <a:lvl1pPr marL="342900" indent="-342900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Clr>
          <a:srgbClr val="2143A1"/>
        </a:buClr>
        <a:buFont typeface="Wingdings 3" pitchFamily="18" charset="2"/>
        <a:buChar char="_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09550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Clr>
          <a:srgbClr val="2143A1"/>
        </a:buClr>
        <a:buFont typeface="Wingdings" pitchFamily="2" charset="2"/>
        <a:buChar char="§"/>
        <a:defRPr sz="2000">
          <a:solidFill>
            <a:srgbClr val="173B64"/>
          </a:solidFill>
          <a:latin typeface="+mn-lt"/>
        </a:defRPr>
      </a:lvl2pPr>
      <a:lvl3pPr marL="1147763" indent="-214313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Clr>
          <a:srgbClr val="2143A1"/>
        </a:buClr>
        <a:buFont typeface="Wingdings 3" pitchFamily="18" charset="2"/>
        <a:buChar char="_"/>
        <a:defRPr>
          <a:solidFill>
            <a:schemeClr val="tx1"/>
          </a:solidFill>
          <a:latin typeface="+mn-lt"/>
        </a:defRPr>
      </a:lvl3pPr>
      <a:lvl4pPr marL="1658938" indent="-228600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Clr>
          <a:srgbClr val="2143A1"/>
        </a:buClr>
        <a:buChar char="•"/>
        <a:defRPr sz="1600">
          <a:solidFill>
            <a:srgbClr val="173B64"/>
          </a:solidFill>
          <a:latin typeface="+mn-lt"/>
        </a:defRPr>
      </a:lvl4pPr>
      <a:lvl5pPr marL="2078038" indent="-228600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Clr>
          <a:srgbClr val="2143A1"/>
        </a:buClr>
        <a:buChar char="-"/>
        <a:defRPr sz="1600">
          <a:solidFill>
            <a:schemeClr val="tx1"/>
          </a:solidFill>
          <a:latin typeface="+mn-lt"/>
        </a:defRPr>
      </a:lvl5pPr>
      <a:lvl6pPr marL="2535238" indent="-228600" algn="l" rtl="0" fontAlgn="base">
        <a:lnSpc>
          <a:spcPct val="110000"/>
        </a:lnSpc>
        <a:spcBef>
          <a:spcPct val="30000"/>
        </a:spcBef>
        <a:spcAft>
          <a:spcPct val="0"/>
        </a:spcAft>
        <a:buClr>
          <a:srgbClr val="2143A1"/>
        </a:buClr>
        <a:buChar char="-"/>
        <a:defRPr sz="1600">
          <a:solidFill>
            <a:schemeClr val="tx1"/>
          </a:solidFill>
          <a:latin typeface="+mn-lt"/>
        </a:defRPr>
      </a:lvl6pPr>
      <a:lvl7pPr marL="2992438" indent="-228600" algn="l" rtl="0" fontAlgn="base">
        <a:lnSpc>
          <a:spcPct val="110000"/>
        </a:lnSpc>
        <a:spcBef>
          <a:spcPct val="30000"/>
        </a:spcBef>
        <a:spcAft>
          <a:spcPct val="0"/>
        </a:spcAft>
        <a:buClr>
          <a:srgbClr val="2143A1"/>
        </a:buClr>
        <a:buChar char="-"/>
        <a:defRPr sz="1600">
          <a:solidFill>
            <a:schemeClr val="tx1"/>
          </a:solidFill>
          <a:latin typeface="+mn-lt"/>
        </a:defRPr>
      </a:lvl7pPr>
      <a:lvl8pPr marL="3449638" indent="-228600" algn="l" rtl="0" fontAlgn="base">
        <a:lnSpc>
          <a:spcPct val="110000"/>
        </a:lnSpc>
        <a:spcBef>
          <a:spcPct val="30000"/>
        </a:spcBef>
        <a:spcAft>
          <a:spcPct val="0"/>
        </a:spcAft>
        <a:buClr>
          <a:srgbClr val="2143A1"/>
        </a:buClr>
        <a:buChar char="-"/>
        <a:defRPr sz="1600">
          <a:solidFill>
            <a:schemeClr val="tx1"/>
          </a:solidFill>
          <a:latin typeface="+mn-lt"/>
        </a:defRPr>
      </a:lvl8pPr>
      <a:lvl9pPr marL="3906838" indent="-228600" algn="l" rtl="0" fontAlgn="base">
        <a:lnSpc>
          <a:spcPct val="110000"/>
        </a:lnSpc>
        <a:spcBef>
          <a:spcPct val="30000"/>
        </a:spcBef>
        <a:spcAft>
          <a:spcPct val="0"/>
        </a:spcAft>
        <a:buClr>
          <a:srgbClr val="2143A1"/>
        </a:buClr>
        <a:buChar char="-"/>
        <a:defRPr sz="16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/>
          <p:cNvSpPr>
            <a:spLocks noGrp="1"/>
          </p:cNvSpPr>
          <p:nvPr>
            <p:ph type="subTitle" sz="quarter" idx="1"/>
          </p:nvPr>
        </p:nvSpPr>
        <p:spPr>
          <a:xfrm>
            <a:off x="539552" y="2276872"/>
            <a:ext cx="7624961" cy="2664296"/>
          </a:xfrm>
        </p:spPr>
        <p:txBody>
          <a:bodyPr/>
          <a:lstStyle/>
          <a:p>
            <a:r>
              <a:rPr lang="en-US"/>
              <a:t>Representation of ambiguous biomolecules using </a:t>
            </a:r>
            <a:r>
              <a:rPr lang="en-US" dirty="0"/>
              <a:t>the Enhanced Standard HELM 2.0</a:t>
            </a:r>
          </a:p>
          <a:p>
            <a:endParaRPr lang="en-US"/>
          </a:p>
          <a:p>
            <a:endParaRPr lang="en-US" dirty="0"/>
          </a:p>
          <a:p>
            <a:pPr algn="l"/>
            <a:br>
              <a:rPr lang="en-US" sz="1400" i="1" dirty="0"/>
            </a:br>
            <a:r>
              <a:rPr lang="en-US" sz="1400" i="1" dirty="0"/>
              <a:t>Dr. Markus </a:t>
            </a:r>
            <a:r>
              <a:rPr lang="en-US" sz="1400" i="1" dirty="0" err="1"/>
              <a:t>Weisser</a:t>
            </a:r>
            <a:r>
              <a:rPr lang="en-US" sz="1400" i="1" dirty="0"/>
              <a:t>, </a:t>
            </a:r>
            <a:br>
              <a:rPr lang="en-US" sz="1400" i="1" dirty="0"/>
            </a:br>
            <a:r>
              <a:rPr lang="en-US" sz="1400" i="1" dirty="0"/>
              <a:t>Co-Founder and Managing Director </a:t>
            </a:r>
            <a:r>
              <a:rPr lang="en-US" sz="1400" i="1" dirty="0" err="1"/>
              <a:t>quattro</a:t>
            </a:r>
            <a:r>
              <a:rPr lang="en-US" sz="1400" i="1" dirty="0"/>
              <a:t> research GmbH</a:t>
            </a:r>
            <a:r>
              <a:rPr lang="en-US" sz="1600" dirty="0"/>
              <a:t> </a:t>
            </a:r>
            <a:endParaRPr 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16632"/>
            <a:ext cx="3007066" cy="184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03739077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Agenda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11188" y="1600200"/>
            <a:ext cx="7878762" cy="3900488"/>
          </a:xfrm>
        </p:spPr>
        <p:txBody>
          <a:bodyPr/>
          <a:lstStyle/>
          <a:p>
            <a:r>
              <a:rPr lang="de-DE"/>
              <a:t>HELM and ambiguity in biological molecules</a:t>
            </a:r>
          </a:p>
          <a:p>
            <a:r>
              <a:rPr lang="de-DE"/>
              <a:t>HELM and very large molecules</a:t>
            </a:r>
          </a:p>
          <a:p>
            <a:r>
              <a:rPr lang="de-DE"/>
              <a:t>HELM and structure representation</a:t>
            </a:r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9F65372-B929-454B-AC40-6926AEC9B884}" type="slidenum">
              <a:rPr lang="de-DE" smtClean="0"/>
              <a:pPr>
                <a:defRPr/>
              </a:pPr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65807245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HELM and ambiguity in biological molecules</a:t>
            </a:r>
            <a:endParaRPr lang="en-US" dirty="0" err="1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9F65372-B929-454B-AC40-6926AEC9B884}" type="slidenum">
              <a:rPr lang="de-DE" smtClean="0"/>
              <a:pPr>
                <a:defRPr/>
              </a:pPr>
              <a:t>3</a:t>
            </a:fld>
            <a:endParaRPr lang="de-DE"/>
          </a:p>
        </p:txBody>
      </p:sp>
      <p:pic>
        <p:nvPicPr>
          <p:cNvPr id="2050" name="Picture 2" descr="http://cdn4.pistoiaalliance.org/wp-content/uploads/2015/05/Slide6b.png?7bc650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773" y="4350035"/>
            <a:ext cx="7794855" cy="1120406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feld 4"/>
          <p:cNvSpPr txBox="1"/>
          <p:nvPr/>
        </p:nvSpPr>
        <p:spPr>
          <a:xfrm>
            <a:off x="1167751" y="1916832"/>
            <a:ext cx="628890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600" i="1" dirty="0"/>
              <a:t>HELM </a:t>
            </a:r>
            <a:r>
              <a:rPr lang="de-DE" sz="3600" i="1" dirty="0" err="1"/>
              <a:t>is</a:t>
            </a:r>
            <a:r>
              <a:rPr lang="de-DE" sz="3600" i="1" dirty="0"/>
              <a:t> a </a:t>
            </a:r>
            <a:r>
              <a:rPr lang="en-US" sz="3600" i="1" dirty="0"/>
              <a:t>line notation </a:t>
            </a:r>
          </a:p>
          <a:p>
            <a:r>
              <a:rPr lang="en-US" sz="3600" i="1" dirty="0"/>
              <a:t>that can encode the structure </a:t>
            </a:r>
          </a:p>
          <a:p>
            <a:r>
              <a:rPr lang="en-US" sz="3600" i="1" dirty="0"/>
              <a:t>of </a:t>
            </a:r>
            <a:r>
              <a:rPr lang="en-US" sz="3600" i="1" u="sng" dirty="0"/>
              <a:t>all</a:t>
            </a:r>
            <a:r>
              <a:rPr lang="en-US" sz="3600" i="1" dirty="0"/>
              <a:t> biomolecules.</a:t>
            </a:r>
            <a:endParaRPr lang="de-DE" sz="3600" i="1" dirty="0"/>
          </a:p>
        </p:txBody>
      </p:sp>
    </p:spTree>
    <p:extLst>
      <p:ext uri="{BB962C8B-B14F-4D97-AF65-F5344CB8AC3E}">
        <p14:creationId xmlns:p14="http://schemas.microsoft.com/office/powerpoint/2010/main" val="3199514199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Syntax Elements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11188" y="1600200"/>
            <a:ext cx="7878762" cy="2260848"/>
          </a:xfrm>
        </p:spPr>
        <p:txBody>
          <a:bodyPr/>
          <a:lstStyle/>
          <a:p>
            <a:r>
              <a:rPr lang="de-DE" dirty="0"/>
              <a:t>$ separate HELM </a:t>
            </a:r>
            <a:r>
              <a:rPr lang="de-DE" dirty="0" err="1"/>
              <a:t>sections</a:t>
            </a:r>
            <a:br>
              <a:rPr lang="de-DE" dirty="0"/>
            </a:br>
            <a:r>
              <a:rPr lang="de-DE" sz="1800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</a:t>
            </a:r>
            <a:r>
              <a:rPr lang="de-DE" sz="1800" dirty="0" err="1">
                <a:solidFill>
                  <a:schemeClr val="bg1">
                    <a:lumMod val="65000"/>
                  </a:schemeClr>
                </a:solidFill>
              </a:rPr>
              <a:t>polymers</a:t>
            </a:r>
            <a:r>
              <a:rPr lang="de-DE" sz="1800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</a:t>
            </a:r>
            <a:r>
              <a:rPr lang="de-DE" sz="1800" b="1" dirty="0">
                <a:solidFill>
                  <a:srgbClr val="FF0000"/>
                </a:solidFill>
              </a:rPr>
              <a:t>$</a:t>
            </a:r>
            <a:r>
              <a:rPr lang="de-DE" sz="1800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</a:t>
            </a:r>
            <a:r>
              <a:rPr lang="de-DE" sz="1800" dirty="0" err="1">
                <a:solidFill>
                  <a:schemeClr val="bg1">
                    <a:lumMod val="65000"/>
                  </a:schemeClr>
                </a:solidFill>
              </a:rPr>
              <a:t>connections</a:t>
            </a:r>
            <a:r>
              <a:rPr lang="de-DE" sz="1800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</a:t>
            </a:r>
            <a:r>
              <a:rPr lang="de-DE" sz="1800" b="1" dirty="0">
                <a:solidFill>
                  <a:srgbClr val="FF0000"/>
                </a:solidFill>
              </a:rPr>
              <a:t>$</a:t>
            </a:r>
            <a:r>
              <a:rPr lang="de-DE" sz="1800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</a:t>
            </a:r>
            <a:r>
              <a:rPr lang="de-DE" sz="1800" dirty="0" err="1">
                <a:solidFill>
                  <a:schemeClr val="bg1">
                    <a:lumMod val="65000"/>
                  </a:schemeClr>
                </a:solidFill>
              </a:rPr>
              <a:t>groupings</a:t>
            </a:r>
            <a:r>
              <a:rPr lang="de-DE" sz="1800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</a:t>
            </a:r>
            <a:r>
              <a:rPr lang="de-DE" sz="1800" b="1" dirty="0">
                <a:solidFill>
                  <a:srgbClr val="FF0000"/>
                </a:solidFill>
              </a:rPr>
              <a:t>$</a:t>
            </a:r>
            <a:r>
              <a:rPr lang="de-DE" sz="1800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</a:t>
            </a:r>
            <a:r>
              <a:rPr lang="de-DE" sz="1800" dirty="0" err="1">
                <a:solidFill>
                  <a:schemeClr val="bg1">
                    <a:lumMod val="65000"/>
                  </a:schemeClr>
                </a:solidFill>
              </a:rPr>
              <a:t>annotations</a:t>
            </a:r>
            <a:r>
              <a:rPr lang="de-DE" sz="1800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</a:t>
            </a:r>
            <a:endParaRPr lang="de-DE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de-DE" dirty="0"/>
              <a:t>. separate </a:t>
            </a:r>
            <a:r>
              <a:rPr lang="de-DE" dirty="0" err="1"/>
              <a:t>elements</a:t>
            </a:r>
            <a:br>
              <a:rPr lang="de-DE" dirty="0"/>
            </a:br>
            <a:r>
              <a:rPr lang="de-DE" sz="1800" dirty="0">
                <a:solidFill>
                  <a:schemeClr val="bg1">
                    <a:lumMod val="65000"/>
                  </a:schemeClr>
                </a:solidFill>
              </a:rPr>
              <a:t>PEPTIDE1{A</a:t>
            </a:r>
            <a:r>
              <a:rPr lang="de-DE" b="1" dirty="0">
                <a:solidFill>
                  <a:srgbClr val="FF3300"/>
                </a:solidFill>
              </a:rPr>
              <a:t>.</a:t>
            </a:r>
            <a:r>
              <a:rPr lang="de-DE" sz="1800" dirty="0">
                <a:solidFill>
                  <a:schemeClr val="bg1">
                    <a:lumMod val="65000"/>
                  </a:schemeClr>
                </a:solidFill>
              </a:rPr>
              <a:t>R</a:t>
            </a:r>
            <a:r>
              <a:rPr lang="de-DE" b="1" dirty="0">
                <a:solidFill>
                  <a:srgbClr val="FF3300"/>
                </a:solidFill>
              </a:rPr>
              <a:t>.</a:t>
            </a:r>
            <a:r>
              <a:rPr lang="de-DE" sz="1800" dirty="0">
                <a:solidFill>
                  <a:schemeClr val="bg1">
                    <a:lumMod val="65000"/>
                  </a:schemeClr>
                </a:solidFill>
              </a:rPr>
              <a:t>G</a:t>
            </a:r>
            <a:r>
              <a:rPr lang="de-DE" b="1" dirty="0">
                <a:solidFill>
                  <a:srgbClr val="FF3300"/>
                </a:solidFill>
              </a:rPr>
              <a:t>.</a:t>
            </a:r>
            <a:r>
              <a:rPr lang="de-DE" sz="1800" dirty="0">
                <a:solidFill>
                  <a:schemeClr val="bg1">
                    <a:lumMod val="65000"/>
                  </a:schemeClr>
                </a:solidFill>
              </a:rPr>
              <a:t>G</a:t>
            </a:r>
            <a:r>
              <a:rPr lang="de-DE" b="1" dirty="0">
                <a:solidFill>
                  <a:srgbClr val="FF3300"/>
                </a:solidFill>
              </a:rPr>
              <a:t>.</a:t>
            </a:r>
            <a:r>
              <a:rPr lang="de-DE" sz="1800" dirty="0">
                <a:solidFill>
                  <a:schemeClr val="bg1">
                    <a:lumMod val="65000"/>
                  </a:schemeClr>
                </a:solidFill>
              </a:rPr>
              <a:t>C</a:t>
            </a:r>
            <a:r>
              <a:rPr lang="de-DE" b="1" dirty="0">
                <a:solidFill>
                  <a:srgbClr val="FF3300"/>
                </a:solidFill>
              </a:rPr>
              <a:t>.</a:t>
            </a:r>
            <a:r>
              <a:rPr lang="de-DE" sz="1800" dirty="0">
                <a:solidFill>
                  <a:schemeClr val="bg1">
                    <a:lumMod val="65000"/>
                  </a:schemeClr>
                </a:solidFill>
              </a:rPr>
              <a:t>A}</a:t>
            </a:r>
            <a:endParaRPr lang="de-DE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de-DE" dirty="0"/>
              <a:t>{}, [] </a:t>
            </a:r>
            <a:r>
              <a:rPr lang="de-DE" dirty="0" err="1"/>
              <a:t>and</a:t>
            </a:r>
            <a:r>
              <a:rPr lang="de-DE" dirty="0"/>
              <a:t> ()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grouping</a:t>
            </a:r>
            <a:r>
              <a:rPr lang="de-DE" dirty="0"/>
              <a:t> </a:t>
            </a:r>
            <a:r>
              <a:rPr lang="de-DE" dirty="0" err="1"/>
              <a:t>characters</a:t>
            </a:r>
            <a:endParaRPr lang="de-DE" dirty="0"/>
          </a:p>
          <a:p>
            <a:r>
              <a:rPr lang="de-DE" dirty="0"/>
              <a:t>...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9F65372-B929-454B-AC40-6926AEC9B884}" type="slidenum">
              <a:rPr lang="de-DE" smtClean="0"/>
              <a:pPr>
                <a:defRPr/>
              </a:pPr>
              <a:t>4</a:t>
            </a:fld>
            <a:endParaRPr lang="de-DE"/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46" b="57389"/>
          <a:stretch/>
        </p:blipFill>
        <p:spPr bwMode="auto">
          <a:xfrm>
            <a:off x="1187624" y="5014917"/>
            <a:ext cx="6923452" cy="689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6" name="Rectangle 1"/>
          <p:cNvSpPr/>
          <p:nvPr/>
        </p:nvSpPr>
        <p:spPr>
          <a:xfrm>
            <a:off x="2345094" y="5734997"/>
            <a:ext cx="4572000" cy="338554"/>
          </a:xfrm>
          <a:prstGeom prst="rect">
            <a:avLst/>
          </a:prstGeom>
        </p:spPr>
        <p:txBody>
          <a:bodyPr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9pPr>
          </a:lstStyle>
          <a:p>
            <a:pPr marL="0" indent="0">
              <a:buNone/>
              <a:defRPr/>
            </a:pPr>
            <a:r>
              <a:rPr lang="en-US">
                <a:solidFill>
                  <a:srgbClr val="4C5156"/>
                </a:solidFill>
              </a:rPr>
              <a:t>PEPTIDE1{A.R.G</a:t>
            </a:r>
            <a:r>
              <a:rPr lang="en-US" dirty="0">
                <a:solidFill>
                  <a:srgbClr val="4C5156"/>
                </a:solidFill>
              </a:rPr>
              <a:t>.[</a:t>
            </a:r>
            <a:r>
              <a:rPr lang="en-US" dirty="0" err="1">
                <a:solidFill>
                  <a:srgbClr val="4C5156"/>
                </a:solidFill>
              </a:rPr>
              <a:t>dF</a:t>
            </a:r>
            <a:r>
              <a:rPr lang="en-US" dirty="0">
                <a:solidFill>
                  <a:srgbClr val="4C5156"/>
                </a:solidFill>
              </a:rPr>
              <a:t>].C.K.[</a:t>
            </a:r>
            <a:r>
              <a:rPr lang="en-US" dirty="0" err="1">
                <a:solidFill>
                  <a:srgbClr val="4C5156"/>
                </a:solidFill>
              </a:rPr>
              <a:t>meA</a:t>
            </a:r>
            <a:r>
              <a:rPr lang="en-US" dirty="0">
                <a:solidFill>
                  <a:srgbClr val="4C5156"/>
                </a:solidFill>
              </a:rPr>
              <a:t>].E.D.A}$$$$</a:t>
            </a:r>
          </a:p>
        </p:txBody>
      </p:sp>
    </p:spTree>
    <p:extLst>
      <p:ext uri="{BB962C8B-B14F-4D97-AF65-F5344CB8AC3E}">
        <p14:creationId xmlns:p14="http://schemas.microsoft.com/office/powerpoint/2010/main" val="3633758249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HELM Examples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9F65372-B929-454B-AC40-6926AEC9B884}" type="slidenum">
              <a:rPr lang="de-DE" smtClean="0"/>
              <a:pPr>
                <a:defRPr/>
              </a:pPr>
              <a:t>5</a:t>
            </a:fld>
            <a:endParaRPr lang="de-DE"/>
          </a:p>
        </p:txBody>
      </p:sp>
      <p:pic>
        <p:nvPicPr>
          <p:cNvPr id="7" name="Grafik 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3528" y="1623971"/>
            <a:ext cx="5006398" cy="2381093"/>
          </a:xfrm>
          <a:prstGeom prst="rect">
            <a:avLst/>
          </a:prstGeom>
        </p:spPr>
      </p:pic>
      <p:sp>
        <p:nvSpPr>
          <p:cNvPr id="8" name="Textfeld 7"/>
          <p:cNvSpPr txBox="1"/>
          <p:nvPr/>
        </p:nvSpPr>
        <p:spPr>
          <a:xfrm>
            <a:off x="899592" y="5224844"/>
            <a:ext cx="66060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/>
              <a:t>PEPTIDE1</a:t>
            </a:r>
            <a:r>
              <a:rPr lang="de-DE" b="1" dirty="0">
                <a:solidFill>
                  <a:srgbClr val="FF0000"/>
                </a:solidFill>
              </a:rPr>
              <a:t>{</a:t>
            </a:r>
            <a:r>
              <a:rPr lang="de-DE" dirty="0"/>
              <a:t>W.N.D.[T-</a:t>
            </a:r>
            <a:r>
              <a:rPr lang="de-DE" dirty="0" err="1"/>
              <a:t>est</a:t>
            </a:r>
            <a:r>
              <a:rPr lang="de-DE" dirty="0"/>
              <a:t>].G.[OR].D.A.D.G.S.[LM].[KYN]</a:t>
            </a:r>
            <a:r>
              <a:rPr lang="de-DE" b="1" dirty="0">
                <a:solidFill>
                  <a:srgbClr val="FF0000"/>
                </a:solidFill>
              </a:rPr>
              <a:t>}</a:t>
            </a:r>
            <a:r>
              <a:rPr lang="de-DE" dirty="0">
                <a:solidFill>
                  <a:srgbClr val="2E8C5D"/>
                </a:solidFill>
              </a:rPr>
              <a:t>|</a:t>
            </a:r>
            <a:r>
              <a:rPr lang="de-DE" b="1" dirty="0"/>
              <a:t>CHEM1</a:t>
            </a:r>
            <a:r>
              <a:rPr lang="de-DE" b="1" dirty="0">
                <a:solidFill>
                  <a:srgbClr val="FF0000"/>
                </a:solidFill>
              </a:rPr>
              <a:t>{</a:t>
            </a:r>
            <a:r>
              <a:rPr lang="de-DE" dirty="0"/>
              <a:t>DA</a:t>
            </a:r>
            <a:r>
              <a:rPr lang="de-DE" b="1" dirty="0">
                <a:solidFill>
                  <a:srgbClr val="FF0000"/>
                </a:solidFill>
              </a:rPr>
              <a:t>}</a:t>
            </a:r>
            <a:r>
              <a:rPr lang="de-DE" b="1" dirty="0">
                <a:solidFill>
                  <a:srgbClr val="2E8C5D"/>
                </a:solidFill>
              </a:rPr>
              <a:t>$</a:t>
            </a:r>
          </a:p>
          <a:p>
            <a:r>
              <a:rPr lang="de-DE" dirty="0"/>
              <a:t>PEPTIDE1,PEPTIDE1,13:R2-4:R3</a:t>
            </a:r>
            <a:r>
              <a:rPr lang="de-DE" b="1" dirty="0">
                <a:solidFill>
                  <a:srgbClr val="2E8C5D"/>
                </a:solidFill>
              </a:rPr>
              <a:t>|</a:t>
            </a:r>
            <a:r>
              <a:rPr lang="de-DE" dirty="0"/>
              <a:t>PEPTIDE1,CHEM1,1:R1-1:R1</a:t>
            </a:r>
            <a:r>
              <a:rPr lang="de-DE" b="1" dirty="0">
                <a:solidFill>
                  <a:srgbClr val="2E8C5D"/>
                </a:solidFill>
              </a:rPr>
              <a:t>$$$</a:t>
            </a:r>
          </a:p>
        </p:txBody>
      </p:sp>
      <p:sp>
        <p:nvSpPr>
          <p:cNvPr id="9" name="Textfeld 8"/>
          <p:cNvSpPr txBox="1"/>
          <p:nvPr/>
        </p:nvSpPr>
        <p:spPr>
          <a:xfrm>
            <a:off x="978228" y="4581128"/>
            <a:ext cx="1505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800" b="1"/>
              <a:t>Daptomycin</a:t>
            </a:r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00113" y="1628800"/>
            <a:ext cx="3820359" cy="1951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231252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xHELM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11188" y="1600200"/>
            <a:ext cx="7878762" cy="3900488"/>
          </a:xfrm>
        </p:spPr>
        <p:txBody>
          <a:bodyPr/>
          <a:lstStyle/>
          <a:p>
            <a:r>
              <a:rPr lang="de-DE"/>
              <a:t>Container format for HELM + monomer definitions</a:t>
            </a:r>
          </a:p>
          <a:p>
            <a:r>
              <a:rPr lang="de-DE"/>
              <a:t>Use HELM across organizations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9F65372-B929-454B-AC40-6926AEC9B884}" type="slidenum">
              <a:rPr lang="de-DE" smtClean="0"/>
              <a:pPr>
                <a:defRPr/>
              </a:pPr>
              <a:t>6</a:t>
            </a:fld>
            <a:endParaRPr lang="de-DE"/>
          </a:p>
        </p:txBody>
      </p:sp>
      <p:sp>
        <p:nvSpPr>
          <p:cNvPr id="6" name="Rechteck 5"/>
          <p:cNvSpPr/>
          <p:nvPr/>
        </p:nvSpPr>
        <p:spPr bwMode="auto">
          <a:xfrm>
            <a:off x="2987824" y="3717032"/>
            <a:ext cx="2376264" cy="2448272"/>
          </a:xfrm>
          <a:prstGeom prst="rect">
            <a:avLst/>
          </a:prstGeom>
          <a:solidFill>
            <a:srgbClr val="00B050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XHELM</a:t>
            </a:r>
          </a:p>
        </p:txBody>
      </p:sp>
      <p:sp>
        <p:nvSpPr>
          <p:cNvPr id="7" name="Rechteck 6"/>
          <p:cNvSpPr/>
          <p:nvPr/>
        </p:nvSpPr>
        <p:spPr bwMode="auto">
          <a:xfrm>
            <a:off x="3169980" y="4149080"/>
            <a:ext cx="2016224" cy="36004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HELM notation</a:t>
            </a:r>
          </a:p>
        </p:txBody>
      </p:sp>
      <p:sp>
        <p:nvSpPr>
          <p:cNvPr id="8" name="Flussdiagramm: Mehrere Dokumente 7"/>
          <p:cNvSpPr/>
          <p:nvPr/>
        </p:nvSpPr>
        <p:spPr bwMode="auto">
          <a:xfrm>
            <a:off x="3169980" y="4665933"/>
            <a:ext cx="1978084" cy="1211339"/>
          </a:xfrm>
          <a:prstGeom prst="flowChartMultidocument">
            <a:avLst/>
          </a:prstGeom>
          <a:solidFill>
            <a:srgbClr val="C00000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Monomers</a:t>
            </a:r>
          </a:p>
        </p:txBody>
      </p:sp>
    </p:spTree>
    <p:extLst>
      <p:ext uri="{BB962C8B-B14F-4D97-AF65-F5344CB8AC3E}">
        <p14:creationId xmlns:p14="http://schemas.microsoft.com/office/powerpoint/2010/main" val="2149533776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Mission </a:t>
            </a:r>
            <a:r>
              <a:rPr lang="de-DE" dirty="0" err="1"/>
              <a:t>completed</a:t>
            </a:r>
            <a:r>
              <a:rPr lang="de-DE" dirty="0"/>
              <a:t>?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9F65372-B929-454B-AC40-6926AEC9B884}" type="slidenum">
              <a:rPr lang="de-DE" smtClean="0"/>
              <a:pPr>
                <a:defRPr/>
              </a:pPr>
              <a:t>7</a:t>
            </a:fld>
            <a:endParaRPr lang="de-DE"/>
          </a:p>
        </p:txBody>
      </p:sp>
      <p:sp>
        <p:nvSpPr>
          <p:cNvPr id="5" name="Textfeld 4"/>
          <p:cNvSpPr txBox="1"/>
          <p:nvPr/>
        </p:nvSpPr>
        <p:spPr>
          <a:xfrm>
            <a:off x="3347864" y="1301859"/>
            <a:ext cx="5613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800" b="1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22" name="Textfeld 21"/>
          <p:cNvSpPr txBox="1"/>
          <p:nvPr/>
        </p:nvSpPr>
        <p:spPr>
          <a:xfrm>
            <a:off x="2051720" y="1301859"/>
            <a:ext cx="5613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800" b="1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23" name="Textfeld 22"/>
          <p:cNvSpPr txBox="1"/>
          <p:nvPr/>
        </p:nvSpPr>
        <p:spPr>
          <a:xfrm>
            <a:off x="752460" y="1301859"/>
            <a:ext cx="5613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800" b="1" dirty="0">
                <a:solidFill>
                  <a:srgbClr val="FF0000"/>
                </a:solidFill>
              </a:rPr>
              <a:t>?</a:t>
            </a:r>
          </a:p>
        </p:txBody>
      </p:sp>
      <p:pic>
        <p:nvPicPr>
          <p:cNvPr id="24" name="Picture 2" descr="http://cdn4.pistoiaalliance.org/wp-content/uploads/2015/05/Slide6b.png?7bc650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773" y="2236586"/>
            <a:ext cx="7794855" cy="1120406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Inhaltsplatzhalter 2"/>
          <p:cNvSpPr>
            <a:spLocks noGrp="1"/>
          </p:cNvSpPr>
          <p:nvPr>
            <p:ph idx="1"/>
          </p:nvPr>
        </p:nvSpPr>
        <p:spPr>
          <a:xfrm>
            <a:off x="611188" y="3573016"/>
            <a:ext cx="6985148" cy="2570112"/>
          </a:xfrm>
        </p:spPr>
        <p:txBody>
          <a:bodyPr/>
          <a:lstStyle/>
          <a:p>
            <a:r>
              <a:rPr lang="de-DE" dirty="0" err="1"/>
              <a:t>Unknown</a:t>
            </a:r>
            <a:r>
              <a:rPr lang="de-DE" dirty="0"/>
              <a:t> </a:t>
            </a:r>
            <a:r>
              <a:rPr lang="de-DE" dirty="0" err="1"/>
              <a:t>numbers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repeating</a:t>
            </a:r>
            <a:r>
              <a:rPr lang="de-DE" dirty="0"/>
              <a:t> </a:t>
            </a:r>
            <a:r>
              <a:rPr lang="de-DE" dirty="0" err="1"/>
              <a:t>elements</a:t>
            </a:r>
            <a:endParaRPr lang="de-DE" dirty="0"/>
          </a:p>
          <a:p>
            <a:r>
              <a:rPr lang="de-DE"/>
              <a:t>Various connection points of ADCs</a:t>
            </a:r>
            <a:endParaRPr lang="de-DE" dirty="0"/>
          </a:p>
          <a:p>
            <a:r>
              <a:rPr lang="de-DE" dirty="0" err="1"/>
              <a:t>Unknown</a:t>
            </a:r>
            <a:r>
              <a:rPr lang="de-DE" dirty="0"/>
              <a:t> </a:t>
            </a:r>
            <a:r>
              <a:rPr lang="de-DE" dirty="0" err="1"/>
              <a:t>elements</a:t>
            </a:r>
            <a:r>
              <a:rPr lang="de-DE" dirty="0"/>
              <a:t> in </a:t>
            </a:r>
            <a:r>
              <a:rPr lang="de-DE" dirty="0" err="1"/>
              <a:t>sequences</a:t>
            </a:r>
            <a:endParaRPr lang="de-DE" dirty="0"/>
          </a:p>
          <a:p>
            <a:r>
              <a:rPr lang="de-DE" dirty="0" err="1"/>
              <a:t>Unknown</a:t>
            </a:r>
            <a:r>
              <a:rPr lang="de-DE" dirty="0"/>
              <a:t> </a:t>
            </a:r>
            <a:r>
              <a:rPr lang="de-DE" dirty="0" err="1"/>
              <a:t>connections</a:t>
            </a:r>
            <a:r>
              <a:rPr lang="de-DE" dirty="0"/>
              <a:t> </a:t>
            </a:r>
            <a:r>
              <a:rPr lang="de-DE" dirty="0" err="1"/>
              <a:t>between</a:t>
            </a:r>
            <a:r>
              <a:rPr lang="de-DE" dirty="0"/>
              <a:t> </a:t>
            </a:r>
            <a:r>
              <a:rPr lang="de-DE" dirty="0" err="1"/>
              <a:t>polymers</a:t>
            </a:r>
            <a:endParaRPr lang="de-DE" dirty="0"/>
          </a:p>
          <a:p>
            <a:r>
              <a:rPr lang="de-DE" err="1"/>
              <a:t>Undefined</a:t>
            </a:r>
            <a:r>
              <a:rPr lang="de-DE"/>
              <a:t> polymers</a:t>
            </a:r>
          </a:p>
          <a:p>
            <a:r>
              <a:rPr lang="de-DE"/>
              <a:t>...</a:t>
            </a:r>
            <a:endParaRPr lang="de-DE" dirty="0"/>
          </a:p>
        </p:txBody>
      </p:sp>
      <p:sp>
        <p:nvSpPr>
          <p:cNvPr id="27" name="Textfeld 26"/>
          <p:cNvSpPr txBox="1"/>
          <p:nvPr/>
        </p:nvSpPr>
        <p:spPr>
          <a:xfrm>
            <a:off x="7322996" y="1301859"/>
            <a:ext cx="5613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800" b="1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28" name="Textfeld 27"/>
          <p:cNvSpPr txBox="1"/>
          <p:nvPr/>
        </p:nvSpPr>
        <p:spPr>
          <a:xfrm>
            <a:off x="6026852" y="1301859"/>
            <a:ext cx="5613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800" b="1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29" name="Textfeld 28"/>
          <p:cNvSpPr txBox="1"/>
          <p:nvPr/>
        </p:nvSpPr>
        <p:spPr>
          <a:xfrm>
            <a:off x="4727592" y="1301859"/>
            <a:ext cx="5613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800" b="1" dirty="0">
                <a:solidFill>
                  <a:srgbClr val="FF0000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237739792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Ambiguity in HELM 2.0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11188" y="1600200"/>
            <a:ext cx="7633220" cy="3900488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de-DE"/>
              <a:t>Monomer ambiguity</a:t>
            </a:r>
            <a:br>
              <a:rPr lang="de-DE"/>
            </a:br>
            <a:r>
              <a:rPr lang="de-DE" sz="1800"/>
              <a:t>Unknown monomers in a polymer</a:t>
            </a:r>
          </a:p>
          <a:p>
            <a:pPr marL="457200" indent="-457200">
              <a:buFont typeface="+mj-lt"/>
              <a:buAutoNum type="arabicPeriod"/>
            </a:pPr>
            <a:r>
              <a:rPr lang="de-DE"/>
              <a:t>Polymer ambiguity</a:t>
            </a:r>
            <a:br>
              <a:rPr lang="de-DE"/>
            </a:br>
            <a:r>
              <a:rPr lang="de-DE" sz="1800"/>
              <a:t>Sequence or polymer type is unknown</a:t>
            </a:r>
            <a:endParaRPr lang="de-DE"/>
          </a:p>
          <a:p>
            <a:pPr marL="457200" indent="-457200">
              <a:buFont typeface="+mj-lt"/>
              <a:buAutoNum type="arabicPeriod"/>
            </a:pPr>
            <a:r>
              <a:rPr lang="de-DE"/>
              <a:t>Connection ambiguity</a:t>
            </a:r>
            <a:br>
              <a:rPr lang="de-DE"/>
            </a:br>
            <a:r>
              <a:rPr lang="de-DE" sz="1800"/>
              <a:t>The details of the connections between polymers are unknown</a:t>
            </a:r>
            <a:endParaRPr lang="de-DE"/>
          </a:p>
          <a:p>
            <a:pPr marL="457200" indent="-457200">
              <a:buFont typeface="+mj-lt"/>
              <a:buAutoNum type="arabicPeriod"/>
            </a:pPr>
            <a:r>
              <a:rPr lang="de-DE"/>
              <a:t>Grouping ambiguity</a:t>
            </a:r>
            <a:br>
              <a:rPr lang="de-DE"/>
            </a:br>
            <a:r>
              <a:rPr lang="de-DE" sz="1800"/>
              <a:t>Unknown details of a grouping</a:t>
            </a:r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9F65372-B929-454B-AC40-6926AEC9B884}" type="slidenum">
              <a:rPr lang="de-DE" smtClean="0"/>
              <a:pPr>
                <a:defRPr/>
              </a:pPr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3813289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Monomer Ambiguity</a:t>
            </a:r>
          </a:p>
        </p:txBody>
      </p:sp>
      <p:graphicFrame>
        <p:nvGraphicFramePr>
          <p:cNvPr id="5" name="Inhaltsplatzhalt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1853803"/>
              </p:ext>
            </p:extLst>
          </p:nvPr>
        </p:nvGraphicFramePr>
        <p:xfrm>
          <a:off x="467544" y="1484784"/>
          <a:ext cx="8022405" cy="289052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6959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64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499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400" b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b="0"/>
                        <a:t>0..n unknown</a:t>
                      </a:r>
                      <a:r>
                        <a:rPr lang="de-DE" sz="1400" b="0" baseline="0"/>
                        <a:t> monomers</a:t>
                      </a:r>
                      <a:endParaRPr lang="de-DE" sz="14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PEPTIDE1{A.</a:t>
                      </a:r>
                      <a:r>
                        <a:rPr lang="de-DE" sz="1400" b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*</a:t>
                      </a:r>
                      <a:r>
                        <a:rPr lang="de-DE" sz="1400" b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.G.C}$$$$V2.0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/>
                        <a:t>Single unknown amino acid</a:t>
                      </a:r>
                      <a:r>
                        <a:rPr lang="de-DE" sz="1400" baseline="0"/>
                        <a:t> in a PEPTIDE</a:t>
                      </a:r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b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PEPTIDE1{A.</a:t>
                      </a:r>
                      <a:r>
                        <a:rPr lang="de-DE" sz="1400" b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  <a:r>
                        <a:rPr lang="de-DE" sz="1400" b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.G.C}$$$$V2.0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/>
                        <a:t>Single unknown</a:t>
                      </a:r>
                      <a:r>
                        <a:rPr lang="de-DE" sz="1400" baseline="0"/>
                        <a:t> base in a RNA</a:t>
                      </a:r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b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RNA1{R(A)P.R(</a:t>
                      </a:r>
                      <a:r>
                        <a:rPr lang="de-DE" sz="1400" b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N</a:t>
                      </a:r>
                      <a:r>
                        <a:rPr lang="de-DE" sz="1400" b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)P.R(C)P.R(C)P.R(C)}$$$$V2.0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/>
                        <a:t>( , 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/>
                        <a:t>One of a list of monomer is possible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b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PEPTIDE1{A.</a:t>
                      </a:r>
                      <a:r>
                        <a:rPr lang="de-DE" sz="1400" b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(A:10,G:90)</a:t>
                      </a:r>
                      <a:r>
                        <a:rPr lang="de-DE" sz="1400" b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.G.C}$$$$V2.0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/>
                        <a:t>( + 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/>
                        <a:t>Mixture of monomers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b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PEPTIDE1{A.</a:t>
                      </a:r>
                      <a:r>
                        <a:rPr lang="de-DE" sz="1400" b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(A+G+C)</a:t>
                      </a:r>
                      <a:r>
                        <a:rPr lang="de-DE" sz="1400" b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.G.C}$$$$V2.0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/>
                        <a:t>_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/>
                        <a:t>Deleted or</a:t>
                      </a:r>
                      <a:r>
                        <a:rPr lang="de-DE" sz="1400" baseline="0"/>
                        <a:t> missing single monomer</a:t>
                      </a:r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PEPTIDE1{A.</a:t>
                      </a:r>
                      <a:r>
                        <a:rPr lang="de-DE" sz="1400" b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(A,_)</a:t>
                      </a:r>
                      <a:r>
                        <a:rPr lang="de-DE" sz="1400" b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.G.C}$$$$V2.0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/>
                        <a:t>´</a:t>
                      </a:r>
                      <a:r>
                        <a:rPr lang="de-DE" sz="1400" baseline="0"/>
                        <a:t> ´</a:t>
                      </a:r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/>
                        <a:t>Repeating monomers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PEPTIDE1{A.G.A.C.A</a:t>
                      </a:r>
                      <a:r>
                        <a:rPr lang="de-DE" sz="1400" b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‘5-30‘</a:t>
                      </a:r>
                      <a:r>
                        <a:rPr lang="de-DE" sz="1400" b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}$$$$V2.0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9F65372-B929-454B-AC40-6926AEC9B884}" type="slidenum">
              <a:rPr lang="de-DE" smtClean="0"/>
              <a:pPr>
                <a:defRPr/>
              </a:pPr>
              <a:t>9</a:t>
            </a:fld>
            <a:endParaRPr lang="de-DE"/>
          </a:p>
        </p:txBody>
      </p:sp>
      <p:sp>
        <p:nvSpPr>
          <p:cNvPr id="3" name="Raute 2"/>
          <p:cNvSpPr/>
          <p:nvPr/>
        </p:nvSpPr>
        <p:spPr bwMode="auto">
          <a:xfrm>
            <a:off x="3059832" y="5229200"/>
            <a:ext cx="504056" cy="504056"/>
          </a:xfrm>
          <a:prstGeom prst="diamond">
            <a:avLst/>
          </a:prstGeom>
          <a:solidFill>
            <a:srgbClr val="FF0000"/>
          </a:solidFill>
          <a:ln w="9525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1600" b="0" i="0" u="none" strike="noStrike" cap="none" normalizeH="0" baseline="0">
                <a:ln>
                  <a:noFill/>
                </a:ln>
                <a:solidFill>
                  <a:srgbClr val="173B64"/>
                </a:solidFill>
                <a:effectLst/>
                <a:latin typeface="Arial" charset="0"/>
              </a:rPr>
              <a:t>A</a:t>
            </a:r>
          </a:p>
        </p:txBody>
      </p:sp>
      <p:sp>
        <p:nvSpPr>
          <p:cNvPr id="7" name="Raute 6"/>
          <p:cNvSpPr/>
          <p:nvPr/>
        </p:nvSpPr>
        <p:spPr bwMode="auto">
          <a:xfrm>
            <a:off x="3851920" y="5229200"/>
            <a:ext cx="504056" cy="504056"/>
          </a:xfrm>
          <a:prstGeom prst="diamond">
            <a:avLst/>
          </a:prstGeom>
          <a:solidFill>
            <a:srgbClr val="FF0000"/>
          </a:solidFill>
          <a:ln w="9525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>
              <a:ln>
                <a:noFill/>
              </a:ln>
              <a:solidFill>
                <a:srgbClr val="173B64"/>
              </a:solidFill>
              <a:effectLst/>
              <a:latin typeface="Arial" charset="0"/>
            </a:endParaRPr>
          </a:p>
        </p:txBody>
      </p:sp>
      <p:cxnSp>
        <p:nvCxnSpPr>
          <p:cNvPr id="9" name="Gerader Verbinder 8"/>
          <p:cNvCxnSpPr>
            <a:stCxn id="3" idx="3"/>
            <a:endCxn id="7" idx="1"/>
          </p:cNvCxnSpPr>
          <p:nvPr/>
        </p:nvCxnSpPr>
        <p:spPr bwMode="auto">
          <a:xfrm>
            <a:off x="3563888" y="5481228"/>
            <a:ext cx="288032" cy="0"/>
          </a:xfrm>
          <a:prstGeom prst="line">
            <a:avLst/>
          </a:prstGeom>
          <a:solidFill>
            <a:srgbClr val="00A886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" name="Raute 9"/>
          <p:cNvSpPr/>
          <p:nvPr/>
        </p:nvSpPr>
        <p:spPr bwMode="auto">
          <a:xfrm>
            <a:off x="4644300" y="5229200"/>
            <a:ext cx="504056" cy="504056"/>
          </a:xfrm>
          <a:prstGeom prst="diamond">
            <a:avLst/>
          </a:prstGeom>
          <a:solidFill>
            <a:srgbClr val="FF0000"/>
          </a:solidFill>
          <a:ln w="9525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/>
              <a:t>G</a:t>
            </a:r>
            <a:endParaRPr kumimoji="0" lang="de-DE" sz="1600" b="0" i="0" u="none" strike="noStrike" cap="none" normalizeH="0" baseline="0">
              <a:ln>
                <a:noFill/>
              </a:ln>
              <a:solidFill>
                <a:srgbClr val="173B64"/>
              </a:solidFill>
              <a:effectLst/>
              <a:latin typeface="Arial" charset="0"/>
            </a:endParaRPr>
          </a:p>
        </p:txBody>
      </p:sp>
      <p:sp>
        <p:nvSpPr>
          <p:cNvPr id="11" name="Raute 10"/>
          <p:cNvSpPr/>
          <p:nvPr/>
        </p:nvSpPr>
        <p:spPr bwMode="auto">
          <a:xfrm>
            <a:off x="5436388" y="5229200"/>
            <a:ext cx="504056" cy="504056"/>
          </a:xfrm>
          <a:prstGeom prst="diamond">
            <a:avLst/>
          </a:prstGeom>
          <a:solidFill>
            <a:srgbClr val="FF0000"/>
          </a:solidFill>
          <a:ln w="9525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/>
              <a:t>C</a:t>
            </a:r>
            <a:endParaRPr kumimoji="0" lang="de-DE" sz="1600" b="0" i="0" u="none" strike="noStrike" cap="none" normalizeH="0" baseline="0">
              <a:ln>
                <a:noFill/>
              </a:ln>
              <a:solidFill>
                <a:srgbClr val="173B64"/>
              </a:solidFill>
              <a:effectLst/>
              <a:latin typeface="Arial" charset="0"/>
            </a:endParaRPr>
          </a:p>
        </p:txBody>
      </p:sp>
      <p:cxnSp>
        <p:nvCxnSpPr>
          <p:cNvPr id="12" name="Gerader Verbinder 11"/>
          <p:cNvCxnSpPr>
            <a:stCxn id="10" idx="3"/>
            <a:endCxn id="11" idx="1"/>
          </p:cNvCxnSpPr>
          <p:nvPr/>
        </p:nvCxnSpPr>
        <p:spPr bwMode="auto">
          <a:xfrm>
            <a:off x="5148356" y="5481228"/>
            <a:ext cx="288032" cy="0"/>
          </a:xfrm>
          <a:prstGeom prst="line">
            <a:avLst/>
          </a:prstGeom>
          <a:solidFill>
            <a:srgbClr val="00A886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Gerader Verbinder 13"/>
          <p:cNvCxnSpPr>
            <a:stCxn id="7" idx="3"/>
            <a:endCxn id="10" idx="1"/>
          </p:cNvCxnSpPr>
          <p:nvPr/>
        </p:nvCxnSpPr>
        <p:spPr bwMode="auto">
          <a:xfrm>
            <a:off x="4355976" y="5481228"/>
            <a:ext cx="288324" cy="0"/>
          </a:xfrm>
          <a:prstGeom prst="line">
            <a:avLst/>
          </a:prstGeom>
          <a:solidFill>
            <a:srgbClr val="00A886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5" name="Textfeld 14"/>
          <p:cNvSpPr txBox="1"/>
          <p:nvPr/>
        </p:nvSpPr>
        <p:spPr>
          <a:xfrm>
            <a:off x="3701365" y="4813628"/>
            <a:ext cx="81144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0" b="1">
                <a:solidFill>
                  <a:schemeClr val="tx1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160118246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Polymer Ambiguity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11188" y="1600200"/>
            <a:ext cx="6481092" cy="604664"/>
          </a:xfrm>
        </p:spPr>
        <p:txBody>
          <a:bodyPr/>
          <a:lstStyle/>
          <a:p>
            <a:r>
              <a:rPr lang="de-DE"/>
              <a:t>Sequence or polymer type is unknown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9F65372-B929-454B-AC40-6926AEC9B884}" type="slidenum">
              <a:rPr lang="de-DE" smtClean="0"/>
              <a:pPr>
                <a:defRPr/>
              </a:pPr>
              <a:t>10</a:t>
            </a:fld>
            <a:endParaRPr lang="de-DE"/>
          </a:p>
        </p:txBody>
      </p:sp>
      <p:sp>
        <p:nvSpPr>
          <p:cNvPr id="5" name="Textfeld 4"/>
          <p:cNvSpPr txBox="1"/>
          <p:nvPr/>
        </p:nvSpPr>
        <p:spPr>
          <a:xfrm>
            <a:off x="539552" y="2195572"/>
            <a:ext cx="7488832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de-DE" sz="1800" b="1">
                <a:solidFill>
                  <a:srgbClr val="FF0000"/>
                </a:solidFill>
              </a:rPr>
              <a:t>BLOB1{Bead}”Aminated Polystyrene”</a:t>
            </a:r>
            <a:r>
              <a:rPr lang="de-DE" sz="1800"/>
              <a:t>|PEPTIDE1{A.G.T}$$$$</a:t>
            </a:r>
          </a:p>
        </p:txBody>
      </p:sp>
      <p:sp>
        <p:nvSpPr>
          <p:cNvPr id="6" name="Ellipse 5"/>
          <p:cNvSpPr/>
          <p:nvPr/>
        </p:nvSpPr>
        <p:spPr bwMode="auto">
          <a:xfrm>
            <a:off x="2411468" y="2996952"/>
            <a:ext cx="1152128" cy="1152128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>
              <a:ln>
                <a:noFill/>
              </a:ln>
              <a:solidFill>
                <a:srgbClr val="173B64"/>
              </a:solidFill>
              <a:effectLst/>
              <a:latin typeface="Arial" charset="0"/>
            </a:endParaRPr>
          </a:p>
        </p:txBody>
      </p:sp>
      <p:sp>
        <p:nvSpPr>
          <p:cNvPr id="7" name="Raute 6"/>
          <p:cNvSpPr/>
          <p:nvPr/>
        </p:nvSpPr>
        <p:spPr bwMode="auto">
          <a:xfrm>
            <a:off x="4067652" y="3320988"/>
            <a:ext cx="504056" cy="504056"/>
          </a:xfrm>
          <a:prstGeom prst="diamond">
            <a:avLst/>
          </a:prstGeom>
          <a:solidFill>
            <a:srgbClr val="FF0000"/>
          </a:solidFill>
          <a:ln w="9525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1600" b="0" i="0" u="none" strike="noStrike" cap="none" normalizeH="0" baseline="0">
                <a:ln>
                  <a:noFill/>
                </a:ln>
                <a:solidFill>
                  <a:srgbClr val="173B64"/>
                </a:solidFill>
                <a:effectLst/>
                <a:latin typeface="Arial" charset="0"/>
              </a:rPr>
              <a:t>A</a:t>
            </a:r>
          </a:p>
        </p:txBody>
      </p:sp>
      <p:sp>
        <p:nvSpPr>
          <p:cNvPr id="8" name="Raute 7"/>
          <p:cNvSpPr/>
          <p:nvPr/>
        </p:nvSpPr>
        <p:spPr bwMode="auto">
          <a:xfrm>
            <a:off x="4859740" y="3320988"/>
            <a:ext cx="504056" cy="504056"/>
          </a:xfrm>
          <a:prstGeom prst="diamond">
            <a:avLst/>
          </a:prstGeom>
          <a:solidFill>
            <a:srgbClr val="FF0000"/>
          </a:solidFill>
          <a:ln w="9525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1600" b="0" i="0" u="none" strike="noStrike" cap="none" normalizeH="0" baseline="0">
                <a:ln>
                  <a:noFill/>
                </a:ln>
                <a:solidFill>
                  <a:srgbClr val="173B64"/>
                </a:solidFill>
                <a:effectLst/>
                <a:latin typeface="Arial" charset="0"/>
              </a:rPr>
              <a:t>G</a:t>
            </a:r>
          </a:p>
        </p:txBody>
      </p:sp>
      <p:cxnSp>
        <p:nvCxnSpPr>
          <p:cNvPr id="9" name="Gerader Verbinder 8"/>
          <p:cNvCxnSpPr/>
          <p:nvPr/>
        </p:nvCxnSpPr>
        <p:spPr bwMode="auto">
          <a:xfrm>
            <a:off x="4571708" y="3573016"/>
            <a:ext cx="288032" cy="0"/>
          </a:xfrm>
          <a:prstGeom prst="line">
            <a:avLst/>
          </a:prstGeom>
          <a:solidFill>
            <a:srgbClr val="00A886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" name="Raute 9"/>
          <p:cNvSpPr/>
          <p:nvPr/>
        </p:nvSpPr>
        <p:spPr bwMode="auto">
          <a:xfrm>
            <a:off x="5652120" y="3320988"/>
            <a:ext cx="504056" cy="504056"/>
          </a:xfrm>
          <a:prstGeom prst="diamond">
            <a:avLst/>
          </a:prstGeom>
          <a:solidFill>
            <a:srgbClr val="FF0000"/>
          </a:solidFill>
          <a:ln w="9525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/>
              <a:t>T</a:t>
            </a:r>
            <a:endParaRPr kumimoji="0" lang="de-DE" sz="1600" b="0" i="0" u="none" strike="noStrike" cap="none" normalizeH="0" baseline="0">
              <a:ln>
                <a:noFill/>
              </a:ln>
              <a:solidFill>
                <a:srgbClr val="173B64"/>
              </a:solidFill>
              <a:effectLst/>
              <a:latin typeface="Arial" charset="0"/>
            </a:endParaRPr>
          </a:p>
        </p:txBody>
      </p:sp>
      <p:cxnSp>
        <p:nvCxnSpPr>
          <p:cNvPr id="13" name="Gerader Verbinder 12"/>
          <p:cNvCxnSpPr/>
          <p:nvPr/>
        </p:nvCxnSpPr>
        <p:spPr bwMode="auto">
          <a:xfrm>
            <a:off x="5363796" y="3573016"/>
            <a:ext cx="288324" cy="0"/>
          </a:xfrm>
          <a:prstGeom prst="line">
            <a:avLst/>
          </a:prstGeom>
          <a:solidFill>
            <a:srgbClr val="00A886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" name="Gerader Verbinder 14"/>
          <p:cNvCxnSpPr/>
          <p:nvPr/>
        </p:nvCxnSpPr>
        <p:spPr bwMode="auto">
          <a:xfrm>
            <a:off x="3563596" y="3573016"/>
            <a:ext cx="504056" cy="0"/>
          </a:xfrm>
          <a:prstGeom prst="line">
            <a:avLst/>
          </a:prstGeom>
          <a:solidFill>
            <a:srgbClr val="00A886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956025298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Connection Ambiguity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idx="1"/>
          </p:nvPr>
        </p:nvSpPr>
        <p:spPr>
          <a:xfrm>
            <a:off x="611188" y="1600200"/>
            <a:ext cx="7878762" cy="3900488"/>
          </a:xfrm>
        </p:spPr>
        <p:txBody>
          <a:bodyPr/>
          <a:lstStyle/>
          <a:p>
            <a:r>
              <a:rPr lang="de-DE"/>
              <a:t>The details of the connections between polymers are unknown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9F65372-B929-454B-AC40-6926AEC9B884}" type="slidenum">
              <a:rPr lang="de-DE" smtClean="0"/>
              <a:pPr>
                <a:defRPr/>
              </a:pPr>
              <a:t>11</a:t>
            </a:fld>
            <a:endParaRPr lang="de-DE"/>
          </a:p>
        </p:txBody>
      </p:sp>
      <p:pic>
        <p:nvPicPr>
          <p:cNvPr id="5" name="Picture 2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880" y="2636912"/>
            <a:ext cx="1938020" cy="166433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50355889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Example: Trastuzumab emtansine</a:t>
            </a:r>
            <a:br>
              <a:rPr lang="de-DE"/>
            </a:br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9F65372-B929-454B-AC40-6926AEC9B884}" type="slidenum">
              <a:rPr lang="de-DE" smtClean="0"/>
              <a:pPr>
                <a:defRPr/>
              </a:pPr>
              <a:t>12</a:t>
            </a:fld>
            <a:endParaRPr lang="de-DE"/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989" y="1375685"/>
            <a:ext cx="6870023" cy="5149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77291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Trastuzumab</a:t>
            </a:r>
            <a:r>
              <a:rPr lang="de-DE" dirty="0"/>
              <a:t> </a:t>
            </a:r>
            <a:r>
              <a:rPr lang="de-DE" dirty="0" err="1"/>
              <a:t>emtansine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11188" y="1600200"/>
            <a:ext cx="7878762" cy="4565104"/>
          </a:xfrm>
        </p:spPr>
        <p:txBody>
          <a:bodyPr/>
          <a:lstStyle/>
          <a:p>
            <a:r>
              <a:rPr lang="de-DE"/>
              <a:t>Antibody drug concugate (ADC)</a:t>
            </a:r>
          </a:p>
          <a:p>
            <a:r>
              <a:rPr lang="de-DE"/>
              <a:t>Trastuzumab (Herceptin): HER2 receptor positive</a:t>
            </a:r>
          </a:p>
          <a:p>
            <a:r>
              <a:rPr lang="de-DE"/>
              <a:t>Emtansine (DM1): Cytotoxic agent</a:t>
            </a:r>
          </a:p>
          <a:p>
            <a:r>
              <a:rPr lang="de-DE"/>
              <a:t>SMCC: Cross-linker between a Lysin and DM1</a:t>
            </a:r>
          </a:p>
          <a:p>
            <a:r>
              <a:rPr lang="de-DE"/>
              <a:t>0 – 8 connections available</a:t>
            </a:r>
          </a:p>
          <a:p>
            <a:r>
              <a:rPr lang="de-DE"/>
              <a:t>3.5 DM1/Trastuzumab on average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9F65372-B929-454B-AC40-6926AEC9B884}" type="slidenum">
              <a:rPr lang="de-DE" smtClean="0"/>
              <a:pPr>
                <a:defRPr/>
              </a:pPr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76009375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HELM </a:t>
            </a:r>
            <a:r>
              <a:rPr lang="de-DE" dirty="0" err="1"/>
              <a:t>notation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Trastuzumab</a:t>
            </a:r>
            <a:r>
              <a:rPr lang="de-DE" dirty="0"/>
              <a:t> </a:t>
            </a:r>
            <a:r>
              <a:rPr lang="de-DE" dirty="0" err="1"/>
              <a:t>emtansine</a:t>
            </a:r>
            <a:r>
              <a:rPr lang="de-DE" dirty="0"/>
              <a:t> 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23528" y="1340768"/>
            <a:ext cx="8424936" cy="4899025"/>
          </a:xfrm>
        </p:spPr>
        <p:txBody>
          <a:bodyPr/>
          <a:lstStyle/>
          <a:p>
            <a:pPr marL="0" indent="0">
              <a:buNone/>
            </a:pPr>
            <a:r>
              <a:rPr lang="en-US" sz="1000" b="1" dirty="0">
                <a:latin typeface="Consolas" panose="020B0609020204030204" pitchFamily="49" charset="0"/>
              </a:rPr>
              <a:t>PEPTIDE1</a:t>
            </a:r>
            <a:r>
              <a:rPr lang="en-US" sz="1000" dirty="0">
                <a:latin typeface="Consolas" panose="020B0609020204030204" pitchFamily="49" charset="0"/>
              </a:rPr>
              <a:t>{D.I.Q.M.T.Q.S.P.S.S.L.S.A.S.V.G.D.R.V.T.I.T.C.R.A.S.Q.D.V.N.T.A.V.A.W.Y.Q.Q.K.P.G.K.A.P.K.L.L.I.Y.S.A.S.F.L.Y.S.G.V.P.S.R.F.S.G.S.R.S.G.T.D.F.T.L.T.I.S.S.L.Q.P.E.D.F.A.T.Y.Y.C.Q.Q.H.Y.T.T.P.P.T.F.G.Q.G.T.K.V.E.I.K.R.T.V.A.A.P.S.V.F.I.F.P.P.S.D.E.Q.L.K.S.G.T.A.S.V.V.C.L.L.N.N.F.Y.P.R.E.A.K.V.Q.W.K.V.D.N.A.L.Q.S.G.N.S.Q.E.S.V.T.E.Q.D.S.K.D.S.T.Y.S.L.S.S.T.L.T.L.S.K.A.D.Y.E.K.H.K.V.Y.A.C.E.V.T.H.Q.G.L.S.S.P.V.T.K.S.F.N.R.G.E.C}|</a:t>
            </a:r>
            <a:r>
              <a:rPr lang="en-US" sz="1000" b="1" dirty="0">
                <a:latin typeface="Consolas" panose="020B0609020204030204" pitchFamily="49" charset="0"/>
              </a:rPr>
              <a:t>PEPTIDE2</a:t>
            </a:r>
            <a:r>
              <a:rPr lang="en-US" sz="1000" dirty="0">
                <a:latin typeface="Consolas" panose="020B0609020204030204" pitchFamily="49" charset="0"/>
              </a:rPr>
              <a:t>{E.V.Q.L.V.E.S.G.G.G.L.V.Q.P.G.G.S.L.R.L.S.C.A.A.S.G.F.N.I.K.D.T.Y.I.H.W.V.R.Q.A.P.G.K.G.L.E.W.V.A.R.I.Y.P.T.N.G.Y.T.R.Y.A.D.S.V.K.G.R.F.T.I.S.A.D.T.S.K.N.T.A.Y.L.Q.M.N.S.L.R.A.E.D.T.A.V.Y.Y.C.S.R.W.G.G.D.G.F.Y.A.M.D.Y.W.G.Q.G.T.L.V.T.V.S.S.A.S.T.K.G.P.S.V.F.P.L.A.P.S.S.K.S.T.S.G.G.T.A.A.L.G.C.L.V.K.D.Y.F.P.E.P.V.T.V.S.W.N.S.G.A.L.T.S.G.V.H.T.F.P.A.V.L.Q.S.S.G.L.Y.S.L.S.S.V.V.T.V.P.S.S.S.L.G.T.Q.T.Y.I.C.N.V.N.H.K.P.S.N.T.K.V.D.K.K.V.E.P.P.K.S.C.D.K.T.H.T.C.P.P.C.P.A.P.E.L.L.G.G.P.S.V.F.L.F.P.P.K.P.K.D.T.L.M.I.S.R.T.P.E.V.T.C.V.V.V.D.V.S.H.E.D.P.E.V.K.F.N.W.Y.V.D.G.V.E.V.H.N.A.K.T.K.P.R.E.E.Q.Y.N.S.T.Y.R.V.V.S.V.L.T.V.L.H.Q.D.W.L.N.G.K.E.Y.K.C.K.V.S.N.K.A.L.P.A.P.I.E.K.T.I.S.K.A.K.G.Q.P.R.E.P.Q.V.Y.T.L.P.P.S.R.D.E.L.T.K.N.Q.V.S.L.T.C.L.V.K.G.F.Y.P.S.D.I.A.V.E.W.E.S.N.G.Q.P.E.N.N.Y.K.T.T.P.P.V.L.D.S.D.G.S.F.F.L.Y.S.K.L.T.V.D.K.S.R.W.Q.Q.G.N.V.F.S.C.S.V.M.H.E.A.L.H.N.H.Y.T.Q.K.S.L.S.L.S.P.G.K}|</a:t>
            </a:r>
            <a:r>
              <a:rPr lang="en-US" sz="1000" b="1" dirty="0">
                <a:latin typeface="Consolas" panose="020B0609020204030204" pitchFamily="49" charset="0"/>
              </a:rPr>
              <a:t>PEPTIDE3</a:t>
            </a:r>
            <a:r>
              <a:rPr lang="en-US" sz="1000" dirty="0">
                <a:latin typeface="Consolas" panose="020B0609020204030204" pitchFamily="49" charset="0"/>
              </a:rPr>
              <a:t>{E.V.Q.L.V.E.S.G.G.G.L.V.Q.P.G.G.S.L.R.L.S.C.A.A.S.G.F.N.I.K.D.T.Y.I.H.W.V.R.Q.A.P.G.K.G.L.E.W.V.A.R.I.Y.P.T.N.G.Y.T.R.Y.A.D.S.V.K.G.R.F.T.I.S.A.D.T.S.K.N.T.A.Y.L.Q.M.N.S.L.R.A.E.D.T.A.V.Y.Y.C.S.R.W.G.G.D.G.F.Y.A.M.D.Y.W.G.Q.G.T.L.V.T.V.S.S.A.S.T.K.G.P.S.V.F.P.L.A.P.S.S.K.S.T.S.G.G.T.A.A.L.G.C.L.V.K.D.Y.F.P.E.P.V.T.V.S.W.N.S.G.A.L.T.S.G.V.H.T.F.P.A.V.L.Q.S.S.G.L.Y.S.L.S.S.V.V.T.V.P.S.S.S.L.G.T.Q.T.Y.I.C.N.V.N.H.K.P.S.N.T.K.V.D.K.K.V.E.P.P.K.S.C.D.K.T.H.T.C.P.P.C.P.A.P.E.L.L.G.G.P.S.V.F.L.F.P.P.K.P.K.D.T.L.M.I.S.R.T.P.E.V.T.C.V.V.V.D.V.S.H.E.D.P.E.V.K.F.N.W.Y.V.D.G.V.E.V.H.N.A.K.T.K.P.R.E.E.Q.Y.N.S.T.Y.R.V.V.S.V.L.T.V.L.H.Q.D.W.L.N.G.K.E.Y.K.C.K.V.S.N.K.A.L.P.A.P.I.E.K.T.I.S.K.A.K.G.Q.P.R.E.P.Q.V.Y.T.L.P.P.S.R.D.E.L.T.K.N.Q.V.S.L.T.C.L.V.K.G.F.Y.P.S.D.I.A.V.E.W.E.S.N.G.Q.P.E.N.N.Y.K.T.T.P.P.V.L.D.S.D.G.S.F.F.L.Y.S.K.L.T.V.D.K.S.R.W.Q.Q.G.N.V.F.S.C.S.V.M.H.E.A.L.H.N.H.Y.T.Q.K.S.L.S.L.S.P.G.K}|</a:t>
            </a:r>
            <a:r>
              <a:rPr lang="en-US" sz="1000" b="1" dirty="0">
                <a:latin typeface="Consolas" panose="020B0609020204030204" pitchFamily="49" charset="0"/>
              </a:rPr>
              <a:t>PEPTIDE4</a:t>
            </a:r>
            <a:r>
              <a:rPr lang="en-US" sz="1000" dirty="0">
                <a:latin typeface="Consolas" panose="020B0609020204030204" pitchFamily="49" charset="0"/>
              </a:rPr>
              <a:t>{D.I.Q.M.T.Q.S.P.S.S.L.S.A.S.V.G.D.R.V.T.I.T.C.R.A.S.Q.D.V.N.T.A.V.A.W.Y.Q.Q.K.P.G.K.A.P.K.L.L.I.Y.S.A.S.F.L.Y.S.G.V.P.S.R.F.S.G.S.R.S.G.T.D.F.T.L.T.I.S.S.L.Q.P.E.D.F.A.T.Y.Y.C.Q.Q.H.Y.T.T.P.P.T.F.G.Q.G.T.K.V.E.I.K.R.T.V.A.A.P.S.V.F.I.F.P.P.S.D.E.Q.L.K.S.G.T.A.S.V.V.C.L.L.N.N.F.Y.P.R.E.A.K.V.Q.W.K.V.D.N.A.L.Q.S.G.N.S.Q.E.S.V.T.E.Q.D.S.K.D.S.T.Y.S.L.S.S.T.L.T.L.S.K.A.D.Y.E.K.H.K.V.Y.A.C.E.V.T.H.Q.G.L.S.S.P.V.T.K.S.F.N.R.G.E.C}|</a:t>
            </a:r>
            <a:r>
              <a:rPr lang="en-US" sz="1000" b="1" dirty="0">
                <a:latin typeface="Consolas" panose="020B0609020204030204" pitchFamily="49" charset="0"/>
              </a:rPr>
              <a:t>CHEM1</a:t>
            </a:r>
            <a:r>
              <a:rPr lang="en-US" sz="1000" dirty="0">
                <a:latin typeface="Consolas" panose="020B0609020204030204" pitchFamily="49" charset="0"/>
              </a:rPr>
              <a:t>{[SMCC]}|</a:t>
            </a:r>
            <a:r>
              <a:rPr lang="en-US" sz="1000" b="1" dirty="0">
                <a:latin typeface="Consolas" panose="020B0609020204030204" pitchFamily="49" charset="0"/>
              </a:rPr>
              <a:t>CHEM2</a:t>
            </a:r>
            <a:r>
              <a:rPr lang="en-US" sz="1000" dirty="0">
                <a:latin typeface="Consolas" panose="020B0609020204030204" pitchFamily="49" charset="0"/>
              </a:rPr>
              <a:t>{[DM1]}</a:t>
            </a:r>
            <a:r>
              <a:rPr lang="en-US" sz="1000" dirty="0">
                <a:solidFill>
                  <a:srgbClr val="00B050"/>
                </a:solidFill>
                <a:latin typeface="Consolas" panose="020B0609020204030204" pitchFamily="49" charset="0"/>
              </a:rPr>
              <a:t>$</a:t>
            </a:r>
            <a:r>
              <a:rPr lang="en-US" sz="1000" dirty="0">
                <a:latin typeface="Consolas" panose="020B0609020204030204" pitchFamily="49" charset="0"/>
              </a:rPr>
              <a:t>CHEM1,CHEM2,1:R2-1:R1|PEPTIDE1,PEPTIDE1,23:R3-88:R3|PEPTIDE2,PEPTIDE2,371:R3-429:R3|PEPTIDE4,PEPTIDE4,134:R3-194:R3|PEPTIDE1,PEPTIDE1,134:R3-194:R3|PEPTIDE3,PEPTIDE3,265:R3-325:R3|PEPTIDE3,PEPTIDE4,224:R3-214:R3|PEPTIDE2,PEPTIDE3,233:R3-233:R3|PEPTIDE2,PEPTIDE2,265:R3-325:R3|PEPTIDE2,PEPTIDE2,147:R3-203:R3|PEPTIDE2,PEPTIDE3,230:R3-230:R3|PEPTIDE2,PEPTIDE1,224:R3-214:R3|PEPTIDE3,PEPTIDE3,147:R3-203:R3|PEPTIDE2,PEPTIDE2,22:R3-96:R3|PEPTIDE3,PEPTIDE3,22:R3-96:R3|PEPTIDE3,PEPTIDE3,371:R3-429:R3|PEPTIDE4,PEPTIDE4,23:R3-88:R3|</a:t>
            </a:r>
            <a:r>
              <a:rPr lang="en-US" sz="1000" b="1" dirty="0">
                <a:solidFill>
                  <a:srgbClr val="FF0000"/>
                </a:solidFill>
                <a:latin typeface="Consolas" panose="020B0609020204030204" pitchFamily="49" charset="0"/>
              </a:rPr>
              <a:t>G1,CHEM1,K:R3-1:R1</a:t>
            </a:r>
            <a:r>
              <a:rPr lang="en-US" sz="1000" b="1" dirty="0">
                <a:solidFill>
                  <a:srgbClr val="00B050"/>
                </a:solidFill>
                <a:latin typeface="Consolas" panose="020B0609020204030204" pitchFamily="49" charset="0"/>
              </a:rPr>
              <a:t>$</a:t>
            </a:r>
            <a:r>
              <a:rPr lang="en-US" sz="1000" b="1" dirty="0">
                <a:solidFill>
                  <a:srgbClr val="FF0000"/>
                </a:solidFill>
                <a:latin typeface="Consolas" panose="020B0609020204030204" pitchFamily="49" charset="0"/>
              </a:rPr>
              <a:t>G1(PEPTIDE1+PEPTIDE2+PEPTIDE3+PEPTIDE4)|G2(CHEM1:3.5+</a:t>
            </a:r>
            <a:r>
              <a:rPr lang="en-US" sz="1000" b="1">
                <a:solidFill>
                  <a:srgbClr val="FF0000"/>
                </a:solidFill>
                <a:latin typeface="Consolas" panose="020B0609020204030204" pitchFamily="49" charset="0"/>
              </a:rPr>
              <a:t>G1:1)</a:t>
            </a:r>
            <a:r>
              <a:rPr lang="en-US" sz="1000" b="1">
                <a:solidFill>
                  <a:srgbClr val="00B050"/>
                </a:solidFill>
                <a:latin typeface="Consolas" panose="020B0609020204030204" pitchFamily="49" charset="0"/>
              </a:rPr>
              <a:t>$$</a:t>
            </a:r>
            <a:r>
              <a:rPr lang="en-US" sz="1000">
                <a:latin typeface="Consolas" panose="020B0609020204030204" pitchFamily="49" charset="0"/>
              </a:rPr>
              <a:t>V2.0</a:t>
            </a:r>
            <a:r>
              <a:rPr lang="en-US" sz="1000" b="1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endParaRPr lang="en-US" sz="1000" b="1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9F65372-B929-454B-AC40-6926AEC9B884}" type="slidenum">
              <a:rPr lang="de-DE" smtClean="0"/>
              <a:pPr>
                <a:defRPr/>
              </a:pPr>
              <a:t>14</a:t>
            </a:fld>
            <a:endParaRPr lang="de-DE"/>
          </a:p>
        </p:txBody>
      </p:sp>
      <p:sp>
        <p:nvSpPr>
          <p:cNvPr id="5" name="Pfeil: nach oben 4"/>
          <p:cNvSpPr/>
          <p:nvPr/>
        </p:nvSpPr>
        <p:spPr bwMode="auto">
          <a:xfrm>
            <a:off x="3491880" y="6237312"/>
            <a:ext cx="144016" cy="216024"/>
          </a:xfrm>
          <a:prstGeom prst="upArrow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>
              <a:ln>
                <a:noFill/>
              </a:ln>
              <a:solidFill>
                <a:srgbClr val="173B64"/>
              </a:solidFill>
              <a:effectLst/>
              <a:latin typeface="Arial" charset="0"/>
            </a:endParaRPr>
          </a:p>
        </p:txBody>
      </p:sp>
      <p:sp>
        <p:nvSpPr>
          <p:cNvPr id="6" name="Pfeil: nach oben 5"/>
          <p:cNvSpPr/>
          <p:nvPr/>
        </p:nvSpPr>
        <p:spPr bwMode="auto">
          <a:xfrm>
            <a:off x="7687600" y="6237312"/>
            <a:ext cx="144016" cy="216024"/>
          </a:xfrm>
          <a:prstGeom prst="upArrow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>
              <a:ln>
                <a:noFill/>
              </a:ln>
              <a:solidFill>
                <a:srgbClr val="173B64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952165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HELM Antibody Editor (HAbE)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9F65372-B929-454B-AC40-6926AEC9B884}" type="slidenum">
              <a:rPr lang="de-DE" smtClean="0"/>
              <a:pPr>
                <a:defRPr/>
              </a:pPr>
              <a:t>15</a:t>
            </a:fld>
            <a:endParaRPr lang="de-DE"/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225" y="1670645"/>
            <a:ext cx="7829550" cy="4638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007595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HELM </a:t>
            </a:r>
            <a:r>
              <a:rPr lang="de-DE" dirty="0" err="1"/>
              <a:t>and</a:t>
            </a:r>
            <a:r>
              <a:rPr lang="de-DE" dirty="0"/>
              <a:t> </a:t>
            </a:r>
            <a:r>
              <a:rPr lang="de-DE" dirty="0" err="1"/>
              <a:t>very</a:t>
            </a:r>
            <a:r>
              <a:rPr lang="de-DE" dirty="0"/>
              <a:t> large </a:t>
            </a:r>
            <a:r>
              <a:rPr lang="de-DE" dirty="0" err="1"/>
              <a:t>molecules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11188" y="1600200"/>
            <a:ext cx="7921252" cy="4709120"/>
          </a:xfrm>
        </p:spPr>
        <p:txBody>
          <a:bodyPr/>
          <a:lstStyle/>
          <a:p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Connectin</a:t>
            </a:r>
            <a:r>
              <a:rPr lang="de-DE" dirty="0"/>
              <a:t> (</a:t>
            </a:r>
            <a:r>
              <a:rPr lang="de-DE" dirty="0" err="1"/>
              <a:t>Titin</a:t>
            </a:r>
            <a:r>
              <a:rPr lang="de-DE" dirty="0"/>
              <a:t>)</a:t>
            </a:r>
          </a:p>
          <a:p>
            <a:r>
              <a:rPr lang="de-DE" dirty="0"/>
              <a:t>Human </a:t>
            </a:r>
            <a:r>
              <a:rPr lang="de-DE" dirty="0" err="1"/>
              <a:t>muscle</a:t>
            </a:r>
            <a:r>
              <a:rPr lang="de-DE" dirty="0"/>
              <a:t> </a:t>
            </a:r>
            <a:r>
              <a:rPr lang="de-DE" dirty="0" err="1"/>
              <a:t>protein</a:t>
            </a:r>
            <a:r>
              <a:rPr lang="de-DE" dirty="0"/>
              <a:t> out </a:t>
            </a:r>
            <a:r>
              <a:rPr lang="de-DE" dirty="0" err="1"/>
              <a:t>of</a:t>
            </a:r>
            <a:r>
              <a:rPr lang="de-DE" dirty="0"/>
              <a:t> 34.350 </a:t>
            </a:r>
            <a:r>
              <a:rPr lang="de-DE" dirty="0" err="1"/>
              <a:t>amino</a:t>
            </a:r>
            <a:r>
              <a:rPr lang="de-DE" dirty="0"/>
              <a:t> </a:t>
            </a:r>
            <a:r>
              <a:rPr lang="de-DE" dirty="0" err="1"/>
              <a:t>acids</a:t>
            </a:r>
            <a:endParaRPr lang="de-DE" dirty="0"/>
          </a:p>
          <a:p>
            <a:r>
              <a:rPr lang="de-DE" dirty="0"/>
              <a:t>=&gt; 540.000 </a:t>
            </a:r>
            <a:r>
              <a:rPr lang="de-DE" dirty="0" err="1"/>
              <a:t>atoms</a:t>
            </a:r>
            <a:endParaRPr lang="de-DE" dirty="0"/>
          </a:p>
          <a:p>
            <a:r>
              <a:rPr lang="de-DE" dirty="0" err="1"/>
              <a:t>Creation</a:t>
            </a:r>
            <a:r>
              <a:rPr lang="de-DE" dirty="0"/>
              <a:t> </a:t>
            </a:r>
            <a:r>
              <a:rPr lang="de-DE" dirty="0" err="1"/>
              <a:t>and</a:t>
            </a:r>
            <a:r>
              <a:rPr lang="de-DE" dirty="0"/>
              <a:t> </a:t>
            </a:r>
            <a:r>
              <a:rPr lang="de-DE" dirty="0" err="1"/>
              <a:t>validation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HELM </a:t>
            </a:r>
            <a:r>
              <a:rPr lang="de-DE" dirty="0" err="1"/>
              <a:t>notation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FASTA in &lt; 1 s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9F65372-B929-454B-AC40-6926AEC9B884}" type="slidenum">
              <a:rPr lang="de-DE" smtClean="0"/>
              <a:pPr>
                <a:defRPr/>
              </a:pPr>
              <a:t>16</a:t>
            </a:fld>
            <a:endParaRPr lang="de-DE"/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7524" y="4548135"/>
            <a:ext cx="3204916" cy="1473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231898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HELM and structure representations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11188" y="1600200"/>
            <a:ext cx="8065268" cy="4637112"/>
          </a:xfrm>
        </p:spPr>
        <p:txBody>
          <a:bodyPr/>
          <a:lstStyle/>
          <a:p>
            <a:r>
              <a:rPr lang="de-DE" dirty="0"/>
              <a:t>Monomer </a:t>
            </a:r>
            <a:r>
              <a:rPr lang="de-DE" dirty="0" err="1"/>
              <a:t>definitons</a:t>
            </a:r>
            <a:r>
              <a:rPr lang="de-DE" dirty="0"/>
              <a:t> in MOL </a:t>
            </a:r>
            <a:r>
              <a:rPr lang="de-DE" dirty="0" err="1"/>
              <a:t>format</a:t>
            </a:r>
            <a:r>
              <a:rPr lang="de-DE" dirty="0"/>
              <a:t> </a:t>
            </a:r>
            <a:r>
              <a:rPr lang="de-DE" dirty="0" err="1"/>
              <a:t>and</a:t>
            </a:r>
            <a:r>
              <a:rPr lang="de-DE" dirty="0"/>
              <a:t> SMILES (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atom</a:t>
            </a:r>
            <a:r>
              <a:rPr lang="de-DE" dirty="0"/>
              <a:t> </a:t>
            </a:r>
            <a:r>
              <a:rPr lang="de-DE" dirty="0" err="1"/>
              <a:t>maps</a:t>
            </a:r>
            <a:r>
              <a:rPr lang="de-DE" dirty="0"/>
              <a:t>)</a:t>
            </a:r>
          </a:p>
          <a:p>
            <a:r>
              <a:rPr lang="de-DE"/>
              <a:t>HELM </a:t>
            </a:r>
            <a:r>
              <a:rPr lang="de-DE"/>
              <a:t>toolkit can create SMILES code </a:t>
            </a:r>
            <a:r>
              <a:rPr lang="de-DE"/>
              <a:t>from HELM</a:t>
            </a:r>
          </a:p>
          <a:p>
            <a:r>
              <a:rPr lang="de-DE"/>
              <a:t>Limitations</a:t>
            </a:r>
          </a:p>
          <a:p>
            <a:pPr lvl="1"/>
            <a:r>
              <a:rPr lang="de-DE"/>
              <a:t>No large molecules</a:t>
            </a:r>
          </a:p>
          <a:p>
            <a:pPr lvl="1"/>
            <a:r>
              <a:rPr lang="de-DE"/>
              <a:t>No ambiguity</a:t>
            </a:r>
            <a:endParaRPr lang="de-DE"/>
          </a:p>
          <a:p>
            <a:r>
              <a:rPr lang="de-DE"/>
              <a:t>No SMILES/MOL/InChI </a:t>
            </a:r>
            <a:r>
              <a:rPr lang="de-DE"/>
              <a:t>to </a:t>
            </a:r>
            <a:r>
              <a:rPr lang="de-DE"/>
              <a:t>HELM conversion up to now</a:t>
            </a:r>
          </a:p>
          <a:p>
            <a:pPr lvl="1"/>
            <a:r>
              <a:rPr lang="de-DE"/>
              <a:t>RDKit (peptide with standard amino acids)</a:t>
            </a:r>
            <a:endParaRPr lang="de-DE"/>
          </a:p>
          <a:p>
            <a:pPr marL="0" indent="0">
              <a:buNone/>
            </a:pPr>
            <a:endParaRPr lang="de-DE"/>
          </a:p>
          <a:p>
            <a:pPr lvl="1"/>
            <a:endParaRPr lang="de-DE" sz="180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9F65372-B929-454B-AC40-6926AEC9B884}" type="slidenum">
              <a:rPr lang="de-DE" smtClean="0"/>
              <a:pPr>
                <a:defRPr/>
              </a:pPr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41610587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HELM </a:t>
            </a:r>
            <a:r>
              <a:rPr lang="de-DE" dirty="0" err="1"/>
              <a:t>Challenges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11188" y="1600200"/>
            <a:ext cx="7878762" cy="4565104"/>
          </a:xfrm>
        </p:spPr>
        <p:txBody>
          <a:bodyPr/>
          <a:lstStyle/>
          <a:p>
            <a:r>
              <a:rPr lang="de-DE" dirty="0" err="1"/>
              <a:t>Standardized</a:t>
            </a:r>
            <a:r>
              <a:rPr lang="de-DE" dirty="0"/>
              <a:t> </a:t>
            </a:r>
            <a:r>
              <a:rPr lang="de-DE" dirty="0" err="1"/>
              <a:t>key</a:t>
            </a:r>
            <a:r>
              <a:rPr lang="de-DE" dirty="0"/>
              <a:t> für large </a:t>
            </a:r>
            <a:r>
              <a:rPr lang="de-DE" dirty="0" err="1"/>
              <a:t>biological</a:t>
            </a:r>
            <a:r>
              <a:rPr lang="de-DE" dirty="0"/>
              <a:t> </a:t>
            </a:r>
            <a:r>
              <a:rPr lang="de-DE" dirty="0" err="1"/>
              <a:t>molecules</a:t>
            </a:r>
            <a:endParaRPr lang="de-DE" dirty="0"/>
          </a:p>
          <a:p>
            <a:pPr lvl="1"/>
            <a:r>
              <a:rPr lang="de-DE" dirty="0" err="1"/>
              <a:t>Unlimited</a:t>
            </a:r>
            <a:r>
              <a:rPr lang="de-DE" dirty="0"/>
              <a:t> </a:t>
            </a:r>
            <a:r>
              <a:rPr lang="de-DE" dirty="0" err="1"/>
              <a:t>number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atoms</a:t>
            </a:r>
            <a:r>
              <a:rPr lang="de-DE" dirty="0"/>
              <a:t>/</a:t>
            </a:r>
            <a:r>
              <a:rPr lang="de-DE" dirty="0" err="1"/>
              <a:t>elements</a:t>
            </a:r>
            <a:endParaRPr lang="de-DE" dirty="0"/>
          </a:p>
          <a:p>
            <a:pPr lvl="1"/>
            <a:r>
              <a:rPr lang="de-DE"/>
              <a:t>Canonicalized</a:t>
            </a:r>
            <a:endParaRPr lang="de-DE" dirty="0"/>
          </a:p>
          <a:p>
            <a:pPr lvl="1"/>
            <a:r>
              <a:rPr lang="de-DE"/>
              <a:t>Ambiguity support</a:t>
            </a:r>
            <a:endParaRPr lang="de-DE" dirty="0"/>
          </a:p>
          <a:p>
            <a:pPr lvl="1"/>
            <a:r>
              <a:rPr lang="de-DE" dirty="0" err="1"/>
              <a:t>Accepted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public</a:t>
            </a:r>
            <a:r>
              <a:rPr lang="de-DE" dirty="0"/>
              <a:t> </a:t>
            </a:r>
            <a:r>
              <a:rPr lang="de-DE" dirty="0" err="1"/>
              <a:t>databases</a:t>
            </a:r>
            <a:r>
              <a:rPr lang="de-DE" dirty="0"/>
              <a:t> </a:t>
            </a:r>
            <a:r>
              <a:rPr lang="de-DE" dirty="0" err="1"/>
              <a:t>and</a:t>
            </a:r>
            <a:r>
              <a:rPr lang="de-DE" dirty="0"/>
              <a:t> </a:t>
            </a:r>
            <a:r>
              <a:rPr lang="de-DE" dirty="0" err="1"/>
              <a:t>authorities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9F65372-B929-454B-AC40-6926AEC9B884}" type="slidenum">
              <a:rPr lang="de-DE" smtClean="0"/>
              <a:pPr>
                <a:defRPr/>
              </a:pPr>
              <a:t>18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40628880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9F65372-B929-454B-AC40-6926AEC9B884}" type="slidenum">
              <a:rPr lang="de-DE" smtClean="0"/>
              <a:pPr>
                <a:defRPr/>
              </a:pPr>
              <a:t>19</a:t>
            </a:fld>
            <a:endParaRPr lang="de-DE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3347864" y="3284984"/>
            <a:ext cx="2448644" cy="596900"/>
          </a:xfrm>
        </p:spPr>
        <p:txBody>
          <a:bodyPr/>
          <a:lstStyle/>
          <a:p>
            <a:r>
              <a:rPr lang="de-DE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431104760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Masterlayout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ABD5FF"/>
      </a:accent1>
      <a:accent2>
        <a:srgbClr val="3333CC"/>
      </a:accent2>
      <a:accent3>
        <a:srgbClr val="FFFFFF"/>
      </a:accent3>
      <a:accent4>
        <a:srgbClr val="000000"/>
      </a:accent4>
      <a:accent5>
        <a:srgbClr val="D2E7FF"/>
      </a:accent5>
      <a:accent6>
        <a:srgbClr val="2D2DB9"/>
      </a:accent6>
      <a:hlink>
        <a:srgbClr val="CCCCFF"/>
      </a:hlink>
      <a:folHlink>
        <a:srgbClr val="B2B2B2"/>
      </a:folHlink>
    </a:clrScheme>
    <a:fontScheme name="Masterlayou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A886"/>
        </a:solidFill>
        <a:ln w="9525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600" b="0" i="0" u="none" strike="noStrike" cap="none" normalizeH="0" baseline="0" smtClean="0">
            <a:ln>
              <a:noFill/>
            </a:ln>
            <a:solidFill>
              <a:srgbClr val="173B64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A886"/>
        </a:solidFill>
        <a:ln w="9525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600" b="0" i="0" u="none" strike="noStrike" cap="none" normalizeH="0" baseline="0" smtClean="0">
            <a:ln>
              <a:noFill/>
            </a:ln>
            <a:solidFill>
              <a:srgbClr val="173B64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Masterlayout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asterlayout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layout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layout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layou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layou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layou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W:\Dokumentvorlagen\Präsentationsvorlagen\Masterlayout.pot</Template>
  <TotalTime>0</TotalTime>
  <Words>3399</Words>
  <Application>Microsoft Office PowerPoint</Application>
  <PresentationFormat>Bildschirmpräsentation (4:3)</PresentationFormat>
  <Paragraphs>129</Paragraphs>
  <Slides>19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19</vt:i4>
      </vt:variant>
    </vt:vector>
  </HeadingPairs>
  <TitlesOfParts>
    <vt:vector size="26" baseType="lpstr">
      <vt:lpstr>Arial</vt:lpstr>
      <vt:lpstr>Calibri</vt:lpstr>
      <vt:lpstr>Consolas</vt:lpstr>
      <vt:lpstr>Times New Roman</vt:lpstr>
      <vt:lpstr>Wingdings</vt:lpstr>
      <vt:lpstr>Wingdings 3</vt:lpstr>
      <vt:lpstr>Masterlayout</vt:lpstr>
      <vt:lpstr>PowerPoint-Präsentation</vt:lpstr>
      <vt:lpstr>Agenda</vt:lpstr>
      <vt:lpstr>HELM and ambiguity in biological molecules</vt:lpstr>
      <vt:lpstr>Syntax Elements</vt:lpstr>
      <vt:lpstr>HELM Examples</vt:lpstr>
      <vt:lpstr>xHELM</vt:lpstr>
      <vt:lpstr>Mission completed?</vt:lpstr>
      <vt:lpstr>Ambiguity in HELM 2.0</vt:lpstr>
      <vt:lpstr>Monomer Ambiguity</vt:lpstr>
      <vt:lpstr>Polymer Ambiguity</vt:lpstr>
      <vt:lpstr>Connection Ambiguity</vt:lpstr>
      <vt:lpstr>Example: Trastuzumab emtansine </vt:lpstr>
      <vt:lpstr>Trastuzumab emtansine</vt:lpstr>
      <vt:lpstr>HELM notation of Trastuzumab emtansine </vt:lpstr>
      <vt:lpstr>HELM Antibody Editor (HAbE)</vt:lpstr>
      <vt:lpstr>HELM and very large molecules</vt:lpstr>
      <vt:lpstr>HELM and structure representations</vt:lpstr>
      <vt:lpstr>HELM Challenges</vt:lpstr>
      <vt:lpstr>Thank you!</vt:lpstr>
    </vt:vector>
  </TitlesOfParts>
  <Company>4SC AG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Management in a Modern</dc:title>
  <dc:creator>Dr. Bernhard Schirm</dc:creator>
  <cp:lastModifiedBy>Markus Weisser</cp:lastModifiedBy>
  <cp:revision>657</cp:revision>
  <cp:lastPrinted>2003-04-23T12:33:14Z</cp:lastPrinted>
  <dcterms:created xsi:type="dcterms:W3CDTF">2002-10-17T13:00:31Z</dcterms:created>
  <dcterms:modified xsi:type="dcterms:W3CDTF">2017-03-16T15:58:19Z</dcterms:modified>
</cp:coreProperties>
</file>