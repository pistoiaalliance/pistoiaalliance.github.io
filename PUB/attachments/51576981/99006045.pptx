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jpg" ContentType="image/jpeg"/>
  <Default Extension="rels" ContentType="application/vnd.openxmlformats-package.relationships+xml"/>
  <Default Extension="vml" ContentType="application/vnd.openxmlformats-officedocument.vmlDrawing"/>
  <Default Extension="gif" ContentType="image/gi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3.xml" ContentType="application/vnd.openxmlformats-officedocument.presentationml.notesSlide+xml"/>
  <Override PartName="/ppt/embeddings/oleObject1.bin" ContentType="application/vnd.openxmlformats-officedocument.oleObject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8"/>
  </p:notesMasterIdLst>
  <p:handoutMasterIdLst>
    <p:handoutMasterId r:id="rId29"/>
  </p:handoutMasterIdLst>
  <p:sldIdLst>
    <p:sldId id="266" r:id="rId5"/>
    <p:sldId id="299" r:id="rId6"/>
    <p:sldId id="354" r:id="rId7"/>
    <p:sldId id="310" r:id="rId8"/>
    <p:sldId id="332" r:id="rId9"/>
    <p:sldId id="331" r:id="rId10"/>
    <p:sldId id="274" r:id="rId11"/>
    <p:sldId id="353" r:id="rId12"/>
    <p:sldId id="346" r:id="rId13"/>
    <p:sldId id="280" r:id="rId14"/>
    <p:sldId id="281" r:id="rId15"/>
    <p:sldId id="287" r:id="rId16"/>
    <p:sldId id="285" r:id="rId17"/>
    <p:sldId id="347" r:id="rId18"/>
    <p:sldId id="350" r:id="rId19"/>
    <p:sldId id="351" r:id="rId20"/>
    <p:sldId id="352" r:id="rId21"/>
    <p:sldId id="348" r:id="rId22"/>
    <p:sldId id="318" r:id="rId23"/>
    <p:sldId id="340" r:id="rId24"/>
    <p:sldId id="345" r:id="rId25"/>
    <p:sldId id="343" r:id="rId26"/>
    <p:sldId id="355" r:id="rId27"/>
  </p:sldIdLst>
  <p:sldSz cx="9144000" cy="6858000" type="screen4x3"/>
  <p:notesSz cx="6797675" cy="98742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F4D9"/>
    <a:srgbClr val="4AC9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27" autoAdjust="0"/>
    <p:restoredTop sz="94660"/>
  </p:normalViewPr>
  <p:slideViewPr>
    <p:cSldViewPr>
      <p:cViewPr varScale="1">
        <p:scale>
          <a:sx n="97" d="100"/>
          <a:sy n="97" d="100"/>
        </p:scale>
        <p:origin x="-122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30" Type="http://schemas.openxmlformats.org/officeDocument/2006/relationships/printerSettings" Target="printerSettings/printerSettings1.bin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9" Type="http://schemas.openxmlformats.org/officeDocument/2006/relationships/slide" Target="slides/slide5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436A6-4774-6D43-AE78-FBAE16B8DD8F}" type="datetimeFigureOut">
              <a:rPr lang="en-US" smtClean="0"/>
              <a:t>4/30/14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297AC-7BEE-6743-AEF2-89A2F22A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0802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D9AE17-F4F6-4742-A6F5-590E324539FA}" type="datetimeFigureOut">
              <a:rPr lang="en-US" smtClean="0"/>
              <a:t>4/30/14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2829F-729F-4FAD-A57E-3BDB518F0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1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6B531B-4B8F-425C-871B-2EDB9CA6C451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/>
              <a:pPr/>
              <a:t>4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64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fld id="{20EFB472-3EC6-4E96-A4A3-921658005A07}" type="slidenum">
              <a:rPr lang="en-US" smtClean="0"/>
              <a:pPr eaLnBrk="1" hangingPunct="1"/>
              <a:t>12</a:t>
            </a:fld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19</a:t>
            </a:fld>
            <a:endParaRPr lang="fi-FI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858" indent="-285715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2859" indent="-228571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002" indent="-228571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146" indent="-228571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289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433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8576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5719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607B291-23C9-43D3-8CF9-C6A48A66D584}" type="slidenum">
              <a:rPr lang="en-US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642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64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6553200"/>
            <a:ext cx="2971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ct val="200000"/>
              </a:spcAft>
            </a:pPr>
            <a:r>
              <a:rPr lang="en-GB" sz="1400" b="1">
                <a:solidFill>
                  <a:srgbClr val="002060"/>
                </a:solidFill>
                <a:latin typeface="Trebuchet MS" pitchFamily="34" charset="0"/>
              </a:rPr>
              <a:t>http://pistoiaalliance.org</a:t>
            </a:r>
            <a:endParaRPr lang="en-US" sz="1400" b="1">
              <a:solidFill>
                <a:srgbClr val="002060"/>
              </a:solidFill>
              <a:latin typeface="Trebuchet MS" pitchFamily="34" charset="0"/>
            </a:endParaRPr>
          </a:p>
        </p:txBody>
      </p:sp>
      <p:pic>
        <p:nvPicPr>
          <p:cNvPr id="6" name="Picture 5" descr="clock tower full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52400"/>
            <a:ext cx="1676400" cy="1676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429000" y="6529388"/>
            <a:ext cx="2971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ct val="200000"/>
              </a:spcAft>
            </a:pPr>
            <a:r>
              <a:rPr lang="en-GB" sz="1400" b="1">
                <a:solidFill>
                  <a:srgbClr val="002060"/>
                </a:solidFill>
                <a:latin typeface="Trebuchet MS" pitchFamily="34" charset="0"/>
              </a:rPr>
              <a:t>@PistoiaAlliance</a:t>
            </a:r>
            <a:endParaRPr lang="en-US" sz="1400" b="1">
              <a:solidFill>
                <a:srgbClr val="002060"/>
              </a:solidFill>
              <a:latin typeface="Trebuchet MS" pitchFamily="34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1600200" y="2133600"/>
            <a:ext cx="6096000" cy="1524000"/>
          </a:xfrm>
        </p:spPr>
        <p:txBody>
          <a:bodyPr lIns="0" tIns="0" rIns="0" bIns="0"/>
          <a:lstStyle>
            <a:lvl1pPr marL="0" indent="0" algn="l">
              <a:buNone/>
              <a:defRPr sz="40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1600200" y="3810000"/>
            <a:ext cx="6172200" cy="685800"/>
          </a:xfrm>
        </p:spPr>
        <p:txBody>
          <a:bodyPr lIns="0" tIns="0" rIns="0" bIns="0"/>
          <a:lstStyle>
            <a:lvl1pPr marL="0" indent="0" algn="l">
              <a:buNone/>
              <a:defRPr sz="240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7"/>
          </p:nvPr>
        </p:nvSpPr>
        <p:spPr>
          <a:xfrm>
            <a:off x="381000" y="5410200"/>
            <a:ext cx="5486400" cy="838200"/>
          </a:xfr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0" indent="0">
              <a:buNone/>
              <a:defRPr sz="1800" b="1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03985802"/>
      </p:ext>
    </p:extLst>
  </p:cSld>
  <p:clrMapOvr>
    <a:masterClrMapping/>
  </p:clrMapOvr>
  <p:transition xmlns:p14="http://schemas.microsoft.com/office/powerpoint/2010/main"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88179"/>
      </p:ext>
    </p:extLst>
  </p:cSld>
  <p:clrMapOvr>
    <a:masterClrMapping/>
  </p:clrMapOvr>
  <p:transition xmlns:p14="http://schemas.microsoft.com/office/powerpoint/2010/main" spd="med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656099"/>
      </p:ext>
    </p:extLst>
  </p:cSld>
  <p:clrMapOvr>
    <a:masterClrMapping/>
  </p:clrMapOvr>
  <p:transition xmlns:p14="http://schemas.microsoft.com/office/powerpoint/2010/main" spd="med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78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78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29445"/>
      </p:ext>
    </p:extLst>
  </p:cSld>
  <p:clrMapOvr>
    <a:masterClrMapping/>
  </p:clrMapOvr>
  <p:transition xmlns:p14="http://schemas.microsoft.com/office/powerpoint/2010/main" spd="med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87251"/>
      </p:ext>
    </p:extLst>
  </p:cSld>
  <p:clrMapOvr>
    <a:masterClrMapping/>
  </p:clrMapOvr>
  <p:transition xmlns:p14="http://schemas.microsoft.com/office/powerpoint/2010/main" spd="med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365869"/>
      </p:ext>
    </p:extLst>
  </p:cSld>
  <p:clrMapOvr>
    <a:masterClrMapping/>
  </p:clrMapOvr>
  <p:transition xmlns:p14="http://schemas.microsoft.com/office/powerpoint/2010/main" spd="med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102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2223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9769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035069"/>
      </p:ext>
    </p:extLst>
  </p:cSld>
  <p:clrMapOvr>
    <a:masterClrMapping/>
  </p:clrMapOvr>
  <p:transition xmlns:p14="http://schemas.microsoft.com/office/powerpoint/2010/main" spd="med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229600" cy="475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8"/>
          <p:cNvSpPr>
            <a:spLocks noChangeArrowheads="1"/>
          </p:cNvSpPr>
          <p:nvPr/>
        </p:nvSpPr>
        <p:spPr bwMode="auto">
          <a:xfrm>
            <a:off x="4110038" y="29146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>
              <a:solidFill>
                <a:srgbClr val="000000"/>
              </a:solidFill>
              <a:latin typeface="Trebuchet MS" pitchFamily="34" charset="0"/>
              <a:ea typeface="ＭＳ Ｐゴシック" pitchFamily="34" charset="-128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666112" y="6309320"/>
            <a:ext cx="4423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71375E-5659-4945-A924-E101EBE546C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9" r:id="rId2"/>
    <p:sldLayoutId id="2147483751" r:id="rId3"/>
    <p:sldLayoutId id="2147483752" r:id="rId4"/>
    <p:sldLayoutId id="2147483753" r:id="rId5"/>
    <p:sldLayoutId id="2147483754" r:id="rId6"/>
    <p:sldLayoutId id="2147483755" r:id="rId7"/>
  </p:sldLayoutIdLst>
  <p:transition xmlns:p14="http://schemas.microsoft.com/office/powerpoint/2010/main" spd="med">
    <p:fade thruBlk="1"/>
  </p:transition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Trebuchet M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Trebuchet M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Trebuchet M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Trebuchet MS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462300"/>
          </a:solidFill>
          <a:latin typeface="Trebuchet MS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462300"/>
          </a:solidFill>
          <a:latin typeface="Trebuchet MS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462300"/>
          </a:solidFill>
          <a:latin typeface="Trebuchet MS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462300"/>
          </a:solidFill>
          <a:latin typeface="Trebuchet MS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rgbClr val="00206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002060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002060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2060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002060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462300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462300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462300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4623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hyperlink" Target="http://images.google.com/imgres?imgurl=http://www.sbrionline.info/Partner/accelrys_logo.jpg&amp;imgrefurl=http://www.sbrionline.info/Partner/PartnerAccl.htm&amp;usg=__kxVocQvLQLpZGxCjQHqptfs5Vx8=&amp;h=350&amp;w=1168&amp;sz=59&amp;hl=en&amp;start=1&amp;um=1&amp;tbnid=9fRXQP-3si_uLM:&amp;tbnh=45&amp;tbnw=150&amp;prev=/images?q=accelrys&amp;hl=en&amp;um=1" TargetMode="External"/><Relationship Id="rId14" Type="http://schemas.openxmlformats.org/officeDocument/2006/relationships/image" Target="../media/image10.jpeg"/><Relationship Id="rId15" Type="http://schemas.openxmlformats.org/officeDocument/2006/relationships/hyperlink" Target="http://images.google.com/imgres?imgurl=http://moltable.ncl.res.in/icci/chemaxon_logo_lg.gif&amp;imgrefurl=http://moltable.ncl.res.in/icci/sponsored.html&amp;usg=__GUa3Ep5EjmV4NVoFPT3-PCJe_z8=&amp;h=107&amp;w=120&amp;sz=6&amp;hl=en&amp;start=5&amp;um=1&amp;tbnid=ckYP7FHh9oTbzM:&amp;tbnh=78&amp;tbnw=88&amp;prev=/images?q=chemaxon&amp;hl=en&amp;um=1" TargetMode="External"/><Relationship Id="rId16" Type="http://schemas.openxmlformats.org/officeDocument/2006/relationships/image" Target="../media/image11.jpeg"/><Relationship Id="rId17" Type="http://schemas.openxmlformats.org/officeDocument/2006/relationships/hyperlink" Target="http://images.google.com/imgres?imgurl=http://www.bioxpr.be/software/img/bioxpr_mini.png&amp;imgrefurl=http://www.bioxpr.be/software/bioxpress.php&amp;usg=__XfExuSNs_NgKCq4jrpvjjVTyjko=&amp;h=64&amp;w=150&amp;sz=6&amp;hl=en&amp;start=8&amp;um=1&amp;tbnid=W-77-d5NSTs2YM:&amp;tbnh=41&amp;tbnw=96&amp;prev=/images?q=bioxpr&amp;hl=en&amp;um=1" TargetMode="External"/><Relationship Id="rId18" Type="http://schemas.openxmlformats.org/officeDocument/2006/relationships/image" Target="../media/image12.jpeg"/><Relationship Id="rId19" Type="http://schemas.openxmlformats.org/officeDocument/2006/relationships/image" Target="../media/image13.png"/><Relationship Id="rId63" Type="http://schemas.openxmlformats.org/officeDocument/2006/relationships/image" Target="../media/image44.png"/><Relationship Id="rId64" Type="http://schemas.openxmlformats.org/officeDocument/2006/relationships/image" Target="../media/image45.png"/><Relationship Id="rId65" Type="http://schemas.openxmlformats.org/officeDocument/2006/relationships/image" Target="../media/image46.jpeg"/><Relationship Id="rId66" Type="http://schemas.openxmlformats.org/officeDocument/2006/relationships/image" Target="../media/image47.jpeg"/><Relationship Id="rId67" Type="http://schemas.openxmlformats.org/officeDocument/2006/relationships/image" Target="../media/image48.jpeg"/><Relationship Id="rId68" Type="http://schemas.openxmlformats.org/officeDocument/2006/relationships/image" Target="../media/image49.jpg"/><Relationship Id="rId69" Type="http://schemas.openxmlformats.org/officeDocument/2006/relationships/image" Target="../media/image50.png"/><Relationship Id="rId50" Type="http://schemas.openxmlformats.org/officeDocument/2006/relationships/hyperlink" Target="http://www.answerconsulting.com/" TargetMode="External"/><Relationship Id="rId51" Type="http://schemas.openxmlformats.org/officeDocument/2006/relationships/image" Target="../media/image34.jpeg"/><Relationship Id="rId52" Type="http://schemas.openxmlformats.org/officeDocument/2006/relationships/hyperlink" Target="http://www.ipsen.com/en" TargetMode="External"/><Relationship Id="rId53" Type="http://schemas.openxmlformats.org/officeDocument/2006/relationships/image" Target="../media/image35.gif"/><Relationship Id="rId54" Type="http://schemas.openxmlformats.org/officeDocument/2006/relationships/image" Target="../media/image36.png"/><Relationship Id="rId55" Type="http://schemas.openxmlformats.org/officeDocument/2006/relationships/image" Target="../media/image37.jpeg"/><Relationship Id="rId56" Type="http://schemas.openxmlformats.org/officeDocument/2006/relationships/image" Target="../media/image38.png"/><Relationship Id="rId57" Type="http://schemas.openxmlformats.org/officeDocument/2006/relationships/image" Target="../media/image39.jpeg"/><Relationship Id="rId58" Type="http://schemas.openxmlformats.org/officeDocument/2006/relationships/image" Target="../media/image40.png"/><Relationship Id="rId59" Type="http://schemas.openxmlformats.org/officeDocument/2006/relationships/image" Target="../media/image41.gif"/><Relationship Id="rId40" Type="http://schemas.openxmlformats.org/officeDocument/2006/relationships/image" Target="../media/image26.jpeg"/><Relationship Id="rId41" Type="http://schemas.openxmlformats.org/officeDocument/2006/relationships/image" Target="../media/image27.gif"/><Relationship Id="rId42" Type="http://schemas.openxmlformats.org/officeDocument/2006/relationships/hyperlink" Target="http://www.merck.de/" TargetMode="External"/><Relationship Id="rId43" Type="http://schemas.openxmlformats.org/officeDocument/2006/relationships/image" Target="../media/image28.gif"/><Relationship Id="rId44" Type="http://schemas.openxmlformats.org/officeDocument/2006/relationships/image" Target="../media/image29.png"/><Relationship Id="rId45" Type="http://schemas.openxmlformats.org/officeDocument/2006/relationships/image" Target="../media/image30.png"/><Relationship Id="rId46" Type="http://schemas.openxmlformats.org/officeDocument/2006/relationships/image" Target="../media/image31.png"/><Relationship Id="rId47" Type="http://schemas.openxmlformats.org/officeDocument/2006/relationships/hyperlink" Target="http://www.ccdc.cam.ac.uk/index.php" TargetMode="External"/><Relationship Id="rId48" Type="http://schemas.openxmlformats.org/officeDocument/2006/relationships/image" Target="../media/image32.gif"/><Relationship Id="rId49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www.novartis.com/" TargetMode="External"/><Relationship Id="rId4" Type="http://schemas.openxmlformats.org/officeDocument/2006/relationships/image" Target="../media/image5.png"/><Relationship Id="rId5" Type="http://schemas.openxmlformats.org/officeDocument/2006/relationships/hyperlink" Target="http://www.pfizer.com/home/" TargetMode="External"/><Relationship Id="rId6" Type="http://schemas.openxmlformats.org/officeDocument/2006/relationships/image" Target="../media/image6.png"/><Relationship Id="rId7" Type="http://schemas.openxmlformats.org/officeDocument/2006/relationships/hyperlink" Target="http://images.google.com/imgres?imgurl=http://www.corporatecomplianceinsights.com/wp-content/uploads/2009/04/glaxosmithkline-glaxo-logo.jpg&amp;imgrefurl=http://www.corporatecomplianceinsights.com/2009/glaxo-buys-stiefel-glaxosmithkline-governance-hong-kong-world-bank&amp;usg=__momsQY4E4kJOiFfCa61yoe-2gOA=&amp;h=225&amp;w=327&amp;sz=42&amp;hl=en&amp;start=6&amp;um=1&amp;tbnid=98S20HdRuoiNzM:&amp;tbnh=81&amp;tbnw=118&amp;prev=/images?q=glaxo+smith+kline&amp;hl=en&amp;sa=N&amp;um=1" TargetMode="External"/><Relationship Id="rId8" Type="http://schemas.openxmlformats.org/officeDocument/2006/relationships/image" Target="../media/image7.jpeg"/><Relationship Id="rId9" Type="http://schemas.openxmlformats.org/officeDocument/2006/relationships/hyperlink" Target="http://images.google.com/imgres?imgurl=http://www.advantum.com/res/Logotypes/astrazeneca.jpg&amp;imgrefurl=http://www.advantum.com/AstraZenecaEng.htm&amp;usg=__Ae3rPJD-6EFSwaAy__PxN7IyZx8=&amp;h=305&amp;w=1184&amp;sz=46&amp;hl=en&amp;start=3&amp;um=1&amp;tbnid=0VWpfaup7DE-sM:&amp;tbnh=39&amp;tbnw=150&amp;prev=/images?q=astrazeneca&amp;hl=en&amp;um=1" TargetMode="External"/><Relationship Id="rId30" Type="http://schemas.openxmlformats.org/officeDocument/2006/relationships/image" Target="../media/image20.png"/><Relationship Id="rId31" Type="http://schemas.openxmlformats.org/officeDocument/2006/relationships/hyperlink" Target="http://www.boehringer-ingelheim.co.uk/index.html" TargetMode="External"/><Relationship Id="rId32" Type="http://schemas.openxmlformats.org/officeDocument/2006/relationships/image" Target="../media/image21.png"/><Relationship Id="rId33" Type="http://schemas.openxmlformats.org/officeDocument/2006/relationships/hyperlink" Target="http://images.google.co.uk/imgres?imgurl=http://www.siia.net/codies/2009/finalists/logos/TRLOGO.jpg&amp;imgrefurl=http://www.siia.net/codies/2009/finalist_detail.asp?id=56&amp;usg=__NymS_xDIZYPZFQiKuLhmaIrJOfM=&amp;h=225&amp;w=896&amp;sz=60&amp;hl=en&amp;start=2&amp;sig2=kIAI_vHIMwvws9S8-U9yHw&amp;tbnid=bAHlTzQuHomi6M:&amp;tbnh=37&amp;tbnw=146&amp;prev=/images?q=thomson+reuters&amp;gbv=2&amp;hl=en&amp;ei=23pcS5K9Cc2NjAfWvMmeAg" TargetMode="External"/><Relationship Id="rId34" Type="http://schemas.openxmlformats.org/officeDocument/2006/relationships/image" Target="../media/image22.jpeg"/><Relationship Id="rId35" Type="http://schemas.openxmlformats.org/officeDocument/2006/relationships/hyperlink" Target="http://images.google.co.uk/imgres?imgurl=http://accelrys.com/company/strategic-alliances/images/EBI-EMBL.jpg&amp;imgrefurl=http://accelrys.com/company/strategic-alliances/independent-software-vendors.html&amp;usg=__IlLqsLA1aydnOpr3zd17e4ikK9w=&amp;h=92&amp;w=175&amp;sz=9&amp;hl=en&amp;start=2&amp;sig2=c91NnVLe3Z0QC2VvGdTNqw&amp;tbnid=IwSsKiUaYcnK_M:&amp;tbnh=53&amp;tbnw=100&amp;prev=/images?q=ebi+embl&amp;gbv=2&amp;hl=en&amp;ei=jntcS5O6MI6UjAeslu2OAg" TargetMode="External"/><Relationship Id="rId36" Type="http://schemas.openxmlformats.org/officeDocument/2006/relationships/image" Target="../media/image23.jpeg"/><Relationship Id="rId37" Type="http://schemas.openxmlformats.org/officeDocument/2006/relationships/image" Target="../media/image24.png"/><Relationship Id="rId38" Type="http://schemas.openxmlformats.org/officeDocument/2006/relationships/hyperlink" Target="http://www.ariadnegenomics.com/" TargetMode="External"/><Relationship Id="rId39" Type="http://schemas.openxmlformats.org/officeDocument/2006/relationships/image" Target="../media/image25.png"/><Relationship Id="rId70" Type="http://schemas.openxmlformats.org/officeDocument/2006/relationships/hyperlink" Target="http://www.syapse.com/index.php" TargetMode="External"/><Relationship Id="rId71" Type="http://schemas.openxmlformats.org/officeDocument/2006/relationships/image" Target="../media/image51.png"/><Relationship Id="rId72" Type="http://schemas.openxmlformats.org/officeDocument/2006/relationships/hyperlink" Target="http://www.io-informatics.com/" TargetMode="External"/><Relationship Id="rId20" Type="http://schemas.openxmlformats.org/officeDocument/2006/relationships/hyperlink" Target="http://images.google.com/imgres?imgurl=http://www.aiche.org/uploadedImages/SBE/Corporate/RocheLogo.jpg&amp;imgrefurl=http://www.aiche.org/SBE/Corporate/Members.aspx&amp;usg=__kzEwqIU9FE62vJ7oJddyPt-8zC4=&amp;h=1272&amp;w=2378&amp;sz=75&amp;hl=en&amp;start=3&amp;um=1&amp;tbnid=GjMqu0MIqIHaAM:&amp;tbnh=80&amp;tbnw=150&amp;prev=/images?q=roche&amp;hl=en&amp;um=1" TargetMode="External"/><Relationship Id="rId21" Type="http://schemas.openxmlformats.org/officeDocument/2006/relationships/image" Target="../media/image14.jpeg"/><Relationship Id="rId22" Type="http://schemas.openxmlformats.org/officeDocument/2006/relationships/hyperlink" Target="http://images.google.com/imgres?imgurl=http://www.film-paa-net.dk/logo_LUNDBECK.gif&amp;imgrefurl=http://www.film-paa-net.dk/CLIENTS.htm&amp;usg=__3Er8v9_9dI7s8VCIvMBT0mtkkSM=&amp;h=141&amp;w=236&amp;sz=8&amp;hl=en&amp;start=2&amp;um=1&amp;tbnid=joZezF1RcEz8VM:&amp;tbnh=65&amp;tbnw=109&amp;prev=/images?q=lundbeck+pharma&amp;hl=en&amp;um=1" TargetMode="External"/><Relationship Id="rId23" Type="http://schemas.openxmlformats.org/officeDocument/2006/relationships/image" Target="../media/image15.jpeg"/><Relationship Id="rId24" Type="http://schemas.openxmlformats.org/officeDocument/2006/relationships/image" Target="../media/image16.png"/><Relationship Id="rId25" Type="http://schemas.openxmlformats.org/officeDocument/2006/relationships/image" Target="../media/image17.jpeg"/><Relationship Id="rId26" Type="http://schemas.openxmlformats.org/officeDocument/2006/relationships/image" Target="../media/image18.png"/><Relationship Id="rId27" Type="http://schemas.openxmlformats.org/officeDocument/2006/relationships/hyperlink" Target="http://www.merck.com/" TargetMode="External"/><Relationship Id="rId28" Type="http://schemas.openxmlformats.org/officeDocument/2006/relationships/image" Target="../media/image19.jpeg"/><Relationship Id="rId29" Type="http://schemas.openxmlformats.org/officeDocument/2006/relationships/hyperlink" Target="http://rsc.org/" TargetMode="External"/><Relationship Id="rId73" Type="http://schemas.openxmlformats.org/officeDocument/2006/relationships/image" Target="../media/image52.png"/><Relationship Id="rId60" Type="http://schemas.openxmlformats.org/officeDocument/2006/relationships/hyperlink" Target="http://www.google.co.uk/imgres?imgurl=http://www.sapmea.asn.au/conventions/esa2008/graphics/UCB.png&amp;imgrefurl=http://www.sapmea.asn.au/conventions/esa2008/meetings_eeg.html&amp;usg=__5LlkKtEsMVWs6pWjLRUxYGvLhiM=&amp;h=272&amp;w=281&amp;sz=3&amp;hl=en&amp;start=15&amp;sig2=IKvEikNjOXxdp85qiPHQCQ&amp;zoom=1&amp;um=1&amp;itbs=1&amp;tbnid=34bpyRju7M_DbM:&amp;tbnh=110&amp;tbnw=114&amp;prev=/images?q=ucb+pharma&amp;um=1&amp;hl=en&amp;sa=N&amp;tbs=isch:1&amp;ei=nvRQTYKtCc-xhAfw2KXWCA" TargetMode="External"/><Relationship Id="rId61" Type="http://schemas.openxmlformats.org/officeDocument/2006/relationships/image" Target="../media/image42.jpeg"/><Relationship Id="rId62" Type="http://schemas.openxmlformats.org/officeDocument/2006/relationships/image" Target="../media/image43.jpeg"/><Relationship Id="rId10" Type="http://schemas.openxmlformats.org/officeDocument/2006/relationships/image" Target="../media/image8.jpeg"/><Relationship Id="rId11" Type="http://schemas.openxmlformats.org/officeDocument/2006/relationships/hyperlink" Target="http://images.google.com/imgres?imgurl=http://ceoworld.biz/ceo/wp-content/uploads/2009/04/bristol_myers-squibb.gif&amp;imgrefurl=http://ceoworld.biz/ceo/2009/04/10/bristol-myers-eyes-major-acquisitions-says-james-cornelius/&amp;usg=__KxXCEMqcJI_GI3VuE39F_ZCNgKk=&amp;h=160&amp;w=198&amp;sz=8&amp;hl=en&amp;start=1&amp;um=1&amp;tbnid=vB-3DN8CVX-AbM:&amp;tbnh=84&amp;tbnw=104&amp;prev=/images?q=bristol+myers+squibb&amp;hl=en&amp;um=1" TargetMode="External"/><Relationship Id="rId12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20" Type="http://schemas.openxmlformats.org/officeDocument/2006/relationships/image" Target="../media/image56.jpeg"/><Relationship Id="rId21" Type="http://schemas.openxmlformats.org/officeDocument/2006/relationships/image" Target="../media/image57.png"/><Relationship Id="rId22" Type="http://schemas.openxmlformats.org/officeDocument/2006/relationships/image" Target="../media/image58.png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slideLayout" Target="../slideLayouts/slideLayout5.xml"/><Relationship Id="rId17" Type="http://schemas.openxmlformats.org/officeDocument/2006/relationships/image" Target="../media/image53.jpeg"/><Relationship Id="rId18" Type="http://schemas.openxmlformats.org/officeDocument/2006/relationships/image" Target="../media/image54.png"/><Relationship Id="rId19" Type="http://schemas.openxmlformats.org/officeDocument/2006/relationships/image" Target="../media/image55.jpeg"/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63.wmf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59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6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7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8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4" Type="http://schemas.openxmlformats.org/officeDocument/2006/relationships/image" Target="../media/image85.jpeg"/><Relationship Id="rId5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323528" y="2060848"/>
            <a:ext cx="8208912" cy="1524000"/>
          </a:xfrm>
        </p:spPr>
        <p:txBody>
          <a:bodyPr/>
          <a:lstStyle/>
          <a:p>
            <a:pPr algn="ctr"/>
            <a:r>
              <a:rPr lang="en-US" sz="3600" dirty="0" smtClean="0"/>
              <a:t>The Pistoia Alliance HELM Project</a:t>
            </a:r>
          </a:p>
          <a:p>
            <a:pPr algn="ctr"/>
            <a:r>
              <a:rPr lang="en-US" sz="2000" dirty="0" smtClean="0"/>
              <a:t>An </a:t>
            </a:r>
            <a:r>
              <a:rPr lang="en-US" sz="2000" dirty="0"/>
              <a:t>Open Standard for the Representation of Complex Biomolecules</a:t>
            </a:r>
            <a:endParaRPr lang="en-US" sz="2000" dirty="0" smtClean="0"/>
          </a:p>
        </p:txBody>
      </p:sp>
      <p:sp>
        <p:nvSpPr>
          <p:cNvPr id="4099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1331640" y="3573016"/>
            <a:ext cx="6172200" cy="1080120"/>
          </a:xfrm>
        </p:spPr>
        <p:txBody>
          <a:bodyPr/>
          <a:lstStyle/>
          <a:p>
            <a:pPr algn="ctr"/>
            <a:r>
              <a:rPr lang="en-GB" sz="2000" dirty="0" smtClean="0"/>
              <a:t>Sergio Rotstein, Ph.D.</a:t>
            </a:r>
          </a:p>
          <a:p>
            <a:pPr algn="ctr"/>
            <a:r>
              <a:rPr lang="en-GB" sz="2000" dirty="0" smtClean="0"/>
              <a:t>Director, Research Business Technology</a:t>
            </a:r>
          </a:p>
          <a:p>
            <a:pPr algn="ctr"/>
            <a:r>
              <a:rPr lang="en-GB" sz="2000" dirty="0" smtClean="0"/>
              <a:t>Pfizer, Inc.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9268" r="31098"/>
          <a:stretch/>
        </p:blipFill>
        <p:spPr>
          <a:xfrm>
            <a:off x="6017344" y="1700808"/>
            <a:ext cx="1146944" cy="1358688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1.85185E-6 C 0.00035 -0.01921 -0.00573 -0.07106 0.00694 -0.09629 C 0.01007 -0.11342 0.02049 -0.12731 0.03333 -0.13148 C 0.04583 -0.14282 0.05694 -0.13634 0.07361 -0.13518 C 0.08194 -0.12685 0.09184 -0.1199 0.09722 -0.1074 C 0.10399 -0.09143 0.10399 -0.07245 0.1125 -0.0574 C 0.12101 -0.01157 0.1151 0.00556 0.09444 0.03334 C 0.09184 0.03658 0.08837 0.04213 0.08472 0.04445 C 0.07986 0.04699 0.07448 0.04792 0.06944 0.05 C 0.05503 0.04815 0.04045 0.04792 0.02639 0.04445 C 0.01944 0.0426 0.00833 0.02662 0.00417 0.02037 C -0.01511 -0.00902 0.0151 0.03866 -0.00972 0.00556 C -0.01441 -0.00069 -0.01806 -0.0081 -0.02222 -0.01481 C -0.03073 -0.02847 -0.04219 -0.03796 -0.05 -0.05185 C -0.05139 -0.05439 -0.05243 -0.0574 -0.05417 -0.05926 C -0.07205 -0.07777 -0.05208 -0.04722 -0.07361 -0.07592 C -0.08524 -0.09143 -0.10695 -0.11273 -0.12222 -0.11666 C -0.14097 -0.12916 -0.16042 -0.12986 -0.18056 -0.13518 C -0.22413 -0.1331 -0.21406 -0.14791 -0.22083 -0.12037 C -0.2224 -0.10671 -0.22517 -0.09375 -0.22639 -0.07963 C -0.22587 -0.04884 -0.23333 -0.00185 -0.21389 0.02408 C -0.21198 0.03727 -0.21458 0.03797 -0.20417 0.04074 C -0.20104 0.04005 -0.19774 0.03982 -0.19445 0.03889 C -0.19167 0.03797 -0.18611 0.03519 -0.18611 0.03519 C -0.18021 0.03565 -0.17379 0.03403 -0.16806 0.03704 C -0.16476 0.03866 -0.15833 0.0507 -0.15556 0.05556 C -0.15469 0.05926 -0.15243 0.06274 -0.15278 0.06667 C -0.1533 0.07153 -0.1533 0.07662 -0.15417 0.08149 C -0.15695 0.09514 -0.16736 0.10718 -0.17361 0.11852 C -0.17674 0.13496 -0.17847 0.13658 -0.17361 0.15926 C -0.17188 0.16783 -0.15955 0.17014 -0.15417 0.17408 C -0.13229 0.19028 -0.11215 0.19213 -0.0875 0.1963 C -0.07413 0.2051 -0.06267 0.21829 -0.04861 0.22593 C -0.04636 0.22709 -0.0441 0.22801 -0.04167 0.22963 C -0.03802 0.23172 -0.03056 0.23704 -0.03056 0.23704 C 0.00035 0.23542 0.00451 0.23866 0.025 0.21852 C 0.03646 0.21899 0.04826 0.21783 0.05972 0.22037 C 0.06285 0.22107 0.06476 0.22686 0.06805 0.22778 C 0.07483 0.2294 0.07986 0.23449 0.08611 0.23704 C 0.09271 0.23959 0.10139 0.24074 0.10833 0.2426 C 0.1125 0.2463 0.11545 0.24815 0.12083 0.24815 " pathEditMode="relative" ptsTypes="ffffffffffffffffffffffffffffffffffffffffA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Pistoia Alliance…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55576" y="2405206"/>
            <a:ext cx="756084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1800"/>
              </a:spcAft>
            </a:pPr>
            <a:r>
              <a:rPr lang="en-GB" sz="2800" dirty="0" smtClean="0">
                <a:latin typeface="Trebuchet MS"/>
                <a:cs typeface="+mn-cs"/>
              </a:rPr>
              <a:t>A global</a:t>
            </a:r>
            <a:r>
              <a:rPr lang="en-GB" sz="2800" dirty="0">
                <a:latin typeface="Trebuchet MS"/>
                <a:cs typeface="+mn-cs"/>
              </a:rPr>
              <a:t>, not-for-profit, precompetitive alliance of life science companies, vendors, publishers, and academic groups that aims to lower barriers to innovation by improving the interoperability of R&amp;D business processes</a:t>
            </a:r>
          </a:p>
        </p:txBody>
      </p:sp>
    </p:spTree>
    <p:extLst>
      <p:ext uri="{BB962C8B-B14F-4D97-AF65-F5344CB8AC3E}">
        <p14:creationId xmlns:p14="http://schemas.microsoft.com/office/powerpoint/2010/main" val="250595094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Pistoia Alliance Membership</a:t>
            </a:r>
          </a:p>
        </p:txBody>
      </p:sp>
      <p:pic>
        <p:nvPicPr>
          <p:cNvPr id="17411" name="Picture 4" descr="Novartis">
            <a:hlinkClick r:id="rId3" tooltip="Novartis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8587" y="3200400"/>
            <a:ext cx="1928813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2" name="Picture 6" descr="Pfizer Pharmaceutical Company: The World's Largest Pharmaceutical Company">
            <a:hlinkClick r:id="rId5"/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705600" y="1195840"/>
            <a:ext cx="1223962" cy="820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3" name="Picture 8" descr="http://tbn2.google.com/images?q=tbn:98S20HdRuoiNzM:http://www.corporatecomplianceinsights.com/wp-content/uploads/2009/04/glaxosmithkline-glaxo-logo.jpg">
            <a:hlinkClick r:id="rId7"/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655093" y="1427163"/>
            <a:ext cx="1139825" cy="782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4" name="Picture 10" descr="http://tbn1.google.com/images?q=tbn:0VWpfaup7DE-sM:http://www.advantum.com/res/Logotypes/astrazeneca.jpg">
            <a:hlinkClick r:id="rId9"/>
          </p:cNvPr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31762" y="1712913"/>
            <a:ext cx="1620838" cy="42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5" name="Picture 14" descr="http://tbn3.google.com/images?q=tbn:vB-3DN8CVX-AbM:http://ceoworld.biz/ceo/wp-content/uploads/2009/04/bristol_myers-squibb.gif">
            <a:hlinkClick r:id="rId11"/>
          </p:cNvPr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724829" y="1206539"/>
            <a:ext cx="1149350" cy="92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6" name="Picture 16" descr="http://tbn3.google.com/images?q=tbn:9fRXQP-3si_uLM:http://www.sbrionline.info/Partner/accelrys_logo.jpg">
            <a:hlinkClick r:id="rId13"/>
          </p:cNvPr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992" y="2568983"/>
            <a:ext cx="1594297" cy="4790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7" name="Picture 18" descr="http://tbn3.google.com/images?q=tbn:ckYP7FHh9oTbzM:http://moltable.ncl.res.in/icci/chemaxon_logo_lg.gif">
            <a:hlinkClick r:id="rId15"/>
          </p:cNvPr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312697" y="2209800"/>
            <a:ext cx="865188" cy="76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8" name="Picture 20" descr="http://tbn3.google.com/images?q=tbn:W-77-d5NSTs2YM:http://www.bioxpr.be/software/img/bioxpr_mini.png">
            <a:hlinkClick r:id="rId17"/>
          </p:cNvPr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3764915" y="4458213"/>
            <a:ext cx="128587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9" name="Picture 21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457200" y="6119548"/>
            <a:ext cx="1551087" cy="357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20" name="Picture 23" descr="http://tbn2.google.com/images?q=tbn:GjMqu0MIqIHaAM:http://www.aiche.org/uploadedImages/SBE/Corporate/RocheLogo.jpg">
            <a:hlinkClick r:id="rId20"/>
          </p:cNvPr>
          <p:cNvPicPr>
            <a:picLocks noChangeAspect="1" noChangeArrowheads="1"/>
          </p:cNvPicPr>
          <p:nvPr/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7848600" y="1476375"/>
            <a:ext cx="1231900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22" name="Picture 27" descr="http://tbn2.google.com/images?q=tbn:joZezF1RcEz8VM:http://www.film-paa-net.dk/logo_LUNDBECK.gif">
            <a:hlinkClick r:id="rId22"/>
          </p:cNvPr>
          <p:cNvPicPr>
            <a:picLocks noChangeAspect="1" noChangeArrowheads="1"/>
          </p:cNvPicPr>
          <p:nvPr/>
        </p:nvPicPr>
        <p:blipFill>
          <a:blip r:embed="rId23" cstate="print"/>
          <a:srcRect/>
          <a:stretch>
            <a:fillRect/>
          </a:stretch>
        </p:blipFill>
        <p:spPr bwMode="auto">
          <a:xfrm>
            <a:off x="3851920" y="1246187"/>
            <a:ext cx="1152525" cy="687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23" name="Picture 28"/>
          <p:cNvPicPr>
            <a:picLocks noChangeAspect="1" noChangeArrowheads="1"/>
          </p:cNvPicPr>
          <p:nvPr/>
        </p:nvPicPr>
        <p:blipFill>
          <a:blip r:embed="rId24" cstate="print"/>
          <a:srcRect/>
          <a:stretch>
            <a:fillRect/>
          </a:stretch>
        </p:blipFill>
        <p:spPr bwMode="auto">
          <a:xfrm>
            <a:off x="2507041" y="5271746"/>
            <a:ext cx="192881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26" name="Picture 34" descr="http://www.knime.org/files/framework_logo_150.jpg"/>
          <p:cNvPicPr>
            <a:picLocks noChangeAspect="1" noChangeArrowheads="1"/>
          </p:cNvPicPr>
          <p:nvPr/>
        </p:nvPicPr>
        <p:blipFill>
          <a:blip r:embed="rId2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380312" y="5805264"/>
            <a:ext cx="1357313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27" name="Picture 35"/>
          <p:cNvPicPr>
            <a:picLocks noChangeAspect="1" noChangeArrowheads="1"/>
          </p:cNvPicPr>
          <p:nvPr/>
        </p:nvPicPr>
        <p:blipFill>
          <a:blip r:embed="rId26" cstate="print"/>
          <a:srcRect/>
          <a:stretch>
            <a:fillRect/>
          </a:stretch>
        </p:blipFill>
        <p:spPr bwMode="auto">
          <a:xfrm>
            <a:off x="6191804" y="5930762"/>
            <a:ext cx="900476" cy="37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29" name="Picture 2" descr="Merck &amp; Co., Inc.">
            <a:hlinkClick r:id="rId27" tooltip="Merck &amp; Co., Inc."/>
          </p:cNvPr>
          <p:cNvPicPr>
            <a:picLocks noChangeAspect="1" noChangeArrowheads="1"/>
          </p:cNvPicPr>
          <p:nvPr/>
        </p:nvPicPr>
        <p:blipFill>
          <a:blip r:embed="rId28" cstate="print"/>
          <a:srcRect/>
          <a:stretch>
            <a:fillRect/>
          </a:stretch>
        </p:blipFill>
        <p:spPr bwMode="auto">
          <a:xfrm>
            <a:off x="5143500" y="1647809"/>
            <a:ext cx="1572429" cy="485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30" name="Picture 4" descr="RSC - Advancing the Chemical Sciences">
            <a:hlinkClick r:id="rId29"/>
          </p:cNvPr>
          <p:cNvPicPr>
            <a:picLocks noChangeAspect="1" noChangeArrowheads="1"/>
          </p:cNvPicPr>
          <p:nvPr/>
        </p:nvPicPr>
        <p:blipFill>
          <a:blip r:embed="rId30" cstate="print"/>
          <a:srcRect/>
          <a:stretch>
            <a:fillRect/>
          </a:stretch>
        </p:blipFill>
        <p:spPr bwMode="auto">
          <a:xfrm>
            <a:off x="2282974" y="3886200"/>
            <a:ext cx="14097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31" name="Picture 6" descr="http://www.boehringer-ingelheim.co.uk/images/logo_BI.gif">
            <a:hlinkClick r:id="rId31"/>
          </p:cNvPr>
          <p:cNvPicPr>
            <a:picLocks noChangeAspect="1" noChangeArrowheads="1"/>
          </p:cNvPicPr>
          <p:nvPr/>
        </p:nvPicPr>
        <p:blipFill>
          <a:blip r:embed="rId32" cstate="print"/>
          <a:srcRect/>
          <a:stretch>
            <a:fillRect/>
          </a:stretch>
        </p:blipFill>
        <p:spPr bwMode="auto">
          <a:xfrm>
            <a:off x="2619375" y="3219450"/>
            <a:ext cx="1190625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33" name="Picture 10" descr="http://t1.gstatic.com/images?q=tbn:bAHlTzQuHomi6M:http://www.siia.net/codies/2009/finalists/logos/TRLOGO.jpg">
            <a:hlinkClick r:id="rId33"/>
          </p:cNvPr>
          <p:cNvPicPr>
            <a:picLocks noChangeAspect="1" noChangeArrowheads="1"/>
          </p:cNvPicPr>
          <p:nvPr/>
        </p:nvPicPr>
        <p:blipFill>
          <a:blip r:embed="rId34" cstate="print"/>
          <a:srcRect/>
          <a:stretch>
            <a:fillRect/>
          </a:stretch>
        </p:blipFill>
        <p:spPr bwMode="auto">
          <a:xfrm>
            <a:off x="6908240" y="2278411"/>
            <a:ext cx="2135992" cy="5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35" name="Picture 14" descr="http://t0.gstatic.com/images?q=tbn:IwSsKiUaYcnK_M:http://accelrys.com/company/strategic-alliances/images/EBI-EMBL.jpg">
            <a:hlinkClick r:id="rId35"/>
          </p:cNvPr>
          <p:cNvPicPr>
            <a:picLocks noChangeAspect="1" noChangeArrowheads="1"/>
          </p:cNvPicPr>
          <p:nvPr/>
        </p:nvPicPr>
        <p:blipFill>
          <a:blip r:embed="rId36" cstate="print"/>
          <a:srcRect/>
          <a:stretch>
            <a:fillRect/>
          </a:stretch>
        </p:blipFill>
        <p:spPr bwMode="auto">
          <a:xfrm>
            <a:off x="5429250" y="4465613"/>
            <a:ext cx="1309688" cy="693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36" name="Picture 16" descr="Infosys"/>
          <p:cNvPicPr>
            <a:picLocks noChangeAspect="1" noChangeArrowheads="1"/>
          </p:cNvPicPr>
          <p:nvPr/>
        </p:nvPicPr>
        <p:blipFill>
          <a:blip r:embed="rId37" cstate="print"/>
          <a:srcRect/>
          <a:stretch>
            <a:fillRect/>
          </a:stretch>
        </p:blipFill>
        <p:spPr bwMode="auto">
          <a:xfrm>
            <a:off x="5876925" y="3232853"/>
            <a:ext cx="1285875" cy="66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39" name="Picture 2" descr="http://www.ariadnegenomics.com/fileadmin/stuff/ariadne2/img/nav/logo.gif">
            <a:hlinkClick r:id="rId38"/>
          </p:cNvPr>
          <p:cNvPicPr>
            <a:picLocks noChangeAspect="1" noChangeArrowheads="1"/>
          </p:cNvPicPr>
          <p:nvPr/>
        </p:nvPicPr>
        <p:blipFill>
          <a:blip r:embed="rId39" cstate="print"/>
          <a:srcRect/>
          <a:stretch>
            <a:fillRect/>
          </a:stretch>
        </p:blipFill>
        <p:spPr bwMode="auto">
          <a:xfrm>
            <a:off x="4644008" y="5165576"/>
            <a:ext cx="141922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40" name="Picture 4" descr="http://www.oc.com/img/content/cognizant_notag_rgb.jpg"/>
          <p:cNvPicPr>
            <a:picLocks noChangeAspect="1" noChangeArrowheads="1"/>
          </p:cNvPicPr>
          <p:nvPr/>
        </p:nvPicPr>
        <p:blipFill>
          <a:blip r:embed="rId40" cstate="print"/>
          <a:srcRect/>
          <a:stretch>
            <a:fillRect/>
          </a:stretch>
        </p:blipFill>
        <p:spPr bwMode="auto">
          <a:xfrm>
            <a:off x="7020272" y="3573016"/>
            <a:ext cx="2135188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 descr="Bayer AG"/>
          <p:cNvPicPr>
            <a:picLocks noChangeAspect="1" noChangeArrowheads="1"/>
          </p:cNvPicPr>
          <p:nvPr/>
        </p:nvPicPr>
        <p:blipFill>
          <a:blip r:embed="rId41" cstate="print"/>
          <a:srcRect/>
          <a:stretch>
            <a:fillRect/>
          </a:stretch>
        </p:blipFill>
        <p:spPr bwMode="auto">
          <a:xfrm>
            <a:off x="4229099" y="3228090"/>
            <a:ext cx="1638301" cy="666751"/>
          </a:xfrm>
          <a:prstGeom prst="rect">
            <a:avLst/>
          </a:prstGeom>
          <a:noFill/>
        </p:spPr>
      </p:pic>
      <p:pic>
        <p:nvPicPr>
          <p:cNvPr id="2" name="Picture 2" descr="Merck Group Website">
            <a:hlinkClick r:id="rId42"/>
          </p:cNvPr>
          <p:cNvPicPr>
            <a:picLocks noChangeAspect="1" noChangeArrowheads="1"/>
          </p:cNvPicPr>
          <p:nvPr/>
        </p:nvPicPr>
        <p:blipFill>
          <a:blip r:embed="rId43" cstate="print"/>
          <a:srcRect/>
          <a:stretch>
            <a:fillRect/>
          </a:stretch>
        </p:blipFill>
        <p:spPr bwMode="auto">
          <a:xfrm>
            <a:off x="4352925" y="2278411"/>
            <a:ext cx="904875" cy="628651"/>
          </a:xfrm>
          <a:prstGeom prst="rect">
            <a:avLst/>
          </a:prstGeom>
          <a:noFill/>
        </p:spPr>
      </p:pic>
      <p:pic>
        <p:nvPicPr>
          <p:cNvPr id="3" name="Picture 2" descr="Eagle Genomics"/>
          <p:cNvPicPr>
            <a:picLocks noChangeAspect="1" noChangeArrowheads="1"/>
          </p:cNvPicPr>
          <p:nvPr/>
        </p:nvPicPr>
        <p:blipFill>
          <a:blip r:embed="rId4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6736"/>
          <a:stretch>
            <a:fillRect/>
          </a:stretch>
        </p:blipFill>
        <p:spPr bwMode="auto">
          <a:xfrm>
            <a:off x="8003191" y="4797152"/>
            <a:ext cx="1143000" cy="103852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" name="Picture 4" descr="http://www.bluereference.com/Logo.png"/>
          <p:cNvPicPr>
            <a:picLocks noChangeAspect="1" noChangeArrowheads="1"/>
          </p:cNvPicPr>
          <p:nvPr/>
        </p:nvPicPr>
        <p:blipFill>
          <a:blip r:embed="rId45" cstate="print"/>
          <a:srcRect r="56739" b="14507"/>
          <a:stretch>
            <a:fillRect/>
          </a:stretch>
        </p:blipFill>
        <p:spPr bwMode="auto">
          <a:xfrm>
            <a:off x="251520" y="6431740"/>
            <a:ext cx="2031454" cy="413516"/>
          </a:xfrm>
          <a:prstGeom prst="rect">
            <a:avLst/>
          </a:prstGeom>
          <a:noFill/>
        </p:spPr>
      </p:pic>
      <p:pic>
        <p:nvPicPr>
          <p:cNvPr id="42" name="Picture 2" descr="C:\Users\m504703\AppData\Local\Microsoft\Windows\Temporary Internet Files\Content.Outlook\69Y5SE8T\Small Edge 2009 (2).png"/>
          <p:cNvPicPr>
            <a:picLocks noChangeAspect="1" noChangeArrowheads="1"/>
          </p:cNvPicPr>
          <p:nvPr/>
        </p:nvPicPr>
        <p:blipFill>
          <a:blip r:embed="rId46" cstate="print"/>
          <a:srcRect/>
          <a:stretch>
            <a:fillRect/>
          </a:stretch>
        </p:blipFill>
        <p:spPr bwMode="auto">
          <a:xfrm>
            <a:off x="3275856" y="5793121"/>
            <a:ext cx="925034" cy="732223"/>
          </a:xfrm>
          <a:prstGeom prst="rect">
            <a:avLst/>
          </a:prstGeom>
          <a:noFill/>
        </p:spPr>
      </p:pic>
      <p:pic>
        <p:nvPicPr>
          <p:cNvPr id="2050" name="Picture 2" descr="CCDC">
            <a:hlinkClick r:id="rId47"/>
          </p:cNvPr>
          <p:cNvPicPr>
            <a:picLocks noChangeAspect="1" noChangeArrowheads="1"/>
          </p:cNvPicPr>
          <p:nvPr/>
        </p:nvPicPr>
        <p:blipFill>
          <a:blip r:embed="rId48" cstate="print"/>
          <a:srcRect/>
          <a:stretch>
            <a:fillRect/>
          </a:stretch>
        </p:blipFill>
        <p:spPr bwMode="auto">
          <a:xfrm>
            <a:off x="3986143" y="4007534"/>
            <a:ext cx="1140718" cy="456288"/>
          </a:xfrm>
          <a:prstGeom prst="rect">
            <a:avLst/>
          </a:prstGeom>
          <a:noFill/>
        </p:spPr>
      </p:pic>
      <p:pic>
        <p:nvPicPr>
          <p:cNvPr id="43" name="Picture 3" descr="C:\Users\m504703\AppData\Local\Microsoft\Windows\Temporary Internet Files\Content.Outlook\69Y5SE8T\GGA Logo - JPG File.JPG"/>
          <p:cNvPicPr>
            <a:picLocks noChangeAspect="1" noChangeArrowheads="1"/>
          </p:cNvPicPr>
          <p:nvPr/>
        </p:nvPicPr>
        <p:blipFill>
          <a:blip r:embed="rId49" cstate="print"/>
          <a:srcRect/>
          <a:stretch>
            <a:fillRect/>
          </a:stretch>
        </p:blipFill>
        <p:spPr bwMode="auto">
          <a:xfrm>
            <a:off x="381000" y="4663068"/>
            <a:ext cx="685800" cy="397363"/>
          </a:xfrm>
          <a:prstGeom prst="rect">
            <a:avLst/>
          </a:prstGeom>
          <a:noFill/>
        </p:spPr>
      </p:pic>
      <p:pic>
        <p:nvPicPr>
          <p:cNvPr id="3076" name="Picture 4" descr="Answer">
            <a:hlinkClick r:id="rId50"/>
          </p:cNvPr>
          <p:cNvPicPr>
            <a:picLocks noChangeAspect="1" noChangeArrowheads="1"/>
          </p:cNvPicPr>
          <p:nvPr/>
        </p:nvPicPr>
        <p:blipFill>
          <a:blip r:embed="rId51" cstate="print"/>
          <a:srcRect/>
          <a:stretch>
            <a:fillRect/>
          </a:stretch>
        </p:blipFill>
        <p:spPr bwMode="auto">
          <a:xfrm>
            <a:off x="1066800" y="5597624"/>
            <a:ext cx="1094960" cy="293928"/>
          </a:xfrm>
          <a:prstGeom prst="rect">
            <a:avLst/>
          </a:prstGeom>
          <a:noFill/>
        </p:spPr>
      </p:pic>
      <p:pic>
        <p:nvPicPr>
          <p:cNvPr id="5" name="Picture 2" descr="Ipsen">
            <a:hlinkClick r:id="rId52" tooltip="Ipsen"/>
          </p:cNvPr>
          <p:cNvPicPr>
            <a:picLocks noChangeAspect="1" noChangeArrowheads="1"/>
          </p:cNvPicPr>
          <p:nvPr/>
        </p:nvPicPr>
        <p:blipFill>
          <a:blip r:embed="rId53" cstate="print"/>
          <a:srcRect/>
          <a:stretch>
            <a:fillRect/>
          </a:stretch>
        </p:blipFill>
        <p:spPr bwMode="auto">
          <a:xfrm>
            <a:off x="5498834" y="3937947"/>
            <a:ext cx="1276350" cy="352426"/>
          </a:xfrm>
          <a:prstGeom prst="rect">
            <a:avLst/>
          </a:prstGeom>
          <a:noFill/>
        </p:spPr>
      </p:pic>
      <p:pic>
        <p:nvPicPr>
          <p:cNvPr id="1026" name="Picture 2" descr="C:\Users\m504703\AppData\Local\Microsoft\Windows\Temporary Internet Files\Content.Outlook\V9AEJDW3\SP newLogo.png"/>
          <p:cNvPicPr>
            <a:picLocks noChangeAspect="1" noChangeArrowheads="1"/>
          </p:cNvPicPr>
          <p:nvPr/>
        </p:nvPicPr>
        <p:blipFill>
          <a:blip r:embed="rId54" cstate="print"/>
          <a:srcRect/>
          <a:stretch>
            <a:fillRect/>
          </a:stretch>
        </p:blipFill>
        <p:spPr bwMode="auto">
          <a:xfrm>
            <a:off x="1043608" y="4949738"/>
            <a:ext cx="1350657" cy="612862"/>
          </a:xfrm>
          <a:prstGeom prst="rect">
            <a:avLst/>
          </a:prstGeom>
          <a:noFill/>
        </p:spPr>
      </p:pic>
      <p:pic>
        <p:nvPicPr>
          <p:cNvPr id="44" name="Picture 43" descr="omixon-JPG.jpg"/>
          <p:cNvPicPr>
            <a:picLocks noChangeAspect="1"/>
          </p:cNvPicPr>
          <p:nvPr/>
        </p:nvPicPr>
        <p:blipFill>
          <a:blip r:embed="rId55" cstate="print"/>
          <a:stretch>
            <a:fillRect/>
          </a:stretch>
        </p:blipFill>
        <p:spPr>
          <a:xfrm>
            <a:off x="6300192" y="6389712"/>
            <a:ext cx="1226854" cy="467116"/>
          </a:xfrm>
          <a:prstGeom prst="rect">
            <a:avLst/>
          </a:prstGeom>
        </p:spPr>
      </p:pic>
      <p:pic>
        <p:nvPicPr>
          <p:cNvPr id="45" name="Picture 4" descr="image001"/>
          <p:cNvPicPr>
            <a:picLocks noChangeAspect="1" noChangeArrowheads="1"/>
          </p:cNvPicPr>
          <p:nvPr/>
        </p:nvPicPr>
        <p:blipFill>
          <a:blip r:embed="rId56" cstate="print"/>
          <a:srcRect/>
          <a:stretch>
            <a:fillRect/>
          </a:stretch>
        </p:blipFill>
        <p:spPr bwMode="auto">
          <a:xfrm>
            <a:off x="7996708" y="4149080"/>
            <a:ext cx="990450" cy="522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" descr="http://www.haxel.com/icic/2011/exhibitors/infochem/images/infochem300dpi_01trans.jpg?isImage=1"/>
          <p:cNvPicPr>
            <a:picLocks noChangeAspect="1" noChangeArrowheads="1"/>
          </p:cNvPicPr>
          <p:nvPr/>
        </p:nvPicPr>
        <p:blipFill>
          <a:blip r:embed="rId57" cstate="print"/>
          <a:srcRect/>
          <a:stretch>
            <a:fillRect/>
          </a:stretch>
        </p:blipFill>
        <p:spPr bwMode="auto">
          <a:xfrm>
            <a:off x="6459488" y="5115262"/>
            <a:ext cx="1008112" cy="678094"/>
          </a:xfrm>
          <a:prstGeom prst="rect">
            <a:avLst/>
          </a:prstGeom>
          <a:noFill/>
        </p:spPr>
      </p:pic>
      <p:pic>
        <p:nvPicPr>
          <p:cNvPr id="48" name="Picture 8" descr="http://www.chemweb.com/press-releases/nottingham-faculty-and-students-gain-a-new-nmr-tool-with-acd-labs-software/image_mini"/>
          <p:cNvPicPr>
            <a:picLocks noChangeAspect="1" noChangeArrowheads="1"/>
          </p:cNvPicPr>
          <p:nvPr/>
        </p:nvPicPr>
        <p:blipFill>
          <a:blip r:embed="rId58" cstate="print"/>
          <a:srcRect/>
          <a:stretch>
            <a:fillRect/>
          </a:stretch>
        </p:blipFill>
        <p:spPr bwMode="auto">
          <a:xfrm>
            <a:off x="0" y="5105400"/>
            <a:ext cx="842962" cy="952499"/>
          </a:xfrm>
          <a:prstGeom prst="rect">
            <a:avLst/>
          </a:prstGeom>
          <a:noFill/>
        </p:spPr>
      </p:pic>
      <p:pic>
        <p:nvPicPr>
          <p:cNvPr id="50" name="Picture 6" descr="http://www.schrodinger.com/img/logo.gif"/>
          <p:cNvPicPr>
            <a:picLocks noChangeAspect="1" noChangeArrowheads="1"/>
          </p:cNvPicPr>
          <p:nvPr/>
        </p:nvPicPr>
        <p:blipFill>
          <a:blip r:embed="rId59" cstate="print"/>
          <a:srcRect/>
          <a:stretch>
            <a:fillRect/>
          </a:stretch>
        </p:blipFill>
        <p:spPr bwMode="auto">
          <a:xfrm>
            <a:off x="2987824" y="4949552"/>
            <a:ext cx="1619250" cy="238125"/>
          </a:xfrm>
          <a:prstGeom prst="rect">
            <a:avLst/>
          </a:prstGeom>
          <a:noFill/>
        </p:spPr>
      </p:pic>
      <p:pic>
        <p:nvPicPr>
          <p:cNvPr id="51" name="Picture 2" descr="http://t1.gstatic.com/images?q=tbn:ANd9GcQxf6jJXQSgrmgtjsZBhJ1QfvbBqrh_lMqRvGbVOvQBFkDxE4y4D_075_M">
            <a:hlinkClick r:id="rId60"/>
          </p:cNvPr>
          <p:cNvPicPr>
            <a:picLocks noChangeAspect="1" noChangeArrowheads="1"/>
          </p:cNvPicPr>
          <p:nvPr/>
        </p:nvPicPr>
        <p:blipFill>
          <a:blip r:embed="rId61" cstate="print"/>
          <a:srcRect/>
          <a:stretch>
            <a:fillRect/>
          </a:stretch>
        </p:blipFill>
        <p:spPr bwMode="auto">
          <a:xfrm>
            <a:off x="76200" y="3733800"/>
            <a:ext cx="827584" cy="798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http://lifesciences.alto-marketing.com/wp-content/uploads/2010/10/titian-logo.jpg"/>
          <p:cNvPicPr>
            <a:picLocks noChangeAspect="1" noChangeArrowheads="1"/>
          </p:cNvPicPr>
          <p:nvPr/>
        </p:nvPicPr>
        <p:blipFill>
          <a:blip r:embed="rId62" cstate="print"/>
          <a:srcRect/>
          <a:stretch>
            <a:fillRect/>
          </a:stretch>
        </p:blipFill>
        <p:spPr bwMode="auto">
          <a:xfrm>
            <a:off x="2507041" y="4162425"/>
            <a:ext cx="1238250" cy="790575"/>
          </a:xfrm>
          <a:prstGeom prst="rect">
            <a:avLst/>
          </a:prstGeom>
          <a:noFill/>
        </p:spPr>
      </p:pic>
      <p:pic>
        <p:nvPicPr>
          <p:cNvPr id="7" name="Picture 4" descr="Binocular Vision"/>
          <p:cNvPicPr>
            <a:picLocks noChangeAspect="1" noChangeArrowheads="1"/>
          </p:cNvPicPr>
          <p:nvPr/>
        </p:nvPicPr>
        <p:blipFill>
          <a:blip r:embed="rId63" cstate="print"/>
          <a:srcRect/>
          <a:stretch>
            <a:fillRect/>
          </a:stretch>
        </p:blipFill>
        <p:spPr bwMode="auto">
          <a:xfrm>
            <a:off x="4191000" y="5638800"/>
            <a:ext cx="1905000" cy="238125"/>
          </a:xfrm>
          <a:prstGeom prst="rect">
            <a:avLst/>
          </a:prstGeom>
          <a:noFill/>
        </p:spPr>
      </p:pic>
      <p:sp>
        <p:nvSpPr>
          <p:cNvPr id="54" name="Rectangle 35"/>
          <p:cNvSpPr>
            <a:spLocks noChangeArrowheads="1"/>
          </p:cNvSpPr>
          <p:nvPr/>
        </p:nvSpPr>
        <p:spPr bwMode="auto">
          <a:xfrm>
            <a:off x="7772400" y="144000"/>
            <a:ext cx="1181123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mtClean="0"/>
              <a:t>Q1 2014</a:t>
            </a:r>
          </a:p>
        </p:txBody>
      </p:sp>
      <p:pic>
        <p:nvPicPr>
          <p:cNvPr id="94210" name="Picture 2" descr="C:\Users\m504703\AppData\Local\Microsoft\Windows\Temporary Internet Files\Content.Outlook\L5PCEG9A\Fulcrum.png"/>
          <p:cNvPicPr>
            <a:picLocks noChangeAspect="1" noChangeArrowheads="1"/>
          </p:cNvPicPr>
          <p:nvPr/>
        </p:nvPicPr>
        <p:blipFill>
          <a:blip r:embed="rId64" cstate="print"/>
          <a:srcRect/>
          <a:stretch>
            <a:fillRect/>
          </a:stretch>
        </p:blipFill>
        <p:spPr bwMode="auto">
          <a:xfrm>
            <a:off x="4283968" y="6237312"/>
            <a:ext cx="876299" cy="486832"/>
          </a:xfrm>
          <a:prstGeom prst="rect">
            <a:avLst/>
          </a:prstGeom>
          <a:noFill/>
        </p:spPr>
      </p:pic>
      <p:sp>
        <p:nvSpPr>
          <p:cNvPr id="9" name="AutoShape 2" descr="data:image/jpg;base64,/9j/4AAQSkZJRgABAQAAAQABAAD/2wCEAAkGBhAQEBQQEhMQFBEWFhAXERgYFRYcFRIaFRAXFhoVGRQjGyYeGRkjGxoaKzIsLzMuMSwtFh4xNTwsODIsLSkBCQoKDQwNGA8PGjUkHh81Ni4pNTAyKS01LCouLDUuNSwsLCovLC4sLC81NDUqLykvLjQsLDQvLCkvNCkvKiwvNf/AABEIAEAAzAMBIgACEQEDEQH/xAAcAAEAAgIDAQAAAAAAAAAAAAAABgcEBQECAwj/xAA8EAACAgECBAIHBAYLAAAAAAABAgADEQQSBRMhMQYiB0FRYXGBkSMyUpIUQnKhscIVJDNTVIKywdHS8P/EABkBAQADAQEAAAAAAAAAAAAAAAACAwQBBf/EACQRAQACAQIFBQEAAAAAAAAAAAACAwESMQQREyEyBSJBQlEj/9oADAMBAAIRAxEAPwC8YiICIiAiIgIiICRXxR6RNPw+4UWV3OxRXygTADMwA6sDnyn6iSqUN6UtTv4ncPUgqUfKoE/vJmzg6Y3WaZbcmXirZVQ5x3Wr4U8c08Raxaq7k5YUsXCYO4kADDHr0m31nFq6WUWZRW6K5xs3Hshb9Un1Z6Ht3kA9CemxTqLPxWVqP8qEn/UJYPFeHJqKLKXAKujKR8R0PxB/hI3whXdmONsJUznOrEs7srM5lIeFPSTqNEeRdm6hTt7/AGleDjyt6x7j8sS4OD8bo1dYtodXT147qfYy9wZy/hp0577fpTxELcdt2fERMzQREQEREBERAREQEREBERAREQEREBERA4M+cfF+p5mv1L+o3WY+AbA/hPoyxsAn2An6T5h1V2+x3/EzN+Zif9563pmPdLLy/Uc+2OF1+iLS7OHBvx23N9CK/wCSb3xRxk6ehgitZqHDLRWoyzsRjOPwr3J7CY/gDTcvhmlHtrDfnYv/ADTfCsZ3YGcYzjrj2Z9kw2zxm6Us/rbVHOKsRx+Km8Oeh+x8Wax9g78tMFz+0/Zfln5SzOD8C0+kTZRWlY6ZwPM3vZu5M2ERdxFlvlnsVUV1eOCIiZ15ERAREQEREBERAREQEREBERATgnHWczpd91vgf4QIqPSxwb/GV/ls/wCskuh19d9a3VOr1uAUZTkMD7JSvo+4LxPVcJarTtoBp7Dcjc1HNo3KA2CFI+HsnXxJw3UcOfQcMa7OlFVjsTc+npuue61nVrR1AXKYHv8AfAvG2sMCp7EEH5jEhXGfBXBNHQ2ovq2VJt3NutONzBR0Bz3IldLxPUpouKImozp0TTlBXqLLeQ51VQ2peQDgjd2Pq+c3HiPw5yuA26yzU6q62+nR8zmWZrXN1bDYn6uO0nGycPHPJGVcZeWOa2+GrWKaxV/ZbE5ff7u0bf3YmNwbxHptZzOQ+/lOUs6EbWHq6jrKp8Ja67+ktPXxVrq91FB4ei2FdMfKNoZQfMx9+fN0P6s0uv4rqP0LVkX3hhxWtFbmvlQUu6A7ug7dO3SQS5PoImaw+J9J/er9G/4kBThr8P47o6K9Tq7K9RTqWvFtrOHZKbDuweg6qp92OnTpNvwbWbEYfpNVXnbytXuJ6Drn/wB2gS+ri1LMiq2S6lk6HqBnr+6ZeZFrrd2ppYMG/q9nmAwGOxuoHq6zXGt10VepFt3M34HnOAMt6vlAnWZzInYr0apVre1t9NjEMxbcwrcjp8QJqk1DGvmcwC3P3je28HPbleyBYGZgcP47TfbdTWSXpYLblSACcjoT0PVSPlNLXp31Gqat7LEHJqZwrEZO1cj3DJP0ki0mgrqztVQxC72wNz4GMswHmMDIiIgIiICIiAiIgIiICIiB506dEG1FVR7AAB9BOmr0VVy7LUSxPwuoZfoRie8QMarhtKV8pa61r/AEUJ+XGJ6vp0K7CqlOnlIG3p7u09IgeNmjrbG5EO37uVB2/Dp0nU6Cogjl14J3Hyr1P4u3eZEQPN6ELByqlhnBwMjPfB7iR6nj67na2miuhX1CF+Zls02BM8vlAkE57E42mSQiR5fA9GwKWbfvtd7AtYssFosDIxCYK4sfHrGektr0d9SuevtpZrcc0gFrK6NyFY2BRkoAuSOg74PaYfDfEtFrW1sK0VNrIpzuI5VbsWQqNpBsUY9p9czW8P18i6gM4FxtLsMbhvGOnTHlUAD3KO8wtR4Kpfd9pblyzN9w7mOoS3LAqQ2OWq4PTaMH2yUel8o56nw68d8UJQtNqLVYtq2FGazl9FqNg2/ZsSW7AdDlhPTVcf0dRDMv2xNIKivNim09ASAeowc/s+3GfXiXhlbym620KtVlWAtWGWwAOTlD1IUdu086PCFVZG2y0AXc4Dyd8ONpbbuYec9ySMDBncdLTjnu5/Xnlzp/FuiKi1nWsNzMFwVJVGI3ZI7EDI9oz7DjcabULYgdTlWAKnB6g+vrNDR4IpTpzLWGyitgRX5lqIIBOzOCBggdD379ZI5Czp/ROGv7EREqWEREBERA/9k="/>
          <p:cNvSpPr>
            <a:spLocks noChangeAspect="1" noChangeArrowheads="1"/>
          </p:cNvSpPr>
          <p:nvPr/>
        </p:nvSpPr>
        <p:spPr bwMode="auto">
          <a:xfrm>
            <a:off x="63500" y="-233363"/>
            <a:ext cx="1495425" cy="46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" name="AutoShape 4" descr="data:image/jpg;base64,/9j/4AAQSkZJRgABAQAAAQABAAD/2wCEAAkGBhAQEBQQEhMQFBEWFhAXERgYFRYcFRIaFRAXFhoVGRQjGyYeGRkjGxoaKzIsLzMuMSwtFh4xNTwsODIsLSkBCQoKDQwNGA8PGjUkHh81Ni4pNTAyKS01LCouLDUuNSwsLCovLC4sLC81NDUqLykvLjQsLDQvLCkvNCkvKiwvNf/AABEIAEAAzAMBIgACEQEDEQH/xAAcAAEAAgIDAQAAAAAAAAAAAAAABgcEBQECAwj/xAA8EAACAgECBAIHBAYLAAAAAAABAgADEQQSBRMhMQYiB0FRYXGBkSMyUpIUQnKhscIVJDNTVIKywdHS8P/EABkBAQADAQEAAAAAAAAAAAAAAAACAwQBBf/EACQRAQACAQIFBQEAAAAAAAAAAAACAwESMQQREyEyBSJBQlEj/9oADAMBAAIRAxEAPwC8YiICIiAiIgIiICRXxR6RNPw+4UWV3OxRXygTADMwA6sDnyn6iSqUN6UtTv4ncPUgqUfKoE/vJmzg6Y3WaZbcmXirZVQ5x3Wr4U8c08Raxaq7k5YUsXCYO4kADDHr0m31nFq6WUWZRW6K5xs3Hshb9Un1Z6Ht3kA9CemxTqLPxWVqP8qEn/UJYPFeHJqKLKXAKujKR8R0PxB/hI3whXdmONsJUznOrEs7srM5lIeFPSTqNEeRdm6hTt7/AGleDjyt6x7j8sS4OD8bo1dYtodXT147qfYy9wZy/hp0577fpTxELcdt2fERMzQREQEREBERAREQEREBERAREQEREBERA4M+cfF+p5mv1L+o3WY+AbA/hPoyxsAn2An6T5h1V2+x3/EzN+Zif9563pmPdLLy/Uc+2OF1+iLS7OHBvx23N9CK/wCSb3xRxk6ehgitZqHDLRWoyzsRjOPwr3J7CY/gDTcvhmlHtrDfnYv/ADTfCsZ3YGcYzjrj2Z9kw2zxm6Us/rbVHOKsRx+Km8Oeh+x8Wax9g78tMFz+0/Zfln5SzOD8C0+kTZRWlY6ZwPM3vZu5M2ERdxFlvlnsVUV1eOCIiZ15ERAREQEREBERAREQEREBERATgnHWczpd91vgf4QIqPSxwb/GV/ls/wCskuh19d9a3VOr1uAUZTkMD7JSvo+4LxPVcJarTtoBp7Dcjc1HNo3KA2CFI+HsnXxJw3UcOfQcMa7OlFVjsTc+npuue61nVrR1AXKYHv8AfAvG2sMCp7EEH5jEhXGfBXBNHQ2ovq2VJt3NutONzBR0Bz3IldLxPUpouKImozp0TTlBXqLLeQ51VQ2peQDgjd2Pq+c3HiPw5yuA26yzU6q62+nR8zmWZrXN1bDYn6uO0nGycPHPJGVcZeWOa2+GrWKaxV/ZbE5ff7u0bf3YmNwbxHptZzOQ+/lOUs6EbWHq6jrKp8Ja67+ktPXxVrq91FB4ei2FdMfKNoZQfMx9+fN0P6s0uv4rqP0LVkX3hhxWtFbmvlQUu6A7ug7dO3SQS5PoImaw+J9J/er9G/4kBThr8P47o6K9Tq7K9RTqWvFtrOHZKbDuweg6qp92OnTpNvwbWbEYfpNVXnbytXuJ6Drn/wB2gS+ri1LMiq2S6lk6HqBnr+6ZeZFrrd2ppYMG/q9nmAwGOxuoHq6zXGt10VepFt3M34HnOAMt6vlAnWZzInYr0apVre1t9NjEMxbcwrcjp8QJqk1DGvmcwC3P3je28HPbleyBYGZgcP47TfbdTWSXpYLblSACcjoT0PVSPlNLXp31Gqat7LEHJqZwrEZO1cj3DJP0ki0mgrqztVQxC72wNz4GMswHmMDIiIgIiICIiAiIgIiICIiB506dEG1FVR7AAB9BOmr0VVy7LUSxPwuoZfoRie8QMarhtKV8pa61r/AEUJ+XGJ6vp0K7CqlOnlIG3p7u09IgeNmjrbG5EO37uVB2/Dp0nU6Cogjl14J3Hyr1P4u3eZEQPN6ELByqlhnBwMjPfB7iR6nj67na2miuhX1CF+Zls02BM8vlAkE57E42mSQiR5fA9GwKWbfvtd7AtYssFosDIxCYK4sfHrGektr0d9SuevtpZrcc0gFrK6NyFY2BRkoAuSOg74PaYfDfEtFrW1sK0VNrIpzuI5VbsWQqNpBsUY9p9czW8P18i6gM4FxtLsMbhvGOnTHlUAD3KO8wtR4Kpfd9pblyzN9w7mOoS3LAqQ2OWq4PTaMH2yUel8o56nw68d8UJQtNqLVYtq2FGazl9FqNg2/ZsSW7AdDlhPTVcf0dRDMv2xNIKivNim09ASAeowc/s+3GfXiXhlbym620KtVlWAtWGWwAOTlD1IUdu086PCFVZG2y0AXc4Dyd8ONpbbuYec9ySMDBncdLTjnu5/Xnlzp/FuiKi1nWsNzMFwVJVGI3ZI7EDI9oz7DjcabULYgdTlWAKnB6g+vrNDR4IpTpzLWGyitgRX5lqIIBOzOCBggdD379ZI5Czp/ROGv7EREqWEREBERA/9k="/>
          <p:cNvSpPr>
            <a:spLocks noChangeAspect="1" noChangeArrowheads="1"/>
          </p:cNvSpPr>
          <p:nvPr/>
        </p:nvSpPr>
        <p:spPr bwMode="auto">
          <a:xfrm>
            <a:off x="215900" y="-80963"/>
            <a:ext cx="1495425" cy="46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6" descr="data:image/jpg;base64,/9j/4AAQSkZJRgABAQAAAQABAAD/2wCEAAkGBhAQEBQQEhMQFBEWFhAXERgYFRYcFRIaFRAXFhoVGRQjGyYeGRkjGxoaKzIsLzMuMSwtFh4xNTwsODIsLSkBCQoKDQwNGA8PGjUkHh81Ni4pNTAyKS01LCouLDUuNSwsLCovLC4sLC81NDUqLykvLjQsLDQvLCkvNCkvKiwvNf/AABEIAEAAzAMBIgACEQEDEQH/xAAcAAEAAgIDAQAAAAAAAAAAAAAABgcEBQECAwj/xAA8EAACAgECBAIHBAYLAAAAAAABAgADEQQSBRMhMQYiB0FRYXGBkSMyUpIUQnKhscIVJDNTVIKywdHS8P/EABkBAQADAQEAAAAAAAAAAAAAAAACAwQBBf/EACQRAQACAQIFBQEAAAAAAAAAAAACAwESMQQREyEyBSJBQlEj/9oADAMBAAIRAxEAPwC8YiICIiAiIgIiICRXxR6RNPw+4UWV3OxRXygTADMwA6sDnyn6iSqUN6UtTv4ncPUgqUfKoE/vJmzg6Y3WaZbcmXirZVQ5x3Wr4U8c08Raxaq7k5YUsXCYO4kADDHr0m31nFq6WUWZRW6K5xs3Hshb9Un1Z6Ht3kA9CemxTqLPxWVqP8qEn/UJYPFeHJqKLKXAKujKR8R0PxB/hI3whXdmONsJUznOrEs7srM5lIeFPSTqNEeRdm6hTt7/AGleDjyt6x7j8sS4OD8bo1dYtodXT147qfYy9wZy/hp0577fpTxELcdt2fERMzQREQEREBERAREQEREBERAREQEREBERA4M+cfF+p5mv1L+o3WY+AbA/hPoyxsAn2An6T5h1V2+x3/EzN+Zif9563pmPdLLy/Uc+2OF1+iLS7OHBvx23N9CK/wCSb3xRxk6ehgitZqHDLRWoyzsRjOPwr3J7CY/gDTcvhmlHtrDfnYv/ADTfCsZ3YGcYzjrj2Z9kw2zxm6Us/rbVHOKsRx+Km8Oeh+x8Wax9g78tMFz+0/Zfln5SzOD8C0+kTZRWlY6ZwPM3vZu5M2ERdxFlvlnsVUV1eOCIiZ15ERAREQEREBERAREQEREBERATgnHWczpd91vgf4QIqPSxwb/GV/ls/wCskuh19d9a3VOr1uAUZTkMD7JSvo+4LxPVcJarTtoBp7Dcjc1HNo3KA2CFI+HsnXxJw3UcOfQcMa7OlFVjsTc+npuue61nVrR1AXKYHv8AfAvG2sMCp7EEH5jEhXGfBXBNHQ2ovq2VJt3NutONzBR0Bz3IldLxPUpouKImozp0TTlBXqLLeQ51VQ2peQDgjd2Pq+c3HiPw5yuA26yzU6q62+nR8zmWZrXN1bDYn6uO0nGycPHPJGVcZeWOa2+GrWKaxV/ZbE5ff7u0bf3YmNwbxHptZzOQ+/lOUs6EbWHq6jrKp8Ja67+ktPXxVrq91FB4ei2FdMfKNoZQfMx9+fN0P6s0uv4rqP0LVkX3hhxWtFbmvlQUu6A7ug7dO3SQS5PoImaw+J9J/er9G/4kBThr8P47o6K9Tq7K9RTqWvFtrOHZKbDuweg6qp92OnTpNvwbWbEYfpNVXnbytXuJ6Drn/wB2gS+ri1LMiq2S6lk6HqBnr+6ZeZFrrd2ppYMG/q9nmAwGOxuoHq6zXGt10VepFt3M34HnOAMt6vlAnWZzInYr0apVre1t9NjEMxbcwrcjp8QJqk1DGvmcwC3P3je28HPbleyBYGZgcP47TfbdTWSXpYLblSACcjoT0PVSPlNLXp31Gqat7LEHJqZwrEZO1cj3DJP0ki0mgrqztVQxC72wNz4GMswHmMDIiIgIiICIiAiIgIiICIiB506dEG1FVR7AAB9BOmr0VVy7LUSxPwuoZfoRie8QMarhtKV8pa61r/AEUJ+XGJ6vp0K7CqlOnlIG3p7u09IgeNmjrbG5EO37uVB2/Dp0nU6Cogjl14J3Hyr1P4u3eZEQPN6ELByqlhnBwMjPfB7iR6nj67na2miuhX1CF+Zls02BM8vlAkE57E42mSQiR5fA9GwKWbfvtd7AtYssFosDIxCYK4sfHrGektr0d9SuevtpZrcc0gFrK6NyFY2BRkoAuSOg74PaYfDfEtFrW1sK0VNrIpzuI5VbsWQqNpBsUY9p9czW8P18i6gM4FxtLsMbhvGOnTHlUAD3KO8wtR4Kpfd9pblyzN9w7mOoS3LAqQ2OWq4PTaMH2yUel8o56nw68d8UJQtNqLVYtq2FGazl9FqNg2/ZsSW7AdDlhPTVcf0dRDMv2xNIKivNim09ASAeowc/s+3GfXiXhlbym620KtVlWAtWGWwAOTlD1IUdu086PCFVZG2y0AXc4Dyd8ONpbbuYec9ySMDBncdLTjnu5/Xnlzp/FuiKi1nWsNzMFwVJVGI3ZI7EDI9oz7DjcabULYgdTlWAKnB6g+vrNDR4IpTpzLWGyitgRX5lqIIBOzOCBggdD379ZI5Czp/ROGv7EREqWEREBERA/9k="/>
          <p:cNvSpPr>
            <a:spLocks noChangeAspect="1" noChangeArrowheads="1"/>
          </p:cNvSpPr>
          <p:nvPr/>
        </p:nvSpPr>
        <p:spPr bwMode="auto">
          <a:xfrm>
            <a:off x="368300" y="71437"/>
            <a:ext cx="1495425" cy="46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32" name="Picture 8" descr="http://www.bath.ac.uk/mas/images/PerkinElmerLogo.jpg"/>
          <p:cNvPicPr>
            <a:picLocks noChangeAspect="1" noChangeArrowheads="1"/>
          </p:cNvPicPr>
          <p:nvPr/>
        </p:nvPicPr>
        <p:blipFill>
          <a:blip r:embed="rId6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5943600"/>
            <a:ext cx="1215480" cy="541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63500" y="1219200"/>
            <a:ext cx="7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u="sng" dirty="0" smtClean="0"/>
              <a:t>Board</a:t>
            </a:r>
            <a:endParaRPr lang="en-GB" u="sng" dirty="0"/>
          </a:p>
        </p:txBody>
      </p:sp>
      <p:sp>
        <p:nvSpPr>
          <p:cNvPr id="13" name="Rectangle 12"/>
          <p:cNvSpPr/>
          <p:nvPr/>
        </p:nvSpPr>
        <p:spPr>
          <a:xfrm>
            <a:off x="63500" y="1219200"/>
            <a:ext cx="9018263" cy="18404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012" y="3716772"/>
            <a:ext cx="1027622" cy="81557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368" y="3212976"/>
            <a:ext cx="838200" cy="51339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362200"/>
            <a:ext cx="1454438" cy="37492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8775" y="2337107"/>
            <a:ext cx="1266825" cy="513735"/>
          </a:xfrm>
          <a:prstGeom prst="rect">
            <a:avLst/>
          </a:prstGeom>
        </p:spPr>
      </p:pic>
      <p:pic>
        <p:nvPicPr>
          <p:cNvPr id="4100" name="Picture 4" descr="http://www.syapse.com/images/logo.png">
            <a:hlinkClick r:id="rId70"/>
          </p:cNvPr>
          <p:cNvPicPr>
            <a:picLocks noChangeAspect="1" noChangeArrowheads="1"/>
          </p:cNvPicPr>
          <p:nvPr/>
        </p:nvPicPr>
        <p:blipFill>
          <a:blip r:embed="rId71" cstate="print"/>
          <a:srcRect/>
          <a:stretch>
            <a:fillRect/>
          </a:stretch>
        </p:blipFill>
        <p:spPr bwMode="auto">
          <a:xfrm>
            <a:off x="4648200" y="6019800"/>
            <a:ext cx="1085850" cy="330476"/>
          </a:xfrm>
          <a:prstGeom prst="rect">
            <a:avLst/>
          </a:prstGeom>
          <a:noFill/>
        </p:spPr>
      </p:pic>
      <p:pic>
        <p:nvPicPr>
          <p:cNvPr id="17438" name="Picture 33" descr="http://www.io-informatics.com/images/logo.gif">
            <a:hlinkClick r:id="rId72"/>
          </p:cNvPr>
          <p:cNvPicPr>
            <a:picLocks noChangeAspect="1" noChangeArrowheads="1"/>
          </p:cNvPicPr>
          <p:nvPr/>
        </p:nvPicPr>
        <p:blipFill>
          <a:blip r:embed="rId73" cstate="print"/>
          <a:srcRect/>
          <a:stretch>
            <a:fillRect/>
          </a:stretch>
        </p:blipFill>
        <p:spPr bwMode="auto">
          <a:xfrm>
            <a:off x="6948264" y="4596681"/>
            <a:ext cx="1304925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87113870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Background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521296"/>
            <a:ext cx="8229600" cy="45720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Pfizer </a:t>
            </a:r>
            <a:r>
              <a:rPr lang="en-US" dirty="0" smtClean="0"/>
              <a:t>Goal</a:t>
            </a:r>
          </a:p>
          <a:p>
            <a:pPr lvl="1"/>
            <a:r>
              <a:rPr lang="en-US" dirty="0" smtClean="0"/>
              <a:t>“</a:t>
            </a:r>
            <a:r>
              <a:rPr lang="en-US" dirty="0"/>
              <a:t>Top-tier biotherapeutics company by 2015”</a:t>
            </a:r>
          </a:p>
          <a:p>
            <a:pPr lvl="2"/>
            <a:r>
              <a:rPr lang="en-US" dirty="0"/>
              <a:t>But informatics infrastructure was inadequate</a:t>
            </a:r>
          </a:p>
          <a:p>
            <a:r>
              <a:rPr lang="en-US" dirty="0"/>
              <a:t>Biomolecules Team </a:t>
            </a:r>
            <a:r>
              <a:rPr lang="en-US" dirty="0" smtClean="0"/>
              <a:t>Goal</a:t>
            </a:r>
          </a:p>
          <a:p>
            <a:pPr lvl="1"/>
            <a:r>
              <a:rPr lang="en-US" dirty="0" smtClean="0"/>
              <a:t>Remediate </a:t>
            </a:r>
            <a:r>
              <a:rPr lang="en-US" dirty="0"/>
              <a:t>infrastructure to enable biomolecule</a:t>
            </a:r>
          </a:p>
          <a:p>
            <a:pPr lvl="2"/>
            <a:r>
              <a:rPr lang="en-US" dirty="0"/>
              <a:t>Registration</a:t>
            </a:r>
          </a:p>
          <a:p>
            <a:pPr lvl="2"/>
            <a:r>
              <a:rPr lang="en-US" dirty="0" smtClean="0"/>
              <a:t>Visualization</a:t>
            </a:r>
            <a:endParaRPr lang="en-US" dirty="0"/>
          </a:p>
          <a:p>
            <a:pPr lvl="2"/>
            <a:r>
              <a:rPr lang="en-US" dirty="0"/>
              <a:t>Analysis and design</a:t>
            </a:r>
          </a:p>
          <a:p>
            <a:pPr lvl="2"/>
            <a:r>
              <a:rPr lang="en-US" dirty="0"/>
              <a:t>Workflows</a:t>
            </a:r>
          </a:p>
          <a:p>
            <a:pPr lvl="1"/>
            <a:r>
              <a:rPr lang="en-US" dirty="0" smtClean="0"/>
              <a:t>Make biomolecules “first-class citizens” of the informatics tool portfolio</a:t>
            </a:r>
          </a:p>
          <a:p>
            <a:pPr lvl="1"/>
            <a:r>
              <a:rPr lang="en-US" dirty="0" smtClean="0"/>
              <a:t>HELM was the result of this initiative</a:t>
            </a:r>
          </a:p>
          <a:p>
            <a:endParaRPr lang="en-US" dirty="0" smtClean="0"/>
          </a:p>
          <a:p>
            <a:r>
              <a:rPr lang="en-US" dirty="0" smtClean="0"/>
              <a:t>Pistoia </a:t>
            </a:r>
            <a:r>
              <a:rPr lang="en-US" dirty="0"/>
              <a:t>HELM </a:t>
            </a:r>
            <a:r>
              <a:rPr lang="en-US" dirty="0" smtClean="0"/>
              <a:t>Project Goal</a:t>
            </a:r>
          </a:p>
          <a:p>
            <a:pPr lvl="1"/>
            <a:r>
              <a:rPr lang="en-US" dirty="0" smtClean="0"/>
              <a:t>Facilitate </a:t>
            </a:r>
            <a:r>
              <a:rPr lang="en-US" dirty="0"/>
              <a:t>the public release of HELM, providing a </a:t>
            </a:r>
            <a:r>
              <a:rPr lang="en-US" dirty="0" smtClean="0"/>
              <a:t>set of tools for biomolecule </a:t>
            </a:r>
            <a:r>
              <a:rPr lang="en-US" dirty="0"/>
              <a:t>data </a:t>
            </a:r>
            <a:r>
              <a:rPr lang="en-US" dirty="0" smtClean="0"/>
              <a:t>representation and exchange, that would reduce </a:t>
            </a:r>
            <a:r>
              <a:rPr lang="en-US" dirty="0"/>
              <a:t>need for other companies to develop their own equivalent </a:t>
            </a:r>
            <a:r>
              <a:rPr lang="en-US" dirty="0" smtClean="0"/>
              <a:t>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027257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 smtClean="0">
                <a:latin typeface="Arial" charset="0"/>
                <a:cs typeface="Arial" charset="0"/>
              </a:rPr>
              <a:t>What is a “Biomolecule”</a:t>
            </a:r>
            <a:endParaRPr lang="en-US" sz="3400" dirty="0"/>
          </a:p>
        </p:txBody>
      </p:sp>
      <p:grpSp>
        <p:nvGrpSpPr>
          <p:cNvPr id="5" name="Group 5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3815916" y="1916832"/>
            <a:ext cx="1076476" cy="1049337"/>
            <a:chOff x="1086" y="2879"/>
            <a:chExt cx="678" cy="66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AutoShape 6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086" y="2880"/>
              <a:ext cx="678" cy="6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200">
                  <a:solidFill>
                    <a:srgbClr val="003366"/>
                  </a:solidFill>
                </a:rPr>
                <a:t>Peptides</a:t>
              </a:r>
            </a:p>
          </p:txBody>
        </p:sp>
        <p:pic>
          <p:nvPicPr>
            <p:cNvPr id="7" name="Picture 7" descr="t4-3-single-peptide"/>
            <p:cNvPicPr>
              <a:picLocks noChangeAspect="1" noChangeArrowheads="1"/>
            </p:cNvPicPr>
            <p:nvPr>
              <p:custDataLst>
                <p:tags r:id="rId15"/>
              </p:custDataLst>
            </p:nvPr>
          </p:nvPicPr>
          <p:blipFill>
            <a:blip r:embed="rId17" cstate="print">
              <a:clrChange>
                <a:clrFrom>
                  <a:srgbClr val="220000"/>
                </a:clrFrom>
                <a:clrTo>
                  <a:srgbClr val="22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6" y="2879"/>
              <a:ext cx="448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" name="Group 8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6156176" y="1916832"/>
            <a:ext cx="1076476" cy="1047750"/>
            <a:chOff x="660" y="1992"/>
            <a:chExt cx="678" cy="6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AutoShape 9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60" y="1992"/>
              <a:ext cx="678" cy="6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200" dirty="0">
                  <a:solidFill>
                    <a:srgbClr val="003366"/>
                  </a:solidFill>
                </a:rPr>
                <a:t>Therapeutic Proteins</a:t>
              </a:r>
            </a:p>
          </p:txBody>
        </p:sp>
        <p:pic>
          <p:nvPicPr>
            <p:cNvPr id="10" name="Picture 10" descr="250px-BMP2"/>
            <p:cNvPicPr>
              <a:picLocks noChangeAspect="1" noChangeArrowheads="1"/>
            </p:cNvPicPr>
            <p:nvPr>
              <p:custDataLst>
                <p:tags r:id="rId13"/>
              </p:custDataLst>
            </p:nvPr>
          </p:nvPicPr>
          <p:blipFill>
            <a:blip r:embed="rId18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8" y="1997"/>
              <a:ext cx="448" cy="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" name="Group 11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3891568" y="4725144"/>
            <a:ext cx="1076476" cy="1047750"/>
            <a:chOff x="1086" y="1116"/>
            <a:chExt cx="678" cy="6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AutoShape 12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086" y="1116"/>
              <a:ext cx="678" cy="6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wrap="none"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200">
                  <a:solidFill>
                    <a:srgbClr val="003366"/>
                  </a:solidFill>
                </a:rPr>
                <a:t>ADCs</a:t>
              </a:r>
            </a:p>
          </p:txBody>
        </p:sp>
        <p:grpSp>
          <p:nvGrpSpPr>
            <p:cNvPr id="13" name="Group 13"/>
            <p:cNvGrpSpPr>
              <a:grpSpLocks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1205" y="1153"/>
              <a:ext cx="414" cy="464"/>
              <a:chOff x="1260" y="1216"/>
              <a:chExt cx="304" cy="339"/>
            </a:xfrm>
          </p:grpSpPr>
          <p:pic>
            <p:nvPicPr>
              <p:cNvPr id="14" name="Picture 14" descr="Ab"/>
              <p:cNvPicPr preferRelativeResize="0">
                <a:picLocks noChangeAspect="1" noChangeArrowheads="1"/>
              </p:cNvPicPr>
              <p:nvPr>
                <p:custDataLst>
                  <p:tags r:id="rId11"/>
                </p:custDataLst>
              </p:nvPr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60" y="1216"/>
                <a:ext cx="304" cy="3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" name="Oval 15"/>
              <p:cNvSpPr>
                <a:spLocks noChangeArrowheads="1"/>
              </p:cNvSpPr>
              <p:nvPr/>
            </p:nvSpPr>
            <p:spPr bwMode="auto">
              <a:xfrm>
                <a:off x="1453" y="1445"/>
                <a:ext cx="78" cy="66"/>
              </a:xfrm>
              <a:prstGeom prst="ellipse">
                <a:avLst/>
              </a:prstGeom>
              <a:solidFill>
                <a:srgbClr val="C41300"/>
              </a:solidFill>
              <a:ln w="9525">
                <a:solidFill>
                  <a:srgbClr val="C41300"/>
                </a:solidFill>
                <a:round/>
                <a:headEnd type="none" w="lg" len="lg"/>
                <a:tailEnd type="none" w="lg" len="lg"/>
              </a:ln>
            </p:spPr>
            <p:txBody>
              <a:bodyPr wrap="none" tIns="91440" bIns="9144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" name="Group 20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1551308" y="4725144"/>
            <a:ext cx="1076476" cy="1047750"/>
            <a:chOff x="234" y="1116"/>
            <a:chExt cx="678" cy="6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" name="AutoShape 21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34" y="1116"/>
              <a:ext cx="678" cy="6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wrap="none"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200" dirty="0">
                  <a:solidFill>
                    <a:srgbClr val="003366"/>
                  </a:solidFill>
                </a:rPr>
                <a:t>Antibodies</a:t>
              </a:r>
            </a:p>
          </p:txBody>
        </p:sp>
        <p:pic>
          <p:nvPicPr>
            <p:cNvPr id="18" name="Picture 22" descr="Ab"/>
            <p:cNvPicPr preferRelativeResize="0">
              <a:picLocks noChangeAspect="1" noChangeArrowheads="1"/>
            </p:cNvPicPr>
            <p:nvPr>
              <p:custDataLst>
                <p:tags r:id="rId8"/>
              </p:custDataLst>
            </p:nvPr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" y="1131"/>
              <a:ext cx="444" cy="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" name="Group 70"/>
          <p:cNvGrpSpPr>
            <a:grpSpLocks/>
          </p:cNvGrpSpPr>
          <p:nvPr/>
        </p:nvGrpSpPr>
        <p:grpSpPr bwMode="auto">
          <a:xfrm>
            <a:off x="6231828" y="4725144"/>
            <a:ext cx="1076476" cy="1047750"/>
            <a:chOff x="729" y="2140"/>
            <a:chExt cx="678" cy="6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AutoShape 71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729" y="2140"/>
              <a:ext cx="678" cy="6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200">
                  <a:solidFill>
                    <a:srgbClr val="003366"/>
                  </a:solidFill>
                </a:rPr>
                <a:t>Vaccines</a:t>
              </a:r>
            </a:p>
          </p:txBody>
        </p:sp>
        <p:pic>
          <p:nvPicPr>
            <p:cNvPr id="21" name="Picture 72"/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1" y="2199"/>
              <a:ext cx="532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" name="Group 21"/>
          <p:cNvGrpSpPr/>
          <p:nvPr/>
        </p:nvGrpSpPr>
        <p:grpSpPr>
          <a:xfrm>
            <a:off x="1475656" y="1890289"/>
            <a:ext cx="1076476" cy="1047750"/>
            <a:chOff x="3790952" y="3062502"/>
            <a:chExt cx="1076476" cy="10477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3" name="AutoShape 71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790952" y="3062502"/>
              <a:ext cx="1076476" cy="104775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200" dirty="0" smtClean="0">
                  <a:solidFill>
                    <a:srgbClr val="003366"/>
                  </a:solidFill>
                </a:rPr>
                <a:t>ASOs </a:t>
              </a:r>
            </a:p>
            <a:p>
              <a:pPr algn="ctr">
                <a:spcBef>
                  <a:spcPct val="20000"/>
                </a:spcBef>
              </a:pPr>
              <a:r>
                <a:rPr lang="en-US" sz="1200" dirty="0" err="1" smtClean="0">
                  <a:solidFill>
                    <a:srgbClr val="003366"/>
                  </a:solidFill>
                </a:rPr>
                <a:t>siRNAs</a:t>
              </a:r>
              <a:endParaRPr lang="en-US" sz="1200" dirty="0">
                <a:solidFill>
                  <a:srgbClr val="003366"/>
                </a:solidFill>
              </a:endParaRPr>
            </a:p>
          </p:txBody>
        </p:sp>
        <p:pic>
          <p:nvPicPr>
            <p:cNvPr id="24" name="Picture 18"/>
            <p:cNvPicPr>
              <a:picLocks noChangeAspect="1" noChangeArrowheads="1"/>
            </p:cNvPicPr>
            <p:nvPr/>
          </p:nvPicPr>
          <p:blipFill>
            <a:blip r:embed="rId22" cstate="print"/>
            <a:srcRect/>
            <a:stretch>
              <a:fillRect/>
            </a:stretch>
          </p:blipFill>
          <p:spPr bwMode="auto">
            <a:xfrm>
              <a:off x="3943589" y="3187634"/>
              <a:ext cx="857250" cy="390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6" name="TextBox 25"/>
          <p:cNvSpPr txBox="1"/>
          <p:nvPr/>
        </p:nvSpPr>
        <p:spPr>
          <a:xfrm>
            <a:off x="1475656" y="3645024"/>
            <a:ext cx="576064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3366"/>
                </a:solidFill>
              </a:rPr>
              <a:t>Biomolecule: </a:t>
            </a:r>
            <a:r>
              <a:rPr lang="en-US" sz="2000" i="1" dirty="0" smtClean="0">
                <a:solidFill>
                  <a:srgbClr val="003366"/>
                </a:solidFill>
              </a:rPr>
              <a:t>Anything that is not a small molecule</a:t>
            </a:r>
            <a:endParaRPr lang="en-US" sz="2000" i="1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267019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4831658" y="1556792"/>
            <a:ext cx="400110" cy="949498"/>
          </a:xfrm>
          <a:prstGeom prst="rect">
            <a:avLst/>
          </a:prstGeom>
          <a:solidFill>
            <a:srgbClr val="E8F4D9"/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wordArtVert" wrap="square" rtlCol="0" anchor="ctr" anchorCtr="1">
            <a:spAutoFit/>
          </a:bodyPr>
          <a:lstStyle/>
          <a:p>
            <a:pPr algn="ctr"/>
            <a:r>
              <a:rPr lang="en-US" sz="1400" b="1" dirty="0" smtClean="0"/>
              <a:t>GAP</a:t>
            </a:r>
            <a:endParaRPr lang="en-US" sz="14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Biomolecules: Stuck in the middle…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 bwMode="auto">
          <a:xfrm>
            <a:off x="2391113" y="2704291"/>
            <a:ext cx="3487917" cy="3487917"/>
          </a:xfrm>
          <a:prstGeom prst="ellipse">
            <a:avLst/>
          </a:prstGeom>
          <a:solidFill>
            <a:srgbClr val="E8F4D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4201196" y="2705866"/>
            <a:ext cx="3487917" cy="3487917"/>
          </a:xfrm>
          <a:prstGeom prst="ellipse">
            <a:avLst/>
          </a:prstGeom>
          <a:solidFill>
            <a:srgbClr val="4AC9FF">
              <a:alpha val="50196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7340" y="4082633"/>
            <a:ext cx="1149906" cy="734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9" name="Straight Connector 8"/>
          <p:cNvCxnSpPr/>
          <p:nvPr/>
        </p:nvCxnSpPr>
        <p:spPr bwMode="auto">
          <a:xfrm>
            <a:off x="4887914" y="4901442"/>
            <a:ext cx="75500" cy="37751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154" y="3533849"/>
            <a:ext cx="1373191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856" y="3416417"/>
            <a:ext cx="1203313" cy="1602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24758" y="4868146"/>
            <a:ext cx="843439" cy="538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Rectangle 12"/>
          <p:cNvSpPr/>
          <p:nvPr/>
        </p:nvSpPr>
        <p:spPr>
          <a:xfrm>
            <a:off x="1168852" y="4135567"/>
            <a:ext cx="12122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dirty="0" smtClean="0">
                <a:solidFill>
                  <a:srgbClr val="003366"/>
                </a:solidFill>
              </a:rPr>
              <a:t>Small Molecules</a:t>
            </a:r>
            <a:endParaRPr lang="en-US" sz="1800" dirty="0">
              <a:solidFill>
                <a:srgbClr val="003366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97668" y="4263583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smtClean="0">
                <a:solidFill>
                  <a:srgbClr val="003366"/>
                </a:solidFill>
              </a:rPr>
              <a:t>Sequences</a:t>
            </a:r>
            <a:endParaRPr lang="en-US" sz="1800" dirty="0">
              <a:solidFill>
                <a:srgbClr val="003366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69412" y="6211255"/>
            <a:ext cx="15568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smtClean="0">
                <a:solidFill>
                  <a:srgbClr val="003366"/>
                </a:solidFill>
              </a:rPr>
              <a:t>Biomolecules</a:t>
            </a:r>
            <a:endParaRPr lang="en-US" sz="1800" dirty="0">
              <a:solidFill>
                <a:srgbClr val="003366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94118" y="2198513"/>
            <a:ext cx="2140953" cy="307777"/>
          </a:xfrm>
          <a:prstGeom prst="rect">
            <a:avLst/>
          </a:prstGeom>
          <a:solidFill>
            <a:srgbClr val="E8F4D9"/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Small Molecule Tools</a:t>
            </a:r>
            <a:endParaRPr 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5879030" y="2198512"/>
            <a:ext cx="2140953" cy="307777"/>
          </a:xfrm>
          <a:prstGeom prst="rect">
            <a:avLst/>
          </a:prstGeom>
          <a:solidFill>
            <a:srgbClr val="4AC9FF">
              <a:alpha val="49000"/>
            </a:srgbClr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Sequence-Based Tools</a:t>
            </a:r>
            <a:endParaRPr lang="en-US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4832976" y="1556792"/>
            <a:ext cx="400110" cy="949498"/>
          </a:xfrm>
          <a:prstGeom prst="rect">
            <a:avLst/>
          </a:prstGeom>
          <a:solidFill>
            <a:srgbClr val="4AC9FF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wordArtVert" wrap="square" rtlCol="0" anchor="ctr" anchorCtr="1">
            <a:spAutoFit/>
          </a:bodyPr>
          <a:lstStyle/>
          <a:p>
            <a:pPr algn="ctr"/>
            <a:endParaRPr lang="en-US" sz="1400" dirty="0"/>
          </a:p>
        </p:txBody>
      </p:sp>
      <p:cxnSp>
        <p:nvCxnSpPr>
          <p:cNvPr id="20" name="Straight Connector 19"/>
          <p:cNvCxnSpPr/>
          <p:nvPr/>
        </p:nvCxnSpPr>
        <p:spPr bwMode="auto">
          <a:xfrm>
            <a:off x="5040745" y="2570298"/>
            <a:ext cx="0" cy="29151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/>
          <a:srcRect l="27386" r="26866"/>
          <a:stretch/>
        </p:blipFill>
        <p:spPr>
          <a:xfrm>
            <a:off x="179512" y="1484784"/>
            <a:ext cx="1619734" cy="225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24499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“Fit-for-Purpose” Structure Representation</a:t>
            </a:r>
            <a:endParaRPr lang="en-US" sz="2800" dirty="0" smtClean="0"/>
          </a:p>
        </p:txBody>
      </p:sp>
      <p:sp>
        <p:nvSpPr>
          <p:cNvPr id="6" name="Right Brace 5"/>
          <p:cNvSpPr/>
          <p:nvPr/>
        </p:nvSpPr>
        <p:spPr>
          <a:xfrm>
            <a:off x="2893640" y="2479253"/>
            <a:ext cx="1981200" cy="1371600"/>
          </a:xfrm>
          <a:prstGeom prst="rightBrace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619672" y="2468881"/>
            <a:ext cx="5688632" cy="175220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sz="2400" dirty="0" smtClean="0"/>
              <a:t>Enable the </a:t>
            </a:r>
            <a:r>
              <a:rPr lang="en-US" sz="2400" dirty="0" smtClean="0"/>
              <a:t>representation, manipulation and visualization of each </a:t>
            </a:r>
            <a:r>
              <a:rPr lang="en-US" sz="2400" dirty="0" smtClean="0"/>
              <a:t>macromolecule </a:t>
            </a:r>
            <a:r>
              <a:rPr lang="en-US" sz="2400" dirty="0" smtClean="0"/>
              <a:t>type in a way that </a:t>
            </a:r>
            <a:r>
              <a:rPr lang="en-US" sz="2400" dirty="0" smtClean="0"/>
              <a:t>is appropriate for</a:t>
            </a:r>
            <a:r>
              <a:rPr lang="en-US" sz="2400" dirty="0" smtClean="0"/>
              <a:t> its</a:t>
            </a:r>
            <a:r>
              <a:rPr lang="en-US" sz="2400" dirty="0" smtClean="0"/>
              <a:t> </a:t>
            </a:r>
            <a:r>
              <a:rPr lang="en-US" sz="2400" dirty="0" smtClean="0"/>
              <a:t>size and complexity</a:t>
            </a:r>
            <a:endParaRPr lang="en-US" sz="2400" dirty="0"/>
          </a:p>
        </p:txBody>
      </p:sp>
    </p:spTree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8111712"/>
              </p:ext>
            </p:extLst>
          </p:nvPr>
        </p:nvGraphicFramePr>
        <p:xfrm>
          <a:off x="2427865" y="2636912"/>
          <a:ext cx="2000119" cy="108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" name="MarvinOLE" r:id="rId4" imgW="3426781" imgH="1855433" progId="">
                  <p:embed/>
                </p:oleObj>
              </mc:Choice>
              <mc:Fallback>
                <p:oleObj name="MarvinOLE" r:id="rId4" imgW="3426781" imgH="1855433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7865" y="2636912"/>
                        <a:ext cx="2000119" cy="1080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Oval 20"/>
          <p:cNvSpPr/>
          <p:nvPr/>
        </p:nvSpPr>
        <p:spPr bwMode="auto">
          <a:xfrm>
            <a:off x="2195737" y="2420889"/>
            <a:ext cx="444138" cy="432048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28" charset="-128"/>
              </a:rPr>
              <a:t>Ab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pic>
        <p:nvPicPr>
          <p:cNvPr id="19" name="Picture 5" descr="image002"/>
          <p:cNvPicPr>
            <a:picLocks noChangeAspect="1" noChangeArrowheads="1"/>
          </p:cNvPicPr>
          <p:nvPr/>
        </p:nvPicPr>
        <p:blipFill rotWithShape="1">
          <a:blip r:embed="rId6" cstate="print"/>
          <a:srcRect l="-284" r="54594"/>
          <a:stretch/>
        </p:blipFill>
        <p:spPr bwMode="auto">
          <a:xfrm>
            <a:off x="2195736" y="4618547"/>
            <a:ext cx="2109587" cy="82667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18" name="Picture 3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3" t="17288" r="1202" b="32674"/>
          <a:stretch/>
        </p:blipFill>
        <p:spPr bwMode="auto">
          <a:xfrm>
            <a:off x="4544636" y="4509120"/>
            <a:ext cx="2187604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477216" y="2276872"/>
            <a:ext cx="2255024" cy="144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“Fit-for-Purpose” Structure Representation</a:t>
            </a:r>
            <a:endParaRPr lang="en-US" sz="2800" dirty="0" smtClean="0"/>
          </a:p>
        </p:txBody>
      </p:sp>
      <p:sp>
        <p:nvSpPr>
          <p:cNvPr id="6" name="Right Brace 5"/>
          <p:cNvSpPr/>
          <p:nvPr/>
        </p:nvSpPr>
        <p:spPr>
          <a:xfrm>
            <a:off x="2893640" y="2479253"/>
            <a:ext cx="1981200" cy="1371600"/>
          </a:xfrm>
          <a:prstGeom prst="rightBrace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Oval 1"/>
          <p:cNvSpPr/>
          <p:nvPr/>
        </p:nvSpPr>
        <p:spPr>
          <a:xfrm>
            <a:off x="1691680" y="1268760"/>
            <a:ext cx="5472608" cy="5472608"/>
          </a:xfrm>
          <a:prstGeom prst="ellipse">
            <a:avLst/>
          </a:prstGeom>
          <a:noFill/>
          <a:ln w="25400">
            <a:solidFill>
              <a:srgbClr val="000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/>
          <p:cNvCxnSpPr>
            <a:stCxn id="2" idx="0"/>
            <a:endCxn id="2" idx="4"/>
          </p:cNvCxnSpPr>
          <p:nvPr/>
        </p:nvCxnSpPr>
        <p:spPr>
          <a:xfrm>
            <a:off x="4427984" y="1268760"/>
            <a:ext cx="0" cy="5472608"/>
          </a:xfrm>
          <a:prstGeom prst="line">
            <a:avLst/>
          </a:prstGeom>
          <a:ln>
            <a:solidFill>
              <a:srgbClr val="0000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2" idx="2"/>
            <a:endCxn id="2" idx="6"/>
          </p:cNvCxnSpPr>
          <p:nvPr/>
        </p:nvCxnSpPr>
        <p:spPr>
          <a:xfrm>
            <a:off x="1691680" y="4005064"/>
            <a:ext cx="5472608" cy="0"/>
          </a:xfrm>
          <a:prstGeom prst="line">
            <a:avLst/>
          </a:prstGeom>
          <a:ln>
            <a:solidFill>
              <a:srgbClr val="0000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ie 11"/>
          <p:cNvSpPr/>
          <p:nvPr/>
        </p:nvSpPr>
        <p:spPr>
          <a:xfrm>
            <a:off x="1691680" y="1268760"/>
            <a:ext cx="5472608" cy="5472608"/>
          </a:xfrm>
          <a:prstGeom prst="pie">
            <a:avLst/>
          </a:prstGeom>
          <a:solidFill>
            <a:srgbClr val="000090"/>
          </a:solidFill>
          <a:ln>
            <a:solidFill>
              <a:srgbClr val="000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Pie 14"/>
          <p:cNvSpPr/>
          <p:nvPr/>
        </p:nvSpPr>
        <p:spPr>
          <a:xfrm rot="5400000">
            <a:off x="1691680" y="1268760"/>
            <a:ext cx="5472608" cy="5472608"/>
          </a:xfrm>
          <a:prstGeom prst="pie">
            <a:avLst/>
          </a:prstGeom>
          <a:solidFill>
            <a:srgbClr val="000090"/>
          </a:solidFill>
          <a:ln>
            <a:solidFill>
              <a:srgbClr val="000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Pie 15"/>
          <p:cNvSpPr/>
          <p:nvPr/>
        </p:nvSpPr>
        <p:spPr>
          <a:xfrm rot="10800000">
            <a:off x="1691680" y="1268760"/>
            <a:ext cx="5472608" cy="5472608"/>
          </a:xfrm>
          <a:prstGeom prst="pie">
            <a:avLst/>
          </a:prstGeom>
          <a:solidFill>
            <a:srgbClr val="000090"/>
          </a:solidFill>
          <a:ln>
            <a:solidFill>
              <a:srgbClr val="000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709030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5" grpId="1" animBg="1"/>
      <p:bldP spid="16" grpId="0" animBg="1"/>
      <p:bldP spid="16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u="sng" dirty="0">
                <a:solidFill>
                  <a:srgbClr val="4AC9FF"/>
                </a:solidFill>
              </a:rPr>
              <a:t>H</a:t>
            </a:r>
            <a:r>
              <a:rPr lang="en-US" sz="2800" dirty="0"/>
              <a:t>ierarchical </a:t>
            </a:r>
            <a:r>
              <a:rPr lang="en-US" sz="2800" b="1" u="sng" dirty="0">
                <a:solidFill>
                  <a:srgbClr val="4AC9FF"/>
                </a:solidFill>
              </a:rPr>
              <a:t>E</a:t>
            </a:r>
            <a:r>
              <a:rPr lang="en-US" sz="2800" dirty="0"/>
              <a:t>diting </a:t>
            </a:r>
            <a:r>
              <a:rPr lang="en-US" sz="2800" b="1" u="sng" dirty="0">
                <a:solidFill>
                  <a:srgbClr val="4AC9FF"/>
                </a:solidFill>
              </a:rPr>
              <a:t>L</a:t>
            </a:r>
            <a:r>
              <a:rPr lang="en-US" sz="2800" dirty="0"/>
              <a:t>anguage for </a:t>
            </a:r>
            <a:r>
              <a:rPr lang="en-US" sz="2800" b="1" u="sng" dirty="0" smtClean="0">
                <a:solidFill>
                  <a:srgbClr val="4AC9FF"/>
                </a:solidFill>
              </a:rPr>
              <a:t>M</a:t>
            </a:r>
            <a:r>
              <a:rPr lang="en-US" sz="2800" dirty="0" smtClean="0"/>
              <a:t>acromolecules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3816425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lvl="1"/>
            <a:r>
              <a:rPr lang="en-US" dirty="0" smtClean="0"/>
              <a:t>Hierarchical </a:t>
            </a:r>
            <a:r>
              <a:rPr lang="en-US" dirty="0"/>
              <a:t>– Amenable to the various “levels”</a:t>
            </a:r>
          </a:p>
          <a:p>
            <a:pPr lvl="2"/>
            <a:r>
              <a:rPr lang="en-US" dirty="0"/>
              <a:t>Complex Polymer ⇒ Simple Polymer ⇒ Monomer ⇒ Atom</a:t>
            </a:r>
          </a:p>
          <a:p>
            <a:pPr lvl="1"/>
            <a:r>
              <a:rPr lang="en-US" dirty="0"/>
              <a:t>Extensible</a:t>
            </a:r>
          </a:p>
          <a:p>
            <a:pPr lvl="2"/>
            <a:r>
              <a:rPr lang="en-US" dirty="0"/>
              <a:t>Allowing addition of new biopolymer types</a:t>
            </a:r>
          </a:p>
          <a:p>
            <a:pPr lvl="1"/>
            <a:r>
              <a:rPr lang="en-US" dirty="0" smtClean="0"/>
              <a:t>Versatile</a:t>
            </a:r>
            <a:endParaRPr lang="en-US" dirty="0"/>
          </a:p>
          <a:p>
            <a:pPr lvl="2"/>
            <a:r>
              <a:rPr lang="en-US" dirty="0"/>
              <a:t>e.g. Allowing representation of oligonucleotide hybridization</a:t>
            </a:r>
          </a:p>
          <a:p>
            <a:pPr lvl="1"/>
            <a:r>
              <a:rPr lang="en-US" dirty="0" err="1"/>
              <a:t>Canonicalizable</a:t>
            </a:r>
            <a:endParaRPr lang="en-US" dirty="0"/>
          </a:p>
          <a:p>
            <a:pPr lvl="2"/>
            <a:r>
              <a:rPr lang="en-US" dirty="0"/>
              <a:t>Facilitating uniqueness checking</a:t>
            </a:r>
          </a:p>
          <a:p>
            <a:pPr lvl="1"/>
            <a:r>
              <a:rPr lang="en-US" dirty="0"/>
              <a:t>(Somewhat) human-</a:t>
            </a:r>
            <a:r>
              <a:rPr lang="en-US" dirty="0" smtClean="0"/>
              <a:t>readable</a:t>
            </a:r>
          </a:p>
          <a:p>
            <a:pPr lvl="2"/>
            <a:r>
              <a:rPr lang="en-US" dirty="0" smtClean="0"/>
              <a:t>“Smiles for macromolecules”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035496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Example: Linear Peptide</a:t>
            </a:r>
          </a:p>
        </p:txBody>
      </p:sp>
      <p:pic>
        <p:nvPicPr>
          <p:cNvPr id="11267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6" b="22900"/>
          <a:stretch/>
        </p:blipFill>
        <p:spPr bwMode="auto">
          <a:xfrm>
            <a:off x="510637" y="2603500"/>
            <a:ext cx="8147588" cy="1468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Example: Linear Oligonucleotide</a:t>
            </a:r>
          </a:p>
        </p:txBody>
      </p:sp>
      <p:pic>
        <p:nvPicPr>
          <p:cNvPr id="12291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3" b="18345"/>
          <a:stretch/>
        </p:blipFill>
        <p:spPr bwMode="auto">
          <a:xfrm>
            <a:off x="539552" y="2466763"/>
            <a:ext cx="8205568" cy="1970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Stem-loops (e.g. </a:t>
            </a:r>
            <a:r>
              <a:rPr lang="en-US" dirty="0" err="1" smtClean="0"/>
              <a:t>Tetraloops</a:t>
            </a:r>
            <a:r>
              <a:rPr lang="en-US" dirty="0" smtClean="0"/>
              <a:t>)</a:t>
            </a:r>
            <a:endParaRPr lang="en-GB" dirty="0" smtClean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67544" y="4437112"/>
            <a:ext cx="8280920" cy="18239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US" sz="1800" dirty="0" smtClean="0"/>
              <a:t>HELM notation:</a:t>
            </a:r>
            <a:endParaRPr lang="en-US" sz="1800" dirty="0"/>
          </a:p>
          <a:p>
            <a:pPr marL="0" indent="0">
              <a:buNone/>
              <a:defRPr/>
            </a:pPr>
            <a:r>
              <a:rPr lang="en-US" sz="1800" dirty="0"/>
              <a:t>RNA1{R(G)P.R(G)P.R(C)P.R(A)P.R(C)P.R(U)P.R(U)P.R(C)P.R(G)P.R(G)P.R(U)P.R(G)P.R(C)P.R(C)}$$RNA1,RNA1,11:pair-32:pair|RNA1,RNA1,5:pair-38:pair|RNA1,RNA1,14:pair-29:pair|RNA1,RNA1,8:pair-35:pair|RNA1,RNA1,2:pair-41:pair$$</a:t>
            </a:r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3" t="17288" r="1202" b="32674"/>
          <a:stretch/>
        </p:blipFill>
        <p:spPr bwMode="auto">
          <a:xfrm>
            <a:off x="1713019" y="1412776"/>
            <a:ext cx="5883317" cy="3098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1249803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 smtClean="0"/>
              <a:t>Example: Oligonucleotide Peptide Conjugate</a:t>
            </a:r>
          </a:p>
        </p:txBody>
      </p:sp>
      <p:pic>
        <p:nvPicPr>
          <p:cNvPr id="16387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2" b="8976"/>
          <a:stretch/>
        </p:blipFill>
        <p:spPr bwMode="auto">
          <a:xfrm>
            <a:off x="793755" y="2370258"/>
            <a:ext cx="7666677" cy="2642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Monomer Database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4294967295"/>
          </p:nvPr>
        </p:nvSpPr>
        <p:spPr>
          <a:xfrm>
            <a:off x="374848" y="1335088"/>
            <a:ext cx="8229600" cy="1143000"/>
          </a:xfrm>
          <a:prstGeom prst="rect">
            <a:avLst/>
          </a:prstGeo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Each monomer referenced in the notation is predefined in a monomer database</a:t>
            </a:r>
          </a:p>
          <a:p>
            <a:r>
              <a:rPr lang="en-US" dirty="0" smtClean="0"/>
              <a:t>The database includes the chemical structure of the monomer and a description of all acceptable attachment points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1886546" y="2698268"/>
            <a:ext cx="5632033" cy="3539044"/>
            <a:chOff x="1886546" y="2404556"/>
            <a:chExt cx="5632033" cy="3539044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2" cstate="print"/>
            <a:srcRect l="949" r="6469" b="7727"/>
            <a:stretch/>
          </p:blipFill>
          <p:spPr>
            <a:xfrm>
              <a:off x="1886546" y="2404556"/>
              <a:ext cx="5632033" cy="3539044"/>
            </a:xfrm>
            <a:prstGeom prst="rect">
              <a:avLst/>
            </a:prstGeom>
            <a:effectLst/>
          </p:spPr>
        </p:pic>
        <p:sp>
          <p:nvSpPr>
            <p:cNvPr id="8" name="Rectangle 7"/>
            <p:cNvSpPr/>
            <p:nvPr/>
          </p:nvSpPr>
          <p:spPr bwMode="auto">
            <a:xfrm>
              <a:off x="1914251" y="2415310"/>
              <a:ext cx="5590293" cy="3516745"/>
            </a:xfrm>
            <a:prstGeom prst="rect">
              <a:avLst/>
            </a:prstGeom>
            <a:noFill/>
            <a:ln w="38100" cap="flat" cmpd="sng" algn="ctr">
              <a:solidFill>
                <a:srgbClr val="4F81BD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2044412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HELM at Pfizer: Drawing</a:t>
            </a:r>
            <a:endParaRPr lang="en-US" dirty="0"/>
          </a:p>
        </p:txBody>
      </p:sp>
      <p:pic>
        <p:nvPicPr>
          <p:cNvPr id="5" name="Picture 4" descr="figure 3 PME Content Panel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1000" y="1435571"/>
            <a:ext cx="4724400" cy="34924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38400" y="5016971"/>
            <a:ext cx="68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PME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3057" y="3264371"/>
            <a:ext cx="3662343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23749986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HELM at Pfizer: </a:t>
            </a:r>
            <a:r>
              <a:rPr lang="en-US" dirty="0" smtClean="0"/>
              <a:t>Registration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286000" y="523529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PMR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49098"/>
            <a:ext cx="4730750" cy="3810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2949298"/>
            <a:ext cx="3900886" cy="314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2132856"/>
            <a:ext cx="1080120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753482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493"/>
          <a:stretch>
            <a:fillRect/>
          </a:stretch>
        </p:blipFill>
        <p:spPr bwMode="auto">
          <a:xfrm>
            <a:off x="5531296" y="5157936"/>
            <a:ext cx="348615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HELM at Pfizer: </a:t>
            </a:r>
            <a:r>
              <a:rPr lang="en-US" dirty="0" smtClean="0"/>
              <a:t>Analysis &amp; Design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092896" y="5538936"/>
            <a:ext cx="96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PFRED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6" y="1652736"/>
            <a:ext cx="5138351" cy="381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7504" y="6304002"/>
            <a:ext cx="56388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/>
              <a:t>PFRED: A computational tool for </a:t>
            </a:r>
            <a:r>
              <a:rPr lang="en-US" sz="1000" i="1" dirty="0" err="1"/>
              <a:t>siRNA</a:t>
            </a:r>
            <a:r>
              <a:rPr lang="en-US" sz="1000" i="1" dirty="0"/>
              <a:t> and antisense design</a:t>
            </a:r>
            <a:r>
              <a:rPr lang="en-US" sz="1000" dirty="0"/>
              <a:t>. Simon </a:t>
            </a:r>
            <a:r>
              <a:rPr lang="en-US" sz="1000" dirty="0" smtClean="0"/>
              <a:t>Xi, </a:t>
            </a:r>
            <a:r>
              <a:rPr lang="en-US" sz="1000" dirty="0"/>
              <a:t>Qing </a:t>
            </a:r>
            <a:r>
              <a:rPr lang="en-US" sz="1000" dirty="0" smtClean="0"/>
              <a:t>Cao, </a:t>
            </a:r>
            <a:r>
              <a:rPr lang="en-US" sz="1000" dirty="0"/>
              <a:t>Christine </a:t>
            </a:r>
            <a:r>
              <a:rPr lang="en-US" sz="1000" dirty="0" smtClean="0"/>
              <a:t>Lawrence, </a:t>
            </a:r>
            <a:r>
              <a:rPr lang="en-US" sz="1000" dirty="0" err="1"/>
              <a:t>Tianhong</a:t>
            </a:r>
            <a:r>
              <a:rPr lang="en-US" sz="1000" dirty="0"/>
              <a:t> </a:t>
            </a:r>
            <a:r>
              <a:rPr lang="en-US" sz="1000" dirty="0" smtClean="0"/>
              <a:t>Zhang, </a:t>
            </a:r>
            <a:r>
              <a:rPr lang="en-US" sz="1000" dirty="0"/>
              <a:t>Simone </a:t>
            </a:r>
            <a:r>
              <a:rPr lang="en-US" sz="1000" dirty="0" err="1" smtClean="0"/>
              <a:t>Sciabola</a:t>
            </a:r>
            <a:r>
              <a:rPr lang="en-US" sz="1000" dirty="0" smtClean="0"/>
              <a:t>, </a:t>
            </a:r>
            <a:r>
              <a:rPr lang="en-US" sz="1000" dirty="0"/>
              <a:t>Sergio </a:t>
            </a:r>
            <a:r>
              <a:rPr lang="en-US" sz="1000" dirty="0" smtClean="0"/>
              <a:t>Rotstein, </a:t>
            </a:r>
            <a:r>
              <a:rPr lang="en-US" sz="1000" dirty="0"/>
              <a:t>Jason </a:t>
            </a:r>
            <a:r>
              <a:rPr lang="en-US" sz="1000" dirty="0" smtClean="0"/>
              <a:t>Hughes, </a:t>
            </a:r>
            <a:r>
              <a:rPr lang="en-US" sz="1000" dirty="0"/>
              <a:t>Daniel </a:t>
            </a:r>
            <a:r>
              <a:rPr lang="en-US" sz="1000" dirty="0" err="1" smtClean="0"/>
              <a:t>Caffrey</a:t>
            </a:r>
            <a:r>
              <a:rPr lang="en-US" sz="1000" dirty="0" smtClean="0"/>
              <a:t>, </a:t>
            </a:r>
            <a:r>
              <a:rPr lang="en-US" sz="1000" dirty="0"/>
              <a:t>and Robert </a:t>
            </a:r>
            <a:r>
              <a:rPr lang="en-US" sz="1000" dirty="0" smtClean="0"/>
              <a:t>Stanton, PLOS ONE, </a:t>
            </a:r>
            <a:r>
              <a:rPr lang="en-US" sz="1000" i="1" dirty="0" smtClean="0"/>
              <a:t>Submitted</a:t>
            </a:r>
            <a:endParaRPr lang="en-US" sz="1000" i="1" dirty="0"/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896" y="1195536"/>
            <a:ext cx="3657600" cy="88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496" y="2186136"/>
            <a:ext cx="3314700" cy="283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urved Connector 9"/>
          <p:cNvCxnSpPr/>
          <p:nvPr/>
        </p:nvCxnSpPr>
        <p:spPr bwMode="auto">
          <a:xfrm rot="5400000">
            <a:off x="6864796" y="1843236"/>
            <a:ext cx="685800" cy="609600"/>
          </a:xfrm>
          <a:prstGeom prst="curvedConnector3">
            <a:avLst/>
          </a:prstGeom>
          <a:noFill/>
          <a:ln w="38100" cap="flat" cmpd="sng" algn="ctr">
            <a:solidFill>
              <a:srgbClr val="4F81BD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Curved Connector 16"/>
          <p:cNvCxnSpPr/>
          <p:nvPr/>
        </p:nvCxnSpPr>
        <p:spPr bwMode="auto">
          <a:xfrm rot="5400000">
            <a:off x="7093396" y="4891236"/>
            <a:ext cx="685800" cy="609600"/>
          </a:xfrm>
          <a:prstGeom prst="curvedConnector3">
            <a:avLst/>
          </a:prstGeom>
          <a:noFill/>
          <a:ln w="38100" cap="flat" cmpd="sng" algn="ctr">
            <a:solidFill>
              <a:srgbClr val="4F81BD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18" name="Picture 2"/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441" y="1477246"/>
            <a:ext cx="4972053" cy="4252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788" y="2204864"/>
            <a:ext cx="3314700" cy="283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1302621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66667E-6 4.07407E-6 L -0.26667 4.07407E-6 " pathEditMode="relative" ptsTypes="AA">
                                      <p:cBhvr>
                                        <p:cTn id="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Pistoia HELM </a:t>
            </a:r>
            <a:r>
              <a:rPr lang="en-US" dirty="0"/>
              <a:t>Project </a:t>
            </a:r>
            <a:r>
              <a:rPr lang="en-US" dirty="0" smtClean="0"/>
              <a:t>Objective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916831"/>
            <a:ext cx="8229600" cy="352839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Establish and promote </a:t>
            </a:r>
            <a:r>
              <a:rPr lang="en-US" dirty="0" smtClean="0"/>
              <a:t>the HELM biomolecule representation standard and toolkit</a:t>
            </a:r>
            <a:endParaRPr lang="en-US" dirty="0"/>
          </a:p>
          <a:p>
            <a:pPr lvl="1"/>
            <a:r>
              <a:rPr lang="en-US" dirty="0"/>
              <a:t>Provide a mechanism for data exchange </a:t>
            </a:r>
            <a:r>
              <a:rPr lang="en-US" dirty="0" smtClean="0"/>
              <a:t>within and between organizations</a:t>
            </a:r>
            <a:endParaRPr lang="en-US" dirty="0"/>
          </a:p>
          <a:p>
            <a:pPr lvl="1"/>
            <a:r>
              <a:rPr lang="en-US" dirty="0"/>
              <a:t>Reduce software development costs by minimizing the need for companies to develop similar </a:t>
            </a:r>
            <a:r>
              <a:rPr lang="en-US" dirty="0" smtClean="0"/>
              <a:t>functionality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017529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OpenHelm.Org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5517232"/>
            <a:ext cx="3754760" cy="1218457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Specification</a:t>
            </a:r>
          </a:p>
          <a:p>
            <a:r>
              <a:rPr lang="en-US" dirty="0" smtClean="0"/>
              <a:t>Documentation</a:t>
            </a:r>
          </a:p>
          <a:p>
            <a:r>
              <a:rPr lang="en-US" dirty="0" smtClean="0"/>
              <a:t>Tutorials</a:t>
            </a:r>
          </a:p>
          <a:p>
            <a:r>
              <a:rPr lang="en-US" dirty="0" smtClean="0"/>
              <a:t>Link to source code</a:t>
            </a:r>
            <a:endParaRPr lang="en-US" dirty="0"/>
          </a:p>
        </p:txBody>
      </p:sp>
      <p:pic>
        <p:nvPicPr>
          <p:cNvPr id="7" name="Picture 6"/>
          <p:cNvPicPr/>
          <p:nvPr/>
        </p:nvPicPr>
        <p:blipFill rotWithShape="1">
          <a:blip r:embed="rId3"/>
          <a:srcRect l="62155" t="10750" r="5067" b="6325"/>
          <a:stretch/>
        </p:blipFill>
        <p:spPr bwMode="auto">
          <a:xfrm>
            <a:off x="251520" y="1291524"/>
            <a:ext cx="6336704" cy="415004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90" t="20089" r="60185" b="27704"/>
          <a:stretch/>
        </p:blipFill>
        <p:spPr bwMode="auto">
          <a:xfrm>
            <a:off x="4283968" y="3356992"/>
            <a:ext cx="4237866" cy="27748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5965801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>
                <a:latin typeface="Calibri" pitchFamily="34" charset="0"/>
              </a:rPr>
              <a:t>GitHub</a:t>
            </a:r>
            <a:endParaRPr lang="en-US" dirty="0" smtClean="0">
              <a:latin typeface="Calibri" pitchFamily="34" charset="0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179512" y="2497432"/>
            <a:ext cx="3286921" cy="2155704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Arial" charset="0"/>
              <a:cs typeface="DejaVu Sans" pitchFamily="34" charset="0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755304" y="3085351"/>
            <a:ext cx="2286112" cy="143713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Arial" charset="0"/>
              <a:cs typeface="DejaVu Sans" pitchFamily="34" charset="0"/>
            </a:endParaRPr>
          </a:p>
        </p:txBody>
      </p:sp>
      <p:sp>
        <p:nvSpPr>
          <p:cNvPr id="33" name="Textfeld 2"/>
          <p:cNvSpPr txBox="1"/>
          <p:nvPr/>
        </p:nvSpPr>
        <p:spPr>
          <a:xfrm rot="16200000">
            <a:off x="3081730" y="3402601"/>
            <a:ext cx="460860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API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4" name="Textfeld 2"/>
          <p:cNvSpPr txBox="1"/>
          <p:nvPr/>
        </p:nvSpPr>
        <p:spPr>
          <a:xfrm>
            <a:off x="819172" y="4147157"/>
            <a:ext cx="2158376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HELM Notation Toolkit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5" name="Rounded Rectangle 34"/>
          <p:cNvSpPr/>
          <p:nvPr/>
        </p:nvSpPr>
        <p:spPr bwMode="auto">
          <a:xfrm>
            <a:off x="298082" y="2628081"/>
            <a:ext cx="2286112" cy="143713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Arial" charset="0"/>
              <a:cs typeface="DejaVu Sans" pitchFamily="34" charset="0"/>
            </a:endParaRPr>
          </a:p>
        </p:txBody>
      </p:sp>
      <p:sp>
        <p:nvSpPr>
          <p:cNvPr id="36" name="Textfeld 2"/>
          <p:cNvSpPr txBox="1"/>
          <p:nvPr/>
        </p:nvSpPr>
        <p:spPr>
          <a:xfrm>
            <a:off x="808610" y="3181421"/>
            <a:ext cx="1265055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HELM Editor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7946" y="6371377"/>
            <a:ext cx="3751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+mn-lt"/>
              </a:rPr>
              <a:t>https://github.com/PistoiaHELM</a:t>
            </a:r>
            <a:endParaRPr lang="en-US" dirty="0">
              <a:latin typeface="+mn-lt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1253765"/>
            <a:ext cx="4632002" cy="293458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692" b="42554"/>
          <a:stretch/>
        </p:blipFill>
        <p:spPr bwMode="auto">
          <a:xfrm>
            <a:off x="4067944" y="2996952"/>
            <a:ext cx="4924045" cy="29634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Content Placeholder 1"/>
          <p:cNvSpPr txBox="1">
            <a:spLocks/>
          </p:cNvSpPr>
          <p:nvPr/>
        </p:nvSpPr>
        <p:spPr>
          <a:xfrm>
            <a:off x="323528" y="5085185"/>
            <a:ext cx="2808312" cy="64807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r>
              <a:rPr lang="en-US" sz="1800" dirty="0" smtClean="0"/>
              <a:t>Source Code</a:t>
            </a:r>
          </a:p>
          <a:p>
            <a:r>
              <a:rPr lang="en-US" sz="1800" dirty="0" smtClean="0"/>
              <a:t>HELM Applet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156411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Building the HELM Ecosystem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0807"/>
            <a:ext cx="8229600" cy="4242793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smtClean="0"/>
              <a:t>Software vendors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err="1" smtClean="0"/>
              <a:t>Accelrys</a:t>
            </a:r>
            <a:r>
              <a:rPr lang="en-US" sz="2000" dirty="0" smtClean="0"/>
              <a:t>, </a:t>
            </a:r>
            <a:r>
              <a:rPr lang="en-US" sz="2000" dirty="0" err="1" smtClean="0"/>
              <a:t>BioMax</a:t>
            </a:r>
            <a:r>
              <a:rPr lang="en-US" sz="2000" dirty="0" smtClean="0"/>
              <a:t>, </a:t>
            </a:r>
            <a:r>
              <a:rPr lang="en-US" sz="2000" dirty="0" err="1" smtClean="0"/>
              <a:t>ChemAxon</a:t>
            </a:r>
            <a:r>
              <a:rPr lang="en-US" sz="2000" dirty="0" smtClean="0"/>
              <a:t>, </a:t>
            </a:r>
            <a:r>
              <a:rPr lang="en-US" sz="2000" dirty="0" err="1" smtClean="0"/>
              <a:t>NextMove</a:t>
            </a:r>
            <a:r>
              <a:rPr lang="en-US" sz="2000" dirty="0" smtClean="0"/>
              <a:t>, </a:t>
            </a:r>
            <a:r>
              <a:rPr lang="en-US" sz="2000" dirty="0" err="1" smtClean="0"/>
              <a:t>Scilligence</a:t>
            </a:r>
            <a:endParaRPr lang="en-US" sz="2000" dirty="0" smtClean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err="1" smtClean="0"/>
              <a:t>Pharma</a:t>
            </a:r>
            <a:r>
              <a:rPr lang="en-US" sz="2400" dirty="0" smtClean="0"/>
              <a:t> / Biotech / Institutes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smtClean="0"/>
              <a:t>Pfizer, Roche, </a:t>
            </a:r>
            <a:r>
              <a:rPr lang="en-US" sz="2000" dirty="0" err="1" smtClean="0"/>
              <a:t>Lundbeck</a:t>
            </a:r>
            <a:r>
              <a:rPr lang="en-US" sz="2000" dirty="0" smtClean="0"/>
              <a:t>, etc.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smtClean="0"/>
              <a:t>Content Providers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smtClean="0"/>
              <a:t>EBI (</a:t>
            </a:r>
            <a:r>
              <a:rPr lang="en-US" sz="2000" dirty="0" err="1" smtClean="0"/>
              <a:t>ChEMBL</a:t>
            </a:r>
            <a:r>
              <a:rPr lang="en-US" sz="2000" dirty="0" smtClean="0"/>
              <a:t>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smtClean="0"/>
              <a:t>Next: Regulatory Agencies</a:t>
            </a:r>
            <a:endParaRPr lang="en-US" sz="2400" dirty="0" smtClean="0"/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smtClean="0"/>
              <a:t>FDA, etc</a:t>
            </a:r>
            <a:r>
              <a:rPr lang="en-US" sz="2000" dirty="0" smtClean="0"/>
              <a:t>.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endParaRPr lang="en-US" sz="2000" dirty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smtClean="0"/>
              <a:t>HELM</a:t>
            </a:r>
            <a:r>
              <a:rPr lang="en-US" sz="2400" dirty="0"/>
              <a:t> </a:t>
            </a:r>
            <a:r>
              <a:rPr lang="en-US" sz="2400" dirty="0" smtClean="0"/>
              <a:t>improvements</a:t>
            </a:r>
            <a:endParaRPr lang="en-US" sz="24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616" y="3212976"/>
            <a:ext cx="2844800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22948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HELM Team Members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403176"/>
            <a:ext cx="4038600" cy="46783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 smtClean="0"/>
              <a:t>Our team Members (</a:t>
            </a:r>
            <a:r>
              <a:rPr lang="en-US" sz="1400" b="1" i="1" u="sng" dirty="0" smtClean="0"/>
              <a:t>Subteam leads</a:t>
            </a:r>
            <a:r>
              <a:rPr lang="en-US" sz="1400" b="1" dirty="0" smtClean="0"/>
              <a:t>)</a:t>
            </a:r>
          </a:p>
          <a:p>
            <a:r>
              <a:rPr lang="en-US" sz="1200" b="1" i="1" u="sng" dirty="0" err="1" smtClean="0"/>
              <a:t>Akos</a:t>
            </a:r>
            <a:r>
              <a:rPr lang="en-US" sz="1200" b="1" i="1" u="sng" dirty="0" smtClean="0"/>
              <a:t> </a:t>
            </a:r>
            <a:r>
              <a:rPr lang="en-US" sz="1200" b="1" i="1" u="sng" dirty="0"/>
              <a:t>Papp (</a:t>
            </a:r>
            <a:r>
              <a:rPr lang="en-US" sz="1200" b="1" i="1" u="sng" dirty="0" err="1"/>
              <a:t>ChemAxon</a:t>
            </a:r>
            <a:r>
              <a:rPr lang="en-US" sz="1200" b="1" i="1" u="sng" dirty="0"/>
              <a:t>)</a:t>
            </a:r>
          </a:p>
          <a:p>
            <a:r>
              <a:rPr lang="en-US" sz="1200" dirty="0"/>
              <a:t>Alex </a:t>
            </a:r>
            <a:r>
              <a:rPr lang="en-US" sz="1200" dirty="0" err="1"/>
              <a:t>Allardyce</a:t>
            </a:r>
            <a:r>
              <a:rPr lang="en-US" sz="1200" dirty="0"/>
              <a:t> (</a:t>
            </a:r>
            <a:r>
              <a:rPr lang="en-US" sz="1200" dirty="0" err="1"/>
              <a:t>ChemAxon</a:t>
            </a:r>
            <a:r>
              <a:rPr lang="en-US" sz="1200" dirty="0"/>
              <a:t>)</a:t>
            </a:r>
          </a:p>
          <a:p>
            <a:r>
              <a:rPr lang="en-US" sz="1200" dirty="0"/>
              <a:t>Alex </a:t>
            </a:r>
            <a:r>
              <a:rPr lang="en-US" sz="1200" dirty="0" err="1"/>
              <a:t>Drijver</a:t>
            </a:r>
            <a:r>
              <a:rPr lang="en-US" sz="1200" dirty="0"/>
              <a:t> (</a:t>
            </a:r>
            <a:r>
              <a:rPr lang="en-US" sz="1200" dirty="0" err="1"/>
              <a:t>ChemAxon</a:t>
            </a:r>
            <a:r>
              <a:rPr lang="en-US" sz="1200" dirty="0"/>
              <a:t>)</a:t>
            </a:r>
          </a:p>
          <a:p>
            <a:r>
              <a:rPr lang="en-US" sz="1200" dirty="0" err="1"/>
              <a:t>Andrey</a:t>
            </a:r>
            <a:r>
              <a:rPr lang="en-US" sz="1200" dirty="0"/>
              <a:t> </a:t>
            </a:r>
            <a:r>
              <a:rPr lang="en-US" sz="1200" dirty="0" err="1"/>
              <a:t>Yerin</a:t>
            </a:r>
            <a:r>
              <a:rPr lang="en-US" sz="1200" dirty="0"/>
              <a:t> (ACD labs)</a:t>
            </a:r>
          </a:p>
          <a:p>
            <a:r>
              <a:rPr lang="en-US" sz="1200" dirty="0"/>
              <a:t>Dana </a:t>
            </a:r>
            <a:r>
              <a:rPr lang="en-US" sz="1200" dirty="0" err="1"/>
              <a:t>Vanderwall</a:t>
            </a:r>
            <a:r>
              <a:rPr lang="en-US" sz="1200" dirty="0"/>
              <a:t> (BMS)</a:t>
            </a:r>
          </a:p>
          <a:p>
            <a:r>
              <a:rPr lang="en-US" sz="1200" dirty="0"/>
              <a:t>Ed Currie (</a:t>
            </a:r>
            <a:r>
              <a:rPr lang="en-US" sz="1200" dirty="0" err="1"/>
              <a:t>InfoSys</a:t>
            </a:r>
            <a:r>
              <a:rPr lang="en-US" sz="1200" dirty="0"/>
              <a:t>)</a:t>
            </a:r>
          </a:p>
          <a:p>
            <a:r>
              <a:rPr lang="en-US" sz="1200" dirty="0" err="1"/>
              <a:t>Edvard</a:t>
            </a:r>
            <a:r>
              <a:rPr lang="en-US" sz="1200" dirty="0"/>
              <a:t> </a:t>
            </a:r>
            <a:r>
              <a:rPr lang="en-US" sz="1200" dirty="0" err="1"/>
              <a:t>Buki</a:t>
            </a:r>
            <a:r>
              <a:rPr lang="en-US" sz="1200" dirty="0"/>
              <a:t> (</a:t>
            </a:r>
            <a:r>
              <a:rPr lang="en-US" sz="1200" dirty="0" err="1"/>
              <a:t>ChemAxon</a:t>
            </a:r>
            <a:r>
              <a:rPr lang="en-US" sz="1200" dirty="0"/>
              <a:t>)</a:t>
            </a:r>
          </a:p>
          <a:p>
            <a:r>
              <a:rPr lang="en-US" sz="1200" dirty="0"/>
              <a:t>Hans de </a:t>
            </a:r>
            <a:r>
              <a:rPr lang="en-US" sz="1200" dirty="0" err="1"/>
              <a:t>Bie</a:t>
            </a:r>
            <a:r>
              <a:rPr lang="en-US" sz="1200" dirty="0"/>
              <a:t> (</a:t>
            </a:r>
            <a:r>
              <a:rPr lang="en-US" sz="1200" dirty="0" err="1"/>
              <a:t>ACDLabs</a:t>
            </a:r>
            <a:r>
              <a:rPr lang="en-US" sz="1200" dirty="0"/>
              <a:t>)</a:t>
            </a:r>
          </a:p>
          <a:p>
            <a:r>
              <a:rPr lang="en-US" sz="1200" dirty="0"/>
              <a:t>Ian Stott (Unilever)</a:t>
            </a:r>
          </a:p>
          <a:p>
            <a:r>
              <a:rPr lang="en-US" sz="1200" dirty="0"/>
              <a:t>Jerry Winter (Unilever)</a:t>
            </a:r>
          </a:p>
          <a:p>
            <a:r>
              <a:rPr lang="en-US" sz="1200" dirty="0" err="1"/>
              <a:t>Jinbo</a:t>
            </a:r>
            <a:r>
              <a:rPr lang="en-US" sz="1200" dirty="0"/>
              <a:t> Lee (</a:t>
            </a:r>
            <a:r>
              <a:rPr lang="en-US" sz="1200" dirty="0" err="1"/>
              <a:t>Scilligence</a:t>
            </a:r>
            <a:r>
              <a:rPr lang="en-US" sz="1200" dirty="0"/>
              <a:t>)</a:t>
            </a:r>
          </a:p>
          <a:p>
            <a:r>
              <a:rPr lang="en-US" sz="1200" dirty="0"/>
              <a:t>John Smith (GSK)</a:t>
            </a:r>
          </a:p>
          <a:p>
            <a:r>
              <a:rPr lang="en-US" sz="1200" b="1" i="1" u="sng" dirty="0"/>
              <a:t>John Wise (Pistoia)</a:t>
            </a:r>
          </a:p>
          <a:p>
            <a:r>
              <a:rPr lang="en-US" sz="1200" dirty="0"/>
              <a:t>Keith Taylor (</a:t>
            </a:r>
            <a:r>
              <a:rPr lang="en-US" sz="1200" dirty="0" err="1"/>
              <a:t>Accelrys</a:t>
            </a:r>
            <a:r>
              <a:rPr lang="en-US" sz="1200" dirty="0"/>
              <a:t>)</a:t>
            </a:r>
          </a:p>
          <a:p>
            <a:r>
              <a:rPr lang="en-US" sz="1200" dirty="0" err="1"/>
              <a:t>Kirti</a:t>
            </a:r>
            <a:r>
              <a:rPr lang="en-US" sz="1200" dirty="0"/>
              <a:t> Jindal (</a:t>
            </a:r>
            <a:r>
              <a:rPr lang="en-US" sz="1200" dirty="0" err="1"/>
              <a:t>InfoSys</a:t>
            </a:r>
            <a:r>
              <a:rPr lang="en-US" sz="1200" dirty="0"/>
              <a:t>)</a:t>
            </a:r>
          </a:p>
          <a:p>
            <a:r>
              <a:rPr lang="en-US" sz="1200" b="1" i="1" u="sng" dirty="0"/>
              <a:t>Matthias Nolte (BMS)</a:t>
            </a:r>
          </a:p>
          <a:p>
            <a:r>
              <a:rPr lang="en-US" sz="1200" dirty="0"/>
              <a:t>Michael Cui (GSK)</a:t>
            </a:r>
          </a:p>
          <a:p>
            <a:r>
              <a:rPr lang="en-US" sz="1200" dirty="0"/>
              <a:t>Mike Travers (CDD)</a:t>
            </a:r>
          </a:p>
          <a:p>
            <a:r>
              <a:rPr lang="en-US" sz="1200" dirty="0"/>
              <a:t>Rama </a:t>
            </a:r>
            <a:r>
              <a:rPr lang="en-US" sz="1200" dirty="0" err="1"/>
              <a:t>Bhamidpati</a:t>
            </a:r>
            <a:r>
              <a:rPr lang="en-US" sz="1200" dirty="0"/>
              <a:t> (GSK</a:t>
            </a:r>
            <a:r>
              <a:rPr lang="en-US" sz="1200" dirty="0" smtClean="0"/>
              <a:t>)</a:t>
            </a:r>
            <a:endParaRPr lang="en-US" sz="12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403176"/>
            <a:ext cx="4038600" cy="4678363"/>
          </a:xfrm>
        </p:spPr>
        <p:txBody>
          <a:bodyPr>
            <a:noAutofit/>
          </a:bodyPr>
          <a:lstStyle/>
          <a:p>
            <a:r>
              <a:rPr lang="en-US" sz="1200" dirty="0"/>
              <a:t>Roland </a:t>
            </a:r>
            <a:r>
              <a:rPr lang="en-US" sz="1200" dirty="0" err="1"/>
              <a:t>Knispel</a:t>
            </a:r>
            <a:r>
              <a:rPr lang="en-US" sz="1200" dirty="0"/>
              <a:t> (</a:t>
            </a:r>
            <a:r>
              <a:rPr lang="en-US" sz="1200" dirty="0" err="1"/>
              <a:t>ChemAxon</a:t>
            </a:r>
            <a:r>
              <a:rPr lang="en-US" sz="1200" dirty="0"/>
              <a:t>)</a:t>
            </a:r>
          </a:p>
          <a:p>
            <a:r>
              <a:rPr lang="en-US" sz="1200" dirty="0"/>
              <a:t>Roland Molnar </a:t>
            </a:r>
            <a:r>
              <a:rPr lang="en-US" sz="1200" dirty="0" smtClean="0"/>
              <a:t>(</a:t>
            </a:r>
            <a:r>
              <a:rPr lang="en-US" sz="1200" dirty="0" err="1" smtClean="0"/>
              <a:t>ChemAxon</a:t>
            </a:r>
            <a:r>
              <a:rPr lang="en-US" sz="1200" dirty="0" smtClean="0"/>
              <a:t>)</a:t>
            </a:r>
            <a:endParaRPr lang="en-US" sz="1200" dirty="0"/>
          </a:p>
          <a:p>
            <a:r>
              <a:rPr lang="en-US" sz="1200" b="1" i="1" u="sng" dirty="0"/>
              <a:t>Sergio Rotstein (Pfizer)</a:t>
            </a:r>
          </a:p>
          <a:p>
            <a:r>
              <a:rPr lang="en-US" sz="1200" dirty="0"/>
              <a:t>Stefan </a:t>
            </a:r>
            <a:r>
              <a:rPr lang="en-US" sz="1200" dirty="0" err="1"/>
              <a:t>Klostermann</a:t>
            </a:r>
            <a:r>
              <a:rPr lang="en-US" sz="1200" dirty="0"/>
              <a:t> (Roche)</a:t>
            </a:r>
          </a:p>
          <a:p>
            <a:r>
              <a:rPr lang="en-US" sz="1200" dirty="0"/>
              <a:t>Ted Slater (</a:t>
            </a:r>
            <a:r>
              <a:rPr lang="en-US" sz="1200" dirty="0" err="1"/>
              <a:t>OpenBEL</a:t>
            </a:r>
            <a:r>
              <a:rPr lang="en-US" sz="1200" dirty="0"/>
              <a:t>)</a:t>
            </a:r>
          </a:p>
          <a:p>
            <a:r>
              <a:rPr lang="en-US" sz="1200" b="1" i="1" u="sng" dirty="0" err="1"/>
              <a:t>Tianhong</a:t>
            </a:r>
            <a:r>
              <a:rPr lang="en-US" sz="1200" b="1" i="1" u="sng" dirty="0"/>
              <a:t> Zhang (Pfizer)</a:t>
            </a:r>
          </a:p>
          <a:p>
            <a:r>
              <a:rPr lang="en-US" sz="1200" dirty="0"/>
              <a:t>Tony Yuan (</a:t>
            </a:r>
            <a:r>
              <a:rPr lang="en-US" sz="1200" dirty="0" err="1"/>
              <a:t>Scilligence</a:t>
            </a:r>
            <a:r>
              <a:rPr lang="en-US" sz="1200" dirty="0"/>
              <a:t>)</a:t>
            </a:r>
            <a:endParaRPr lang="en-US" sz="1200" dirty="0" smtClean="0"/>
          </a:p>
          <a:p>
            <a:pPr marL="0" indent="0">
              <a:buNone/>
            </a:pPr>
            <a:endParaRPr lang="en-US" sz="1200" dirty="0" smtClean="0"/>
          </a:p>
          <a:p>
            <a:pPr marL="0" indent="0">
              <a:buNone/>
            </a:pPr>
            <a:r>
              <a:rPr lang="en-US" sz="1400" b="1" dirty="0" smtClean="0"/>
              <a:t>Our Steering Committee</a:t>
            </a:r>
          </a:p>
          <a:p>
            <a:r>
              <a:rPr lang="en-US" sz="1200" dirty="0" smtClean="0"/>
              <a:t>John </a:t>
            </a:r>
            <a:r>
              <a:rPr lang="en-US" sz="1200" dirty="0"/>
              <a:t>Wise (Pistoia Alliance</a:t>
            </a:r>
            <a:r>
              <a:rPr lang="en-US" sz="1200" dirty="0" smtClean="0"/>
              <a:t>)</a:t>
            </a:r>
          </a:p>
          <a:p>
            <a:r>
              <a:rPr lang="en-US" sz="1200" dirty="0" smtClean="0"/>
              <a:t>Margret </a:t>
            </a:r>
            <a:r>
              <a:rPr lang="en-US" sz="1200" dirty="0" err="1"/>
              <a:t>Assfalg</a:t>
            </a:r>
            <a:r>
              <a:rPr lang="en-US" sz="1200" dirty="0"/>
              <a:t> (Roche</a:t>
            </a:r>
            <a:r>
              <a:rPr lang="en-US" sz="1200" dirty="0" smtClean="0"/>
              <a:t>)</a:t>
            </a:r>
          </a:p>
          <a:p>
            <a:r>
              <a:rPr lang="en-US" sz="1200" dirty="0" smtClean="0"/>
              <a:t>Leah </a:t>
            </a:r>
            <a:r>
              <a:rPr lang="en-US" sz="1200" dirty="0"/>
              <a:t>O'Brien (GSK</a:t>
            </a:r>
            <a:r>
              <a:rPr lang="en-US" sz="1200" dirty="0" smtClean="0"/>
              <a:t>)</a:t>
            </a:r>
          </a:p>
          <a:p>
            <a:r>
              <a:rPr lang="en-US" sz="1200" dirty="0" smtClean="0"/>
              <a:t>Ramesh </a:t>
            </a:r>
            <a:r>
              <a:rPr lang="en-US" sz="1200" dirty="0" err="1"/>
              <a:t>Dervasula</a:t>
            </a:r>
            <a:r>
              <a:rPr lang="en-US" sz="1200" dirty="0"/>
              <a:t> (BMS)  </a:t>
            </a:r>
            <a:endParaRPr lang="en-US" sz="1200" dirty="0" smtClean="0"/>
          </a:p>
          <a:p>
            <a:r>
              <a:rPr lang="en-US" sz="1200" dirty="0" smtClean="0"/>
              <a:t>Sergio </a:t>
            </a:r>
            <a:r>
              <a:rPr lang="en-US" sz="1200" dirty="0" smtClean="0"/>
              <a:t>Rotstein (</a:t>
            </a:r>
            <a:r>
              <a:rPr lang="en-US" sz="1200" dirty="0"/>
              <a:t>Pfizer) </a:t>
            </a:r>
            <a:endParaRPr lang="en-US" sz="1200" dirty="0" smtClean="0"/>
          </a:p>
          <a:p>
            <a:r>
              <a:rPr lang="en-US" sz="1200" dirty="0" smtClean="0"/>
              <a:t>Alex </a:t>
            </a:r>
            <a:r>
              <a:rPr lang="en-US" sz="1200" dirty="0" err="1"/>
              <a:t>Drijver</a:t>
            </a:r>
            <a:r>
              <a:rPr lang="en-US" sz="1200" dirty="0"/>
              <a:t> (</a:t>
            </a:r>
            <a:r>
              <a:rPr lang="en-US" sz="1200" dirty="0" err="1"/>
              <a:t>ChemAxon</a:t>
            </a:r>
            <a:r>
              <a:rPr lang="en-US" sz="1200" dirty="0" smtClean="0"/>
              <a:t>)</a:t>
            </a:r>
          </a:p>
          <a:p>
            <a:r>
              <a:rPr lang="en-US" sz="1200" dirty="0" smtClean="0"/>
              <a:t>Chris Waller (Merck)</a:t>
            </a:r>
            <a:endParaRPr lang="en-US" sz="1200" dirty="0" smtClean="0"/>
          </a:p>
          <a:p>
            <a:pPr marL="0" indent="0">
              <a:buNone/>
            </a:pPr>
            <a:endParaRPr lang="en-US" sz="1200" dirty="0" smtClean="0"/>
          </a:p>
          <a:p>
            <a:pPr marL="0" indent="0">
              <a:buNone/>
            </a:pPr>
            <a:r>
              <a:rPr lang="en-US" sz="1400" b="1" dirty="0" smtClean="0"/>
              <a:t>Our </a:t>
            </a:r>
            <a:r>
              <a:rPr lang="en-US" sz="1400" b="1" u="sng" dirty="0" smtClean="0"/>
              <a:t>Excellent</a:t>
            </a:r>
            <a:r>
              <a:rPr lang="en-US" sz="1400" b="1" dirty="0" smtClean="0"/>
              <a:t> Project Manager</a:t>
            </a:r>
          </a:p>
          <a:p>
            <a:r>
              <a:rPr lang="en-US" sz="1200" dirty="0" smtClean="0"/>
              <a:t>Claire Bellamy</a:t>
            </a:r>
            <a:endParaRPr lang="en-US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6127576"/>
            <a:ext cx="7868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002060"/>
                </a:solidFill>
              </a:rPr>
              <a:t>Special thanks to </a:t>
            </a:r>
            <a:r>
              <a:rPr lang="en-US" sz="1400" dirty="0" err="1" smtClean="0">
                <a:solidFill>
                  <a:srgbClr val="002060"/>
                </a:solidFill>
              </a:rPr>
              <a:t>ChemAxon</a:t>
            </a:r>
            <a:r>
              <a:rPr lang="en-US" sz="1400" dirty="0" smtClean="0">
                <a:solidFill>
                  <a:srgbClr val="002060"/>
                </a:solidFill>
              </a:rPr>
              <a:t> for their generous contribution of software development resources!!</a:t>
            </a:r>
            <a:endParaRPr lang="en-US" sz="1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091863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1000" y="1277171"/>
            <a:ext cx="3657600" cy="3375965"/>
          </a:xfrm>
          <a:prstGeom prst="rect">
            <a:avLst/>
          </a:prstGeom>
        </p:spPr>
      </p:pic>
      <p:pic>
        <p:nvPicPr>
          <p:cNvPr id="6146" name="Picture 2" descr="https://encrypted-tbn1.gstatic.com/images?q=tbn:ANd9GcQWDFTNiPX4wvSnXqU9UhM4Vke6fndUt18HhU2hbypOFTe9sN5b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3825" y="1238163"/>
            <a:ext cx="2338535" cy="2338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185019" y="3717032"/>
            <a:ext cx="29342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 smtClean="0"/>
              <a:t>www.OpenHelm.org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err="1" smtClean="0"/>
              <a:t>info@openhelm.org</a:t>
            </a:r>
            <a:endParaRPr lang="en-US" sz="2400" dirty="0"/>
          </a:p>
        </p:txBody>
      </p:sp>
      <p:pic>
        <p:nvPicPr>
          <p:cNvPr id="7" name="Picture 6" descr="HELM_logo_full_rgb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836" y="5126242"/>
            <a:ext cx="4703420" cy="154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34058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Rba3vloQ0KlJiWnv3AnG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8SjqKDXCkyuyAtIIp11m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4XRRJEPxE.tW.yHgwWa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Agp.jZFokOOggcVPez7i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b779hdb4ES1Hap6vgwbU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b779hdb4ES1Hap6vgwbU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xSMNv4lqUmP1Y2zkRlVc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u5rApjO8E2iX2.V3R.kL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zKM2bZydUSfRu7gaFm8l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EZPjALjrEyt2aNa_W2cM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3NrksexuU6CLx7WOC7bo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b779hdb4ES1Hap6vgwbU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SLev7rnxECrToqfYDgP.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y7GlnjJj0.hR._N4CCzE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_Aaswfcr0CSUfAjDK45Lw"/>
</p:tagLst>
</file>

<file path=ppt/theme/theme1.xml><?xml version="1.0" encoding="utf-8"?>
<a:theme xmlns:a="http://schemas.openxmlformats.org/drawingml/2006/main" name="Pistoia templat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CDD2B4ACA51342B7A34052BCBF2160" ma:contentTypeVersion="0" ma:contentTypeDescription="Create a new document." ma:contentTypeScope="" ma:versionID="d813433c3743a571253c4b1ba9d83e6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ef95f639f373cbb55f09436e78c8dbc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235EAD9-C5DA-44F0-8DD2-086E905305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E98A8BA-6417-415C-A6BE-5669C01C0F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C90D5E0-5BE7-4B9D-B7B6-BEA320FB97AD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7356</TotalTime>
  <Words>852</Words>
  <Application>Microsoft Macintosh PowerPoint</Application>
  <PresentationFormat>On-screen Show (4:3)</PresentationFormat>
  <Paragraphs>150</Paragraphs>
  <Slides>23</Slides>
  <Notes>8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Pistoia template</vt:lpstr>
      <vt:lpstr>MarvinOLE</vt:lpstr>
      <vt:lpstr>PowerPoint Presentation</vt:lpstr>
      <vt:lpstr>The Pistoia Alliance…</vt:lpstr>
      <vt:lpstr>Pistoia Alliance Membership</vt:lpstr>
      <vt:lpstr>Background</vt:lpstr>
      <vt:lpstr>What is a “Biomolecule”</vt:lpstr>
      <vt:lpstr>Biomolecules: Stuck in the middle…</vt:lpstr>
      <vt:lpstr>“Fit-for-Purpose” Structure Representation</vt:lpstr>
      <vt:lpstr>“Fit-for-Purpose” Structure Representation</vt:lpstr>
      <vt:lpstr>Hierarchical Editing Language for Macromolecules</vt:lpstr>
      <vt:lpstr>Example: Linear Peptide</vt:lpstr>
      <vt:lpstr>Example: Linear Oligonucleotide</vt:lpstr>
      <vt:lpstr>Example: Stem-loops (e.g. Tetraloops)</vt:lpstr>
      <vt:lpstr>Example: Oligonucleotide Peptide Conjugate</vt:lpstr>
      <vt:lpstr>Monomer Database</vt:lpstr>
      <vt:lpstr>HELM at Pfizer: Drawing</vt:lpstr>
      <vt:lpstr>HELM at Pfizer: Registration</vt:lpstr>
      <vt:lpstr>HELM at Pfizer: Analysis &amp; Design</vt:lpstr>
      <vt:lpstr>Pistoia HELM Project Objective</vt:lpstr>
      <vt:lpstr>OpenHelm.Org</vt:lpstr>
      <vt:lpstr>GitHub</vt:lpstr>
      <vt:lpstr>Building the HELM Ecosystem</vt:lpstr>
      <vt:lpstr>HELM Team Members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BLAST/FASTA</dc:title>
  <dc:creator>john_joseph_smith@hotmail.com</dc:creator>
  <cp:lastModifiedBy>Sergio Rotstein</cp:lastModifiedBy>
  <cp:revision>198</cp:revision>
  <cp:lastPrinted>2013-09-20T15:04:55Z</cp:lastPrinted>
  <dcterms:created xsi:type="dcterms:W3CDTF">2013-02-18T10:26:54Z</dcterms:created>
  <dcterms:modified xsi:type="dcterms:W3CDTF">2014-04-30T17:37:34Z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0x0101004CCDD2B4ACA51342B7A34052BCBF2160</vt:lpwstr>
  </property>
  <property fmtid="{D5CDD505-2E9C-101B-9397-08002B2CF9AE}" pid="3" name="IsMyDocuments">
    <vt:bool>true</vt:bool>
  </property>
</Properties>
</file>