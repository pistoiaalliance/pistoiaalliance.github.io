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 id="2147483697" r:id="rId2"/>
  </p:sldMasterIdLst>
  <p:notesMasterIdLst>
    <p:notesMasterId r:id="rId43"/>
  </p:notesMasterIdLst>
  <p:handoutMasterIdLst>
    <p:handoutMasterId r:id="rId44"/>
  </p:handoutMasterIdLst>
  <p:sldIdLst>
    <p:sldId id="503" r:id="rId3"/>
    <p:sldId id="256" r:id="rId4"/>
    <p:sldId id="394" r:id="rId5"/>
    <p:sldId id="519" r:id="rId6"/>
    <p:sldId id="511" r:id="rId7"/>
    <p:sldId id="512" r:id="rId8"/>
    <p:sldId id="396" r:id="rId9"/>
    <p:sldId id="405" r:id="rId10"/>
    <p:sldId id="504" r:id="rId11"/>
    <p:sldId id="422" r:id="rId12"/>
    <p:sldId id="505" r:id="rId13"/>
    <p:sldId id="517" r:id="rId14"/>
    <p:sldId id="523" r:id="rId15"/>
    <p:sldId id="518" r:id="rId16"/>
    <p:sldId id="460" r:id="rId17"/>
    <p:sldId id="461" r:id="rId18"/>
    <p:sldId id="462" r:id="rId19"/>
    <p:sldId id="463" r:id="rId20"/>
    <p:sldId id="502" r:id="rId21"/>
    <p:sldId id="477" r:id="rId22"/>
    <p:sldId id="486" r:id="rId23"/>
    <p:sldId id="501" r:id="rId24"/>
    <p:sldId id="479" r:id="rId25"/>
    <p:sldId id="480" r:id="rId26"/>
    <p:sldId id="419" r:id="rId27"/>
    <p:sldId id="487" r:id="rId28"/>
    <p:sldId id="520" r:id="rId29"/>
    <p:sldId id="488" r:id="rId30"/>
    <p:sldId id="489" r:id="rId31"/>
    <p:sldId id="485" r:id="rId32"/>
    <p:sldId id="521" r:id="rId33"/>
    <p:sldId id="466" r:id="rId34"/>
    <p:sldId id="490" r:id="rId35"/>
    <p:sldId id="522" r:id="rId36"/>
    <p:sldId id="499" r:id="rId37"/>
    <p:sldId id="500" r:id="rId38"/>
    <p:sldId id="498" r:id="rId39"/>
    <p:sldId id="494" r:id="rId40"/>
    <p:sldId id="495" r:id="rId41"/>
    <p:sldId id="385" r:id="rId42"/>
  </p:sldIdLst>
  <p:sldSz cx="12192000" cy="6858000"/>
  <p:notesSz cx="6889750" cy="1002188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57" userDrawn="1">
          <p15:clr>
            <a:srgbClr val="A4A3A4"/>
          </p15:clr>
        </p15:guide>
        <p15:guide id="2" pos="217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8B96"/>
    <a:srgbClr val="666E71"/>
    <a:srgbClr val="1A1C1E"/>
    <a:srgbClr val="2103D5"/>
    <a:srgbClr val="FFFFFF"/>
    <a:srgbClr val="4C5156"/>
    <a:srgbClr val="249797"/>
    <a:srgbClr val="259958"/>
    <a:srgbClr val="8189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1" autoAdjust="0"/>
    <p:restoredTop sz="62881" autoAdjust="0"/>
  </p:normalViewPr>
  <p:slideViewPr>
    <p:cSldViewPr snapToObjects="1" showGuides="1">
      <p:cViewPr varScale="1">
        <p:scale>
          <a:sx n="77" d="100"/>
          <a:sy n="77" d="100"/>
        </p:scale>
        <p:origin x="212" y="56"/>
      </p:cViewPr>
      <p:guideLst>
        <p:guide orient="horz" pos="2112"/>
        <p:guide pos="3840"/>
      </p:guideLst>
    </p:cSldViewPr>
  </p:slideViewPr>
  <p:outlineViewPr>
    <p:cViewPr>
      <p:scale>
        <a:sx n="33" d="100"/>
        <a:sy n="33" d="100"/>
      </p:scale>
      <p:origin x="0" y="-13819"/>
    </p:cViewPr>
  </p:outlineViewPr>
  <p:notesTextViewPr>
    <p:cViewPr>
      <p:scale>
        <a:sx n="150" d="100"/>
        <a:sy n="150" d="100"/>
      </p:scale>
      <p:origin x="0" y="0"/>
    </p:cViewPr>
  </p:notesTextViewPr>
  <p:sorterViewPr>
    <p:cViewPr varScale="1">
      <p:scale>
        <a:sx n="1" d="1"/>
        <a:sy n="1" d="1"/>
      </p:scale>
      <p:origin x="0" y="0"/>
    </p:cViewPr>
  </p:sorterViewPr>
  <p:notesViewPr>
    <p:cSldViewPr snapToObjects="1">
      <p:cViewPr varScale="1">
        <p:scale>
          <a:sx n="82" d="100"/>
          <a:sy n="82" d="100"/>
        </p:scale>
        <p:origin x="3382" y="74"/>
      </p:cViewPr>
      <p:guideLst>
        <p:guide orient="horz" pos="3157"/>
        <p:guide pos="217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29658" y="250547"/>
            <a:ext cx="4899378" cy="501094"/>
          </a:xfrm>
          <a:prstGeom prst="rect">
            <a:avLst/>
          </a:prstGeom>
        </p:spPr>
        <p:txBody>
          <a:bodyPr vert="horz" lIns="96634" tIns="48317" rIns="96634" bIns="48317" rtlCol="0"/>
          <a:lstStyle>
            <a:lvl1pPr algn="l">
              <a:defRPr sz="1300"/>
            </a:lvl1pPr>
          </a:lstStyle>
          <a:p>
            <a:endParaRPr lang="en-US" dirty="0">
              <a:latin typeface="Open Sans Light"/>
              <a:cs typeface="Open Sans Light"/>
            </a:endParaRPr>
          </a:p>
        </p:txBody>
      </p:sp>
      <p:sp>
        <p:nvSpPr>
          <p:cNvPr id="3" name="Date Placeholder 2"/>
          <p:cNvSpPr>
            <a:spLocks noGrp="1"/>
          </p:cNvSpPr>
          <p:nvPr>
            <p:ph type="dt" sz="quarter" idx="1"/>
          </p:nvPr>
        </p:nvSpPr>
        <p:spPr>
          <a:xfrm>
            <a:off x="5358694" y="250547"/>
            <a:ext cx="1312115" cy="501094"/>
          </a:xfrm>
          <a:prstGeom prst="rect">
            <a:avLst/>
          </a:prstGeom>
        </p:spPr>
        <p:txBody>
          <a:bodyPr vert="horz" lIns="96634" tIns="48317" rIns="96634" bIns="48317" rtlCol="0"/>
          <a:lstStyle>
            <a:lvl1pPr algn="r">
              <a:defRPr sz="1300"/>
            </a:lvl1pPr>
          </a:lstStyle>
          <a:p>
            <a:fld id="{8AAC2EC1-B70D-4CB4-BC58-2E1D99067EF3}" type="datetime3">
              <a:rPr lang="en-US" smtClean="0">
                <a:latin typeface="Open Sans Light"/>
              </a:rPr>
              <a:t>18 September 2017</a:t>
            </a:fld>
            <a:endParaRPr lang="en-US">
              <a:latin typeface="Open Sans Light"/>
              <a:cs typeface="Open Sans Light"/>
            </a:endParaRPr>
          </a:p>
        </p:txBody>
      </p:sp>
      <p:sp>
        <p:nvSpPr>
          <p:cNvPr id="4" name="Footer Placeholder 3"/>
          <p:cNvSpPr>
            <a:spLocks noGrp="1"/>
          </p:cNvSpPr>
          <p:nvPr>
            <p:ph type="ftr" sz="quarter" idx="2"/>
          </p:nvPr>
        </p:nvSpPr>
        <p:spPr>
          <a:xfrm>
            <a:off x="229658" y="9262661"/>
            <a:ext cx="4899378" cy="501094"/>
          </a:xfrm>
          <a:prstGeom prst="rect">
            <a:avLst/>
          </a:prstGeom>
        </p:spPr>
        <p:txBody>
          <a:bodyPr vert="horz" lIns="96634" tIns="48317" rIns="96634" bIns="48317" rtlCol="0" anchor="b"/>
          <a:lstStyle>
            <a:lvl1pPr algn="l">
              <a:defRPr sz="1300"/>
            </a:lvl1pPr>
          </a:lstStyle>
          <a:p>
            <a:endParaRPr lang="en-US" dirty="0">
              <a:latin typeface="Open Sans Light"/>
              <a:cs typeface="Open Sans Light"/>
            </a:endParaRPr>
          </a:p>
        </p:txBody>
      </p:sp>
      <p:sp>
        <p:nvSpPr>
          <p:cNvPr id="5" name="Slide Number Placeholder 4"/>
          <p:cNvSpPr>
            <a:spLocks noGrp="1"/>
          </p:cNvSpPr>
          <p:nvPr>
            <p:ph type="sldNum" sz="quarter" idx="3"/>
          </p:nvPr>
        </p:nvSpPr>
        <p:spPr>
          <a:xfrm>
            <a:off x="5358694" y="9274353"/>
            <a:ext cx="842081" cy="501094"/>
          </a:xfrm>
          <a:prstGeom prst="rect">
            <a:avLst/>
          </a:prstGeom>
        </p:spPr>
        <p:txBody>
          <a:bodyPr vert="horz" lIns="96634" tIns="48317" rIns="96634" bIns="48317" rtlCol="0" anchor="b"/>
          <a:lstStyle>
            <a:lvl1pPr algn="r">
              <a:defRPr sz="1300"/>
            </a:lvl1pPr>
          </a:lstStyle>
          <a:p>
            <a:fld id="{D5DDAA28-FB28-3D4F-ABDC-2F79D633598F}" type="slidenum">
              <a:rPr lang="en-US" smtClean="0">
                <a:latin typeface="Open Sans Light"/>
                <a:cs typeface="Open Sans Light"/>
              </a:rPr>
              <a:pPr/>
              <a:t>‹#›</a:t>
            </a:fld>
            <a:endParaRPr lang="en-US">
              <a:latin typeface="Open Sans Light"/>
              <a:cs typeface="Open Sans Light"/>
            </a:endParaRPr>
          </a:p>
        </p:txBody>
      </p:sp>
      <p:pic>
        <p:nvPicPr>
          <p:cNvPr id="6" name="Picture 5" descr="PistoiaAlliance_compact_box_grey_RGB.png"/>
          <p:cNvPicPr>
            <a:picLocks noChangeAspect="1"/>
          </p:cNvPicPr>
          <p:nvPr/>
        </p:nvPicPr>
        <p:blipFill>
          <a:blip r:embed="rId2"/>
          <a:stretch>
            <a:fillRect/>
          </a:stretch>
        </p:blipFill>
        <p:spPr>
          <a:xfrm>
            <a:off x="6200775" y="9262661"/>
            <a:ext cx="470034" cy="512787"/>
          </a:xfrm>
          <a:prstGeom prst="rect">
            <a:avLst/>
          </a:prstGeom>
        </p:spPr>
      </p:pic>
    </p:spTree>
    <p:extLst>
      <p:ext uri="{BB962C8B-B14F-4D97-AF65-F5344CB8AC3E}">
        <p14:creationId xmlns:p14="http://schemas.microsoft.com/office/powerpoint/2010/main" val="284560759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29658" y="250547"/>
            <a:ext cx="2755900" cy="501094"/>
          </a:xfrm>
          <a:prstGeom prst="rect">
            <a:avLst/>
          </a:prstGeom>
        </p:spPr>
        <p:txBody>
          <a:bodyPr vert="horz" lIns="96634" tIns="48317" rIns="96634" bIns="48317" rtlCol="0"/>
          <a:lstStyle>
            <a:lvl1pPr algn="l">
              <a:defRPr sz="1300">
                <a:latin typeface="Open Sans Light"/>
                <a:cs typeface="Open Sans Light"/>
              </a:defRPr>
            </a:lvl1pPr>
          </a:lstStyle>
          <a:p>
            <a:endParaRPr lang="en-US"/>
          </a:p>
        </p:txBody>
      </p:sp>
      <p:sp>
        <p:nvSpPr>
          <p:cNvPr id="3" name="Date Placeholder 2"/>
          <p:cNvSpPr>
            <a:spLocks noGrp="1"/>
          </p:cNvSpPr>
          <p:nvPr>
            <p:ph type="dt" idx="1"/>
          </p:nvPr>
        </p:nvSpPr>
        <p:spPr>
          <a:xfrm>
            <a:off x="3902597" y="250547"/>
            <a:ext cx="2985558" cy="501094"/>
          </a:xfrm>
          <a:prstGeom prst="rect">
            <a:avLst/>
          </a:prstGeom>
        </p:spPr>
        <p:txBody>
          <a:bodyPr vert="horz" lIns="96634" tIns="48317" rIns="96634" bIns="48317" rtlCol="0"/>
          <a:lstStyle>
            <a:lvl1pPr algn="r">
              <a:defRPr sz="1300">
                <a:latin typeface="Open Sans Light"/>
                <a:cs typeface="Open Sans Light"/>
              </a:defRPr>
            </a:lvl1pPr>
          </a:lstStyle>
          <a:p>
            <a:fld id="{4C1CEAC1-DD32-42DA-A5A2-1FFBC5A2CB4B}" type="datetime3">
              <a:rPr lang="en-US" smtClean="0"/>
              <a:t>18 September 2017</a:t>
            </a:fld>
            <a:endParaRPr lang="en-US"/>
          </a:p>
        </p:txBody>
      </p:sp>
      <p:sp>
        <p:nvSpPr>
          <p:cNvPr id="4" name="Slide Image Placeholder 3"/>
          <p:cNvSpPr>
            <a:spLocks noGrp="1" noRot="1" noChangeAspect="1"/>
          </p:cNvSpPr>
          <p:nvPr>
            <p:ph type="sldImg" idx="2"/>
          </p:nvPr>
        </p:nvSpPr>
        <p:spPr>
          <a:xfrm>
            <a:off x="104775" y="750888"/>
            <a:ext cx="6680200" cy="3759200"/>
          </a:xfrm>
          <a:prstGeom prst="rect">
            <a:avLst/>
          </a:prstGeom>
          <a:noFill/>
          <a:ln w="12700">
            <a:solidFill>
              <a:prstClr val="black"/>
            </a:solidFill>
          </a:ln>
        </p:spPr>
        <p:txBody>
          <a:bodyPr vert="horz" lIns="96634" tIns="48317" rIns="96634" bIns="48317" rtlCol="0" anchor="ctr"/>
          <a:lstStyle/>
          <a:p>
            <a:endParaRPr lang="en-US"/>
          </a:p>
        </p:txBody>
      </p:sp>
      <p:sp>
        <p:nvSpPr>
          <p:cNvPr id="5" name="Notes Placeholder 4"/>
          <p:cNvSpPr>
            <a:spLocks noGrp="1"/>
          </p:cNvSpPr>
          <p:nvPr>
            <p:ph type="body" sz="quarter" idx="3"/>
          </p:nvPr>
        </p:nvSpPr>
        <p:spPr>
          <a:xfrm>
            <a:off x="229658" y="4760397"/>
            <a:ext cx="6441151" cy="4509850"/>
          </a:xfrm>
          <a:prstGeom prst="rect">
            <a:avLst/>
          </a:prstGeom>
        </p:spPr>
        <p:txBody>
          <a:bodyPr vert="horz" lIns="96634" tIns="48317" rIns="96634" bIns="48317"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229658" y="9274353"/>
            <a:ext cx="2755900" cy="501094"/>
          </a:xfrm>
          <a:prstGeom prst="rect">
            <a:avLst/>
          </a:prstGeom>
        </p:spPr>
        <p:txBody>
          <a:bodyPr vert="horz" lIns="96634" tIns="48317" rIns="96634" bIns="48317" rtlCol="0" anchor="b"/>
          <a:lstStyle>
            <a:lvl1pPr algn="l">
              <a:defRPr sz="1300">
                <a:latin typeface="Open Sans Light"/>
                <a:cs typeface="Open Sans Light"/>
              </a:defRPr>
            </a:lvl1pPr>
          </a:lstStyle>
          <a:p>
            <a:endParaRPr lang="en-US" dirty="0"/>
          </a:p>
        </p:txBody>
      </p:sp>
      <p:sp>
        <p:nvSpPr>
          <p:cNvPr id="7" name="Slide Number Placeholder 6"/>
          <p:cNvSpPr>
            <a:spLocks noGrp="1"/>
          </p:cNvSpPr>
          <p:nvPr>
            <p:ph type="sldNum" sz="quarter" idx="5"/>
          </p:nvPr>
        </p:nvSpPr>
        <p:spPr>
          <a:xfrm>
            <a:off x="3902598" y="9262661"/>
            <a:ext cx="2298178" cy="512787"/>
          </a:xfrm>
          <a:prstGeom prst="rect">
            <a:avLst/>
          </a:prstGeom>
        </p:spPr>
        <p:txBody>
          <a:bodyPr vert="horz" lIns="96634" tIns="48317" rIns="96634" bIns="48317" rtlCol="0" anchor="b"/>
          <a:lstStyle>
            <a:lvl1pPr algn="r">
              <a:defRPr sz="1300">
                <a:latin typeface="Open Sans Light"/>
                <a:cs typeface="Open Sans Light"/>
              </a:defRPr>
            </a:lvl1pPr>
          </a:lstStyle>
          <a:p>
            <a:fld id="{9719C4BD-C343-8542-86CF-082388D36B2E}" type="slidenum">
              <a:rPr lang="en-US" smtClean="0"/>
              <a:pPr/>
              <a:t>‹#›</a:t>
            </a:fld>
            <a:endParaRPr lang="en-US"/>
          </a:p>
        </p:txBody>
      </p:sp>
      <p:pic>
        <p:nvPicPr>
          <p:cNvPr id="8" name="Picture 7" descr="PistoiaAlliance_compact_box_grey_RGB.png"/>
          <p:cNvPicPr>
            <a:picLocks noChangeAspect="1"/>
          </p:cNvPicPr>
          <p:nvPr/>
        </p:nvPicPr>
        <p:blipFill>
          <a:blip r:embed="rId2"/>
          <a:stretch>
            <a:fillRect/>
          </a:stretch>
        </p:blipFill>
        <p:spPr>
          <a:xfrm>
            <a:off x="6200775" y="9262661"/>
            <a:ext cx="470034" cy="512787"/>
          </a:xfrm>
          <a:prstGeom prst="rect">
            <a:avLst/>
          </a:prstGeom>
        </p:spPr>
      </p:pic>
    </p:spTree>
    <p:extLst>
      <p:ext uri="{BB962C8B-B14F-4D97-AF65-F5344CB8AC3E}">
        <p14:creationId xmlns:p14="http://schemas.microsoft.com/office/powerpoint/2010/main" val="128822094"/>
      </p:ext>
    </p:extLst>
  </p:cSld>
  <p:clrMap bg1="lt1" tx1="dk1" bg2="lt2" tx2="dk2" accent1="accent1" accent2="accent2" accent3="accent3" accent4="accent4" accent5="accent5" accent6="accent6" hlink="hlink" folHlink="folHlink"/>
  <p:hf/>
  <p:notesStyle>
    <a:lvl1pPr marL="0" algn="l" defTabSz="457200" rtl="0" eaLnBrk="1" latinLnBrk="0" hangingPunct="1">
      <a:defRPr sz="1200" kern="1200">
        <a:solidFill>
          <a:schemeClr val="tx1"/>
        </a:solidFill>
        <a:latin typeface="Open Sans Light"/>
        <a:ea typeface="+mn-ea"/>
        <a:cs typeface="Open Sans Light"/>
      </a:defRPr>
    </a:lvl1pPr>
    <a:lvl2pPr marL="457200" algn="l" defTabSz="457200" rtl="0" eaLnBrk="1" latinLnBrk="0" hangingPunct="1">
      <a:defRPr sz="1200" kern="1200">
        <a:solidFill>
          <a:schemeClr val="tx1"/>
        </a:solidFill>
        <a:latin typeface="Open Sans Light"/>
        <a:ea typeface="+mn-ea"/>
        <a:cs typeface="Open Sans Light"/>
      </a:defRPr>
    </a:lvl2pPr>
    <a:lvl3pPr marL="914400" algn="l" defTabSz="457200" rtl="0" eaLnBrk="1" latinLnBrk="0" hangingPunct="1">
      <a:defRPr sz="1200" kern="1200">
        <a:solidFill>
          <a:schemeClr val="tx1"/>
        </a:solidFill>
        <a:latin typeface="Open Sans Light"/>
        <a:ea typeface="+mn-ea"/>
        <a:cs typeface="Open Sans Light"/>
      </a:defRPr>
    </a:lvl3pPr>
    <a:lvl4pPr marL="1371600" algn="l" defTabSz="457200" rtl="0" eaLnBrk="1" latinLnBrk="0" hangingPunct="1">
      <a:defRPr sz="1200" kern="1200">
        <a:solidFill>
          <a:schemeClr val="tx1"/>
        </a:solidFill>
        <a:latin typeface="Open Sans Light"/>
        <a:ea typeface="+mn-ea"/>
        <a:cs typeface="Open Sans Light"/>
      </a:defRPr>
    </a:lvl4pPr>
    <a:lvl5pPr marL="1828800" algn="l" defTabSz="457200" rtl="0" eaLnBrk="1" latinLnBrk="0" hangingPunct="1">
      <a:defRPr sz="1200" kern="1200">
        <a:solidFill>
          <a:schemeClr val="tx1"/>
        </a:solidFill>
        <a:latin typeface="Open Sans Light"/>
        <a:ea typeface="+mn-ea"/>
        <a:cs typeface="Open Sans Light"/>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1</a:t>
            </a:fld>
            <a:endParaRPr lang="en-US"/>
          </a:p>
        </p:txBody>
      </p:sp>
    </p:spTree>
    <p:extLst>
      <p:ext uri="{BB962C8B-B14F-4D97-AF65-F5344CB8AC3E}">
        <p14:creationId xmlns:p14="http://schemas.microsoft.com/office/powerpoint/2010/main" val="3234687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50888"/>
            <a:ext cx="6680200" cy="37592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smtClean="0"/>
          </a:p>
        </p:txBody>
      </p:sp>
      <p:sp>
        <p:nvSpPr>
          <p:cNvPr id="4" name="Slide Number Placeholder 3"/>
          <p:cNvSpPr>
            <a:spLocks noGrp="1"/>
          </p:cNvSpPr>
          <p:nvPr>
            <p:ph type="sldNum" sz="quarter" idx="10"/>
          </p:nvPr>
        </p:nvSpPr>
        <p:spPr/>
        <p:txBody>
          <a:bodyPr/>
          <a:lstStyle/>
          <a:p>
            <a:fld id="{9719C4BD-C343-8542-86CF-082388D36B2E}" type="slidenum">
              <a:rPr lang="en-US" smtClean="0"/>
              <a:pPr/>
              <a:t>2</a:t>
            </a:fld>
            <a:endParaRPr lang="en-US"/>
          </a:p>
        </p:txBody>
      </p:sp>
      <p:sp>
        <p:nvSpPr>
          <p:cNvPr id="5" name="Date Placeholder 4"/>
          <p:cNvSpPr>
            <a:spLocks noGrp="1"/>
          </p:cNvSpPr>
          <p:nvPr>
            <p:ph type="dt" idx="11"/>
          </p:nvPr>
        </p:nvSpPr>
        <p:spPr/>
        <p:txBody>
          <a:bodyPr/>
          <a:lstStyle/>
          <a:p>
            <a:fld id="{6A67F374-4BD1-4147-8FE3-891F82F3A867}"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a:p>
        </p:txBody>
      </p:sp>
      <p:sp>
        <p:nvSpPr>
          <p:cNvPr id="7" name="Header Placeholder 6"/>
          <p:cNvSpPr>
            <a:spLocks noGrp="1"/>
          </p:cNvSpPr>
          <p:nvPr>
            <p:ph type="hdr" sz="quarter" idx="13"/>
          </p:nvPr>
        </p:nvSpPr>
        <p:spPr/>
        <p:txBody>
          <a:bodyPr/>
          <a:lstStyle/>
          <a:p>
            <a:endParaRPr lang="en-US"/>
          </a:p>
        </p:txBody>
      </p:sp>
    </p:spTree>
    <p:extLst>
      <p:ext uri="{BB962C8B-B14F-4D97-AF65-F5344CB8AC3E}">
        <p14:creationId xmlns:p14="http://schemas.microsoft.com/office/powerpoint/2010/main" val="3580905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4</a:t>
            </a:fld>
            <a:endParaRPr lang="en-US"/>
          </a:p>
        </p:txBody>
      </p:sp>
    </p:spTree>
    <p:extLst>
      <p:ext uri="{BB962C8B-B14F-4D97-AF65-F5344CB8AC3E}">
        <p14:creationId xmlns:p14="http://schemas.microsoft.com/office/powerpoint/2010/main" val="240045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50888"/>
            <a:ext cx="6680200" cy="3759200"/>
          </a:xfrm>
        </p:spPr>
      </p:sp>
      <p:sp>
        <p:nvSpPr>
          <p:cNvPr id="3" name="Notes Placeholder 2"/>
          <p:cNvSpPr>
            <a:spLocks noGrp="1"/>
          </p:cNvSpPr>
          <p:nvPr>
            <p:ph type="body" idx="1"/>
          </p:nvPr>
        </p:nvSpPr>
        <p:spPr/>
        <p:txBody>
          <a:bodyPr/>
          <a:lstStyle/>
          <a:p>
            <a:r>
              <a:rPr lang="en-GB" dirty="0" smtClean="0"/>
              <a:t>70% are biologics</a:t>
            </a:r>
            <a:endParaRPr lang="en-GB"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5</a:t>
            </a:fld>
            <a:endParaRPr lang="en-US"/>
          </a:p>
        </p:txBody>
      </p:sp>
    </p:spTree>
    <p:extLst>
      <p:ext uri="{BB962C8B-B14F-4D97-AF65-F5344CB8AC3E}">
        <p14:creationId xmlns:p14="http://schemas.microsoft.com/office/powerpoint/2010/main" val="3839133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50888"/>
            <a:ext cx="6680200" cy="3759200"/>
          </a:xfrm>
        </p:spPr>
      </p:sp>
      <p:sp>
        <p:nvSpPr>
          <p:cNvPr id="3" name="Notes Placeholder 2"/>
          <p:cNvSpPr>
            <a:spLocks noGrp="1"/>
          </p:cNvSpPr>
          <p:nvPr>
            <p:ph type="body" idx="1"/>
          </p:nvPr>
        </p:nvSpPr>
        <p:spPr/>
        <p:txBody>
          <a:bodyPr/>
          <a:lstStyle/>
          <a:p>
            <a:r>
              <a:rPr lang="en-GB" dirty="0" smtClean="0"/>
              <a:t>70% are biologics,</a:t>
            </a:r>
            <a:r>
              <a:rPr lang="en-GB" baseline="0" dirty="0" smtClean="0"/>
              <a:t> </a:t>
            </a:r>
            <a:endParaRPr lang="en-GB"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6</a:t>
            </a:fld>
            <a:endParaRPr lang="en-US"/>
          </a:p>
        </p:txBody>
      </p:sp>
    </p:spTree>
    <p:extLst>
      <p:ext uri="{BB962C8B-B14F-4D97-AF65-F5344CB8AC3E}">
        <p14:creationId xmlns:p14="http://schemas.microsoft.com/office/powerpoint/2010/main" val="343927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7</a:t>
            </a:fld>
            <a:endParaRPr lang="en-US"/>
          </a:p>
        </p:txBody>
      </p:sp>
    </p:spTree>
    <p:extLst>
      <p:ext uri="{BB962C8B-B14F-4D97-AF65-F5344CB8AC3E}">
        <p14:creationId xmlns:p14="http://schemas.microsoft.com/office/powerpoint/2010/main" val="704742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8</a:t>
            </a:fld>
            <a:endParaRPr lang="en-US"/>
          </a:p>
        </p:txBody>
      </p:sp>
    </p:spTree>
    <p:extLst>
      <p:ext uri="{BB962C8B-B14F-4D97-AF65-F5344CB8AC3E}">
        <p14:creationId xmlns:p14="http://schemas.microsoft.com/office/powerpoint/2010/main" val="1618679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9</a:t>
            </a:fld>
            <a:endParaRPr lang="en-US"/>
          </a:p>
        </p:txBody>
      </p:sp>
    </p:spTree>
    <p:extLst>
      <p:ext uri="{BB962C8B-B14F-4D97-AF65-F5344CB8AC3E}">
        <p14:creationId xmlns:p14="http://schemas.microsoft.com/office/powerpoint/2010/main" val="3151082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10</a:t>
            </a:fld>
            <a:endParaRPr lang="en-US"/>
          </a:p>
        </p:txBody>
      </p:sp>
    </p:spTree>
    <p:extLst>
      <p:ext uri="{BB962C8B-B14F-4D97-AF65-F5344CB8AC3E}">
        <p14:creationId xmlns:p14="http://schemas.microsoft.com/office/powerpoint/2010/main" val="4019194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11</a:t>
            </a:fld>
            <a:endParaRPr lang="en-US"/>
          </a:p>
        </p:txBody>
      </p:sp>
    </p:spTree>
    <p:extLst>
      <p:ext uri="{BB962C8B-B14F-4D97-AF65-F5344CB8AC3E}">
        <p14:creationId xmlns:p14="http://schemas.microsoft.com/office/powerpoint/2010/main" val="3974889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12</a:t>
            </a:fld>
            <a:endParaRPr lang="en-US"/>
          </a:p>
        </p:txBody>
      </p:sp>
    </p:spTree>
    <p:extLst>
      <p:ext uri="{BB962C8B-B14F-4D97-AF65-F5344CB8AC3E}">
        <p14:creationId xmlns:p14="http://schemas.microsoft.com/office/powerpoint/2010/main" val="323197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13</a:t>
            </a:fld>
            <a:endParaRPr lang="en-US"/>
          </a:p>
        </p:txBody>
      </p:sp>
    </p:spTree>
    <p:extLst>
      <p:ext uri="{BB962C8B-B14F-4D97-AF65-F5344CB8AC3E}">
        <p14:creationId xmlns:p14="http://schemas.microsoft.com/office/powerpoint/2010/main" val="2669130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18</a:t>
            </a:fld>
            <a:endParaRPr lang="en-US"/>
          </a:p>
        </p:txBody>
      </p:sp>
    </p:spTree>
    <p:extLst>
      <p:ext uri="{BB962C8B-B14F-4D97-AF65-F5344CB8AC3E}">
        <p14:creationId xmlns:p14="http://schemas.microsoft.com/office/powerpoint/2010/main" val="4229486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xfrm>
            <a:off x="104775" y="750888"/>
            <a:ext cx="6680200" cy="37592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p>
        </p:txBody>
      </p:sp>
      <p:sp>
        <p:nvSpPr>
          <p:cNvPr id="28676"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EFB472-3EC6-4E96-A4A3-921658005A07}" type="slidenum">
              <a:rPr kumimoji="0" lang="en-US" sz="1200" b="0" i="0" u="none" strike="noStrike" kern="1200" cap="none" spc="0" normalizeH="0" baseline="0" noProof="0" smtClean="0">
                <a:ln>
                  <a:noFill/>
                </a:ln>
                <a:solidFill>
                  <a:prstClr val="black"/>
                </a:solidFill>
                <a:effectLst/>
                <a:uLnTx/>
                <a:uFillTx/>
                <a:latin typeface="Calibri" pitchFamily="34" charset="0"/>
                <a:ea typeface="MS PGothic" pitchFamily="34" charset="-128"/>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itchFamily="34" charset="0"/>
              <a:ea typeface="MS PGothic" pitchFamily="34" charset="-128"/>
              <a:cs typeface="Arial" charset="0"/>
            </a:endParaRPr>
          </a:p>
        </p:txBody>
      </p:sp>
    </p:spTree>
    <p:extLst>
      <p:ext uri="{BB962C8B-B14F-4D97-AF65-F5344CB8AC3E}">
        <p14:creationId xmlns:p14="http://schemas.microsoft.com/office/powerpoint/2010/main" val="25458888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xfrm>
            <a:off x="104775" y="750888"/>
            <a:ext cx="6680200" cy="37592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p>
        </p:txBody>
      </p:sp>
      <p:sp>
        <p:nvSpPr>
          <p:cNvPr id="28676"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ea typeface="MS PGothic" pitchFamily="34" charset="-128"/>
              </a:defRPr>
            </a:lvl1pPr>
            <a:lvl2pPr marL="742950" indent="-285750" eaLnBrk="0" hangingPunct="0">
              <a:defRPr>
                <a:solidFill>
                  <a:schemeClr val="tx1"/>
                </a:solidFill>
                <a:latin typeface="Calibri" pitchFamily="34" charset="0"/>
                <a:ea typeface="MS PGothic" pitchFamily="34" charset="-128"/>
              </a:defRPr>
            </a:lvl2pPr>
            <a:lvl3pPr marL="1143000" indent="-228600" eaLnBrk="0" hangingPunct="0">
              <a:defRPr>
                <a:solidFill>
                  <a:schemeClr val="tx1"/>
                </a:solidFill>
                <a:latin typeface="Calibri" pitchFamily="34" charset="0"/>
                <a:ea typeface="MS PGothic" pitchFamily="34" charset="-128"/>
              </a:defRPr>
            </a:lvl3pPr>
            <a:lvl4pPr marL="1600200" indent="-228600" eaLnBrk="0" hangingPunct="0">
              <a:defRPr>
                <a:solidFill>
                  <a:schemeClr val="tx1"/>
                </a:solidFill>
                <a:latin typeface="Calibri" pitchFamily="34" charset="0"/>
                <a:ea typeface="MS PGothic" pitchFamily="34" charset="-128"/>
              </a:defRPr>
            </a:lvl4pPr>
            <a:lvl5pPr marL="2057400" indent="-228600" eaLnBrk="0" hangingPunct="0">
              <a:defRPr>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Calibri" pitchFamily="34"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EFB472-3EC6-4E96-A4A3-921658005A07}" type="slidenum">
              <a:rPr kumimoji="0" lang="en-US" sz="1200" b="0" i="0" u="none" strike="noStrike" kern="1200" cap="none" spc="0" normalizeH="0" baseline="0" noProof="0" smtClean="0">
                <a:ln>
                  <a:noFill/>
                </a:ln>
                <a:solidFill>
                  <a:prstClr val="black"/>
                </a:solidFill>
                <a:effectLst/>
                <a:uLnTx/>
                <a:uFillTx/>
                <a:latin typeface="Calibri" pitchFamily="34" charset="0"/>
                <a:ea typeface="MS PGothic" pitchFamily="34" charset="-128"/>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itchFamily="34" charset="0"/>
              <a:ea typeface="MS PGothic" pitchFamily="34" charset="-128"/>
              <a:cs typeface="Arial" charset="0"/>
            </a:endParaRPr>
          </a:p>
        </p:txBody>
      </p:sp>
    </p:spTree>
    <p:extLst>
      <p:ext uri="{BB962C8B-B14F-4D97-AF65-F5344CB8AC3E}">
        <p14:creationId xmlns:p14="http://schemas.microsoft.com/office/powerpoint/2010/main" val="122852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21</a:t>
            </a:fld>
            <a:endParaRPr lang="en-US"/>
          </a:p>
        </p:txBody>
      </p:sp>
    </p:spTree>
    <p:extLst>
      <p:ext uri="{BB962C8B-B14F-4D97-AF65-F5344CB8AC3E}">
        <p14:creationId xmlns:p14="http://schemas.microsoft.com/office/powerpoint/2010/main" val="2851300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30</a:t>
            </a:fld>
            <a:endParaRPr lang="en-US"/>
          </a:p>
        </p:txBody>
      </p:sp>
    </p:spTree>
    <p:extLst>
      <p:ext uri="{BB962C8B-B14F-4D97-AF65-F5344CB8AC3E}">
        <p14:creationId xmlns:p14="http://schemas.microsoft.com/office/powerpoint/2010/main" val="2290323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50888"/>
            <a:ext cx="6680200" cy="3759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71D190F-39F0-44EC-A144-2BD7C7941C94}" type="slidenum">
              <a:rPr kumimoji="0" lang="en-US" sz="1200" b="0" i="0" u="none" strike="noStrike" kern="1200" cap="none" spc="0" normalizeH="0" baseline="0" noProof="0">
                <a:ln>
                  <a:noFill/>
                </a:ln>
                <a:solidFill>
                  <a:prstClr val="black"/>
                </a:solidFill>
                <a:effectLst/>
                <a:uLnTx/>
                <a:uFillTx/>
                <a:latin typeface="Calibri" pitchFamily="34"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3831723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50888"/>
            <a:ext cx="6680200" cy="37592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F98D0E42-D93E-4809-9B8D-A62D2996A7D9}" type="slidenum">
              <a:rPr lang="fi-FI" smtClean="0">
                <a:solidFill>
                  <a:prstClr val="black"/>
                </a:solidFill>
              </a:rPr>
              <a:pPr/>
              <a:t>33</a:t>
            </a:fld>
            <a:endParaRPr lang="fi-FI">
              <a:solidFill>
                <a:prstClr val="black"/>
              </a:solidFill>
            </a:endParaRPr>
          </a:p>
        </p:txBody>
      </p:sp>
      <p:sp>
        <p:nvSpPr>
          <p:cNvPr id="5" name="Date Placeholder 4"/>
          <p:cNvSpPr>
            <a:spLocks noGrp="1"/>
          </p:cNvSpPr>
          <p:nvPr>
            <p:ph type="dt" idx="11"/>
          </p:nvPr>
        </p:nvSpPr>
        <p:spPr/>
        <p:txBody>
          <a:bodyPr/>
          <a:lstStyle/>
          <a:p>
            <a:fld id="{7E9A1274-1FC4-2F40-B950-C772A3749DAD}" type="datetime1">
              <a:rPr lang="en-US" smtClean="0"/>
              <a:t>9/18/2017</a:t>
            </a:fld>
            <a:endParaRPr lang="en-US"/>
          </a:p>
        </p:txBody>
      </p:sp>
    </p:spTree>
    <p:extLst>
      <p:ext uri="{BB962C8B-B14F-4D97-AF65-F5344CB8AC3E}">
        <p14:creationId xmlns:p14="http://schemas.microsoft.com/office/powerpoint/2010/main" val="25502192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34</a:t>
            </a:fld>
            <a:endParaRPr lang="en-US"/>
          </a:p>
        </p:txBody>
      </p:sp>
    </p:spTree>
    <p:extLst>
      <p:ext uri="{BB962C8B-B14F-4D97-AF65-F5344CB8AC3E}">
        <p14:creationId xmlns:p14="http://schemas.microsoft.com/office/powerpoint/2010/main" val="636211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36</a:t>
            </a:fld>
            <a:endParaRPr lang="en-US"/>
          </a:p>
        </p:txBody>
      </p:sp>
    </p:spTree>
    <p:extLst>
      <p:ext uri="{BB962C8B-B14F-4D97-AF65-F5344CB8AC3E}">
        <p14:creationId xmlns:p14="http://schemas.microsoft.com/office/powerpoint/2010/main" val="2981982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4C1CEAC1-DD32-42DA-A5A2-1FFBC5A2CB4B}" type="datetime3">
              <a:rPr lang="en-US" smtClean="0"/>
              <a:t>18 September 2017</a:t>
            </a:fld>
            <a:endParaRPr lang="en-US"/>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9719C4BD-C343-8542-86CF-082388D36B2E}" type="slidenum">
              <a:rPr lang="en-US" smtClean="0"/>
              <a:pPr/>
              <a:t>37</a:t>
            </a:fld>
            <a:endParaRPr lang="en-US"/>
          </a:p>
        </p:txBody>
      </p:sp>
    </p:spTree>
    <p:extLst>
      <p:ext uri="{BB962C8B-B14F-4D97-AF65-F5344CB8AC3E}">
        <p14:creationId xmlns:p14="http://schemas.microsoft.com/office/powerpoint/2010/main" val="3668562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50888"/>
            <a:ext cx="6680200" cy="3759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71D190F-39F0-44EC-A144-2BD7C7941C94}" type="slidenum">
              <a:rPr lang="en-US"/>
              <a:pPr>
                <a:defRPr/>
              </a:pPr>
              <a:t>39</a:t>
            </a:fld>
            <a:endParaRPr lang="en-US"/>
          </a:p>
        </p:txBody>
      </p:sp>
    </p:spTree>
    <p:extLst>
      <p:ext uri="{BB962C8B-B14F-4D97-AF65-F5344CB8AC3E}">
        <p14:creationId xmlns:p14="http://schemas.microsoft.com/office/powerpoint/2010/main" val="1455789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31</a:t>
            </a:r>
            <a:r>
              <a:rPr lang="en-US" baseline="30000"/>
              <a:t>st</a:t>
            </a:r>
            <a:r>
              <a:rPr lang="en-US"/>
              <a:t> October 2014</a:t>
            </a:r>
            <a:endParaRPr lang="en-US" dirty="0"/>
          </a:p>
        </p:txBody>
      </p:sp>
      <p:sp>
        <p:nvSpPr>
          <p:cNvPr id="5" name="Footer Placeholder 4"/>
          <p:cNvSpPr>
            <a:spLocks noGrp="1"/>
          </p:cNvSpPr>
          <p:nvPr>
            <p:ph type="ftr" sz="quarter" idx="11"/>
          </p:nvPr>
        </p:nvSpPr>
        <p:spPr/>
        <p:txBody>
          <a:bodyPr/>
          <a:lstStyle/>
          <a:p>
            <a:r>
              <a:rPr lang="en-GB">
                <a:solidFill>
                  <a:srgbClr val="4C5156"/>
                </a:solidFill>
              </a:rPr>
              <a:t>Presentation title</a:t>
            </a:r>
            <a:endParaRPr lang="en-US" dirty="0">
              <a:solidFill>
                <a:srgbClr val="4C5156"/>
              </a:solidFill>
            </a:endParaRPr>
          </a:p>
        </p:txBody>
      </p:sp>
      <p:sp>
        <p:nvSpPr>
          <p:cNvPr id="6" name="Slide Number Placeholder 5"/>
          <p:cNvSpPr>
            <a:spLocks noGrp="1"/>
          </p:cNvSpPr>
          <p:nvPr>
            <p:ph type="sldNum" sz="quarter" idx="12"/>
          </p:nvPr>
        </p:nvSpPr>
        <p:spPr/>
        <p:txBody>
          <a:bodyPr/>
          <a:lstStyle/>
          <a:p>
            <a:fld id="{28ED40A3-BEA1-2645-9E17-452BD130FCD0}"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Content Placeholder 2"/>
          <p:cNvSpPr>
            <a:spLocks noGrp="1"/>
          </p:cNvSpPr>
          <p:nvPr>
            <p:ph idx="1"/>
          </p:nvPr>
        </p:nvSpPr>
        <p:spPr/>
        <p:txBody>
          <a:bodyPr/>
          <a:lstStyle>
            <a:lvl1pPr>
              <a:defRPr>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extLst>
      <p:ext uri="{BB962C8B-B14F-4D97-AF65-F5344CB8AC3E}">
        <p14:creationId xmlns:p14="http://schemas.microsoft.com/office/powerpoint/2010/main" val="155698642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447799"/>
            <a:ext cx="10972800" cy="685800"/>
          </a:xfrm>
        </p:spPr>
        <p:txBody>
          <a:bodyPr>
            <a:normAutofit/>
          </a:bodyPr>
          <a:lstStyle>
            <a:lvl1pPr>
              <a:defRPr sz="3600">
                <a:latin typeface="Arial"/>
                <a:cs typeface="Arial"/>
              </a:defRPr>
            </a:lvl1pPr>
          </a:lstStyle>
          <a:p>
            <a:r>
              <a:rPr lang="en-GB" dirty="0"/>
              <a:t>Click to edit Master title style</a:t>
            </a:r>
            <a:endParaRPr lang="en-US" dirty="0"/>
          </a:p>
        </p:txBody>
      </p:sp>
      <p:sp>
        <p:nvSpPr>
          <p:cNvPr id="3" name="Content Placeholder 2"/>
          <p:cNvSpPr>
            <a:spLocks noGrp="1"/>
          </p:cNvSpPr>
          <p:nvPr>
            <p:ph sz="half" idx="1"/>
          </p:nvPr>
        </p:nvSpPr>
        <p:spPr>
          <a:xfrm>
            <a:off x="609600" y="2133599"/>
            <a:ext cx="5384800" cy="4024313"/>
          </a:xfrm>
        </p:spPr>
        <p:txBody>
          <a:bodyPr/>
          <a:lstStyle>
            <a:lvl1pPr>
              <a:defRPr sz="2400">
                <a:latin typeface="Arial"/>
                <a:cs typeface="Arial"/>
              </a:defRPr>
            </a:lvl1pPr>
            <a:lvl2pPr>
              <a:defRPr sz="20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6197600" y="2133599"/>
            <a:ext cx="5384800" cy="4024313"/>
          </a:xfrm>
        </p:spPr>
        <p:txBody>
          <a:bodyPr/>
          <a:lstStyle>
            <a:lvl1pPr>
              <a:defRPr sz="2400">
                <a:latin typeface="Arial"/>
                <a:cs typeface="Arial"/>
              </a:defRPr>
            </a:lvl1pPr>
            <a:lvl2pPr>
              <a:defRPr sz="2400">
                <a:latin typeface="Arial"/>
                <a:cs typeface="Arial"/>
              </a:defRPr>
            </a:lvl2pPr>
            <a:lvl3pPr>
              <a:defRPr sz="1800">
                <a:latin typeface="Arial"/>
                <a:cs typeface="Arial"/>
              </a:defRPr>
            </a:lvl3pPr>
            <a:lvl4pPr>
              <a:defRPr sz="1800">
                <a:latin typeface="Arial"/>
                <a:cs typeface="Arial"/>
              </a:defRPr>
            </a:lvl4pPr>
            <a:lvl5pPr>
              <a:defRPr sz="1600">
                <a:latin typeface="Arial"/>
                <a:cs typeface="Aria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Date Placeholder 8"/>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10" name="Footer Placeholder 9"/>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1" name="Slide Number Placeholder 10"/>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609600" y="1447800"/>
            <a:ext cx="10972800" cy="4724400"/>
          </a:xfrm>
        </p:spPr>
        <p:txBody>
          <a:bodyPr/>
          <a:lstStyle>
            <a:lvl1pPr>
              <a:defRPr>
                <a:latin typeface="Arial"/>
                <a:cs typeface="Arial"/>
              </a:defRPr>
            </a:lvl1pPr>
          </a:lstStyle>
          <a:p>
            <a:endParaRPr lang="en-US" dirty="0"/>
          </a:p>
        </p:txBody>
      </p:sp>
      <p:sp>
        <p:nvSpPr>
          <p:cNvPr id="5" name="Date Placeholder 4"/>
          <p:cNvSpPr>
            <a:spLocks noGrp="1"/>
          </p:cNvSpPr>
          <p:nvPr>
            <p:ph type="dt" sz="half" idx="15"/>
          </p:nvPr>
        </p:nvSpPr>
        <p:spPr/>
        <p:txBody>
          <a:bodyPr/>
          <a:lstStyle>
            <a:lvl1pPr>
              <a:defRPr>
                <a:latin typeface="Arial"/>
                <a:cs typeface="Arial"/>
              </a:defRPr>
            </a:lvl1pPr>
          </a:lstStyle>
          <a:p>
            <a:r>
              <a:rPr lang="en-US" dirty="0"/>
              <a:t>6</a:t>
            </a:r>
            <a:r>
              <a:rPr lang="en-US" baseline="30000" dirty="0"/>
              <a:t>th</a:t>
            </a:r>
            <a:r>
              <a:rPr lang="en-US" dirty="0"/>
              <a:t> February 2015</a:t>
            </a:r>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dirty="0">
                <a:solidFill>
                  <a:srgbClr val="4C5156"/>
                </a:solidFill>
              </a:rPr>
              <a:t>HELM Steering Committee </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Date Placeholder 4"/>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6" name="Footer Placeholder 5"/>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0"/>
            <a:ext cx="12192000" cy="6858000"/>
          </a:xfr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Picture</a:t>
            </a:r>
          </a:p>
        </p:txBody>
      </p:sp>
      <p:sp>
        <p:nvSpPr>
          <p:cNvPr id="7" name="Date Placeholder 6"/>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8" name="Footer Placeholder 7"/>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9" name="Slide Number Placeholder 8"/>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a:cs typeface="Arial"/>
              </a:defRPr>
            </a:lvl1pPr>
          </a:lstStyle>
          <a:p>
            <a:r>
              <a:rPr lang="en-GB"/>
              <a:t>Click to edit Master title style</a:t>
            </a:r>
            <a:endParaRPr lang="en-US"/>
          </a:p>
        </p:txBody>
      </p:sp>
      <p:sp>
        <p:nvSpPr>
          <p:cNvPr id="3" name="Vertical Text Placeholder 2"/>
          <p:cNvSpPr>
            <a:spLocks noGrp="1"/>
          </p:cNvSpPr>
          <p:nvPr>
            <p:ph type="body" orient="vert" idx="1"/>
          </p:nvPr>
        </p:nvSpPr>
        <p:spPr/>
        <p:txBody>
          <a:bodyPr vert="vert270"/>
          <a:lstStyle>
            <a:lvl1pPr algn="r">
              <a:defRPr>
                <a:latin typeface="Arial"/>
                <a:cs typeface="Arial"/>
              </a:defRPr>
            </a:lvl1pPr>
            <a:lvl2pPr algn="r">
              <a:defRPr>
                <a:latin typeface="Arial"/>
                <a:cs typeface="Arial"/>
              </a:defRPr>
            </a:lvl2pPr>
            <a:lvl3pPr algn="r">
              <a:defRPr>
                <a:latin typeface="Arial"/>
                <a:cs typeface="Arial"/>
              </a:defRPr>
            </a:lvl3pPr>
            <a:lvl4pPr algn="r">
              <a:defRPr>
                <a:latin typeface="Arial"/>
                <a:cs typeface="Arial"/>
              </a:defRPr>
            </a:lvl4pPr>
            <a:lvl5pPr algn="r">
              <a:defRPr>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Picture Placeholder 8"/>
          <p:cNvSpPr>
            <a:spLocks noGrp="1"/>
          </p:cNvSpPr>
          <p:nvPr>
            <p:ph type="pic" sz="quarter" idx="14" hasCustomPrompt="1"/>
          </p:nvPr>
        </p:nvSpPr>
        <p:spPr>
          <a:xfrm>
            <a:off x="711200" y="304801"/>
            <a:ext cx="3352800" cy="975408"/>
          </a:xfrm>
        </p:spPr>
        <p:txBody>
          <a:bodyPr>
            <a:normAutofit/>
          </a:bodyPr>
          <a:lstStyle>
            <a:lvl1pPr>
              <a:buNone/>
              <a:defRPr sz="1400" baseline="0">
                <a:latin typeface="Arial"/>
                <a:cs typeface="Arial"/>
              </a:defRPr>
            </a:lvl1pPr>
          </a:lstStyle>
          <a:p>
            <a:r>
              <a:rPr lang="en-US" sz="1400" dirty="0"/>
              <a:t>Partner logo if required</a:t>
            </a:r>
            <a:endParaRPr lang="en-US" dirty="0"/>
          </a:p>
        </p:txBody>
      </p:sp>
      <p:sp>
        <p:nvSpPr>
          <p:cNvPr id="8" name="Date Placeholder 7"/>
          <p:cNvSpPr>
            <a:spLocks noGrp="1"/>
          </p:cNvSpPr>
          <p:nvPr>
            <p:ph type="dt" sz="half" idx="15"/>
          </p:nvPr>
        </p:nvSpPr>
        <p:spPr/>
        <p:txBody>
          <a:bodyPr/>
          <a:lstStyle>
            <a:lvl1pPr>
              <a:defRPr>
                <a:latin typeface="Arial"/>
                <a:cs typeface="Arial"/>
              </a:defRPr>
            </a:lvl1pPr>
          </a:lstStyle>
          <a:p>
            <a:r>
              <a:rPr lang="en-US"/>
              <a:t>31</a:t>
            </a:r>
            <a:r>
              <a:rPr lang="en-US" baseline="30000"/>
              <a:t>st</a:t>
            </a:r>
            <a:r>
              <a:rPr lang="en-US"/>
              <a:t> October 2014</a:t>
            </a:r>
            <a:endParaRPr lang="en-US" dirty="0"/>
          </a:p>
        </p:txBody>
      </p:sp>
      <p:sp>
        <p:nvSpPr>
          <p:cNvPr id="9" name="Footer Placeholder 8"/>
          <p:cNvSpPr>
            <a:spLocks noGrp="1"/>
          </p:cNvSpPr>
          <p:nvPr>
            <p:ph type="ftr" sz="quarter" idx="16"/>
          </p:nvPr>
        </p:nvSpPr>
        <p:spPr/>
        <p:txBody>
          <a:bodyPr/>
          <a:lstStyle>
            <a:lvl1pPr>
              <a:defRPr>
                <a:latin typeface="Arial"/>
                <a:cs typeface="Arial"/>
              </a:defRPr>
            </a:lvl1pPr>
          </a:lstStyle>
          <a:p>
            <a:r>
              <a:rPr lang="en-GB">
                <a:solidFill>
                  <a:srgbClr val="4C5156"/>
                </a:solidFill>
              </a:rPr>
              <a:t>Presentation title</a:t>
            </a:r>
            <a:endParaRPr lang="en-US" dirty="0">
              <a:solidFill>
                <a:srgbClr val="4C5156"/>
              </a:solidFill>
            </a:endParaRPr>
          </a:p>
        </p:txBody>
      </p:sp>
      <p:sp>
        <p:nvSpPr>
          <p:cNvPr id="10" name="Slide Number Placeholder 9"/>
          <p:cNvSpPr>
            <a:spLocks noGrp="1"/>
          </p:cNvSpPr>
          <p:nvPr>
            <p:ph type="sldNum" sz="quarter" idx="17"/>
          </p:nvPr>
        </p:nvSpPr>
        <p:spPr/>
        <p:txBody>
          <a:bodyPr/>
          <a:lstStyle>
            <a:lvl1pPr>
              <a:defRPr>
                <a:latin typeface="Arial"/>
                <a:cs typeface="Arial"/>
              </a:defRPr>
            </a:lvl1pPr>
          </a:lstStyle>
          <a:p>
            <a:fld id="{28ED40A3-BEA1-2645-9E17-452BD130FCD0}"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tandard Text or Diagr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a:t>
            </a:fld>
            <a:endParaRPr lang="en-US" dirty="0"/>
          </a:p>
        </p:txBody>
      </p:sp>
      <p:sp>
        <p:nvSpPr>
          <p:cNvPr id="5" name="Date Placeholder 4"/>
          <p:cNvSpPr>
            <a:spLocks noGrp="1"/>
          </p:cNvSpPr>
          <p:nvPr>
            <p:ph type="dt" sz="half" idx="12"/>
          </p:nvPr>
        </p:nvSpPr>
        <p:spPr/>
        <p:txBody>
          <a:bodyPr/>
          <a:lstStyle/>
          <a:p>
            <a:fld id="{FD61CEE0-8A0E-574A-8FC2-CE7BA89F0253}" type="datetime3">
              <a:rPr lang="en-GB" smtClean="0"/>
              <a:pPr/>
              <a:t>18 September, 2017</a:t>
            </a:fld>
            <a:endParaRPr lang="en-US" dirty="0"/>
          </a:p>
        </p:txBody>
      </p:sp>
      <p:sp>
        <p:nvSpPr>
          <p:cNvPr id="7" name="Content Placeholder 6"/>
          <p:cNvSpPr>
            <a:spLocks noGrp="1"/>
          </p:cNvSpPr>
          <p:nvPr>
            <p:ph sz="quarter" idx="13"/>
          </p:nvPr>
        </p:nvSpPr>
        <p:spPr>
          <a:xfrm>
            <a:off x="609600" y="1053554"/>
            <a:ext cx="10972800" cy="51117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Picture Placeholder 7"/>
          <p:cNvSpPr>
            <a:spLocks noGrp="1"/>
          </p:cNvSpPr>
          <p:nvPr>
            <p:ph type="pic" sz="quarter" idx="14" hasCustomPrompt="1"/>
          </p:nvPr>
        </p:nvSpPr>
        <p:spPr>
          <a:xfrm>
            <a:off x="10223505" y="266700"/>
            <a:ext cx="1824567" cy="498475"/>
          </a:xfrm>
        </p:spPr>
        <p:txBody>
          <a:bodyPr>
            <a:noAutofit/>
          </a:bodyPr>
          <a:lstStyle>
            <a:lvl1pPr marL="0" indent="0">
              <a:buNone/>
              <a:defRPr sz="1400"/>
            </a:lvl1pPr>
          </a:lstStyle>
          <a:p>
            <a:r>
              <a:rPr lang="en-US" dirty="0"/>
              <a:t>Partner logo if required</a:t>
            </a:r>
          </a:p>
        </p:txBody>
      </p:sp>
    </p:spTree>
    <p:extLst>
      <p:ext uri="{BB962C8B-B14F-4D97-AF65-F5344CB8AC3E}">
        <p14:creationId xmlns:p14="http://schemas.microsoft.com/office/powerpoint/2010/main" val="183286834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609600" y="358914"/>
            <a:ext cx="9422837" cy="1323439"/>
          </a:xfrm>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p:cNvSpPr>
            <a:spLocks noGrp="1" noChangeArrowheads="1"/>
          </p:cNvSpPr>
          <p:nvPr>
            <p:ph type="sldNum" sz="quarter" idx="10"/>
          </p:nvPr>
        </p:nvSpPr>
        <p:spPr>
          <a:ln/>
        </p:spPr>
        <p:txBody>
          <a:bodyPr/>
          <a:lstStyle>
            <a:lvl1pPr>
              <a:defRPr/>
            </a:lvl1pPr>
          </a:lstStyle>
          <a:p>
            <a:pPr>
              <a:defRPr/>
            </a:pPr>
            <a:fld id="{79F65372-B929-454B-AC40-6926AEC9B884}" type="slidenum">
              <a:rPr lang="de-DE"/>
              <a:pPr>
                <a:defRPr/>
              </a:pPr>
              <a:t>‹#›</a:t>
            </a:fld>
            <a:endParaRPr lang="de-DE"/>
          </a:p>
        </p:txBody>
      </p:sp>
    </p:spTree>
    <p:extLst>
      <p:ext uri="{BB962C8B-B14F-4D97-AF65-F5344CB8AC3E}">
        <p14:creationId xmlns:p14="http://schemas.microsoft.com/office/powerpoint/2010/main" val="31465163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Section Slid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438400"/>
            <a:ext cx="10668000" cy="707886"/>
          </a:xfrm>
          <a:prstGeom prst="rect">
            <a:avLst/>
          </a:prstGeom>
        </p:spPr>
        <p:txBody>
          <a:bodyPr>
            <a:spAutoFit/>
          </a:bodyPr>
          <a:lstStyle>
            <a:lvl1pPr algn="l">
              <a:defRPr sz="4000">
                <a:solidFill>
                  <a:schemeClr val="bg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914400" y="3200401"/>
            <a:ext cx="10668000" cy="461665"/>
          </a:xfrm>
          <a:prstGeom prst="rect">
            <a:avLst/>
          </a:prstGeom>
        </p:spPr>
        <p:txBody>
          <a:bodyPr>
            <a:spAutoFit/>
          </a:bodyPr>
          <a:lstStyle>
            <a:lvl1pPr marL="0" indent="0" algn="l">
              <a:buNone/>
              <a:defRPr sz="2400" baseline="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914400" y="4343400"/>
            <a:ext cx="10668000" cy="457200"/>
          </a:xfrm>
          <a:prstGeom prst="rect">
            <a:avLst/>
          </a:prstGeom>
        </p:spPr>
        <p:txBody>
          <a:bodyPr>
            <a:normAutofit/>
          </a:bodyPr>
          <a:lstStyle>
            <a:lvl1pPr>
              <a:buNone/>
              <a:defRPr sz="1800" baseline="0">
                <a:solidFill>
                  <a:schemeClr val="bg1"/>
                </a:solidFill>
                <a:latin typeface="Arial"/>
                <a:cs typeface="Arial"/>
              </a:defRPr>
            </a:lvl1pPr>
          </a:lstStyle>
          <a:p>
            <a:pPr lvl="0"/>
            <a:r>
              <a:rPr lang="en-GB" dirty="0"/>
              <a:t>Click to edit Section presenter</a:t>
            </a:r>
          </a:p>
        </p:txBody>
      </p:sp>
    </p:spTree>
    <p:extLst>
      <p:ext uri="{BB962C8B-B14F-4D97-AF65-F5344CB8AC3E}">
        <p14:creationId xmlns:p14="http://schemas.microsoft.com/office/powerpoint/2010/main" val="352053741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38400"/>
            <a:ext cx="10668000" cy="707886"/>
          </a:xfrm>
          <a:prstGeom prst="rect">
            <a:avLst/>
          </a:prstGeom>
        </p:spPr>
        <p:txBody>
          <a:bodyPr>
            <a:spAutoFit/>
          </a:bodyPr>
          <a:lstStyle>
            <a:lvl1pPr algn="l">
              <a:defRPr sz="4000">
                <a:solidFill>
                  <a:schemeClr val="tx1"/>
                </a:solidFill>
                <a:latin typeface="Arial"/>
                <a:cs typeface="Arial"/>
              </a:defRPr>
            </a:lvl1pPr>
          </a:lstStyle>
          <a:p>
            <a:r>
              <a:rPr lang="en-US"/>
              <a:t>Click to edit Master title style</a:t>
            </a:r>
            <a:endParaRPr lang="en-US" dirty="0"/>
          </a:p>
        </p:txBody>
      </p:sp>
      <p:sp>
        <p:nvSpPr>
          <p:cNvPr id="3" name="Subtitle 2"/>
          <p:cNvSpPr>
            <a:spLocks noGrp="1"/>
          </p:cNvSpPr>
          <p:nvPr>
            <p:ph type="subTitle" idx="1"/>
          </p:nvPr>
        </p:nvSpPr>
        <p:spPr>
          <a:xfrm>
            <a:off x="914400" y="3200401"/>
            <a:ext cx="10668000" cy="461665"/>
          </a:xfrm>
          <a:prstGeom prst="rect">
            <a:avLst/>
          </a:prstGeom>
        </p:spPr>
        <p:txBody>
          <a:bodyPr>
            <a:spAutoFit/>
          </a:bodyPr>
          <a:lstStyle>
            <a:lvl1pPr marL="0" indent="0" algn="l">
              <a:buNone/>
              <a:defRPr sz="2400" b="0" i="0">
                <a:solidFill>
                  <a:schemeClr val="tx1">
                    <a:tint val="75000"/>
                  </a:schemeClr>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7" name="Text Placeholder 16"/>
          <p:cNvSpPr>
            <a:spLocks noGrp="1"/>
          </p:cNvSpPr>
          <p:nvPr>
            <p:ph type="body" sz="quarter" idx="11" hasCustomPrompt="1"/>
          </p:nvPr>
        </p:nvSpPr>
        <p:spPr>
          <a:xfrm>
            <a:off x="914400" y="4343400"/>
            <a:ext cx="10668000" cy="369332"/>
          </a:xfrm>
          <a:prstGeom prst="rect">
            <a:avLst/>
          </a:prstGeom>
        </p:spPr>
        <p:txBody>
          <a:bodyPr>
            <a:spAutoFit/>
          </a:bodyPr>
          <a:lstStyle>
            <a:lvl1pPr>
              <a:buNone/>
              <a:defRPr sz="1800" baseline="0">
                <a:solidFill>
                  <a:srgbClr val="FFFFFF"/>
                </a:solidFill>
                <a:latin typeface="Arial"/>
                <a:cs typeface="Arial"/>
              </a:defRPr>
            </a:lvl1pPr>
          </a:lstStyle>
          <a:p>
            <a:pPr lvl="0"/>
            <a:r>
              <a:rPr lang="en-GB" dirty="0"/>
              <a:t>Click to edit venue</a:t>
            </a:r>
          </a:p>
        </p:txBody>
      </p:sp>
      <p:sp>
        <p:nvSpPr>
          <p:cNvPr id="19" name="Text Placeholder 18"/>
          <p:cNvSpPr>
            <a:spLocks noGrp="1"/>
          </p:cNvSpPr>
          <p:nvPr>
            <p:ph type="body" sz="quarter" idx="12" hasCustomPrompt="1"/>
          </p:nvPr>
        </p:nvSpPr>
        <p:spPr>
          <a:xfrm>
            <a:off x="914400" y="5676900"/>
            <a:ext cx="3759200" cy="533400"/>
          </a:xfrm>
          <a:prstGeom prst="rect">
            <a:avLst/>
          </a:prstGeom>
        </p:spPr>
        <p:txBody>
          <a:bodyPr vert="horz">
            <a:normAutofit/>
          </a:bodyPr>
          <a:lstStyle>
            <a:lvl1pPr>
              <a:buNone/>
              <a:defRPr sz="1400">
                <a:solidFill>
                  <a:srgbClr val="FFFFFF"/>
                </a:solidFill>
                <a:latin typeface="Arial"/>
                <a:cs typeface="Arial"/>
              </a:defRPr>
            </a:lvl1pPr>
          </a:lstStyle>
          <a:p>
            <a:pPr lvl="0"/>
            <a:fld id="{7C324731-B2AA-714B-A8FD-B25E71C667AC}" type="datetime4">
              <a:rPr lang="en-US" smtClean="0"/>
              <a:pPr lvl="0"/>
              <a:t>January 16, 2015</a:t>
            </a:fld>
            <a:endParaRPr lang="en-GB" dirty="0"/>
          </a:p>
        </p:txBody>
      </p:sp>
      <p:sp>
        <p:nvSpPr>
          <p:cNvPr id="21" name="Text Placeholder 20"/>
          <p:cNvSpPr>
            <a:spLocks noGrp="1"/>
          </p:cNvSpPr>
          <p:nvPr>
            <p:ph type="body" sz="quarter" idx="13" hasCustomPrompt="1"/>
          </p:nvPr>
        </p:nvSpPr>
        <p:spPr>
          <a:xfrm>
            <a:off x="914400" y="4800600"/>
            <a:ext cx="10668000" cy="369332"/>
          </a:xfrm>
          <a:prstGeom prst="rect">
            <a:avLst/>
          </a:prstGeom>
        </p:spPr>
        <p:txBody>
          <a:bodyPr>
            <a:spAutoFit/>
          </a:bodyPr>
          <a:lstStyle>
            <a:lvl1pPr>
              <a:buNone/>
              <a:defRPr sz="1800">
                <a:solidFill>
                  <a:srgbClr val="FFFFFF"/>
                </a:solidFill>
                <a:latin typeface="Arial"/>
                <a:cs typeface="Arial"/>
              </a:defRPr>
            </a:lvl1pPr>
          </a:lstStyle>
          <a:p>
            <a:pPr lvl="0"/>
            <a:r>
              <a:rPr lang="en-GB" dirty="0"/>
              <a:t>Click to edit presenter</a:t>
            </a:r>
            <a:endParaRPr lang="en-US" dirty="0"/>
          </a:p>
        </p:txBody>
      </p:sp>
      <p:pic>
        <p:nvPicPr>
          <p:cNvPr id="9" name="Picture 8" descr="PistoiaAlliance_main_white_RGB.png"/>
          <p:cNvPicPr>
            <a:picLocks noChangeAspect="1"/>
          </p:cNvPicPr>
          <p:nvPr userDrawn="1"/>
        </p:nvPicPr>
        <p:blipFill>
          <a:blip r:embed="rId2"/>
          <a:stretch>
            <a:fillRect/>
          </a:stretch>
        </p:blipFill>
        <p:spPr>
          <a:xfrm>
            <a:off x="9120336" y="323135"/>
            <a:ext cx="2667000" cy="1553201"/>
          </a:xfrm>
          <a:prstGeom prst="rect">
            <a:avLst/>
          </a:prstGeom>
        </p:spPr>
      </p:pic>
      <p:pic>
        <p:nvPicPr>
          <p:cNvPr id="10" name="Picture Placeholder 2"/>
          <p:cNvPicPr>
            <a:picLocks noChangeAspect="1"/>
          </p:cNvPicPr>
          <p:nvPr userDrawn="1"/>
        </p:nvPicPr>
        <p:blipFill>
          <a:blip r:embed="rId3" cstate="print">
            <a:extLst>
              <a:ext uri="{28A0092B-C50C-407E-A947-70E740481C1C}">
                <a14:useLocalDpi xmlns:a14="http://schemas.microsoft.com/office/drawing/2010/main" val="0"/>
              </a:ext>
            </a:extLst>
          </a:blip>
          <a:srcRect t="1547" b="1547"/>
          <a:stretch>
            <a:fillRect/>
          </a:stretch>
        </p:blipFill>
        <p:spPr>
          <a:xfrm>
            <a:off x="179511" y="188640"/>
            <a:ext cx="3527093" cy="1368152"/>
          </a:xfrm>
          <a:prstGeom prst="rect">
            <a:avLst/>
          </a:prstGeom>
        </p:spPr>
      </p:pic>
    </p:spTree>
    <p:extLst>
      <p:ext uri="{BB962C8B-B14F-4D97-AF65-F5344CB8AC3E}">
        <p14:creationId xmlns:p14="http://schemas.microsoft.com/office/powerpoint/2010/main" val="199728454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438400"/>
            <a:ext cx="10668000" cy="707886"/>
          </a:xfrm>
          <a:prstGeom prst="rect">
            <a:avLst/>
          </a:prstGeom>
        </p:spPr>
        <p:txBody>
          <a:bodyPr>
            <a:spAutoFit/>
          </a:bodyPr>
          <a:lstStyle>
            <a:lvl1pPr algn="l">
              <a:defRPr sz="4000">
                <a:solidFill>
                  <a:schemeClr val="tx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914400" y="3200401"/>
            <a:ext cx="10668000" cy="461665"/>
          </a:xfrm>
          <a:prstGeom prst="rect">
            <a:avLst/>
          </a:prstGeom>
        </p:spPr>
        <p:txBody>
          <a:bodyPr>
            <a:spAutoFit/>
          </a:bodyPr>
          <a:lstStyle>
            <a:lvl1pPr marL="0" indent="0" algn="l">
              <a:buNone/>
              <a:defRPr sz="2400" baseline="0">
                <a:solidFill>
                  <a:schemeClr val="tx1">
                    <a:tint val="75000"/>
                  </a:schemeClr>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914400" y="4343400"/>
            <a:ext cx="10668000" cy="457200"/>
          </a:xfrm>
          <a:prstGeom prst="rect">
            <a:avLst/>
          </a:prstGeom>
        </p:spPr>
        <p:txBody>
          <a:bodyPr>
            <a:normAutofit/>
          </a:bodyPr>
          <a:lstStyle>
            <a:lvl1pPr>
              <a:buNone/>
              <a:defRPr sz="1800" baseline="0">
                <a:solidFill>
                  <a:srgbClr val="FFFFFF"/>
                </a:solidFill>
                <a:latin typeface="Arial"/>
                <a:cs typeface="Arial"/>
              </a:defRPr>
            </a:lvl1pPr>
          </a:lstStyle>
          <a:p>
            <a:pPr lvl="0"/>
            <a:r>
              <a:rPr lang="en-GB" dirty="0"/>
              <a:t>Click to edit Section presenter</a:t>
            </a:r>
          </a:p>
        </p:txBody>
      </p:sp>
      <p:pic>
        <p:nvPicPr>
          <p:cNvPr id="9" name="Picture 8" descr="PistoiaAlliance_main_white_RGB.png"/>
          <p:cNvPicPr>
            <a:picLocks noChangeAspect="1"/>
          </p:cNvPicPr>
          <p:nvPr userDrawn="1"/>
        </p:nvPicPr>
        <p:blipFill>
          <a:blip r:embed="rId2"/>
          <a:stretch>
            <a:fillRect/>
          </a:stretch>
        </p:blipFill>
        <p:spPr>
          <a:xfrm>
            <a:off x="9120336" y="323135"/>
            <a:ext cx="2667000" cy="1553201"/>
          </a:xfrm>
          <a:prstGeom prst="rect">
            <a:avLst/>
          </a:prstGeom>
        </p:spPr>
      </p:pic>
    </p:spTree>
    <p:extLst>
      <p:ext uri="{BB962C8B-B14F-4D97-AF65-F5344CB8AC3E}">
        <p14:creationId xmlns:p14="http://schemas.microsoft.com/office/powerpoint/2010/main" val="124208860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Section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438400"/>
            <a:ext cx="10668000" cy="707886"/>
          </a:xfrm>
          <a:prstGeom prst="rect">
            <a:avLst/>
          </a:prstGeom>
        </p:spPr>
        <p:txBody>
          <a:bodyPr>
            <a:spAutoFit/>
          </a:bodyPr>
          <a:lstStyle>
            <a:lvl1pPr algn="l">
              <a:defRPr sz="4000">
                <a:solidFill>
                  <a:schemeClr val="bg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914400" y="3200401"/>
            <a:ext cx="10668000" cy="461665"/>
          </a:xfrm>
          <a:prstGeom prst="rect">
            <a:avLst/>
          </a:prstGeom>
        </p:spPr>
        <p:txBody>
          <a:bodyPr>
            <a:spAutoFit/>
          </a:bodyPr>
          <a:lstStyle>
            <a:lvl1pPr marL="0" indent="0" algn="l">
              <a:buNone/>
              <a:defRPr sz="2400" baseline="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914400" y="4343400"/>
            <a:ext cx="10668000" cy="457200"/>
          </a:xfrm>
          <a:prstGeom prst="rect">
            <a:avLst/>
          </a:prstGeom>
        </p:spPr>
        <p:txBody>
          <a:bodyPr>
            <a:normAutofit/>
          </a:bodyPr>
          <a:lstStyle>
            <a:lvl1pPr>
              <a:buNone/>
              <a:defRPr sz="1800" baseline="0">
                <a:solidFill>
                  <a:schemeClr val="bg1"/>
                </a:solidFill>
                <a:latin typeface="Arial"/>
                <a:cs typeface="Arial"/>
              </a:defRPr>
            </a:lvl1pPr>
          </a:lstStyle>
          <a:p>
            <a:pPr lvl="0"/>
            <a:r>
              <a:rPr lang="en-GB" dirty="0"/>
              <a:t>Click to edit Section presenter</a:t>
            </a:r>
          </a:p>
        </p:txBody>
      </p:sp>
      <p:sp>
        <p:nvSpPr>
          <p:cNvPr id="7" name="Picture Placeholder 8"/>
          <p:cNvSpPr>
            <a:spLocks noGrp="1"/>
          </p:cNvSpPr>
          <p:nvPr>
            <p:ph type="pic" sz="quarter" idx="14" hasCustomPrompt="1"/>
          </p:nvPr>
        </p:nvSpPr>
        <p:spPr>
          <a:xfrm>
            <a:off x="711200" y="304801"/>
            <a:ext cx="3352800" cy="975408"/>
          </a:xfrm>
          <a:prstGeom prst="rect">
            <a:avLst/>
          </a:prstGeom>
        </p:spPr>
        <p:txBody>
          <a:bodyPr>
            <a:normAutofit/>
          </a:bodyPr>
          <a:lstStyle>
            <a:lvl1pPr>
              <a:buNone/>
              <a:defRPr sz="1400" baseline="0">
                <a:latin typeface="Arial"/>
                <a:cs typeface="Arial"/>
              </a:defRPr>
            </a:lvl1pPr>
          </a:lstStyle>
          <a:p>
            <a:r>
              <a:rPr lang="en-US" sz="1400" dirty="0"/>
              <a:t>Partner logo if required</a:t>
            </a:r>
            <a:endParaRPr lang="en-US" dirty="0"/>
          </a:p>
        </p:txBody>
      </p:sp>
      <p:pic>
        <p:nvPicPr>
          <p:cNvPr id="8" name="Picture 7" descr="PistoiaAlliance_main_white_RGB.png"/>
          <p:cNvPicPr>
            <a:picLocks noChangeAspect="1"/>
          </p:cNvPicPr>
          <p:nvPr userDrawn="1"/>
        </p:nvPicPr>
        <p:blipFill>
          <a:blip r:embed="rId2"/>
          <a:stretch>
            <a:fillRect/>
          </a:stretch>
        </p:blipFill>
        <p:spPr>
          <a:xfrm>
            <a:off x="9120336" y="323135"/>
            <a:ext cx="2667000" cy="1553201"/>
          </a:xfrm>
          <a:prstGeom prst="rect">
            <a:avLst/>
          </a:prstGeom>
        </p:spPr>
      </p:pic>
    </p:spTree>
    <p:extLst>
      <p:ext uri="{BB962C8B-B14F-4D97-AF65-F5344CB8AC3E}">
        <p14:creationId xmlns:p14="http://schemas.microsoft.com/office/powerpoint/2010/main" val="180755574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_Section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438400"/>
            <a:ext cx="10668000" cy="707886"/>
          </a:xfrm>
          <a:prstGeom prst="rect">
            <a:avLst/>
          </a:prstGeom>
        </p:spPr>
        <p:txBody>
          <a:bodyPr>
            <a:spAutoFit/>
          </a:bodyPr>
          <a:lstStyle>
            <a:lvl1pPr algn="l">
              <a:defRPr sz="4000">
                <a:solidFill>
                  <a:schemeClr val="tx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914400" y="3200401"/>
            <a:ext cx="10668000" cy="461665"/>
          </a:xfrm>
          <a:prstGeom prst="rect">
            <a:avLst/>
          </a:prstGeom>
        </p:spPr>
        <p:txBody>
          <a:bodyPr>
            <a:spAutoFit/>
          </a:bodyPr>
          <a:lstStyle>
            <a:lvl1pPr marL="0" indent="0" algn="l">
              <a:buNone/>
              <a:defRPr sz="2400" baseline="0">
                <a:solidFill>
                  <a:schemeClr val="tx1">
                    <a:tint val="75000"/>
                  </a:schemeClr>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914400" y="4343400"/>
            <a:ext cx="10668000" cy="457200"/>
          </a:xfrm>
          <a:prstGeom prst="rect">
            <a:avLst/>
          </a:prstGeom>
        </p:spPr>
        <p:txBody>
          <a:bodyPr>
            <a:normAutofit/>
          </a:bodyPr>
          <a:lstStyle>
            <a:lvl1pPr>
              <a:buNone/>
              <a:defRPr sz="1800" baseline="0">
                <a:solidFill>
                  <a:srgbClr val="FFFFFF"/>
                </a:solidFill>
                <a:latin typeface="Arial"/>
                <a:cs typeface="Arial"/>
              </a:defRPr>
            </a:lvl1pPr>
          </a:lstStyle>
          <a:p>
            <a:pPr lvl="0"/>
            <a:r>
              <a:rPr lang="en-GB" dirty="0"/>
              <a:t>Click to edit Section presenter</a:t>
            </a:r>
          </a:p>
        </p:txBody>
      </p:sp>
      <p:sp>
        <p:nvSpPr>
          <p:cNvPr id="7" name="Picture Placeholder 8"/>
          <p:cNvSpPr>
            <a:spLocks noGrp="1"/>
          </p:cNvSpPr>
          <p:nvPr>
            <p:ph type="pic" sz="quarter" idx="14" hasCustomPrompt="1"/>
          </p:nvPr>
        </p:nvSpPr>
        <p:spPr>
          <a:xfrm>
            <a:off x="711200" y="304801"/>
            <a:ext cx="3352800" cy="975408"/>
          </a:xfrm>
          <a:prstGeom prst="rect">
            <a:avLst/>
          </a:prstGeom>
        </p:spPr>
        <p:txBody>
          <a:bodyPr>
            <a:normAutofit/>
          </a:bodyPr>
          <a:lstStyle>
            <a:lvl1pPr>
              <a:buNone/>
              <a:defRPr sz="1400" baseline="0">
                <a:latin typeface="Arial"/>
                <a:cs typeface="Arial"/>
              </a:defRPr>
            </a:lvl1pPr>
          </a:lstStyle>
          <a:p>
            <a:r>
              <a:rPr lang="en-US" sz="1400" dirty="0"/>
              <a:t>Partner logo if required</a:t>
            </a:r>
            <a:endParaRPr lang="en-US" dirty="0"/>
          </a:p>
        </p:txBody>
      </p:sp>
      <p:pic>
        <p:nvPicPr>
          <p:cNvPr id="9" name="Picture 8" descr="PistoiaAlliance_main_white_RGB.png"/>
          <p:cNvPicPr>
            <a:picLocks noChangeAspect="1"/>
          </p:cNvPicPr>
          <p:nvPr userDrawn="1"/>
        </p:nvPicPr>
        <p:blipFill>
          <a:blip r:embed="rId2"/>
          <a:stretch>
            <a:fillRect/>
          </a:stretch>
        </p:blipFill>
        <p:spPr>
          <a:xfrm>
            <a:off x="9120336" y="323135"/>
            <a:ext cx="2667000" cy="1553201"/>
          </a:xfrm>
          <a:prstGeom prst="rect">
            <a:avLst/>
          </a:prstGeom>
        </p:spPr>
      </p:pic>
    </p:spTree>
    <p:extLst>
      <p:ext uri="{BB962C8B-B14F-4D97-AF65-F5344CB8AC3E}">
        <p14:creationId xmlns:p14="http://schemas.microsoft.com/office/powerpoint/2010/main" val="333002353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Section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438400"/>
            <a:ext cx="10668000" cy="707886"/>
          </a:xfrm>
          <a:prstGeom prst="rect">
            <a:avLst/>
          </a:prstGeom>
        </p:spPr>
        <p:txBody>
          <a:bodyPr>
            <a:spAutoFit/>
          </a:bodyPr>
          <a:lstStyle>
            <a:lvl1pPr algn="l">
              <a:defRPr sz="4000">
                <a:solidFill>
                  <a:srgbClr val="666E7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914400" y="3200401"/>
            <a:ext cx="10668000" cy="461665"/>
          </a:xfrm>
          <a:prstGeom prst="rect">
            <a:avLst/>
          </a:prstGeom>
        </p:spPr>
        <p:txBody>
          <a:bodyPr>
            <a:spAutoFit/>
          </a:bodyPr>
          <a:lstStyle>
            <a:lvl1pPr marL="0" indent="0" algn="l">
              <a:buNone/>
              <a:defRPr sz="2400" baseline="0">
                <a:solidFill>
                  <a:srgbClr val="666E7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914400" y="4343400"/>
            <a:ext cx="10668000" cy="457200"/>
          </a:xfrm>
          <a:prstGeom prst="rect">
            <a:avLst/>
          </a:prstGeom>
        </p:spPr>
        <p:txBody>
          <a:bodyPr>
            <a:normAutofit/>
          </a:bodyPr>
          <a:lstStyle>
            <a:lvl1pPr>
              <a:buNone/>
              <a:defRPr sz="1800" baseline="0">
                <a:solidFill>
                  <a:srgbClr val="666E71"/>
                </a:solidFill>
                <a:latin typeface="Arial"/>
                <a:cs typeface="Arial"/>
              </a:defRPr>
            </a:lvl1pPr>
          </a:lstStyle>
          <a:p>
            <a:pPr lvl="0"/>
            <a:r>
              <a:rPr lang="en-GB" dirty="0"/>
              <a:t>Click to edit Section presenter</a:t>
            </a:r>
          </a:p>
        </p:txBody>
      </p:sp>
      <p:sp>
        <p:nvSpPr>
          <p:cNvPr id="7" name="Picture Placeholder 8"/>
          <p:cNvSpPr>
            <a:spLocks noGrp="1"/>
          </p:cNvSpPr>
          <p:nvPr>
            <p:ph type="pic" sz="quarter" idx="14" hasCustomPrompt="1"/>
          </p:nvPr>
        </p:nvSpPr>
        <p:spPr>
          <a:xfrm>
            <a:off x="711200" y="304801"/>
            <a:ext cx="3352800" cy="975408"/>
          </a:xfrm>
          <a:prstGeom prst="rect">
            <a:avLst/>
          </a:prstGeom>
        </p:spPr>
        <p:txBody>
          <a:bodyPr>
            <a:normAutofit/>
          </a:bodyPr>
          <a:lstStyle>
            <a:lvl1pPr>
              <a:buNone/>
              <a:defRPr sz="1400" baseline="0">
                <a:latin typeface="Arial"/>
                <a:cs typeface="Arial"/>
              </a:defRPr>
            </a:lvl1pPr>
          </a:lstStyle>
          <a:p>
            <a:r>
              <a:rPr lang="en-US" sz="1400" dirty="0"/>
              <a:t>Partner logo if required</a:t>
            </a:r>
            <a:endParaRPr lang="en-US" dirty="0"/>
          </a:p>
        </p:txBody>
      </p:sp>
      <p:pic>
        <p:nvPicPr>
          <p:cNvPr id="8" name="Picture 7" descr="PistoiaAlliance_main_white_RGB.png"/>
          <p:cNvPicPr>
            <a:picLocks noChangeAspect="1"/>
          </p:cNvPicPr>
          <p:nvPr userDrawn="1"/>
        </p:nvPicPr>
        <p:blipFill>
          <a:blip r:embed="rId2"/>
          <a:stretch>
            <a:fillRect/>
          </a:stretch>
        </p:blipFill>
        <p:spPr>
          <a:xfrm>
            <a:off x="9120336" y="323135"/>
            <a:ext cx="2667000" cy="1553201"/>
          </a:xfrm>
          <a:prstGeom prst="rect">
            <a:avLst/>
          </a:prstGeom>
        </p:spPr>
      </p:pic>
    </p:spTree>
    <p:extLst>
      <p:ext uri="{BB962C8B-B14F-4D97-AF65-F5344CB8AC3E}">
        <p14:creationId xmlns:p14="http://schemas.microsoft.com/office/powerpoint/2010/main" val="410341317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Section Slid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438400"/>
            <a:ext cx="10668000" cy="707886"/>
          </a:xfrm>
          <a:prstGeom prst="rect">
            <a:avLst/>
          </a:prstGeom>
        </p:spPr>
        <p:txBody>
          <a:bodyPr>
            <a:spAutoFit/>
          </a:bodyPr>
          <a:lstStyle>
            <a:lvl1pPr algn="l">
              <a:defRPr sz="4000">
                <a:solidFill>
                  <a:schemeClr val="tx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914400" y="3200401"/>
            <a:ext cx="10668000" cy="461665"/>
          </a:xfrm>
          <a:prstGeom prst="rect">
            <a:avLst/>
          </a:prstGeom>
        </p:spPr>
        <p:txBody>
          <a:bodyPr>
            <a:spAutoFit/>
          </a:bodyPr>
          <a:lstStyle>
            <a:lvl1pPr marL="0" indent="0" algn="l">
              <a:buNone/>
              <a:defRPr sz="2400" baseline="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914400" y="4343400"/>
            <a:ext cx="10668000" cy="457200"/>
          </a:xfrm>
          <a:prstGeom prst="rect">
            <a:avLst/>
          </a:prstGeom>
        </p:spPr>
        <p:txBody>
          <a:bodyPr>
            <a:normAutofit/>
          </a:bodyPr>
          <a:lstStyle>
            <a:lvl1pPr>
              <a:buNone/>
              <a:defRPr sz="1800" baseline="0">
                <a:solidFill>
                  <a:schemeClr val="tx1"/>
                </a:solidFill>
                <a:latin typeface="Arial"/>
                <a:cs typeface="Arial"/>
              </a:defRPr>
            </a:lvl1pPr>
          </a:lstStyle>
          <a:p>
            <a:pPr lvl="0"/>
            <a:r>
              <a:rPr lang="en-GB" dirty="0"/>
              <a:t>Click to edit Section presenter</a:t>
            </a:r>
          </a:p>
        </p:txBody>
      </p:sp>
      <p:sp>
        <p:nvSpPr>
          <p:cNvPr id="7" name="Picture Placeholder 8"/>
          <p:cNvSpPr>
            <a:spLocks noGrp="1"/>
          </p:cNvSpPr>
          <p:nvPr>
            <p:ph type="pic" sz="quarter" idx="14" hasCustomPrompt="1"/>
          </p:nvPr>
        </p:nvSpPr>
        <p:spPr>
          <a:xfrm>
            <a:off x="609600" y="304801"/>
            <a:ext cx="3352800" cy="975408"/>
          </a:xfrm>
          <a:prstGeom prst="rect">
            <a:avLst/>
          </a:prstGeom>
        </p:spPr>
        <p:txBody>
          <a:bodyPr>
            <a:normAutofit/>
          </a:bodyPr>
          <a:lstStyle>
            <a:lvl1pPr>
              <a:buNone/>
              <a:defRPr sz="1400" baseline="0">
                <a:latin typeface="Arial"/>
                <a:cs typeface="Arial"/>
              </a:defRPr>
            </a:lvl1pPr>
          </a:lstStyle>
          <a:p>
            <a:r>
              <a:rPr lang="en-US" sz="1400" dirty="0"/>
              <a:t>Partner logo if required</a:t>
            </a:r>
            <a:endParaRPr lang="en-US" dirty="0"/>
          </a:p>
        </p:txBody>
      </p:sp>
      <p:pic>
        <p:nvPicPr>
          <p:cNvPr id="8" name="Picture 7" descr="PistoiaAlliance_main_white_RGB.png"/>
          <p:cNvPicPr>
            <a:picLocks noChangeAspect="1"/>
          </p:cNvPicPr>
          <p:nvPr userDrawn="1"/>
        </p:nvPicPr>
        <p:blipFill>
          <a:blip r:embed="rId2"/>
          <a:stretch>
            <a:fillRect/>
          </a:stretch>
        </p:blipFill>
        <p:spPr>
          <a:xfrm>
            <a:off x="9120336" y="323135"/>
            <a:ext cx="2667000" cy="1553201"/>
          </a:xfrm>
          <a:prstGeom prst="rect">
            <a:avLst/>
          </a:prstGeom>
        </p:spPr>
      </p:pic>
    </p:spTree>
    <p:extLst>
      <p:ext uri="{BB962C8B-B14F-4D97-AF65-F5344CB8AC3E}">
        <p14:creationId xmlns:p14="http://schemas.microsoft.com/office/powerpoint/2010/main" val="311744035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_Title Slid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438400"/>
            <a:ext cx="10668000" cy="707886"/>
          </a:xfrm>
          <a:prstGeom prst="rect">
            <a:avLst/>
          </a:prstGeom>
        </p:spPr>
        <p:txBody>
          <a:bodyPr>
            <a:spAutoFit/>
          </a:bodyPr>
          <a:lstStyle>
            <a:lvl1pPr algn="l">
              <a:defRPr sz="4000">
                <a:solidFill>
                  <a:schemeClr val="tx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914400" y="3200401"/>
            <a:ext cx="10668000" cy="461665"/>
          </a:xfrm>
          <a:prstGeom prst="rect">
            <a:avLst/>
          </a:prstGeom>
        </p:spPr>
        <p:txBody>
          <a:bodyPr>
            <a:spAutoFit/>
          </a:bodyPr>
          <a:lstStyle>
            <a:lvl1pPr marL="0" indent="0" algn="l">
              <a:buNone/>
              <a:defRPr sz="2400" baseline="0">
                <a:solidFill>
                  <a:schemeClr val="tx1">
                    <a:tint val="75000"/>
                  </a:schemeClr>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914400" y="4343400"/>
            <a:ext cx="10668000" cy="457200"/>
          </a:xfrm>
          <a:prstGeom prst="rect">
            <a:avLst/>
          </a:prstGeom>
        </p:spPr>
        <p:txBody>
          <a:bodyPr>
            <a:normAutofit/>
          </a:bodyPr>
          <a:lstStyle>
            <a:lvl1pPr>
              <a:buNone/>
              <a:defRPr sz="1800" baseline="0">
                <a:solidFill>
                  <a:srgbClr val="FFFFFF"/>
                </a:solidFill>
                <a:latin typeface="Arial"/>
                <a:cs typeface="Arial"/>
              </a:defRPr>
            </a:lvl1pPr>
          </a:lstStyle>
          <a:p>
            <a:pPr lvl="0"/>
            <a:r>
              <a:rPr lang="en-GB" dirty="0"/>
              <a:t>Click to edit Section presenter</a:t>
            </a:r>
          </a:p>
        </p:txBody>
      </p:sp>
      <p:sp>
        <p:nvSpPr>
          <p:cNvPr id="6" name="Picture Placeholder 8"/>
          <p:cNvSpPr>
            <a:spLocks noGrp="1"/>
          </p:cNvSpPr>
          <p:nvPr>
            <p:ph type="pic" sz="quarter" idx="14" hasCustomPrompt="1"/>
          </p:nvPr>
        </p:nvSpPr>
        <p:spPr>
          <a:xfrm>
            <a:off x="609600" y="304801"/>
            <a:ext cx="3352800" cy="975408"/>
          </a:xfrm>
          <a:prstGeom prst="rect">
            <a:avLst/>
          </a:prstGeom>
        </p:spPr>
        <p:txBody>
          <a:bodyPr>
            <a:normAutofit/>
          </a:bodyPr>
          <a:lstStyle>
            <a:lvl1pPr>
              <a:buNone/>
              <a:defRPr sz="1400" baseline="0">
                <a:latin typeface="Arial"/>
                <a:cs typeface="Arial"/>
              </a:defRPr>
            </a:lvl1pPr>
          </a:lstStyle>
          <a:p>
            <a:r>
              <a:rPr lang="en-US" sz="1400" dirty="0"/>
              <a:t>Partner logo if required</a:t>
            </a:r>
            <a:endParaRPr lang="en-US" dirty="0"/>
          </a:p>
        </p:txBody>
      </p:sp>
      <p:pic>
        <p:nvPicPr>
          <p:cNvPr id="7" name="Picture 6" descr="PistoiaAlliance_main_white_RGB.png"/>
          <p:cNvPicPr>
            <a:picLocks noChangeAspect="1"/>
          </p:cNvPicPr>
          <p:nvPr userDrawn="1"/>
        </p:nvPicPr>
        <p:blipFill>
          <a:blip r:embed="rId2"/>
          <a:stretch>
            <a:fillRect/>
          </a:stretch>
        </p:blipFill>
        <p:spPr>
          <a:xfrm>
            <a:off x="9120336" y="323135"/>
            <a:ext cx="2667000" cy="1553201"/>
          </a:xfrm>
          <a:prstGeom prst="rect">
            <a:avLst/>
          </a:prstGeom>
        </p:spPr>
      </p:pic>
    </p:spTree>
    <p:extLst>
      <p:ext uri="{BB962C8B-B14F-4D97-AF65-F5344CB8AC3E}">
        <p14:creationId xmlns:p14="http://schemas.microsoft.com/office/powerpoint/2010/main" val="254055820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ustom Layou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229100"/>
            <a:ext cx="10972800" cy="1143000"/>
          </a:xfrm>
          <a:prstGeom prst="rect">
            <a:avLst/>
          </a:prstGeom>
        </p:spPr>
        <p:txBody>
          <a:bodyPr/>
          <a:lstStyle>
            <a:lvl1pPr algn="ctr">
              <a:buFont typeface="Arial"/>
              <a:buNone/>
              <a:defRPr baseline="0">
                <a:solidFill>
                  <a:schemeClr val="tx1"/>
                </a:solidFill>
                <a:latin typeface="Arial"/>
                <a:cs typeface="Arial"/>
              </a:defRPr>
            </a:lvl1pPr>
          </a:lstStyle>
          <a:p>
            <a:r>
              <a:rPr lang="en-GB" dirty="0"/>
              <a:t>Click to edit webinar recording message</a:t>
            </a:r>
            <a:endParaRPr lang="en-US" dirty="0"/>
          </a:p>
        </p:txBody>
      </p:sp>
      <p:sp>
        <p:nvSpPr>
          <p:cNvPr id="6" name="Oval 5"/>
          <p:cNvSpPr/>
          <p:nvPr/>
        </p:nvSpPr>
        <p:spPr>
          <a:xfrm>
            <a:off x="4368800" y="1447800"/>
            <a:ext cx="3454400" cy="2590800"/>
          </a:xfrm>
          <a:prstGeom prst="ellips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latin typeface="Arial"/>
              <a:cs typeface="Arial"/>
            </a:endParaRPr>
          </a:p>
        </p:txBody>
      </p:sp>
      <p:pic>
        <p:nvPicPr>
          <p:cNvPr id="8" name="Picture 7"/>
          <p:cNvPicPr>
            <a:picLocks noChangeAspect="1"/>
          </p:cNvPicPr>
          <p:nvPr/>
        </p:nvPicPr>
        <p:blipFill>
          <a:blip r:embed="rId2"/>
          <a:stretch>
            <a:fillRect/>
          </a:stretch>
        </p:blipFill>
        <p:spPr>
          <a:xfrm flipV="1">
            <a:off x="5080000" y="2362200"/>
            <a:ext cx="2032000" cy="843498"/>
          </a:xfrm>
          <a:prstGeom prst="rect">
            <a:avLst/>
          </a:prstGeom>
        </p:spPr>
      </p:pic>
      <p:sp>
        <p:nvSpPr>
          <p:cNvPr id="10" name="Picture Placeholder 8"/>
          <p:cNvSpPr>
            <a:spLocks noGrp="1"/>
          </p:cNvSpPr>
          <p:nvPr>
            <p:ph type="pic" sz="quarter" idx="14" hasCustomPrompt="1"/>
          </p:nvPr>
        </p:nvSpPr>
        <p:spPr>
          <a:xfrm>
            <a:off x="609600" y="304801"/>
            <a:ext cx="3352800" cy="975408"/>
          </a:xfrm>
          <a:prstGeom prst="rect">
            <a:avLst/>
          </a:prstGeom>
        </p:spPr>
        <p:txBody>
          <a:bodyPr>
            <a:normAutofit/>
          </a:bodyPr>
          <a:lstStyle>
            <a:lvl1pPr>
              <a:buNone/>
              <a:defRPr sz="1400" baseline="0">
                <a:latin typeface="Arial"/>
                <a:cs typeface="Arial"/>
              </a:defRPr>
            </a:lvl1pPr>
          </a:lstStyle>
          <a:p>
            <a:r>
              <a:rPr lang="en-US" sz="1400" dirty="0"/>
              <a:t>Partner logo if required</a:t>
            </a:r>
            <a:endParaRPr lang="en-US" dirty="0"/>
          </a:p>
        </p:txBody>
      </p:sp>
      <p:pic>
        <p:nvPicPr>
          <p:cNvPr id="7" name="Picture 6" descr="PistoiaAlliance_main_white_RGB.png"/>
          <p:cNvPicPr>
            <a:picLocks noChangeAspect="1"/>
          </p:cNvPicPr>
          <p:nvPr userDrawn="1"/>
        </p:nvPicPr>
        <p:blipFill>
          <a:blip r:embed="rId3"/>
          <a:stretch>
            <a:fillRect/>
          </a:stretch>
        </p:blipFill>
        <p:spPr>
          <a:xfrm>
            <a:off x="9120336" y="323135"/>
            <a:ext cx="2667000" cy="1553201"/>
          </a:xfrm>
          <a:prstGeom prst="rect">
            <a:avLst/>
          </a:prstGeom>
        </p:spPr>
      </p:pic>
    </p:spTree>
    <p:extLst>
      <p:ext uri="{BB962C8B-B14F-4D97-AF65-F5344CB8AC3E}">
        <p14:creationId xmlns:p14="http://schemas.microsoft.com/office/powerpoint/2010/main" val="90139404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2" descr="PistoiaAlliance_main_white_RGB.png"/>
          <p:cNvPicPr>
            <a:picLocks noChangeAspect="1"/>
          </p:cNvPicPr>
          <p:nvPr userDrawn="1"/>
        </p:nvPicPr>
        <p:blipFill>
          <a:blip r:embed="rId2"/>
          <a:stretch>
            <a:fillRect/>
          </a:stretch>
        </p:blipFill>
        <p:spPr>
          <a:xfrm>
            <a:off x="4762500" y="2652400"/>
            <a:ext cx="2667000" cy="1553201"/>
          </a:xfrm>
          <a:prstGeom prst="rect">
            <a:avLst/>
          </a:prstGeom>
        </p:spPr>
      </p:pic>
    </p:spTree>
    <p:extLst>
      <p:ext uri="{BB962C8B-B14F-4D97-AF65-F5344CB8AC3E}">
        <p14:creationId xmlns:p14="http://schemas.microsoft.com/office/powerpoint/2010/main" val="344505769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4" name="Content Placeholder 3"/>
          <p:cNvSpPr>
            <a:spLocks noGrp="1"/>
          </p:cNvSpPr>
          <p:nvPr>
            <p:ph sz="quarter" idx="10" hasCustomPrompt="1"/>
          </p:nvPr>
        </p:nvSpPr>
        <p:spPr>
          <a:xfrm>
            <a:off x="711200" y="5935833"/>
            <a:ext cx="5181600" cy="457200"/>
          </a:xfrm>
          <a:prstGeom prst="rect">
            <a:avLst/>
          </a:prstGeom>
        </p:spPr>
        <p:txBody>
          <a:bodyPr>
            <a:normAutofit/>
          </a:bodyPr>
          <a:lstStyle>
            <a:lvl1pPr>
              <a:buNone/>
              <a:defRPr sz="1400">
                <a:latin typeface="Arial"/>
                <a:cs typeface="Arial"/>
              </a:defRPr>
            </a:lvl1pPr>
            <a:lvl2pPr>
              <a:buNone/>
              <a:defRPr/>
            </a:lvl2pPr>
            <a:lvl3pPr>
              <a:buNone/>
              <a:defRPr/>
            </a:lvl3pPr>
            <a:lvl4pPr>
              <a:buNone/>
              <a:defRPr/>
            </a:lvl4pPr>
            <a:lvl5pPr>
              <a:buNone/>
              <a:defRPr/>
            </a:lvl5pPr>
          </a:lstStyle>
          <a:p>
            <a:pPr lvl="0"/>
            <a:r>
              <a:rPr lang="en-GB" dirty="0" err="1"/>
              <a:t>presenter@pistoiaalliance.org</a:t>
            </a:r>
            <a:endParaRPr lang="en-US" dirty="0"/>
          </a:p>
        </p:txBody>
      </p:sp>
      <p:sp>
        <p:nvSpPr>
          <p:cNvPr id="6" name="Content Placeholder 3"/>
          <p:cNvSpPr>
            <a:spLocks noGrp="1"/>
          </p:cNvSpPr>
          <p:nvPr>
            <p:ph sz="quarter" idx="11" hasCustomPrompt="1"/>
          </p:nvPr>
        </p:nvSpPr>
        <p:spPr>
          <a:xfrm>
            <a:off x="6577106" y="5935833"/>
            <a:ext cx="2032000" cy="457200"/>
          </a:xfrm>
          <a:prstGeom prst="rect">
            <a:avLst/>
          </a:prstGeom>
        </p:spPr>
        <p:txBody>
          <a:bodyPr>
            <a:normAutofit/>
          </a:bodyPr>
          <a:lstStyle>
            <a:lvl1pPr>
              <a:buNone/>
              <a:defRPr sz="1400">
                <a:latin typeface="Arial"/>
                <a:cs typeface="Arial"/>
              </a:defRPr>
            </a:lvl1pPr>
            <a:lvl2pPr>
              <a:buNone/>
              <a:defRPr/>
            </a:lvl2pPr>
            <a:lvl3pPr>
              <a:buNone/>
              <a:defRPr/>
            </a:lvl3pPr>
            <a:lvl4pPr>
              <a:buNone/>
              <a:defRPr/>
            </a:lvl4pPr>
            <a:lvl5pPr>
              <a:buNone/>
              <a:defRPr/>
            </a:lvl5pPr>
          </a:lstStyle>
          <a:p>
            <a:pPr lvl="0"/>
            <a:r>
              <a:rPr lang="en-GB" dirty="0"/>
              <a:t>@</a:t>
            </a:r>
            <a:r>
              <a:rPr lang="en-GB" dirty="0" err="1"/>
              <a:t>pistoiaalliance</a:t>
            </a:r>
            <a:endParaRPr lang="en-US" dirty="0"/>
          </a:p>
        </p:txBody>
      </p:sp>
      <p:sp>
        <p:nvSpPr>
          <p:cNvPr id="7" name="Content Placeholder 3"/>
          <p:cNvSpPr>
            <a:spLocks noGrp="1"/>
          </p:cNvSpPr>
          <p:nvPr>
            <p:ph sz="quarter" idx="12" hasCustomPrompt="1"/>
          </p:nvPr>
        </p:nvSpPr>
        <p:spPr>
          <a:xfrm>
            <a:off x="8636000" y="5935833"/>
            <a:ext cx="2946400" cy="457200"/>
          </a:xfrm>
          <a:prstGeom prst="rect">
            <a:avLst/>
          </a:prstGeom>
        </p:spPr>
        <p:txBody>
          <a:bodyPr>
            <a:noAutofit/>
          </a:bodyPr>
          <a:lstStyle>
            <a:lvl1pPr algn="r">
              <a:buNone/>
              <a:defRPr sz="1400">
                <a:latin typeface="Arial"/>
                <a:cs typeface="Arial"/>
              </a:defRPr>
            </a:lvl1pPr>
            <a:lvl2pPr>
              <a:buNone/>
              <a:defRPr/>
            </a:lvl2pPr>
            <a:lvl3pPr>
              <a:buNone/>
              <a:defRPr/>
            </a:lvl3pPr>
            <a:lvl4pPr>
              <a:buNone/>
              <a:defRPr/>
            </a:lvl4pPr>
            <a:lvl5pPr>
              <a:buNone/>
              <a:defRPr/>
            </a:lvl5pPr>
          </a:lstStyle>
          <a:p>
            <a:pPr lvl="0"/>
            <a:r>
              <a:rPr lang="en-GB" dirty="0" err="1"/>
              <a:t>www.pistoiaalliance.org</a:t>
            </a:r>
            <a:endParaRPr lang="en-US" dirty="0"/>
          </a:p>
        </p:txBody>
      </p:sp>
      <p:pic>
        <p:nvPicPr>
          <p:cNvPr id="10" name="Picture 9"/>
          <p:cNvPicPr>
            <a:picLocks noChangeAspect="1"/>
          </p:cNvPicPr>
          <p:nvPr/>
        </p:nvPicPr>
        <p:blipFill>
          <a:blip r:embed="rId2"/>
          <a:stretch>
            <a:fillRect/>
          </a:stretch>
        </p:blipFill>
        <p:spPr>
          <a:xfrm>
            <a:off x="6115837" y="6069183"/>
            <a:ext cx="304800" cy="190500"/>
          </a:xfrm>
          <a:prstGeom prst="rect">
            <a:avLst/>
          </a:prstGeom>
        </p:spPr>
      </p:pic>
      <p:sp>
        <p:nvSpPr>
          <p:cNvPr id="11" name="Text Placeholder 20"/>
          <p:cNvSpPr>
            <a:spLocks noGrp="1"/>
          </p:cNvSpPr>
          <p:nvPr>
            <p:ph type="body" sz="quarter" idx="13" hasCustomPrompt="1"/>
          </p:nvPr>
        </p:nvSpPr>
        <p:spPr>
          <a:xfrm>
            <a:off x="711200" y="5257800"/>
            <a:ext cx="10871200" cy="457200"/>
          </a:xfrm>
          <a:prstGeom prst="rect">
            <a:avLst/>
          </a:prstGeom>
        </p:spPr>
        <p:txBody>
          <a:bodyPr>
            <a:normAutofit/>
          </a:bodyPr>
          <a:lstStyle>
            <a:lvl1pPr algn="ctr">
              <a:buNone/>
              <a:defRPr sz="2400">
                <a:solidFill>
                  <a:srgbClr val="FFFFFF"/>
                </a:solidFill>
                <a:latin typeface="Arial"/>
                <a:cs typeface="Arial"/>
              </a:defRPr>
            </a:lvl1pPr>
          </a:lstStyle>
          <a:p>
            <a:pPr lvl="0"/>
            <a:r>
              <a:rPr lang="en-GB" dirty="0"/>
              <a:t>Click to edit thank you message</a:t>
            </a:r>
            <a:endParaRPr lang="en-US" dirty="0"/>
          </a:p>
        </p:txBody>
      </p:sp>
      <p:pic>
        <p:nvPicPr>
          <p:cNvPr id="8" name="Picture 7" descr="PistoiaAlliance_main_white_RGB.png"/>
          <p:cNvPicPr>
            <a:picLocks noChangeAspect="1"/>
          </p:cNvPicPr>
          <p:nvPr userDrawn="1"/>
        </p:nvPicPr>
        <p:blipFill>
          <a:blip r:embed="rId3"/>
          <a:stretch>
            <a:fillRect/>
          </a:stretch>
        </p:blipFill>
        <p:spPr>
          <a:xfrm>
            <a:off x="4762500" y="2652400"/>
            <a:ext cx="2667000" cy="1553201"/>
          </a:xfrm>
          <a:prstGeom prst="rect">
            <a:avLst/>
          </a:prstGeom>
        </p:spPr>
      </p:pic>
    </p:spTree>
    <p:extLst>
      <p:ext uri="{BB962C8B-B14F-4D97-AF65-F5344CB8AC3E}">
        <p14:creationId xmlns:p14="http://schemas.microsoft.com/office/powerpoint/2010/main" val="5877559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Title Slide">
    <p:bg>
      <p:bgPr>
        <a:blipFill dpi="0" rotWithShape="1">
          <a:blip r:embed="rId2" cstate="print">
            <a:lum/>
          </a:blip>
          <a:srcRect/>
          <a:stretch>
            <a:fillRect l="-2000" r="-2000"/>
          </a:stretch>
        </a:blipFill>
        <a:effectLst/>
      </p:bgPr>
    </p:bg>
    <p:spTree>
      <p:nvGrpSpPr>
        <p:cNvPr id="1" name=""/>
        <p:cNvGrpSpPr/>
        <p:nvPr/>
      </p:nvGrpSpPr>
      <p:grpSpPr>
        <a:xfrm>
          <a:off x="0" y="0"/>
          <a:ext cx="0" cy="0"/>
          <a:chOff x="0" y="0"/>
          <a:chExt cx="0" cy="0"/>
        </a:xfrm>
      </p:grpSpPr>
      <p:sp>
        <p:nvSpPr>
          <p:cNvPr id="5" name="Rectangle 4"/>
          <p:cNvSpPr>
            <a:spLocks noChangeArrowheads="1"/>
          </p:cNvSpPr>
          <p:nvPr/>
        </p:nvSpPr>
        <p:spPr bwMode="auto">
          <a:xfrm>
            <a:off x="0" y="6553201"/>
            <a:ext cx="3962400"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spcBef>
                <a:spcPct val="50000"/>
              </a:spcBef>
              <a:spcAft>
                <a:spcPct val="200000"/>
              </a:spcAft>
            </a:pPr>
            <a:r>
              <a:rPr lang="en-GB" sz="1400" b="1" dirty="0">
                <a:solidFill>
                  <a:srgbClr val="002060"/>
                </a:solidFill>
                <a:latin typeface="Trebuchet MS" pitchFamily="34" charset="0"/>
              </a:rPr>
              <a:t>http://</a:t>
            </a:r>
            <a:r>
              <a:rPr lang="en-GB" sz="1400" b="1" dirty="0" err="1">
                <a:solidFill>
                  <a:srgbClr val="002060"/>
                </a:solidFill>
                <a:latin typeface="Trebuchet MS" pitchFamily="34" charset="0"/>
              </a:rPr>
              <a:t>pistoiaalliance.org</a:t>
            </a:r>
            <a:endParaRPr lang="en-US" sz="1400" b="1" dirty="0">
              <a:solidFill>
                <a:srgbClr val="002060"/>
              </a:solidFill>
              <a:latin typeface="Trebuchet MS" pitchFamily="34" charset="0"/>
            </a:endParaRPr>
          </a:p>
        </p:txBody>
      </p:sp>
      <p:pic>
        <p:nvPicPr>
          <p:cNvPr id="6" name="Picture 5" descr="clock tower full.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133600" y="152400"/>
            <a:ext cx="2235200" cy="1676400"/>
          </a:xfrm>
          <a:prstGeom prst="rect">
            <a:avLst/>
          </a:prstGeom>
          <a:noFill/>
          <a:ln w="9525">
            <a:solidFill>
              <a:schemeClr val="bg1"/>
            </a:solidFill>
            <a:miter lim="800000"/>
            <a:headEnd/>
            <a:tailEnd/>
          </a:ln>
          <a:extLst>
            <a:ext uri="{909E8E84-426E-40dd-AFC4-6F175D3DCCD1}">
              <a14:hiddenFill xmlns="" xmlns:a14="http://schemas.microsoft.com/office/drawing/2010/main">
                <a:solidFill>
                  <a:srgbClr val="FFFFFF"/>
                </a:solidFill>
              </a14:hiddenFill>
            </a:ext>
          </a:extLst>
        </p:spPr>
      </p:pic>
      <p:sp>
        <p:nvSpPr>
          <p:cNvPr id="7" name="Rectangle 4"/>
          <p:cNvSpPr>
            <a:spLocks noChangeArrowheads="1"/>
          </p:cNvSpPr>
          <p:nvPr userDrawn="1"/>
        </p:nvSpPr>
        <p:spPr bwMode="auto">
          <a:xfrm>
            <a:off x="4572000" y="6529389"/>
            <a:ext cx="3962400"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spcBef>
                <a:spcPct val="50000"/>
              </a:spcBef>
              <a:spcAft>
                <a:spcPct val="200000"/>
              </a:spcAft>
            </a:pPr>
            <a:r>
              <a:rPr lang="en-GB" sz="1400" b="1">
                <a:solidFill>
                  <a:srgbClr val="002060"/>
                </a:solidFill>
                <a:latin typeface="Trebuchet MS" pitchFamily="34" charset="0"/>
              </a:rPr>
              <a:t>@PistoiaAlliance</a:t>
            </a:r>
            <a:endParaRPr lang="en-US" sz="1400" b="1">
              <a:solidFill>
                <a:srgbClr val="002060"/>
              </a:solidFill>
              <a:latin typeface="Trebuchet MS" pitchFamily="34" charset="0"/>
            </a:endParaRPr>
          </a:p>
        </p:txBody>
      </p:sp>
      <p:sp>
        <p:nvSpPr>
          <p:cNvPr id="8" name="Text Placeholder 7"/>
          <p:cNvSpPr>
            <a:spLocks noGrp="1"/>
          </p:cNvSpPr>
          <p:nvPr>
            <p:ph type="body" sz="quarter" idx="11"/>
          </p:nvPr>
        </p:nvSpPr>
        <p:spPr>
          <a:xfrm>
            <a:off x="2133600" y="2133600"/>
            <a:ext cx="8128000" cy="1524000"/>
          </a:xfrm>
          <a:prstGeom prst="rect">
            <a:avLst/>
          </a:prstGeom>
        </p:spPr>
        <p:txBody>
          <a:bodyPr lIns="0" tIns="0" rIns="0" bIns="0"/>
          <a:lstStyle>
            <a:lvl1pPr marL="0" indent="0" algn="l">
              <a:buNone/>
              <a:defRPr sz="4000" b="0" baseline="0">
                <a:solidFill>
                  <a:schemeClr val="bg1"/>
                </a:solidFill>
              </a:defRPr>
            </a:lvl1pPr>
          </a:lstStyle>
          <a:p>
            <a:pPr lvl="0"/>
            <a:r>
              <a:rPr lang="en-US"/>
              <a:t>Click to edit Master text styles</a:t>
            </a:r>
          </a:p>
        </p:txBody>
      </p:sp>
      <p:sp>
        <p:nvSpPr>
          <p:cNvPr id="10" name="Text Placeholder 9"/>
          <p:cNvSpPr>
            <a:spLocks noGrp="1"/>
          </p:cNvSpPr>
          <p:nvPr>
            <p:ph type="body" sz="quarter" idx="12"/>
          </p:nvPr>
        </p:nvSpPr>
        <p:spPr>
          <a:xfrm>
            <a:off x="2133600" y="3810000"/>
            <a:ext cx="8229600" cy="685800"/>
          </a:xfrm>
          <a:prstGeom prst="rect">
            <a:avLst/>
          </a:prstGeom>
        </p:spPr>
        <p:txBody>
          <a:bodyPr lIns="0" tIns="0" rIns="0" bIns="0"/>
          <a:lstStyle>
            <a:lvl1pPr marL="0" indent="0" algn="l">
              <a:buNone/>
              <a:defRPr sz="2400" i="1" baseline="0">
                <a:solidFill>
                  <a:schemeClr val="bg1"/>
                </a:solidFill>
              </a:defRPr>
            </a:lvl1pPr>
          </a:lstStyle>
          <a:p>
            <a:pPr lvl="0"/>
            <a:r>
              <a:rPr lang="en-US"/>
              <a:t>Click to edit Master text styles</a:t>
            </a:r>
          </a:p>
        </p:txBody>
      </p:sp>
      <p:sp>
        <p:nvSpPr>
          <p:cNvPr id="20" name="Text Placeholder 19"/>
          <p:cNvSpPr>
            <a:spLocks noGrp="1"/>
          </p:cNvSpPr>
          <p:nvPr>
            <p:ph type="body" sz="quarter" idx="17"/>
          </p:nvPr>
        </p:nvSpPr>
        <p:spPr>
          <a:xfrm>
            <a:off x="508000" y="5410200"/>
            <a:ext cx="7315200" cy="838200"/>
          </a:xfrm>
          <a:prstGeom prst="rect">
            <a:avLst/>
          </a:prstGeom>
        </p:spPr>
        <p:txBody>
          <a:bodyPr lIns="0" tIns="0" rIns="0" bIns="0"/>
          <a:lstStyle>
            <a:lvl1pPr marL="0" indent="0">
              <a:buNone/>
              <a:defRPr sz="1800" b="1"/>
            </a:lvl1pPr>
            <a:lvl2pPr marL="0" indent="0">
              <a:buNone/>
              <a:defRPr sz="1800" b="1"/>
            </a:lvl2pPr>
            <a:lvl3pPr>
              <a:defRPr sz="1800"/>
            </a:lvl3pPr>
            <a:lvl4pPr>
              <a:defRPr sz="1800"/>
            </a:lvl4pPr>
            <a:lvl5pPr>
              <a:defRPr sz="18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98309258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6_Section Slid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438400"/>
            <a:ext cx="10668000" cy="707886"/>
          </a:xfrm>
          <a:prstGeom prst="rect">
            <a:avLst/>
          </a:prstGeom>
        </p:spPr>
        <p:txBody>
          <a:bodyPr>
            <a:spAutoFit/>
          </a:bodyPr>
          <a:lstStyle>
            <a:lvl1pPr algn="l">
              <a:defRPr sz="4000">
                <a:solidFill>
                  <a:schemeClr val="tx1"/>
                </a:solidFill>
                <a:latin typeface="Arial"/>
                <a:cs typeface="Arial"/>
              </a:defRPr>
            </a:lvl1pPr>
          </a:lstStyle>
          <a:p>
            <a:r>
              <a:rPr lang="en-GB" dirty="0"/>
              <a:t>Click to edit Section title</a:t>
            </a:r>
            <a:endParaRPr lang="en-US" dirty="0"/>
          </a:p>
        </p:txBody>
      </p:sp>
      <p:sp>
        <p:nvSpPr>
          <p:cNvPr id="3" name="Subtitle 2"/>
          <p:cNvSpPr>
            <a:spLocks noGrp="1"/>
          </p:cNvSpPr>
          <p:nvPr>
            <p:ph type="subTitle" idx="1" hasCustomPrompt="1"/>
          </p:nvPr>
        </p:nvSpPr>
        <p:spPr>
          <a:xfrm>
            <a:off x="914400" y="3200401"/>
            <a:ext cx="10668000" cy="461665"/>
          </a:xfrm>
          <a:prstGeom prst="rect">
            <a:avLst/>
          </a:prstGeom>
        </p:spPr>
        <p:txBody>
          <a:bodyPr>
            <a:spAutoFit/>
          </a:bodyPr>
          <a:lstStyle>
            <a:lvl1pPr marL="0" indent="0" algn="l">
              <a:buNone/>
              <a:defRPr sz="2400" baseline="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Section subtitle</a:t>
            </a:r>
            <a:endParaRPr lang="en-US" dirty="0"/>
          </a:p>
        </p:txBody>
      </p:sp>
      <p:sp>
        <p:nvSpPr>
          <p:cNvPr id="17" name="Text Placeholder 16"/>
          <p:cNvSpPr>
            <a:spLocks noGrp="1"/>
          </p:cNvSpPr>
          <p:nvPr>
            <p:ph type="body" sz="quarter" idx="11" hasCustomPrompt="1"/>
          </p:nvPr>
        </p:nvSpPr>
        <p:spPr>
          <a:xfrm>
            <a:off x="914400" y="4343400"/>
            <a:ext cx="10668000" cy="457200"/>
          </a:xfrm>
          <a:prstGeom prst="rect">
            <a:avLst/>
          </a:prstGeom>
        </p:spPr>
        <p:txBody>
          <a:bodyPr>
            <a:normAutofit/>
          </a:bodyPr>
          <a:lstStyle>
            <a:lvl1pPr>
              <a:buNone/>
              <a:defRPr sz="1800" baseline="0">
                <a:solidFill>
                  <a:schemeClr val="tx1"/>
                </a:solidFill>
                <a:latin typeface="Arial"/>
                <a:cs typeface="Arial"/>
              </a:defRPr>
            </a:lvl1pPr>
          </a:lstStyle>
          <a:p>
            <a:pPr lvl="0"/>
            <a:r>
              <a:rPr lang="en-GB" dirty="0"/>
              <a:t>Click to edit Section presenter</a:t>
            </a:r>
          </a:p>
        </p:txBody>
      </p:sp>
      <p:sp>
        <p:nvSpPr>
          <p:cNvPr id="7" name="Picture Placeholder 8"/>
          <p:cNvSpPr>
            <a:spLocks noGrp="1"/>
          </p:cNvSpPr>
          <p:nvPr>
            <p:ph type="pic" sz="quarter" idx="14" hasCustomPrompt="1"/>
          </p:nvPr>
        </p:nvSpPr>
        <p:spPr>
          <a:xfrm>
            <a:off x="609600" y="304801"/>
            <a:ext cx="3352800" cy="975408"/>
          </a:xfrm>
          <a:prstGeom prst="rect">
            <a:avLst/>
          </a:prstGeom>
        </p:spPr>
        <p:txBody>
          <a:bodyPr>
            <a:normAutofit/>
          </a:bodyPr>
          <a:lstStyle>
            <a:lvl1pPr>
              <a:buNone/>
              <a:defRPr sz="1400" baseline="0">
                <a:latin typeface="Arial"/>
                <a:cs typeface="Arial"/>
              </a:defRPr>
            </a:lvl1pPr>
          </a:lstStyle>
          <a:p>
            <a:r>
              <a:rPr lang="en-US" sz="1400" dirty="0"/>
              <a:t>Partner logo if required</a:t>
            </a:r>
            <a:endParaRPr lang="en-US" dirty="0"/>
          </a:p>
        </p:txBody>
      </p:sp>
      <p:pic>
        <p:nvPicPr>
          <p:cNvPr id="8" name="Picture 7" descr="PistoiaAlliance_main_white_RGB.png"/>
          <p:cNvPicPr>
            <a:picLocks noChangeAspect="1"/>
          </p:cNvPicPr>
          <p:nvPr userDrawn="1"/>
        </p:nvPicPr>
        <p:blipFill>
          <a:blip r:embed="rId2"/>
          <a:stretch>
            <a:fillRect/>
          </a:stretch>
        </p:blipFill>
        <p:spPr>
          <a:xfrm>
            <a:off x="9120336" y="323135"/>
            <a:ext cx="2667000" cy="1553201"/>
          </a:xfrm>
          <a:prstGeom prst="rect">
            <a:avLst/>
          </a:prstGeom>
        </p:spPr>
      </p:pic>
    </p:spTree>
    <p:extLst>
      <p:ext uri="{BB962C8B-B14F-4D97-AF65-F5344CB8AC3E}">
        <p14:creationId xmlns:p14="http://schemas.microsoft.com/office/powerpoint/2010/main" val="297720289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58914"/>
            <a:ext cx="9422837" cy="707886"/>
          </a:xfrm>
          <a:prstGeom prst="rect">
            <a:avLst/>
          </a:prstGeom>
        </p:spPr>
        <p:txBody>
          <a:bodyPr vert="horz" wrap="square" lIns="91440" tIns="45720" rIns="91440" bIns="45720" rtlCol="0" anchor="t" anchorCtr="0">
            <a:spAutoFit/>
          </a:bodyPr>
          <a:lstStyle/>
          <a:p>
            <a:r>
              <a:rPr lang="en-GB" dirty="0"/>
              <a:t>Click to edit Master title style</a:t>
            </a:r>
            <a:endParaRPr lang="en-US" dirty="0"/>
          </a:p>
        </p:txBody>
      </p:sp>
      <p:sp>
        <p:nvSpPr>
          <p:cNvPr id="3" name="Text Placeholder 2"/>
          <p:cNvSpPr>
            <a:spLocks noGrp="1"/>
          </p:cNvSpPr>
          <p:nvPr>
            <p:ph type="body" idx="1"/>
          </p:nvPr>
        </p:nvSpPr>
        <p:spPr>
          <a:xfrm>
            <a:off x="609601" y="1484785"/>
            <a:ext cx="10972799" cy="487156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9" name="Picture 8" descr="PistoiaAlliance_compact_colour_RGB.png"/>
          <p:cNvPicPr>
            <a:picLocks noChangeAspect="1"/>
          </p:cNvPicPr>
          <p:nvPr userDrawn="1"/>
        </p:nvPicPr>
        <p:blipFill>
          <a:blip r:embed="rId12"/>
          <a:stretch>
            <a:fillRect/>
          </a:stretch>
        </p:blipFill>
        <p:spPr>
          <a:xfrm>
            <a:off x="10333659" y="228600"/>
            <a:ext cx="1248741" cy="838200"/>
          </a:xfrm>
          <a:prstGeom prst="rect">
            <a:avLst/>
          </a:prstGeom>
        </p:spPr>
      </p:pic>
      <p:sp>
        <p:nvSpPr>
          <p:cNvPr id="10" name="Slide Number Placeholder 5"/>
          <p:cNvSpPr txBox="1">
            <a:spLocks/>
          </p:cNvSpPr>
          <p:nvPr userDrawn="1"/>
        </p:nvSpPr>
        <p:spPr>
          <a:xfrm rot="16200000">
            <a:off x="11369146" y="5898622"/>
            <a:ext cx="1158877" cy="486833"/>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tint val="75000"/>
                  </a:schemeClr>
                </a:solidFill>
                <a:effectLst/>
                <a:uLnTx/>
                <a:uFillTx/>
                <a:latin typeface="Arial"/>
                <a:ea typeface="+mn-ea"/>
                <a:cs typeface="Arial"/>
              </a:rPr>
              <a:t>© Pistoia Alliance</a:t>
            </a:r>
          </a:p>
        </p:txBody>
      </p:sp>
      <p:sp>
        <p:nvSpPr>
          <p:cNvPr id="5" name="Footer Placeholder 4"/>
          <p:cNvSpPr>
            <a:spLocks noGrp="1"/>
          </p:cNvSpPr>
          <p:nvPr>
            <p:ph type="ftr" sz="quarter" idx="3"/>
          </p:nvPr>
        </p:nvSpPr>
        <p:spPr>
          <a:xfrm>
            <a:off x="2336800" y="6376244"/>
            <a:ext cx="8559733" cy="345232"/>
          </a:xfrm>
          <a:prstGeom prst="rect">
            <a:avLst/>
          </a:prstGeom>
        </p:spPr>
        <p:txBody>
          <a:bodyPr vert="horz" lIns="91440" tIns="45720" rIns="91440" bIns="45720" rtlCol="0" anchor="ctr" anchorCtr="0"/>
          <a:lstStyle>
            <a:lvl1pPr algn="l">
              <a:defRPr sz="1000">
                <a:solidFill>
                  <a:schemeClr val="tx1">
                    <a:tint val="75000"/>
                  </a:schemeClr>
                </a:solidFill>
                <a:latin typeface="Arial"/>
                <a:cs typeface="Arial"/>
              </a:defRPr>
            </a:lvl1pPr>
          </a:lstStyle>
          <a:p>
            <a:r>
              <a:rPr lang="en-GB">
                <a:solidFill>
                  <a:srgbClr val="4C5156"/>
                </a:solidFill>
              </a:rPr>
              <a:t>Presentation title</a:t>
            </a:r>
            <a:endParaRPr lang="en-US" dirty="0">
              <a:solidFill>
                <a:srgbClr val="4C5156"/>
              </a:solidFill>
            </a:endParaRPr>
          </a:p>
        </p:txBody>
      </p:sp>
      <p:sp>
        <p:nvSpPr>
          <p:cNvPr id="7" name="Slide Number Placeholder 6"/>
          <p:cNvSpPr>
            <a:spLocks noGrp="1"/>
          </p:cNvSpPr>
          <p:nvPr>
            <p:ph type="sldNum" sz="quarter" idx="4"/>
          </p:nvPr>
        </p:nvSpPr>
        <p:spPr>
          <a:xfrm>
            <a:off x="10896533" y="6376244"/>
            <a:ext cx="685867" cy="345232"/>
          </a:xfrm>
          <a:prstGeom prst="rect">
            <a:avLst/>
          </a:prstGeom>
        </p:spPr>
        <p:txBody>
          <a:bodyPr vert="horz" lIns="91440" tIns="45720" rIns="91440" bIns="45720" rtlCol="0" anchor="ctr"/>
          <a:lstStyle>
            <a:lvl1pPr algn="r">
              <a:defRPr sz="1000">
                <a:solidFill>
                  <a:srgbClr val="4C5156"/>
                </a:solidFill>
                <a:latin typeface="Arial"/>
                <a:cs typeface="Arial"/>
              </a:defRPr>
            </a:lvl1pPr>
          </a:lstStyle>
          <a:p>
            <a:fld id="{28ED40A3-BEA1-2645-9E17-452BD130FCD0}" type="slidenum">
              <a:rPr lang="en-US" smtClean="0"/>
              <a:pPr/>
              <a:t>‹#›</a:t>
            </a:fld>
            <a:endParaRPr lang="en-US" dirty="0"/>
          </a:p>
        </p:txBody>
      </p:sp>
      <p:sp>
        <p:nvSpPr>
          <p:cNvPr id="11" name="Date Placeholder 10"/>
          <p:cNvSpPr>
            <a:spLocks noGrp="1"/>
          </p:cNvSpPr>
          <p:nvPr>
            <p:ph type="dt" sz="half" idx="2"/>
          </p:nvPr>
        </p:nvSpPr>
        <p:spPr>
          <a:xfrm>
            <a:off x="609600" y="6376244"/>
            <a:ext cx="1727200" cy="345232"/>
          </a:xfrm>
          <a:prstGeom prst="rect">
            <a:avLst/>
          </a:prstGeom>
        </p:spPr>
        <p:txBody>
          <a:bodyPr vert="horz" lIns="91440" tIns="45720" rIns="91440" bIns="45720" rtlCol="0" anchor="ctr" anchorCtr="0"/>
          <a:lstStyle>
            <a:lvl1pPr algn="l">
              <a:defRPr sz="1000">
                <a:solidFill>
                  <a:srgbClr val="4C5156"/>
                </a:solidFill>
                <a:latin typeface="Arial"/>
                <a:cs typeface="Arial"/>
              </a:defRPr>
            </a:lvl1pPr>
          </a:lstStyle>
          <a:p>
            <a:r>
              <a:rPr lang="en-US"/>
              <a:t>31</a:t>
            </a:r>
            <a:r>
              <a:rPr lang="en-US" baseline="30000"/>
              <a:t>st</a:t>
            </a:r>
            <a:r>
              <a:rPr lang="en-US"/>
              <a:t> October 2014</a:t>
            </a:r>
            <a:endParaRPr lang="en-US" dirty="0"/>
          </a:p>
        </p:txBody>
      </p:sp>
    </p:spTree>
  </p:cSld>
  <p:clrMap bg1="lt1" tx1="dk1" bg2="lt2" tx2="dk2" accent1="accent1" accent2="accent2" accent3="accent3" accent4="accent4" accent5="accent5" accent6="accent6" hlink="hlink" folHlink="folHlink"/>
  <p:sldLayoutIdLst>
    <p:sldLayoutId id="2147483660" r:id="rId1"/>
    <p:sldLayoutId id="2147483667" r:id="rId2"/>
    <p:sldLayoutId id="2147483661" r:id="rId3"/>
    <p:sldLayoutId id="2147483662" r:id="rId4"/>
    <p:sldLayoutId id="2147483663" r:id="rId5"/>
    <p:sldLayoutId id="2147483664" r:id="rId6"/>
    <p:sldLayoutId id="2147483665" r:id="rId7"/>
    <p:sldLayoutId id="2147483684" r:id="rId8"/>
    <p:sldLayoutId id="2147483696" r:id="rId9"/>
    <p:sldLayoutId id="2147483711" r:id="rId10"/>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p:txStyles>
    <p:titleStyle>
      <a:lvl1pPr algn="l" defTabSz="457200" rtl="0" eaLnBrk="1" latinLnBrk="0" hangingPunct="1">
        <a:spcBef>
          <a:spcPct val="0"/>
        </a:spcBef>
        <a:buNone/>
        <a:defRPr sz="4000" kern="1200">
          <a:solidFill>
            <a:srgbClr val="249797"/>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746273"/>
      </p:ext>
    </p:extLst>
  </p:cSld>
  <p:clrMap bg1="dk1" tx1="lt1" bg2="dk2"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13" r:id="rId12"/>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hf hdr="0" ftr="0" dt="0"/>
  <p:txStyles>
    <p:titleStyle>
      <a:lvl1pPr algn="l" defTabSz="457200" rtl="0" eaLnBrk="1" latinLnBrk="0" hangingPunct="1">
        <a:spcBef>
          <a:spcPct val="0"/>
        </a:spcBef>
        <a:buNone/>
        <a:defRPr sz="4000" kern="1200">
          <a:solidFill>
            <a:srgbClr val="FFFFFF"/>
          </a:solidFill>
          <a:latin typeface="Open Sans Light"/>
          <a:ea typeface="+mj-ea"/>
          <a:cs typeface="Open Sans Light"/>
        </a:defRPr>
      </a:lvl1pPr>
    </p:titleStyle>
    <p:bodyStyle>
      <a:lvl1pPr marL="342900" indent="-342900" algn="l" defTabSz="457200" rtl="0" eaLnBrk="1" latinLnBrk="0" hangingPunct="1">
        <a:spcBef>
          <a:spcPct val="20000"/>
        </a:spcBef>
        <a:buFont typeface="Arial"/>
        <a:buChar char="•"/>
        <a:defRPr sz="2800" kern="1200">
          <a:solidFill>
            <a:srgbClr val="FFFFFF"/>
          </a:solidFill>
          <a:latin typeface="Open Sans Light"/>
          <a:ea typeface="+mn-ea"/>
          <a:cs typeface="Open Sans Light"/>
        </a:defRPr>
      </a:lvl1pPr>
      <a:lvl2pPr marL="742950" indent="-285750" algn="l" defTabSz="457200" rtl="0" eaLnBrk="1" latinLnBrk="0" hangingPunct="1">
        <a:spcBef>
          <a:spcPct val="20000"/>
        </a:spcBef>
        <a:buFont typeface="Arial"/>
        <a:buChar char="–"/>
        <a:defRPr sz="2400" kern="1200">
          <a:solidFill>
            <a:srgbClr val="FFFFFF"/>
          </a:solidFill>
          <a:latin typeface="Open Sans Light"/>
          <a:ea typeface="+mn-ea"/>
          <a:cs typeface="Open Sans Light"/>
        </a:defRPr>
      </a:lvl2pPr>
      <a:lvl3pPr marL="1143000" indent="-228600" algn="l" defTabSz="457200" rtl="0" eaLnBrk="1" latinLnBrk="0" hangingPunct="1">
        <a:spcBef>
          <a:spcPct val="20000"/>
        </a:spcBef>
        <a:buFont typeface="Arial"/>
        <a:buChar char="•"/>
        <a:defRPr sz="2000" kern="1200">
          <a:solidFill>
            <a:srgbClr val="FFFFFF"/>
          </a:solidFill>
          <a:latin typeface="Open Sans Light"/>
          <a:ea typeface="+mn-ea"/>
          <a:cs typeface="Open Sans Light"/>
        </a:defRPr>
      </a:lvl3pPr>
      <a:lvl4pPr marL="1600200" indent="-228600" algn="l" defTabSz="457200" rtl="0" eaLnBrk="1" latinLnBrk="0" hangingPunct="1">
        <a:spcBef>
          <a:spcPct val="20000"/>
        </a:spcBef>
        <a:buFont typeface="Arial"/>
        <a:buChar char="–"/>
        <a:defRPr sz="1800" kern="1200">
          <a:solidFill>
            <a:srgbClr val="FFFFFF"/>
          </a:solidFill>
          <a:latin typeface="Open Sans Light"/>
          <a:ea typeface="+mn-ea"/>
          <a:cs typeface="Open Sans Light"/>
        </a:defRPr>
      </a:lvl4pPr>
      <a:lvl5pPr marL="2057400" indent="-228600" algn="l" defTabSz="457200" rtl="0" eaLnBrk="1" latinLnBrk="0" hangingPunct="1">
        <a:spcBef>
          <a:spcPct val="20000"/>
        </a:spcBef>
        <a:buFont typeface="Arial"/>
        <a:buChar char="»"/>
        <a:defRPr sz="1800" kern="1200">
          <a:solidFill>
            <a:srgbClr val="FFFFFF"/>
          </a:solidFill>
          <a:latin typeface="Open Sans Light"/>
          <a:ea typeface="+mn-ea"/>
          <a:cs typeface="Open Sans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wiki/Gilead_Sciences" TargetMode="External"/><Relationship Id="rId13" Type="http://schemas.openxmlformats.org/officeDocument/2006/relationships/hyperlink" Target="https://en.wikipedia.org/wiki/Gastroesophageal_reflux_disease" TargetMode="External"/><Relationship Id="rId18" Type="http://schemas.openxmlformats.org/officeDocument/2006/relationships/hyperlink" Target="https://en.wikipedia.org/wiki/Autoimmune_disease" TargetMode="External"/><Relationship Id="rId26" Type="http://schemas.openxmlformats.org/officeDocument/2006/relationships/hyperlink" Target="https://en.wikipedia.org/wiki/Breast_cancer" TargetMode="External"/><Relationship Id="rId3" Type="http://schemas.openxmlformats.org/officeDocument/2006/relationships/hyperlink" Target="https://en.wikipedia.org/wiki/Adalimumab" TargetMode="External"/><Relationship Id="rId21" Type="http://schemas.openxmlformats.org/officeDocument/2006/relationships/hyperlink" Target="https://en.wikipedia.org/wiki/Diabetes_mellitus" TargetMode="External"/><Relationship Id="rId7" Type="http://schemas.openxmlformats.org/officeDocument/2006/relationships/hyperlink" Target="https://en.wikipedia.org/wiki/Hepatitis_C" TargetMode="External"/><Relationship Id="rId12" Type="http://schemas.openxmlformats.org/officeDocument/2006/relationships/hyperlink" Target="https://en.wikipedia.org/wiki/Infliximab" TargetMode="External"/><Relationship Id="rId17" Type="http://schemas.openxmlformats.org/officeDocument/2006/relationships/hyperlink" Target="https://en.wikipedia.org/wiki/Leukemia" TargetMode="External"/><Relationship Id="rId25" Type="http://schemas.openxmlformats.org/officeDocument/2006/relationships/hyperlink" Target="https://en.wikipedia.org/wiki/Trastuzumab" TargetMode="External"/><Relationship Id="rId2" Type="http://schemas.openxmlformats.org/officeDocument/2006/relationships/notesSlide" Target="../notesSlides/notesSlide4.xml"/><Relationship Id="rId16" Type="http://schemas.openxmlformats.org/officeDocument/2006/relationships/hyperlink" Target="https://en.wikipedia.org/wiki/Lymphoma" TargetMode="External"/><Relationship Id="rId20" Type="http://schemas.openxmlformats.org/officeDocument/2006/relationships/hyperlink" Target="https://en.wikipedia.org/wiki/Insulin_glargine" TargetMode="External"/><Relationship Id="rId29" Type="http://schemas.openxmlformats.org/officeDocument/2006/relationships/hyperlink" Target="https://en.wikipedia.org/wiki/Myelodysplastic_syndrome" TargetMode="External"/><Relationship Id="rId1" Type="http://schemas.openxmlformats.org/officeDocument/2006/relationships/slideLayout" Target="../slideLayouts/slideLayout2.xml"/><Relationship Id="rId6" Type="http://schemas.openxmlformats.org/officeDocument/2006/relationships/hyperlink" Target="https://en.wikipedia.org/wiki/Ledipasvir/sofosbuvir" TargetMode="External"/><Relationship Id="rId11" Type="http://schemas.openxmlformats.org/officeDocument/2006/relationships/hyperlink" Target="https://en.wikipedia.org/wiki/Pfizer" TargetMode="External"/><Relationship Id="rId24" Type="http://schemas.openxmlformats.org/officeDocument/2006/relationships/hyperlink" Target="https://en.wikipedia.org/wiki/Cancer" TargetMode="External"/><Relationship Id="rId32" Type="http://schemas.openxmlformats.org/officeDocument/2006/relationships/hyperlink" Target="https://en.wikipedia.org/wiki/List_of_largest_selling_pharmaceutical_products" TargetMode="External"/><Relationship Id="rId5" Type="http://schemas.openxmlformats.org/officeDocument/2006/relationships/hyperlink" Target="https://en.wikipedia.org/wiki/AbbVie_Inc." TargetMode="External"/><Relationship Id="rId15" Type="http://schemas.openxmlformats.org/officeDocument/2006/relationships/hyperlink" Target="https://en.wikipedia.org/wiki/Rituximab" TargetMode="External"/><Relationship Id="rId23" Type="http://schemas.openxmlformats.org/officeDocument/2006/relationships/hyperlink" Target="https://en.wikipedia.org/wiki/Bevacizumab" TargetMode="External"/><Relationship Id="rId28" Type="http://schemas.openxmlformats.org/officeDocument/2006/relationships/hyperlink" Target="https://en.wikipedia.org/wiki/Multiple_myeloma" TargetMode="External"/><Relationship Id="rId10" Type="http://schemas.openxmlformats.org/officeDocument/2006/relationships/hyperlink" Target="https://en.wikipedia.org/wiki/Amgen" TargetMode="External"/><Relationship Id="rId19" Type="http://schemas.openxmlformats.org/officeDocument/2006/relationships/hyperlink" Target="https://en.wikipedia.org/wiki/Hoffmann-La_Roche" TargetMode="External"/><Relationship Id="rId31" Type="http://schemas.openxmlformats.org/officeDocument/2006/relationships/hyperlink" Target="https://en.wikipedia.org/wiki/Sofosbuvir" TargetMode="External"/><Relationship Id="rId4" Type="http://schemas.openxmlformats.org/officeDocument/2006/relationships/hyperlink" Target="https://en.wikipedia.org/wiki/Rheumatoid_arthritis" TargetMode="External"/><Relationship Id="rId9" Type="http://schemas.openxmlformats.org/officeDocument/2006/relationships/hyperlink" Target="https://en.wikipedia.org/wiki/Etanercept" TargetMode="External"/><Relationship Id="rId14" Type="http://schemas.openxmlformats.org/officeDocument/2006/relationships/hyperlink" Target="https://en.wikipedia.org/wiki/Johnson_&amp;_Johnson" TargetMode="External"/><Relationship Id="rId22" Type="http://schemas.openxmlformats.org/officeDocument/2006/relationships/hyperlink" Target="https://en.wikipedia.org/wiki/Sanofi" TargetMode="External"/><Relationship Id="rId27" Type="http://schemas.openxmlformats.org/officeDocument/2006/relationships/hyperlink" Target="https://en.wikipedia.org/wiki/Lenalidomide" TargetMode="External"/><Relationship Id="rId30" Type="http://schemas.openxmlformats.org/officeDocument/2006/relationships/hyperlink" Target="https://en.wikipedia.org/wiki/Celgene"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Gilead_Sciences" TargetMode="External"/><Relationship Id="rId13" Type="http://schemas.openxmlformats.org/officeDocument/2006/relationships/hyperlink" Target="https://en.wikipedia.org/wiki/Gastroesophageal_reflux_disease" TargetMode="External"/><Relationship Id="rId18" Type="http://schemas.openxmlformats.org/officeDocument/2006/relationships/hyperlink" Target="https://en.wikipedia.org/wiki/Autoimmune_disease" TargetMode="External"/><Relationship Id="rId26" Type="http://schemas.openxmlformats.org/officeDocument/2006/relationships/hyperlink" Target="https://en.wikipedia.org/wiki/Breast_cancer" TargetMode="External"/><Relationship Id="rId3" Type="http://schemas.openxmlformats.org/officeDocument/2006/relationships/hyperlink" Target="https://en.wikipedia.org/wiki/Adalimumab" TargetMode="External"/><Relationship Id="rId21" Type="http://schemas.openxmlformats.org/officeDocument/2006/relationships/hyperlink" Target="https://en.wikipedia.org/wiki/Diabetes_mellitus" TargetMode="External"/><Relationship Id="rId7" Type="http://schemas.openxmlformats.org/officeDocument/2006/relationships/hyperlink" Target="https://en.wikipedia.org/wiki/Hepatitis_C" TargetMode="External"/><Relationship Id="rId12" Type="http://schemas.openxmlformats.org/officeDocument/2006/relationships/hyperlink" Target="https://en.wikipedia.org/wiki/Infliximab" TargetMode="External"/><Relationship Id="rId17" Type="http://schemas.openxmlformats.org/officeDocument/2006/relationships/hyperlink" Target="https://en.wikipedia.org/wiki/Leukemia" TargetMode="External"/><Relationship Id="rId25" Type="http://schemas.openxmlformats.org/officeDocument/2006/relationships/hyperlink" Target="https://en.wikipedia.org/wiki/Trastuzumab" TargetMode="External"/><Relationship Id="rId2" Type="http://schemas.openxmlformats.org/officeDocument/2006/relationships/notesSlide" Target="../notesSlides/notesSlide5.xml"/><Relationship Id="rId16" Type="http://schemas.openxmlformats.org/officeDocument/2006/relationships/hyperlink" Target="https://en.wikipedia.org/wiki/Lymphoma" TargetMode="External"/><Relationship Id="rId20" Type="http://schemas.openxmlformats.org/officeDocument/2006/relationships/hyperlink" Target="https://en.wikipedia.org/wiki/Insulin_glargine" TargetMode="External"/><Relationship Id="rId29" Type="http://schemas.openxmlformats.org/officeDocument/2006/relationships/hyperlink" Target="https://en.wikipedia.org/wiki/Myelodysplastic_syndrome" TargetMode="External"/><Relationship Id="rId1" Type="http://schemas.openxmlformats.org/officeDocument/2006/relationships/slideLayout" Target="../slideLayouts/slideLayout2.xml"/><Relationship Id="rId6" Type="http://schemas.openxmlformats.org/officeDocument/2006/relationships/hyperlink" Target="https://en.wikipedia.org/wiki/Ledipasvir/sofosbuvir" TargetMode="External"/><Relationship Id="rId11" Type="http://schemas.openxmlformats.org/officeDocument/2006/relationships/hyperlink" Target="https://en.wikipedia.org/wiki/Pfizer" TargetMode="External"/><Relationship Id="rId24" Type="http://schemas.openxmlformats.org/officeDocument/2006/relationships/hyperlink" Target="https://en.wikipedia.org/wiki/Cancer" TargetMode="External"/><Relationship Id="rId32" Type="http://schemas.openxmlformats.org/officeDocument/2006/relationships/hyperlink" Target="https://en.wikipedia.org/wiki/List_of_largest_selling_pharmaceutical_products" TargetMode="External"/><Relationship Id="rId5" Type="http://schemas.openxmlformats.org/officeDocument/2006/relationships/hyperlink" Target="https://en.wikipedia.org/wiki/AbbVie_Inc." TargetMode="External"/><Relationship Id="rId15" Type="http://schemas.openxmlformats.org/officeDocument/2006/relationships/hyperlink" Target="https://en.wikipedia.org/wiki/Rituximab" TargetMode="External"/><Relationship Id="rId23" Type="http://schemas.openxmlformats.org/officeDocument/2006/relationships/hyperlink" Target="https://en.wikipedia.org/wiki/Bevacizumab" TargetMode="External"/><Relationship Id="rId28" Type="http://schemas.openxmlformats.org/officeDocument/2006/relationships/hyperlink" Target="https://en.wikipedia.org/wiki/Multiple_myeloma" TargetMode="External"/><Relationship Id="rId10" Type="http://schemas.openxmlformats.org/officeDocument/2006/relationships/hyperlink" Target="https://en.wikipedia.org/wiki/Amgen" TargetMode="External"/><Relationship Id="rId19" Type="http://schemas.openxmlformats.org/officeDocument/2006/relationships/hyperlink" Target="https://en.wikipedia.org/wiki/Hoffmann-La_Roche" TargetMode="External"/><Relationship Id="rId31" Type="http://schemas.openxmlformats.org/officeDocument/2006/relationships/hyperlink" Target="https://en.wikipedia.org/wiki/Sofosbuvir" TargetMode="External"/><Relationship Id="rId4" Type="http://schemas.openxmlformats.org/officeDocument/2006/relationships/hyperlink" Target="https://en.wikipedia.org/wiki/Rheumatoid_arthritis" TargetMode="External"/><Relationship Id="rId9" Type="http://schemas.openxmlformats.org/officeDocument/2006/relationships/hyperlink" Target="https://en.wikipedia.org/wiki/Etanercept" TargetMode="External"/><Relationship Id="rId14" Type="http://schemas.openxmlformats.org/officeDocument/2006/relationships/hyperlink" Target="https://en.wikipedia.org/wiki/Johnson_&amp;_Johnson" TargetMode="External"/><Relationship Id="rId22" Type="http://schemas.openxmlformats.org/officeDocument/2006/relationships/hyperlink" Target="https://en.wikipedia.org/wiki/Sanofi" TargetMode="External"/><Relationship Id="rId27" Type="http://schemas.openxmlformats.org/officeDocument/2006/relationships/hyperlink" Target="https://en.wikipedia.org/wiki/Lenalidomide" TargetMode="External"/><Relationship Id="rId30" Type="http://schemas.openxmlformats.org/officeDocument/2006/relationships/hyperlink" Target="https://en.wikipedia.org/wiki/Celgene"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hyperlink" Target="https://en.wikipedia.org/wiki/Deoxyribonucleic_acid" TargetMode="External"/><Relationship Id="rId3" Type="http://schemas.openxmlformats.org/officeDocument/2006/relationships/image" Target="../media/image13.png"/><Relationship Id="rId7" Type="http://schemas.openxmlformats.org/officeDocument/2006/relationships/hyperlink" Target="https://en.wikipedia.org/wiki/Ribonucleic_acid"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hyperlink" Target="https://en.wikipedia.org/wiki/Phosphodiester" TargetMode="External"/><Relationship Id="rId5" Type="http://schemas.openxmlformats.org/officeDocument/2006/relationships/hyperlink" Target="https://en.wikipedia.org/wiki/Thiophosphate" TargetMode="External"/><Relationship Id="rId4" Type="http://schemas.openxmlformats.org/officeDocument/2006/relationships/hyperlink" Target="https://en.wikipedia.org/wiki/Antisense_oligonucleotide" TargetMode="External"/><Relationship Id="rId9" Type="http://schemas.openxmlformats.org/officeDocument/2006/relationships/hyperlink" Target="https://en.wikipedia.org/wiki/Deoxyribose"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en.wikipedia.org/wiki/Deoxyguanosine" TargetMode="External"/><Relationship Id="rId3" Type="http://schemas.openxmlformats.org/officeDocument/2006/relationships/image" Target="../media/image14.png"/><Relationship Id="rId7" Type="http://schemas.openxmlformats.org/officeDocument/2006/relationships/hyperlink" Target="https://en.wikipedia.org/wiki/Deoxyadenosine"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hyperlink" Target="https://en.wikipedia.org/wiki/5-Methyluridine" TargetMode="External"/><Relationship Id="rId11" Type="http://schemas.openxmlformats.org/officeDocument/2006/relationships/hyperlink" Target="https://en.wikipedia.org/wiki/Adenosine" TargetMode="External"/><Relationship Id="rId5" Type="http://schemas.openxmlformats.org/officeDocument/2006/relationships/hyperlink" Target="https://en.wikipedia.org/wiki/5-Methylcytidine" TargetMode="External"/><Relationship Id="rId10" Type="http://schemas.openxmlformats.org/officeDocument/2006/relationships/hyperlink" Target="https://en.wikipedia.org/w/index.php?title=Deoxymethylcytidine&amp;action=edit&amp;redlink=1" TargetMode="External"/><Relationship Id="rId4" Type="http://schemas.openxmlformats.org/officeDocument/2006/relationships/hyperlink" Target="https://en.wikipedia.org/wiki/Guanosine" TargetMode="External"/><Relationship Id="rId9" Type="http://schemas.openxmlformats.org/officeDocument/2006/relationships/hyperlink" Target="https://en.wikipedia.org/wiki/Thymidine"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hyperlink" Target="https://github.com/PistoiaHELM" TargetMode="Externa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Abstract</a:t>
            </a:r>
            <a:endParaRPr lang="en-GB" dirty="0"/>
          </a:p>
        </p:txBody>
      </p:sp>
      <p:sp>
        <p:nvSpPr>
          <p:cNvPr id="3" name="Content Placeholder 2"/>
          <p:cNvSpPr>
            <a:spLocks noGrp="1"/>
          </p:cNvSpPr>
          <p:nvPr>
            <p:ph idx="1"/>
          </p:nvPr>
        </p:nvSpPr>
        <p:spPr>
          <a:xfrm>
            <a:off x="1199456" y="980728"/>
            <a:ext cx="8208912" cy="5381355"/>
          </a:xfrm>
        </p:spPr>
        <p:txBody>
          <a:bodyPr>
            <a:normAutofit fontScale="85000" lnSpcReduction="10000"/>
          </a:bodyPr>
          <a:lstStyle/>
          <a:p>
            <a:pPr marL="0" indent="0">
              <a:buNone/>
            </a:pPr>
            <a:r>
              <a:rPr lang="en-US" sz="2400" dirty="0"/>
              <a:t>HELM: an Open Standard for Biomolecule Structure Representation and Exchange</a:t>
            </a:r>
          </a:p>
          <a:p>
            <a:pPr marL="0" indent="0">
              <a:buNone/>
            </a:pPr>
            <a:r>
              <a:rPr lang="en-US" sz="2400" dirty="0"/>
              <a:t>Over the past decade, the biopharmaceutical industry has dramatically increased its focus and investment in biomolecular therapeutic modalities. Entities such as antisense oligonucleotides (ASO), short interference RNAs (siRNA), peptides, proteins, antibodies, and antibody drug conjugates (ADC), have become increasingly commonplace, comprising an ever larger proportion of the drug pipelines of biopharmaceutical companies. The scientific informatics capabilities required to rigorously represent and systematically capture these types of molecules computationally, however, has not kept up with needs and the exchange of biomolecule data between organizations has remained a challenge. In this presentation, we will describe the problems, along with the Pistoia Alliance HELM project’s approach to tackling them in an open and collaborative manner. We will present the key features of the HELM standard (Hierarchical Editing Language for Macromolecules), the reference implementation of a notation toolkit and structure editor, and the emerging HELM ecosystem.</a:t>
            </a:r>
          </a:p>
          <a:p>
            <a:pPr marL="0" indent="0">
              <a:buNone/>
            </a:pPr>
            <a:endParaRPr lang="en-GB" sz="2400" dirty="0"/>
          </a:p>
        </p:txBody>
      </p:sp>
      <p:sp>
        <p:nvSpPr>
          <p:cNvPr id="6" name="Slide Number Placeholder 5"/>
          <p:cNvSpPr>
            <a:spLocks noGrp="1"/>
          </p:cNvSpPr>
          <p:nvPr>
            <p:ph type="sldNum" sz="quarter" idx="12"/>
          </p:nvPr>
        </p:nvSpPr>
        <p:spPr/>
        <p:txBody>
          <a:bodyPr/>
          <a:lstStyle/>
          <a:p>
            <a:pPr>
              <a:defRPr/>
            </a:pPr>
            <a:fld id="{28ED40A3-BEA1-2645-9E17-452BD130FCD0}" type="slidenum">
              <a:rPr lang="en-US"/>
              <a:pPr>
                <a:defRPr/>
              </a:pPr>
              <a:t>1</a:t>
            </a:fld>
            <a:endParaRPr lang="en-US" dirty="0"/>
          </a:p>
        </p:txBody>
      </p:sp>
    </p:spTree>
    <p:extLst>
      <p:ext uri="{BB962C8B-B14F-4D97-AF65-F5344CB8AC3E}">
        <p14:creationId xmlns:p14="http://schemas.microsoft.com/office/powerpoint/2010/main" val="4274673931"/>
      </p:ext>
    </p:extLst>
  </p:cSld>
  <p:clrMapOvr>
    <a:masterClrMapping/>
  </p:clrMapOvr>
  <mc:AlternateContent xmlns:mc="http://schemas.openxmlformats.org/markup-compatibility/2006" xmlns:p14="http://schemas.microsoft.com/office/powerpoint/2010/main">
    <mc:Choice Requires="p14">
      <p:transition spd="slow" p14:dur="1250" advTm="11624">
        <p:fade/>
      </p:transition>
    </mc:Choice>
    <mc:Fallback xmlns="">
      <p:transition spd="slow" advTm="11624">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839416" y="2311132"/>
            <a:ext cx="9371384" cy="1692771"/>
          </a:xfrm>
        </p:spPr>
        <p:txBody>
          <a:bodyPr/>
          <a:lstStyle/>
          <a:p>
            <a:r>
              <a:rPr lang="en-US" dirty="0"/>
              <a:t>HELM: </a:t>
            </a:r>
            <a:r>
              <a:rPr lang="en-US" sz="3200" dirty="0"/>
              <a:t>an Open Standard for Biomolecule Structure Representation and Exchange</a:t>
            </a:r>
          </a:p>
        </p:txBody>
      </p:sp>
      <p:sp>
        <p:nvSpPr>
          <p:cNvPr id="10" name="Text Placeholder 9"/>
          <p:cNvSpPr>
            <a:spLocks noGrp="1"/>
          </p:cNvSpPr>
          <p:nvPr>
            <p:ph type="body" sz="quarter" idx="11"/>
          </p:nvPr>
        </p:nvSpPr>
        <p:spPr>
          <a:xfrm>
            <a:off x="842674" y="5949280"/>
            <a:ext cx="2819400" cy="533400"/>
          </a:xfrm>
        </p:spPr>
        <p:txBody>
          <a:bodyPr/>
          <a:lstStyle/>
          <a:p>
            <a:r>
              <a:rPr lang="en-US" dirty="0" smtClean="0">
                <a:solidFill>
                  <a:schemeClr val="tx1"/>
                </a:solidFill>
              </a:rPr>
              <a:t>20</a:t>
            </a:r>
            <a:r>
              <a:rPr lang="en-US" baseline="30000" dirty="0" smtClean="0">
                <a:solidFill>
                  <a:schemeClr val="tx1"/>
                </a:solidFill>
              </a:rPr>
              <a:t>th</a:t>
            </a:r>
            <a:r>
              <a:rPr lang="en-US" dirty="0" smtClean="0">
                <a:solidFill>
                  <a:schemeClr val="tx1"/>
                </a:solidFill>
              </a:rPr>
              <a:t> August 2017</a:t>
            </a:r>
            <a:endParaRPr lang="en-US" dirty="0"/>
          </a:p>
        </p:txBody>
      </p:sp>
      <p:sp>
        <p:nvSpPr>
          <p:cNvPr id="11" name="Text Placeholder 10"/>
          <p:cNvSpPr>
            <a:spLocks noGrp="1"/>
          </p:cNvSpPr>
          <p:nvPr>
            <p:ph type="body" sz="quarter" idx="12"/>
          </p:nvPr>
        </p:nvSpPr>
        <p:spPr>
          <a:xfrm>
            <a:off x="842674" y="5157192"/>
            <a:ext cx="3021078" cy="576064"/>
          </a:xfrm>
        </p:spPr>
        <p:txBody>
          <a:bodyPr>
            <a:noAutofit/>
          </a:bodyPr>
          <a:lstStyle/>
          <a:p>
            <a:r>
              <a:rPr lang="en-US" sz="2400" dirty="0" smtClean="0"/>
              <a:t>Matthias Nolte</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1250" advTm="21775">
        <p:fade/>
      </p:transition>
    </mc:Choice>
    <mc:Fallback xmlns="">
      <p:transition spd="slow" advTm="21775">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38400"/>
            <a:ext cx="10668000" cy="2246769"/>
          </a:xfrm>
        </p:spPr>
        <p:txBody>
          <a:bodyPr/>
          <a:lstStyle/>
          <a:p>
            <a:r>
              <a:rPr lang="en-GB" sz="2800" dirty="0" smtClean="0"/>
              <a:t>Current challenges regarding the representation of biomolecules</a:t>
            </a:r>
            <a:r>
              <a:rPr lang="en-GB" sz="2800" dirty="0"/>
              <a:t/>
            </a:r>
            <a:br>
              <a:rPr lang="en-GB" sz="2800" dirty="0"/>
            </a:br>
            <a:r>
              <a:rPr lang="en-GB" sz="2800" dirty="0" smtClean="0"/>
              <a:t>What </a:t>
            </a:r>
            <a:r>
              <a:rPr lang="en-GB" sz="2800" dirty="0"/>
              <a:t>is HELM</a:t>
            </a:r>
            <a:r>
              <a:rPr lang="en-GB" sz="2800" dirty="0" smtClean="0"/>
              <a:t>?</a:t>
            </a:r>
            <a:r>
              <a:rPr lang="en-GB" sz="2800" dirty="0">
                <a:solidFill>
                  <a:srgbClr val="228B96"/>
                </a:solidFill>
              </a:rPr>
              <a:t> HELM in practice</a:t>
            </a:r>
            <a:br>
              <a:rPr lang="en-GB" sz="2800" dirty="0">
                <a:solidFill>
                  <a:srgbClr val="228B96"/>
                </a:solidFill>
              </a:rPr>
            </a:br>
            <a:r>
              <a:rPr lang="en-GB" sz="2800" dirty="0"/>
              <a:t>HELM in practice </a:t>
            </a:r>
            <a:r>
              <a:rPr lang="en-GB" sz="2800" dirty="0" smtClean="0">
                <a:solidFill>
                  <a:srgbClr val="228B96"/>
                </a:solidFill>
              </a:rPr>
              <a:t>HELM </a:t>
            </a:r>
            <a:r>
              <a:rPr lang="en-GB" sz="2800" dirty="0">
                <a:solidFill>
                  <a:srgbClr val="228B96"/>
                </a:solidFill>
              </a:rPr>
              <a:t>in </a:t>
            </a:r>
            <a:r>
              <a:rPr lang="en-GB" sz="2800" dirty="0" smtClean="0">
                <a:solidFill>
                  <a:srgbClr val="228B96"/>
                </a:solidFill>
              </a:rPr>
              <a:t>practice</a:t>
            </a:r>
            <a:r>
              <a:rPr lang="en-GB" sz="2800" dirty="0"/>
              <a:t/>
            </a:r>
            <a:br>
              <a:rPr lang="en-GB" sz="2800" dirty="0"/>
            </a:br>
            <a:r>
              <a:rPr lang="en-GB" sz="2800" dirty="0" smtClean="0"/>
              <a:t>The </a:t>
            </a:r>
            <a:r>
              <a:rPr lang="en-GB" sz="2800" dirty="0"/>
              <a:t>HELM ecosystem </a:t>
            </a:r>
            <a:br>
              <a:rPr lang="en-GB" sz="2800" dirty="0"/>
            </a:br>
            <a:r>
              <a:rPr lang="en-GB" sz="2800" dirty="0" smtClean="0"/>
              <a:t>Current activities</a:t>
            </a:r>
            <a:endParaRPr lang="en-GB" sz="2800" dirty="0"/>
          </a:p>
        </p:txBody>
      </p:sp>
      <p:sp>
        <p:nvSpPr>
          <p:cNvPr id="6" name="Slide Number Placeholder 5"/>
          <p:cNvSpPr>
            <a:spLocks noGrp="1"/>
          </p:cNvSpPr>
          <p:nvPr>
            <p:ph type="sldNum" sz="quarter" idx="4294967295"/>
          </p:nvPr>
        </p:nvSpPr>
        <p:spPr>
          <a:xfrm>
            <a:off x="11506200" y="6376988"/>
            <a:ext cx="685800" cy="344487"/>
          </a:xfrm>
          <a:prstGeom prst="rect">
            <a:avLst/>
          </a:prstGeom>
        </p:spPr>
        <p:txBody>
          <a:bodyPr/>
          <a:lstStyle/>
          <a:p>
            <a:pPr>
              <a:defRPr/>
            </a:pPr>
            <a:fld id="{28ED40A3-BEA1-2645-9E17-452BD130FCD0}" type="slidenum">
              <a:rPr lang="en-US"/>
              <a:pPr>
                <a:defRPr/>
              </a:pPr>
              <a:t>3</a:t>
            </a:fld>
            <a:endParaRPr lang="en-US" dirty="0"/>
          </a:p>
        </p:txBody>
      </p:sp>
    </p:spTree>
    <p:extLst>
      <p:ext uri="{BB962C8B-B14F-4D97-AF65-F5344CB8AC3E}">
        <p14:creationId xmlns:p14="http://schemas.microsoft.com/office/powerpoint/2010/main" val="696709732"/>
      </p:ext>
    </p:extLst>
  </p:cSld>
  <p:clrMapOvr>
    <a:masterClrMapping/>
  </p:clrMapOvr>
  <mc:AlternateContent xmlns:mc="http://schemas.openxmlformats.org/markup-compatibility/2006" xmlns:p14="http://schemas.microsoft.com/office/powerpoint/2010/main">
    <mc:Choice Requires="p14">
      <p:transition spd="slow" p14:dur="1250" advTm="11624">
        <p:fade/>
      </p:transition>
    </mc:Choice>
    <mc:Fallback xmlns="">
      <p:transition spd="slow" advTm="11624">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38400"/>
            <a:ext cx="10668000" cy="2246769"/>
          </a:xfrm>
        </p:spPr>
        <p:txBody>
          <a:bodyPr/>
          <a:lstStyle/>
          <a:p>
            <a:r>
              <a:rPr lang="en-GB" sz="2800" dirty="0" smtClean="0"/>
              <a:t>Current challenges regarding the representation of biomolecules</a:t>
            </a:r>
            <a:r>
              <a:rPr lang="en-GB" sz="2800" dirty="0"/>
              <a:t/>
            </a:r>
            <a:br>
              <a:rPr lang="en-GB" sz="2800" dirty="0"/>
            </a:br>
            <a:r>
              <a:rPr lang="en-GB" sz="2800" dirty="0" smtClean="0">
                <a:solidFill>
                  <a:schemeClr val="bg1">
                    <a:lumMod val="60000"/>
                    <a:lumOff val="40000"/>
                  </a:schemeClr>
                </a:solidFill>
              </a:rPr>
              <a:t>What </a:t>
            </a:r>
            <a:r>
              <a:rPr lang="en-GB" sz="2800" dirty="0">
                <a:solidFill>
                  <a:schemeClr val="bg1">
                    <a:lumMod val="60000"/>
                    <a:lumOff val="40000"/>
                  </a:schemeClr>
                </a:solidFill>
              </a:rPr>
              <a:t>is HELM</a:t>
            </a:r>
            <a:r>
              <a:rPr lang="en-GB" sz="2800" dirty="0" smtClean="0">
                <a:solidFill>
                  <a:schemeClr val="bg1">
                    <a:lumMod val="60000"/>
                    <a:lumOff val="40000"/>
                  </a:schemeClr>
                </a:solidFill>
              </a:rPr>
              <a:t>?</a:t>
            </a:r>
            <a:r>
              <a:rPr lang="en-GB" sz="2800" dirty="0">
                <a:solidFill>
                  <a:schemeClr val="bg1">
                    <a:lumMod val="60000"/>
                    <a:lumOff val="40000"/>
                  </a:schemeClr>
                </a:solidFill>
              </a:rPr>
              <a:t> HELM in practice</a:t>
            </a:r>
            <a:br>
              <a:rPr lang="en-GB" sz="2800" dirty="0">
                <a:solidFill>
                  <a:schemeClr val="bg1">
                    <a:lumMod val="60000"/>
                    <a:lumOff val="40000"/>
                  </a:schemeClr>
                </a:solidFill>
              </a:rPr>
            </a:br>
            <a:r>
              <a:rPr lang="en-GB" sz="2800" dirty="0">
                <a:solidFill>
                  <a:schemeClr val="bg1">
                    <a:lumMod val="60000"/>
                    <a:lumOff val="40000"/>
                  </a:schemeClr>
                </a:solidFill>
              </a:rPr>
              <a:t>HELM in practice </a:t>
            </a:r>
            <a:r>
              <a:rPr lang="en-GB" sz="2800" dirty="0" smtClean="0">
                <a:solidFill>
                  <a:schemeClr val="bg1">
                    <a:lumMod val="60000"/>
                    <a:lumOff val="40000"/>
                  </a:schemeClr>
                </a:solidFill>
              </a:rPr>
              <a:t>HELM </a:t>
            </a:r>
            <a:r>
              <a:rPr lang="en-GB" sz="2800" dirty="0">
                <a:solidFill>
                  <a:schemeClr val="bg1">
                    <a:lumMod val="60000"/>
                    <a:lumOff val="40000"/>
                  </a:schemeClr>
                </a:solidFill>
              </a:rPr>
              <a:t>in </a:t>
            </a:r>
            <a:r>
              <a:rPr lang="en-GB" sz="2800" dirty="0" smtClean="0">
                <a:solidFill>
                  <a:schemeClr val="bg1">
                    <a:lumMod val="60000"/>
                    <a:lumOff val="40000"/>
                  </a:schemeClr>
                </a:solidFill>
              </a:rPr>
              <a:t>practice</a:t>
            </a:r>
            <a:r>
              <a:rPr lang="en-GB" sz="2800" dirty="0">
                <a:solidFill>
                  <a:schemeClr val="bg1">
                    <a:lumMod val="60000"/>
                    <a:lumOff val="40000"/>
                  </a:schemeClr>
                </a:solidFill>
              </a:rPr>
              <a:t/>
            </a:r>
            <a:br>
              <a:rPr lang="en-GB" sz="2800" dirty="0">
                <a:solidFill>
                  <a:schemeClr val="bg1">
                    <a:lumMod val="60000"/>
                    <a:lumOff val="40000"/>
                  </a:schemeClr>
                </a:solidFill>
              </a:rPr>
            </a:br>
            <a:r>
              <a:rPr lang="en-GB" sz="2800" dirty="0" smtClean="0">
                <a:solidFill>
                  <a:schemeClr val="bg1">
                    <a:lumMod val="60000"/>
                    <a:lumOff val="40000"/>
                  </a:schemeClr>
                </a:solidFill>
              </a:rPr>
              <a:t>The </a:t>
            </a:r>
            <a:r>
              <a:rPr lang="en-GB" sz="2800" dirty="0">
                <a:solidFill>
                  <a:schemeClr val="bg1">
                    <a:lumMod val="60000"/>
                    <a:lumOff val="40000"/>
                  </a:schemeClr>
                </a:solidFill>
              </a:rPr>
              <a:t>HELM ecosystem </a:t>
            </a:r>
            <a:br>
              <a:rPr lang="en-GB" sz="2800" dirty="0">
                <a:solidFill>
                  <a:schemeClr val="bg1">
                    <a:lumMod val="60000"/>
                    <a:lumOff val="40000"/>
                  </a:schemeClr>
                </a:solidFill>
              </a:rPr>
            </a:br>
            <a:r>
              <a:rPr lang="en-GB" sz="2800" dirty="0" smtClean="0">
                <a:solidFill>
                  <a:schemeClr val="bg1">
                    <a:lumMod val="60000"/>
                    <a:lumOff val="40000"/>
                  </a:schemeClr>
                </a:solidFill>
              </a:rPr>
              <a:t>Current activities</a:t>
            </a:r>
            <a:endParaRPr lang="en-GB" sz="2800" dirty="0">
              <a:solidFill>
                <a:schemeClr val="bg1">
                  <a:lumMod val="60000"/>
                  <a:lumOff val="40000"/>
                </a:schemeClr>
              </a:solidFill>
            </a:endParaRPr>
          </a:p>
        </p:txBody>
      </p:sp>
      <p:sp>
        <p:nvSpPr>
          <p:cNvPr id="6" name="Slide Number Placeholder 5"/>
          <p:cNvSpPr>
            <a:spLocks noGrp="1"/>
          </p:cNvSpPr>
          <p:nvPr>
            <p:ph type="sldNum" sz="quarter" idx="4294967295"/>
          </p:nvPr>
        </p:nvSpPr>
        <p:spPr>
          <a:xfrm>
            <a:off x="11506200" y="6376988"/>
            <a:ext cx="685800" cy="344487"/>
          </a:xfrm>
          <a:prstGeom prst="rect">
            <a:avLst/>
          </a:prstGeom>
        </p:spPr>
        <p:txBody>
          <a:bodyPr/>
          <a:lstStyle/>
          <a:p>
            <a:pPr>
              <a:defRPr/>
            </a:pPr>
            <a:fld id="{28ED40A3-BEA1-2645-9E17-452BD130FCD0}" type="slidenum">
              <a:rPr lang="en-US"/>
              <a:pPr>
                <a:defRPr/>
              </a:pPr>
              <a:t>4</a:t>
            </a:fld>
            <a:endParaRPr lang="en-US" dirty="0"/>
          </a:p>
        </p:txBody>
      </p:sp>
    </p:spTree>
    <p:extLst>
      <p:ext uri="{BB962C8B-B14F-4D97-AF65-F5344CB8AC3E}">
        <p14:creationId xmlns:p14="http://schemas.microsoft.com/office/powerpoint/2010/main" val="789856348"/>
      </p:ext>
    </p:extLst>
  </p:cSld>
  <p:clrMapOvr>
    <a:masterClrMapping/>
  </p:clrMapOvr>
  <mc:AlternateContent xmlns:mc="http://schemas.openxmlformats.org/markup-compatibility/2006" xmlns:p14="http://schemas.microsoft.com/office/powerpoint/2010/main">
    <mc:Choice Requires="p14">
      <p:transition spd="slow" p14:dur="1250" advTm="11624">
        <p:fade/>
      </p:transition>
    </mc:Choice>
    <mc:Fallback xmlns="">
      <p:transition spd="slow" advTm="11624">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8914"/>
            <a:ext cx="9422837" cy="707886"/>
          </a:xfrm>
        </p:spPr>
        <p:txBody>
          <a:bodyPr/>
          <a:lstStyle/>
          <a:p>
            <a:r>
              <a:rPr lang="en-GB" dirty="0" smtClean="0"/>
              <a:t>Why Now?</a:t>
            </a:r>
            <a:endParaRPr lang="en-GB"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674672119"/>
              </p:ext>
            </p:extLst>
          </p:nvPr>
        </p:nvGraphicFramePr>
        <p:xfrm>
          <a:off x="2192488" y="1726814"/>
          <a:ext cx="8857985" cy="4510035"/>
        </p:xfrm>
        <a:graphic>
          <a:graphicData uri="http://schemas.openxmlformats.org/drawingml/2006/table">
            <a:tbl>
              <a:tblPr firstRow="1">
                <a:tableStyleId>{9D7B26C5-4107-4FEC-AEDC-1716B250A1EF}</a:tableStyleId>
              </a:tblPr>
              <a:tblGrid>
                <a:gridCol w="458172">
                  <a:extLst>
                    <a:ext uri="{9D8B030D-6E8A-4147-A177-3AD203B41FA5}">
                      <a16:colId xmlns="" xmlns:a16="http://schemas.microsoft.com/office/drawing/2014/main" val="1066438260"/>
                    </a:ext>
                  </a:extLst>
                </a:gridCol>
                <a:gridCol w="1415038">
                  <a:extLst>
                    <a:ext uri="{9D8B030D-6E8A-4147-A177-3AD203B41FA5}">
                      <a16:colId xmlns="" xmlns:a16="http://schemas.microsoft.com/office/drawing/2014/main" val="612401462"/>
                    </a:ext>
                  </a:extLst>
                </a:gridCol>
                <a:gridCol w="1028544">
                  <a:extLst>
                    <a:ext uri="{9D8B030D-6E8A-4147-A177-3AD203B41FA5}">
                      <a16:colId xmlns="" xmlns:a16="http://schemas.microsoft.com/office/drawing/2014/main" val="3078685772"/>
                    </a:ext>
                  </a:extLst>
                </a:gridCol>
                <a:gridCol w="1145429">
                  <a:extLst>
                    <a:ext uri="{9D8B030D-6E8A-4147-A177-3AD203B41FA5}">
                      <a16:colId xmlns="" xmlns:a16="http://schemas.microsoft.com/office/drawing/2014/main" val="2143587007"/>
                    </a:ext>
                  </a:extLst>
                </a:gridCol>
                <a:gridCol w="1489058">
                  <a:extLst>
                    <a:ext uri="{9D8B030D-6E8A-4147-A177-3AD203B41FA5}">
                      <a16:colId xmlns="" xmlns:a16="http://schemas.microsoft.com/office/drawing/2014/main" val="2566725094"/>
                    </a:ext>
                  </a:extLst>
                </a:gridCol>
                <a:gridCol w="1107248">
                  <a:extLst>
                    <a:ext uri="{9D8B030D-6E8A-4147-A177-3AD203B41FA5}">
                      <a16:colId xmlns="" xmlns:a16="http://schemas.microsoft.com/office/drawing/2014/main" val="4070168154"/>
                    </a:ext>
                  </a:extLst>
                </a:gridCol>
                <a:gridCol w="1107248">
                  <a:extLst>
                    <a:ext uri="{9D8B030D-6E8A-4147-A177-3AD203B41FA5}">
                      <a16:colId xmlns="" xmlns:a16="http://schemas.microsoft.com/office/drawing/2014/main" val="700750916"/>
                    </a:ext>
                  </a:extLst>
                </a:gridCol>
                <a:gridCol w="1107248">
                  <a:extLst>
                    <a:ext uri="{9D8B030D-6E8A-4147-A177-3AD203B41FA5}">
                      <a16:colId xmlns="" xmlns:a16="http://schemas.microsoft.com/office/drawing/2014/main" val="2371989020"/>
                    </a:ext>
                  </a:extLst>
                </a:gridCol>
              </a:tblGrid>
              <a:tr h="452403">
                <a:tc>
                  <a:txBody>
                    <a:bodyPr/>
                    <a:lstStyle/>
                    <a:p>
                      <a:r>
                        <a:rPr lang="en-GB" sz="1200" b="1" dirty="0"/>
                        <a:t>Rank</a:t>
                      </a:r>
                    </a:p>
                  </a:txBody>
                  <a:tcPr marL="34800" marR="34800" marT="17400" marB="17400" anchor="ctr"/>
                </a:tc>
                <a:tc>
                  <a:txBody>
                    <a:bodyPr/>
                    <a:lstStyle/>
                    <a:p>
                      <a:pPr algn="ctr"/>
                      <a:r>
                        <a:rPr lang="en-GB" sz="1200" b="1" dirty="0"/>
                        <a:t>Drug</a:t>
                      </a:r>
                    </a:p>
                  </a:txBody>
                  <a:tcPr marL="34800" marR="34800" marT="17400" marB="17400" anchor="ctr"/>
                </a:tc>
                <a:tc>
                  <a:txBody>
                    <a:bodyPr/>
                    <a:lstStyle/>
                    <a:p>
                      <a:r>
                        <a:rPr lang="en-GB" sz="1200" b="1" dirty="0"/>
                        <a:t>Trade name</a:t>
                      </a:r>
                    </a:p>
                  </a:txBody>
                  <a:tcPr marL="34800" marR="34800" marT="17400" marB="17400" anchor="ctr"/>
                </a:tc>
                <a:tc>
                  <a:txBody>
                    <a:bodyPr/>
                    <a:lstStyle/>
                    <a:p>
                      <a:pPr algn="ctr"/>
                      <a:r>
                        <a:rPr lang="en-GB" sz="1200" b="1" dirty="0"/>
                        <a:t>Type</a:t>
                      </a:r>
                    </a:p>
                  </a:txBody>
                  <a:tcPr marL="34800" marR="34800" marT="17400" marB="17400" anchor="ctr">
                    <a:lnB w="12700" cap="flat" cmpd="sng" algn="ctr">
                      <a:solidFill>
                        <a:schemeClr val="tx1"/>
                      </a:solidFill>
                      <a:prstDash val="solid"/>
                      <a:round/>
                      <a:headEnd type="none" w="med" len="med"/>
                      <a:tailEnd type="none" w="med" len="med"/>
                    </a:lnB>
                  </a:tcPr>
                </a:tc>
                <a:tc>
                  <a:txBody>
                    <a:bodyPr/>
                    <a:lstStyle/>
                    <a:p>
                      <a:r>
                        <a:rPr lang="en-GB" sz="1200" b="1" dirty="0"/>
                        <a:t>Main indications</a:t>
                      </a:r>
                    </a:p>
                  </a:txBody>
                  <a:tcPr marL="34800" marR="34800" marT="17400" marB="17400" anchor="ctr"/>
                </a:tc>
                <a:tc>
                  <a:txBody>
                    <a:bodyPr/>
                    <a:lstStyle/>
                    <a:p>
                      <a:r>
                        <a:rPr lang="en-GB" sz="1200" b="1" dirty="0"/>
                        <a:t>Company</a:t>
                      </a:r>
                    </a:p>
                  </a:txBody>
                  <a:tcPr marL="34800" marR="34800" marT="17400" marB="17400" anchor="ctr"/>
                </a:tc>
                <a:tc>
                  <a:txBody>
                    <a:bodyPr/>
                    <a:lstStyle/>
                    <a:p>
                      <a:r>
                        <a:rPr lang="en-GB" sz="1200" b="1" dirty="0"/>
                        <a:t>Sales (USD millions/year)</a:t>
                      </a:r>
                    </a:p>
                  </a:txBody>
                  <a:tcPr marL="34800" marR="34800" marT="17400" marB="17400" anchor="ctr"/>
                </a:tc>
                <a:tc>
                  <a:txBody>
                    <a:bodyPr/>
                    <a:lstStyle/>
                    <a:p>
                      <a:r>
                        <a:rPr lang="en-GB" sz="1200" b="1" dirty="0"/>
                        <a:t>∆ vs 2014</a:t>
                      </a:r>
                    </a:p>
                  </a:txBody>
                  <a:tcPr marL="34800" marR="34800" marT="17400" marB="17400" anchor="ctr"/>
                </a:tc>
                <a:extLst>
                  <a:ext uri="{0D108BD9-81ED-4DB2-BD59-A6C34878D82A}">
                    <a16:rowId xmlns="" xmlns:a16="http://schemas.microsoft.com/office/drawing/2014/main" val="2871978990"/>
                  </a:ext>
                </a:extLst>
              </a:tr>
              <a:tr h="348003">
                <a:tc>
                  <a:txBody>
                    <a:bodyPr/>
                    <a:lstStyle/>
                    <a:p>
                      <a:pPr algn="l"/>
                      <a:r>
                        <a:rPr lang="en-GB" sz="1200" dirty="0"/>
                        <a:t>1</a:t>
                      </a:r>
                    </a:p>
                  </a:txBody>
                  <a:tcPr marL="34800" marR="34800" marT="17400" marB="17400" anchor="ctr"/>
                </a:tc>
                <a:tc>
                  <a:txBody>
                    <a:bodyPr/>
                    <a:lstStyle/>
                    <a:p>
                      <a:pPr algn="l"/>
                      <a:r>
                        <a:rPr lang="en-GB" sz="1200" dirty="0">
                          <a:hlinkClick r:id="rId3" tooltip="Adalimumab"/>
                        </a:rPr>
                        <a:t>Adalimumab</a:t>
                      </a:r>
                      <a:endParaRPr lang="en-GB" sz="1200" dirty="0"/>
                    </a:p>
                  </a:txBody>
                  <a:tcPr marL="34800" marR="34800" marT="17400" marB="17400" anchor="ctr"/>
                </a:tc>
                <a:tc>
                  <a:txBody>
                    <a:bodyPr/>
                    <a:lstStyle/>
                    <a:p>
                      <a:pPr algn="l"/>
                      <a:r>
                        <a:rPr lang="en-GB" sz="1200" dirty="0" err="1"/>
                        <a:t>Humira</a:t>
                      </a:r>
                      <a:endParaRPr lang="en-GB" sz="1200" dirty="0"/>
                    </a:p>
                  </a:txBody>
                  <a:tcPr marL="34800" marR="34800" marT="17400" marB="1740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a:r>
                        <a:rPr lang="en-GB" sz="1200" dirty="0">
                          <a:hlinkClick r:id="rId4" tooltip="Rheumatoid arthritis"/>
                        </a:rPr>
                        <a:t>Rheumatoid arthritis</a:t>
                      </a:r>
                      <a:endParaRPr lang="en-GB" sz="1200" dirty="0"/>
                    </a:p>
                  </a:txBody>
                  <a:tcPr marL="34800" marR="34800" marT="17400" marB="1740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a:txBody>
                    <a:bodyPr/>
                    <a:lstStyle/>
                    <a:p>
                      <a:pPr algn="l"/>
                      <a:r>
                        <a:rPr lang="en-GB" sz="1200" dirty="0">
                          <a:hlinkClick r:id="rId5" tooltip="AbbVie Inc."/>
                        </a:rPr>
                        <a:t>AbbVie Inc.</a:t>
                      </a:r>
                      <a:endParaRPr lang="en-GB" sz="1200" dirty="0"/>
                    </a:p>
                  </a:txBody>
                  <a:tcPr marL="34800" marR="34800" marT="17400" marB="17400" anchor="ctr"/>
                </a:tc>
                <a:tc>
                  <a:txBody>
                    <a:bodyPr/>
                    <a:lstStyle/>
                    <a:p>
                      <a:pPr lvl="0" algn="ctr"/>
                      <a:r>
                        <a:rPr lang="en-GB" sz="1200" dirty="0" smtClean="0"/>
                        <a:t>14,012     </a:t>
                      </a:r>
                      <a:r>
                        <a:rPr lang="en-GB" sz="1200" baseline="0" dirty="0" smtClean="0"/>
                        <a:t>   </a:t>
                      </a:r>
                      <a:r>
                        <a:rPr lang="en-GB" sz="1200" dirty="0" smtClean="0"/>
                        <a:t> </a:t>
                      </a:r>
                      <a:endParaRPr lang="en-GB" sz="1200" dirty="0"/>
                    </a:p>
                  </a:txBody>
                  <a:tcPr marL="34800" marR="34800" marT="17400" marB="17400" anchor="ctr"/>
                </a:tc>
                <a:tc>
                  <a:txBody>
                    <a:bodyPr/>
                    <a:lstStyle/>
                    <a:p>
                      <a:pPr lvl="0" algn="ctr"/>
                      <a:r>
                        <a:rPr lang="en-GB" sz="1200" dirty="0" smtClean="0"/>
                        <a:t> 1,469</a:t>
                      </a:r>
                      <a:endParaRPr lang="en-GB" sz="1200" dirty="0"/>
                    </a:p>
                  </a:txBody>
                  <a:tcPr marL="34800" marR="34800" marT="17400" marB="17400" anchor="ctr"/>
                </a:tc>
                <a:extLst>
                  <a:ext uri="{0D108BD9-81ED-4DB2-BD59-A6C34878D82A}">
                    <a16:rowId xmlns="" xmlns:a16="http://schemas.microsoft.com/office/drawing/2014/main" val="3596555789"/>
                  </a:ext>
                </a:extLst>
              </a:tr>
              <a:tr h="348003">
                <a:tc>
                  <a:txBody>
                    <a:bodyPr/>
                    <a:lstStyle/>
                    <a:p>
                      <a:pPr algn="l"/>
                      <a:r>
                        <a:rPr lang="en-GB" sz="1200"/>
                        <a:t>2</a:t>
                      </a:r>
                    </a:p>
                  </a:txBody>
                  <a:tcPr marL="34800" marR="34800" marT="17400" marB="17400" anchor="ctr"/>
                </a:tc>
                <a:tc>
                  <a:txBody>
                    <a:bodyPr/>
                    <a:lstStyle/>
                    <a:p>
                      <a:pPr algn="l"/>
                      <a:r>
                        <a:rPr lang="en-GB" sz="1200" dirty="0" err="1">
                          <a:hlinkClick r:id="rId6" tooltip="Ledipasvir/sofosbuvir"/>
                        </a:rPr>
                        <a:t>Ledipasvir</a:t>
                      </a:r>
                      <a:r>
                        <a:rPr lang="en-GB" sz="1200" dirty="0">
                          <a:hlinkClick r:id="rId6" tooltip="Ledipasvir/sofosbuvir"/>
                        </a:rPr>
                        <a:t>/</a:t>
                      </a:r>
                      <a:r>
                        <a:rPr lang="en-GB" sz="1200" dirty="0" err="1">
                          <a:hlinkClick r:id="rId6" tooltip="Ledipasvir/sofosbuvir"/>
                        </a:rPr>
                        <a:t>sofosbuvir</a:t>
                      </a:r>
                      <a:endParaRPr lang="en-GB" sz="1200" dirty="0"/>
                    </a:p>
                  </a:txBody>
                  <a:tcPr marL="34800" marR="34800" marT="17400" marB="17400" anchor="ctr"/>
                </a:tc>
                <a:tc>
                  <a:txBody>
                    <a:bodyPr/>
                    <a:lstStyle/>
                    <a:p>
                      <a:pPr algn="l"/>
                      <a:r>
                        <a:rPr lang="en-GB" sz="1200" dirty="0" err="1"/>
                        <a:t>Harvoni</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Small molecule</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a:r>
                        <a:rPr lang="en-GB" sz="1200" dirty="0">
                          <a:hlinkClick r:id="rId7" tooltip="Hepatitis C"/>
                        </a:rPr>
                        <a:t>Hepatitis C</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8" tooltip="Gilead Sciences"/>
                        </a:rPr>
                        <a:t>Gilead Sciences</a:t>
                      </a:r>
                      <a:endParaRPr lang="en-GB" sz="1200" dirty="0"/>
                    </a:p>
                  </a:txBody>
                  <a:tcPr marL="34800" marR="34800" marT="17400" marB="17400" anchor="ctr"/>
                </a:tc>
                <a:tc>
                  <a:txBody>
                    <a:bodyPr/>
                    <a:lstStyle/>
                    <a:p>
                      <a:pPr lvl="0" algn="ctr"/>
                      <a:r>
                        <a:rPr lang="en-GB" sz="1200" dirty="0"/>
                        <a:t>13,864</a:t>
                      </a:r>
                    </a:p>
                  </a:txBody>
                  <a:tcPr marL="34800" marR="34800" marT="17400" marB="17400" anchor="ctr"/>
                </a:tc>
                <a:tc>
                  <a:txBody>
                    <a:bodyPr/>
                    <a:lstStyle/>
                    <a:p>
                      <a:pPr lvl="0" algn="ctr"/>
                      <a:r>
                        <a:rPr lang="en-GB" sz="1200" dirty="0"/>
                        <a:t>11,737</a:t>
                      </a:r>
                    </a:p>
                  </a:txBody>
                  <a:tcPr marL="34800" marR="34800" marT="17400" marB="17400" anchor="ctr"/>
                </a:tc>
                <a:extLst>
                  <a:ext uri="{0D108BD9-81ED-4DB2-BD59-A6C34878D82A}">
                    <a16:rowId xmlns="" xmlns:a16="http://schemas.microsoft.com/office/drawing/2014/main" val="1434469952"/>
                  </a:ext>
                </a:extLst>
              </a:tr>
              <a:tr h="348003">
                <a:tc>
                  <a:txBody>
                    <a:bodyPr/>
                    <a:lstStyle/>
                    <a:p>
                      <a:pPr algn="l"/>
                      <a:r>
                        <a:rPr lang="en-GB" sz="1200"/>
                        <a:t>3</a:t>
                      </a:r>
                    </a:p>
                  </a:txBody>
                  <a:tcPr marL="34800" marR="34800" marT="17400" marB="17400" anchor="ctr"/>
                </a:tc>
                <a:tc>
                  <a:txBody>
                    <a:bodyPr/>
                    <a:lstStyle/>
                    <a:p>
                      <a:pPr algn="l"/>
                      <a:r>
                        <a:rPr lang="en-GB" sz="1200" dirty="0" err="1">
                          <a:hlinkClick r:id="rId9" tooltip="Etanercept"/>
                        </a:rPr>
                        <a:t>Etanercept</a:t>
                      </a:r>
                      <a:endParaRPr lang="en-GB" sz="1200" dirty="0"/>
                    </a:p>
                  </a:txBody>
                  <a:tcPr marL="34800" marR="34800" marT="17400" marB="17400" anchor="ctr"/>
                </a:tc>
                <a:tc>
                  <a:txBody>
                    <a:bodyPr/>
                    <a:lstStyle/>
                    <a:p>
                      <a:pPr algn="l"/>
                      <a:r>
                        <a:rPr lang="en-GB" sz="1200" dirty="0"/>
                        <a:t>Enbrel</a:t>
                      </a:r>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a:r>
                        <a:rPr lang="en-GB" sz="1200" dirty="0">
                          <a:hlinkClick r:id="rId4" tooltip="Rheumatoid arthritis"/>
                        </a:rPr>
                        <a:t>Rheumatoid arthritis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0" tooltip="Amgen"/>
                        </a:rPr>
                        <a:t>Amgen</a:t>
                      </a:r>
                      <a:r>
                        <a:rPr lang="en-GB" sz="1200" dirty="0"/>
                        <a:t> </a:t>
                      </a:r>
                      <a:r>
                        <a:rPr lang="en-GB" sz="1200" dirty="0">
                          <a:hlinkClick r:id="rId11" tooltip="Pfizer"/>
                        </a:rPr>
                        <a:t>Pfizer</a:t>
                      </a:r>
                      <a:endParaRPr lang="en-GB" sz="1200" dirty="0"/>
                    </a:p>
                  </a:txBody>
                  <a:tcPr marL="34800" marR="34800" marT="17400" marB="17400" anchor="ctr"/>
                </a:tc>
                <a:tc>
                  <a:txBody>
                    <a:bodyPr/>
                    <a:lstStyle/>
                    <a:p>
                      <a:pPr lvl="0" algn="ctr"/>
                      <a:r>
                        <a:rPr lang="en-GB" sz="1200" dirty="0"/>
                        <a:t>8,697</a:t>
                      </a:r>
                    </a:p>
                  </a:txBody>
                  <a:tcPr marL="34800" marR="34800" marT="17400" marB="17400" anchor="ctr"/>
                </a:tc>
                <a:tc>
                  <a:txBody>
                    <a:bodyPr/>
                    <a:lstStyle/>
                    <a:p>
                      <a:pPr lvl="0" algn="ctr"/>
                      <a:r>
                        <a:rPr lang="en-GB" sz="1200" dirty="0"/>
                        <a:t>4,009</a:t>
                      </a:r>
                    </a:p>
                  </a:txBody>
                  <a:tcPr marL="34800" marR="34800" marT="17400" marB="17400" anchor="ctr"/>
                </a:tc>
                <a:extLst>
                  <a:ext uri="{0D108BD9-81ED-4DB2-BD59-A6C34878D82A}">
                    <a16:rowId xmlns="" xmlns:a16="http://schemas.microsoft.com/office/drawing/2014/main" val="480902885"/>
                  </a:ext>
                </a:extLst>
              </a:tr>
              <a:tr h="577388">
                <a:tc>
                  <a:txBody>
                    <a:bodyPr/>
                    <a:lstStyle/>
                    <a:p>
                      <a:pPr algn="l"/>
                      <a:r>
                        <a:rPr lang="en-GB" sz="1200"/>
                        <a:t>4</a:t>
                      </a:r>
                    </a:p>
                  </a:txBody>
                  <a:tcPr marL="34800" marR="34800" marT="17400" marB="17400" anchor="ctr"/>
                </a:tc>
                <a:tc>
                  <a:txBody>
                    <a:bodyPr/>
                    <a:lstStyle/>
                    <a:p>
                      <a:pPr algn="l"/>
                      <a:r>
                        <a:rPr lang="en-GB" sz="1200" dirty="0">
                          <a:hlinkClick r:id="rId12" tooltip="Infliximab"/>
                        </a:rPr>
                        <a:t>Infliximab</a:t>
                      </a:r>
                      <a:endParaRPr lang="en-GB" sz="1200" dirty="0"/>
                    </a:p>
                  </a:txBody>
                  <a:tcPr marL="34800" marR="34800" marT="17400" marB="17400" anchor="ctr"/>
                </a:tc>
                <a:tc>
                  <a:txBody>
                    <a:bodyPr/>
                    <a:lstStyle/>
                    <a:p>
                      <a:pPr algn="l"/>
                      <a:r>
                        <a:rPr lang="en-GB" sz="1200" dirty="0" err="1"/>
                        <a:t>Remicade</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a:r>
                        <a:rPr lang="en-GB" sz="1200" dirty="0">
                          <a:hlinkClick r:id="rId13" tooltip="Gastroesophageal reflux disease"/>
                        </a:rPr>
                        <a:t>Crohn's Disease</a:t>
                      </a:r>
                      <a:r>
                        <a:rPr lang="en-GB" sz="1200" dirty="0"/>
                        <a:t/>
                      </a:r>
                      <a:br>
                        <a:rPr lang="en-GB" sz="1200" dirty="0"/>
                      </a:br>
                      <a:r>
                        <a:rPr lang="en-GB" sz="1200" dirty="0">
                          <a:hlinkClick r:id="rId13" tooltip="Gastroesophageal reflux disease"/>
                        </a:rPr>
                        <a:t>Rheumatoid Arthritis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4" tooltip="Johnson &amp; Johnson"/>
                        </a:rPr>
                        <a:t>Johnson &amp; Johnson</a:t>
                      </a:r>
                      <a:endParaRPr lang="en-GB" sz="1200" dirty="0"/>
                    </a:p>
                  </a:txBody>
                  <a:tcPr marL="34800" marR="34800" marT="17400" marB="17400" anchor="ctr"/>
                </a:tc>
                <a:tc>
                  <a:txBody>
                    <a:bodyPr/>
                    <a:lstStyle/>
                    <a:p>
                      <a:pPr lvl="0" algn="ctr"/>
                      <a:r>
                        <a:rPr lang="en-GB" sz="1200" dirty="0"/>
                        <a:t>8,355</a:t>
                      </a:r>
                    </a:p>
                  </a:txBody>
                  <a:tcPr marL="34800" marR="34800" marT="17400" marB="17400" anchor="ctr"/>
                </a:tc>
                <a:tc>
                  <a:txBody>
                    <a:bodyPr/>
                    <a:lstStyle/>
                    <a:p>
                      <a:pPr lvl="0" algn="ctr"/>
                      <a:r>
                        <a:rPr lang="en-GB" sz="1200" dirty="0"/>
                        <a:t>1,487</a:t>
                      </a:r>
                    </a:p>
                  </a:txBody>
                  <a:tcPr marL="34800" marR="34800" marT="17400" marB="17400" anchor="ctr"/>
                </a:tc>
                <a:extLst>
                  <a:ext uri="{0D108BD9-81ED-4DB2-BD59-A6C34878D82A}">
                    <a16:rowId xmlns="" xmlns:a16="http://schemas.microsoft.com/office/drawing/2014/main" val="3577613468"/>
                  </a:ext>
                </a:extLst>
              </a:tr>
              <a:tr h="648072">
                <a:tc>
                  <a:txBody>
                    <a:bodyPr/>
                    <a:lstStyle/>
                    <a:p>
                      <a:pPr algn="l"/>
                      <a:r>
                        <a:rPr lang="en-GB" sz="1200" dirty="0"/>
                        <a:t>5</a:t>
                      </a:r>
                    </a:p>
                  </a:txBody>
                  <a:tcPr marL="34800" marR="34800" marT="17400" marB="17400" anchor="ctr"/>
                </a:tc>
                <a:tc>
                  <a:txBody>
                    <a:bodyPr/>
                    <a:lstStyle/>
                    <a:p>
                      <a:pPr algn="l"/>
                      <a:r>
                        <a:rPr lang="en-GB" sz="1200" dirty="0">
                          <a:hlinkClick r:id="rId15" tooltip="Rituximab"/>
                        </a:rPr>
                        <a:t>Rituximab</a:t>
                      </a:r>
                      <a:endParaRPr lang="en-GB" sz="1200" dirty="0"/>
                    </a:p>
                  </a:txBody>
                  <a:tcPr marL="34800" marR="34800" marT="17400" marB="17400" anchor="ctr"/>
                </a:tc>
                <a:tc>
                  <a:txBody>
                    <a:bodyPr/>
                    <a:lstStyle/>
                    <a:p>
                      <a:pPr algn="l"/>
                      <a:r>
                        <a:rPr lang="en-GB" sz="1200" dirty="0" err="1"/>
                        <a:t>Mabthera</a:t>
                      </a:r>
                      <a:r>
                        <a:rPr lang="en-GB" sz="1200" dirty="0"/>
                        <a:t> </a:t>
                      </a:r>
                      <a:r>
                        <a:rPr lang="en-GB" sz="1200" dirty="0" err="1"/>
                        <a:t>Rituxan</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a:r>
                        <a:rPr lang="en-GB" sz="1200" dirty="0">
                          <a:hlinkClick r:id="rId16" tooltip="Lymphoma"/>
                        </a:rPr>
                        <a:t>Lymphoma</a:t>
                      </a:r>
                      <a:r>
                        <a:rPr lang="en-GB" sz="1200" dirty="0"/>
                        <a:t> </a:t>
                      </a:r>
                      <a:r>
                        <a:rPr lang="en-GB" sz="1200" dirty="0" err="1">
                          <a:hlinkClick r:id="rId17" tooltip="Leukemia"/>
                        </a:rPr>
                        <a:t>Leukemia</a:t>
                      </a:r>
                      <a:endParaRPr lang="en-GB" sz="1200" dirty="0"/>
                    </a:p>
                    <a:p>
                      <a:pPr algn="l"/>
                      <a:r>
                        <a:rPr lang="en-GB" sz="1200" dirty="0">
                          <a:hlinkClick r:id="rId18" tooltip="Autoimmune disease"/>
                        </a:rPr>
                        <a:t>Autoimmune disorders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9" tooltip="Hoffmann-La Roche"/>
                        </a:rPr>
                        <a:t>Roche</a:t>
                      </a:r>
                      <a:endParaRPr lang="en-GB" sz="1200" dirty="0"/>
                    </a:p>
                  </a:txBody>
                  <a:tcPr marL="34800" marR="34800" marT="17400" marB="17400" anchor="ctr"/>
                </a:tc>
                <a:tc>
                  <a:txBody>
                    <a:bodyPr/>
                    <a:lstStyle/>
                    <a:p>
                      <a:pPr lvl="0" algn="ctr"/>
                      <a:r>
                        <a:rPr lang="en-GB" sz="1200" dirty="0"/>
                        <a:t>7,115</a:t>
                      </a:r>
                    </a:p>
                  </a:txBody>
                  <a:tcPr marL="34800" marR="34800" marT="17400" marB="17400" anchor="ctr"/>
                </a:tc>
                <a:tc>
                  <a:txBody>
                    <a:bodyPr/>
                    <a:lstStyle/>
                    <a:p>
                      <a:pPr lvl="0" algn="ctr"/>
                      <a:r>
                        <a:rPr lang="en-GB" sz="1200" dirty="0"/>
                        <a:t>1,456</a:t>
                      </a:r>
                    </a:p>
                  </a:txBody>
                  <a:tcPr marL="34800" marR="34800" marT="17400" marB="17400" anchor="ctr"/>
                </a:tc>
                <a:extLst>
                  <a:ext uri="{0D108BD9-81ED-4DB2-BD59-A6C34878D82A}">
                    <a16:rowId xmlns="" xmlns:a16="http://schemas.microsoft.com/office/drawing/2014/main" val="1999700228"/>
                  </a:ext>
                </a:extLst>
              </a:tr>
              <a:tr h="243602">
                <a:tc>
                  <a:txBody>
                    <a:bodyPr/>
                    <a:lstStyle/>
                    <a:p>
                      <a:pPr algn="l"/>
                      <a:r>
                        <a:rPr lang="en-GB" sz="1200"/>
                        <a:t>6</a:t>
                      </a:r>
                    </a:p>
                  </a:txBody>
                  <a:tcPr marL="34800" marR="34800" marT="17400" marB="17400" anchor="ctr"/>
                </a:tc>
                <a:tc>
                  <a:txBody>
                    <a:bodyPr/>
                    <a:lstStyle/>
                    <a:p>
                      <a:pPr algn="l"/>
                      <a:r>
                        <a:rPr lang="en-GB" sz="1200" dirty="0">
                          <a:hlinkClick r:id="rId20" tooltip="Insulin glargine"/>
                        </a:rPr>
                        <a:t>Insulin glargine</a:t>
                      </a:r>
                      <a:endParaRPr lang="en-GB" sz="1200" dirty="0"/>
                    </a:p>
                  </a:txBody>
                  <a:tcPr marL="34800" marR="34800" marT="17400" marB="17400" anchor="ctr"/>
                </a:tc>
                <a:tc>
                  <a:txBody>
                    <a:bodyPr/>
                    <a:lstStyle/>
                    <a:p>
                      <a:pPr algn="l"/>
                      <a:r>
                        <a:rPr lang="en-GB" sz="1200" dirty="0"/>
                        <a:t>Lantus</a:t>
                      </a:r>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a:r>
                        <a:rPr lang="en-GB" sz="1200" dirty="0">
                          <a:hlinkClick r:id="rId21" tooltip="Diabetes mellitus"/>
                        </a:rPr>
                        <a:t>Diabetes mellitus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22" tooltip="Sanofi"/>
                        </a:rPr>
                        <a:t>Sanofi</a:t>
                      </a:r>
                      <a:endParaRPr lang="en-GB" sz="1200" dirty="0"/>
                    </a:p>
                  </a:txBody>
                  <a:tcPr marL="34800" marR="34800" marT="17400" marB="17400" anchor="ctr"/>
                </a:tc>
                <a:tc>
                  <a:txBody>
                    <a:bodyPr/>
                    <a:lstStyle/>
                    <a:p>
                      <a:pPr lvl="0" algn="ctr"/>
                      <a:r>
                        <a:rPr lang="en-GB" sz="1200" dirty="0"/>
                        <a:t>7,029</a:t>
                      </a:r>
                    </a:p>
                  </a:txBody>
                  <a:tcPr marL="34800" marR="34800" marT="17400" marB="17400" anchor="ctr"/>
                </a:tc>
                <a:tc>
                  <a:txBody>
                    <a:bodyPr/>
                    <a:lstStyle/>
                    <a:p>
                      <a:pPr lvl="0" algn="ctr"/>
                      <a:r>
                        <a:rPr lang="en-GB" sz="1200" dirty="0"/>
                        <a:t>51</a:t>
                      </a:r>
                    </a:p>
                  </a:txBody>
                  <a:tcPr marL="34800" marR="34800" marT="17400" marB="17400" anchor="ctr"/>
                </a:tc>
                <a:extLst>
                  <a:ext uri="{0D108BD9-81ED-4DB2-BD59-A6C34878D82A}">
                    <a16:rowId xmlns="" xmlns:a16="http://schemas.microsoft.com/office/drawing/2014/main" val="2727046960"/>
                  </a:ext>
                </a:extLst>
              </a:tr>
              <a:tr h="348003">
                <a:tc>
                  <a:txBody>
                    <a:bodyPr/>
                    <a:lstStyle/>
                    <a:p>
                      <a:pPr algn="l"/>
                      <a:r>
                        <a:rPr lang="en-GB" sz="1200"/>
                        <a:t>7</a:t>
                      </a:r>
                    </a:p>
                  </a:txBody>
                  <a:tcPr marL="34800" marR="34800" marT="17400" marB="17400" anchor="ctr"/>
                </a:tc>
                <a:tc>
                  <a:txBody>
                    <a:bodyPr/>
                    <a:lstStyle/>
                    <a:p>
                      <a:pPr algn="l"/>
                      <a:r>
                        <a:rPr lang="en-GB" sz="1200" dirty="0">
                          <a:hlinkClick r:id="rId23" tooltip="Bevacizumab"/>
                        </a:rPr>
                        <a:t>Bevacizumab</a:t>
                      </a:r>
                      <a:endParaRPr lang="en-GB" sz="1200" dirty="0"/>
                    </a:p>
                  </a:txBody>
                  <a:tcPr marL="34800" marR="34800" marT="17400" marB="17400" anchor="ctr"/>
                </a:tc>
                <a:tc>
                  <a:txBody>
                    <a:bodyPr/>
                    <a:lstStyle/>
                    <a:p>
                      <a:pPr algn="l"/>
                      <a:r>
                        <a:rPr lang="en-GB" sz="1200" dirty="0" err="1"/>
                        <a:t>Avastin</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a:r>
                        <a:rPr lang="en-GB" sz="1200" dirty="0">
                          <a:hlinkClick r:id="rId24" tooltip="Cancer"/>
                        </a:rPr>
                        <a:t>Metastatic cancers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9" tooltip="Hoffmann-La Roche"/>
                        </a:rPr>
                        <a:t>Roche</a:t>
                      </a:r>
                      <a:endParaRPr lang="en-GB" sz="1200" dirty="0"/>
                    </a:p>
                  </a:txBody>
                  <a:tcPr marL="34800" marR="34800" marT="17400" marB="17400" anchor="ctr"/>
                </a:tc>
                <a:tc>
                  <a:txBody>
                    <a:bodyPr/>
                    <a:lstStyle/>
                    <a:p>
                      <a:pPr lvl="0" algn="ctr"/>
                      <a:r>
                        <a:rPr lang="en-GB" sz="1200" dirty="0"/>
                        <a:t>6,751</a:t>
                      </a:r>
                    </a:p>
                  </a:txBody>
                  <a:tcPr marL="34800" marR="34800" marT="17400" marB="17400" anchor="ctr"/>
                </a:tc>
                <a:tc>
                  <a:txBody>
                    <a:bodyPr/>
                    <a:lstStyle/>
                    <a:p>
                      <a:pPr lvl="0" algn="ctr"/>
                      <a:r>
                        <a:rPr lang="en-GB" sz="1200" dirty="0"/>
                        <a:t>270</a:t>
                      </a:r>
                    </a:p>
                  </a:txBody>
                  <a:tcPr marL="34800" marR="34800" marT="17400" marB="17400" anchor="ctr"/>
                </a:tc>
                <a:extLst>
                  <a:ext uri="{0D108BD9-81ED-4DB2-BD59-A6C34878D82A}">
                    <a16:rowId xmlns="" xmlns:a16="http://schemas.microsoft.com/office/drawing/2014/main" val="1846603403"/>
                  </a:ext>
                </a:extLst>
              </a:tr>
              <a:tr h="243602">
                <a:tc>
                  <a:txBody>
                    <a:bodyPr/>
                    <a:lstStyle/>
                    <a:p>
                      <a:pPr algn="l"/>
                      <a:r>
                        <a:rPr lang="en-GB" sz="1200"/>
                        <a:t>8</a:t>
                      </a:r>
                    </a:p>
                  </a:txBody>
                  <a:tcPr marL="34800" marR="34800" marT="17400" marB="17400" anchor="ctr"/>
                </a:tc>
                <a:tc>
                  <a:txBody>
                    <a:bodyPr/>
                    <a:lstStyle/>
                    <a:p>
                      <a:pPr algn="l"/>
                      <a:r>
                        <a:rPr lang="en-GB" sz="1200" dirty="0" err="1">
                          <a:hlinkClick r:id="rId25" tooltip="Trastuzumab"/>
                        </a:rPr>
                        <a:t>Trastuzumab</a:t>
                      </a:r>
                      <a:endParaRPr lang="en-GB" sz="1200" dirty="0"/>
                    </a:p>
                  </a:txBody>
                  <a:tcPr marL="34800" marR="34800" marT="17400" marB="17400" anchor="ctr"/>
                </a:tc>
                <a:tc>
                  <a:txBody>
                    <a:bodyPr/>
                    <a:lstStyle/>
                    <a:p>
                      <a:pPr algn="l"/>
                      <a:r>
                        <a:rPr lang="en-GB" sz="1200" dirty="0"/>
                        <a:t>Herceptin</a:t>
                      </a:r>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l"/>
                      <a:r>
                        <a:rPr lang="en-GB" sz="1200" dirty="0">
                          <a:hlinkClick r:id="rId26" tooltip="Breast cancer"/>
                        </a:rPr>
                        <a:t>Breast cancer</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9" tooltip="Hoffmann-La Roche"/>
                        </a:rPr>
                        <a:t>Roche</a:t>
                      </a:r>
                      <a:endParaRPr lang="en-GB" sz="1200" dirty="0"/>
                    </a:p>
                  </a:txBody>
                  <a:tcPr marL="34800" marR="34800" marT="17400" marB="17400" anchor="ctr"/>
                </a:tc>
                <a:tc>
                  <a:txBody>
                    <a:bodyPr/>
                    <a:lstStyle/>
                    <a:p>
                      <a:pPr lvl="0" algn="ctr"/>
                      <a:r>
                        <a:rPr lang="en-GB" sz="1200" dirty="0"/>
                        <a:t>6,603</a:t>
                      </a:r>
                    </a:p>
                  </a:txBody>
                  <a:tcPr marL="34800" marR="34800" marT="17400" marB="17400" anchor="ctr"/>
                </a:tc>
                <a:tc>
                  <a:txBody>
                    <a:bodyPr/>
                    <a:lstStyle/>
                    <a:p>
                      <a:pPr lvl="0" algn="ctr"/>
                      <a:r>
                        <a:rPr lang="en-GB" sz="1200" dirty="0"/>
                        <a:t>265</a:t>
                      </a:r>
                    </a:p>
                  </a:txBody>
                  <a:tcPr marL="34800" marR="34800" marT="17400" marB="17400" anchor="ctr"/>
                </a:tc>
                <a:extLst>
                  <a:ext uri="{0D108BD9-81ED-4DB2-BD59-A6C34878D82A}">
                    <a16:rowId xmlns="" xmlns:a16="http://schemas.microsoft.com/office/drawing/2014/main" val="2282581352"/>
                  </a:ext>
                </a:extLst>
              </a:tr>
              <a:tr h="604953">
                <a:tc>
                  <a:txBody>
                    <a:bodyPr/>
                    <a:lstStyle/>
                    <a:p>
                      <a:pPr algn="l"/>
                      <a:r>
                        <a:rPr lang="en-GB" sz="1200" dirty="0"/>
                        <a:t>9</a:t>
                      </a:r>
                    </a:p>
                  </a:txBody>
                  <a:tcPr marL="34800" marR="34800" marT="17400" marB="17400" anchor="ctr"/>
                </a:tc>
                <a:tc>
                  <a:txBody>
                    <a:bodyPr/>
                    <a:lstStyle/>
                    <a:p>
                      <a:pPr algn="l"/>
                      <a:r>
                        <a:rPr lang="en-GB" sz="1200" dirty="0" err="1">
                          <a:hlinkClick r:id="rId27" tooltip="Lenalidomide"/>
                        </a:rPr>
                        <a:t>Lenalidomide</a:t>
                      </a:r>
                      <a:endParaRPr lang="en-GB" sz="1200" dirty="0"/>
                    </a:p>
                  </a:txBody>
                  <a:tcPr marL="34800" marR="34800" marT="17400" marB="17400" anchor="ctr"/>
                </a:tc>
                <a:tc>
                  <a:txBody>
                    <a:bodyPr/>
                    <a:lstStyle/>
                    <a:p>
                      <a:pPr algn="l"/>
                      <a:r>
                        <a:rPr lang="en-GB" sz="1200" dirty="0" err="1"/>
                        <a:t>Revlimid</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GB" sz="1200" dirty="0">
                          <a:solidFill>
                            <a:schemeClr val="tx1"/>
                          </a:solidFill>
                        </a:rPr>
                        <a:t>Small molecule</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l"/>
                      <a:r>
                        <a:rPr lang="en-GB" sz="1200" dirty="0">
                          <a:hlinkClick r:id="rId28" tooltip="Multiple myeloma"/>
                        </a:rPr>
                        <a:t>Multiple myeloma</a:t>
                      </a:r>
                      <a:r>
                        <a:rPr lang="en-GB" sz="1200" dirty="0"/>
                        <a:t> </a:t>
                      </a:r>
                      <a:r>
                        <a:rPr lang="en-GB" sz="1200" dirty="0">
                          <a:hlinkClick r:id="rId29" tooltip="Myelodysplastic syndrome"/>
                        </a:rPr>
                        <a:t>Myelodysplastic syndromes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a:txBody>
                    <a:bodyPr/>
                    <a:lstStyle/>
                    <a:p>
                      <a:pPr algn="l"/>
                      <a:r>
                        <a:rPr lang="en-GB" sz="1200" dirty="0">
                          <a:hlinkClick r:id="rId30" tooltip="Celgene"/>
                        </a:rPr>
                        <a:t>Celgene</a:t>
                      </a:r>
                      <a:endParaRPr lang="en-GB" sz="1200" dirty="0"/>
                    </a:p>
                  </a:txBody>
                  <a:tcPr marL="34800" marR="34800" marT="17400" marB="17400" anchor="ctr"/>
                </a:tc>
                <a:tc>
                  <a:txBody>
                    <a:bodyPr/>
                    <a:lstStyle/>
                    <a:p>
                      <a:pPr lvl="0" algn="ctr"/>
                      <a:r>
                        <a:rPr lang="en-GB" sz="1200" dirty="0"/>
                        <a:t>5,801</a:t>
                      </a:r>
                    </a:p>
                  </a:txBody>
                  <a:tcPr marL="34800" marR="34800" marT="17400" marB="17400" anchor="ctr"/>
                </a:tc>
                <a:tc>
                  <a:txBody>
                    <a:bodyPr/>
                    <a:lstStyle/>
                    <a:p>
                      <a:pPr lvl="0" algn="ctr"/>
                      <a:r>
                        <a:rPr lang="en-GB" sz="1200" dirty="0"/>
                        <a:t>821</a:t>
                      </a:r>
                    </a:p>
                  </a:txBody>
                  <a:tcPr marL="34800" marR="34800" marT="17400" marB="17400" anchor="ctr"/>
                </a:tc>
                <a:extLst>
                  <a:ext uri="{0D108BD9-81ED-4DB2-BD59-A6C34878D82A}">
                    <a16:rowId xmlns="" xmlns:a16="http://schemas.microsoft.com/office/drawing/2014/main" val="2758583372"/>
                  </a:ext>
                </a:extLst>
              </a:tr>
              <a:tr h="348003">
                <a:tc>
                  <a:txBody>
                    <a:bodyPr/>
                    <a:lstStyle/>
                    <a:p>
                      <a:pPr algn="l"/>
                      <a:r>
                        <a:rPr lang="en-GB" sz="1200" dirty="0"/>
                        <a:t>10</a:t>
                      </a:r>
                    </a:p>
                  </a:txBody>
                  <a:tcPr marL="34800" marR="34800" marT="17400" marB="17400" anchor="ctr"/>
                </a:tc>
                <a:tc>
                  <a:txBody>
                    <a:bodyPr/>
                    <a:lstStyle/>
                    <a:p>
                      <a:pPr algn="l"/>
                      <a:r>
                        <a:rPr lang="en-GB" sz="1200" dirty="0">
                          <a:hlinkClick r:id="rId31" tooltip="Sofosbuvir"/>
                        </a:rPr>
                        <a:t>Sofosbuvir</a:t>
                      </a:r>
                      <a:endParaRPr lang="en-GB" sz="1200" dirty="0"/>
                    </a:p>
                  </a:txBody>
                  <a:tcPr marL="34800" marR="34800" marT="17400" marB="17400" anchor="ctr"/>
                </a:tc>
                <a:tc>
                  <a:txBody>
                    <a:bodyPr/>
                    <a:lstStyle/>
                    <a:p>
                      <a:pPr algn="l"/>
                      <a:r>
                        <a:rPr lang="en-GB" sz="1200" dirty="0" err="1"/>
                        <a:t>Sovaldi</a:t>
                      </a:r>
                      <a:endParaRPr lang="en-GB" sz="1200" dirty="0"/>
                    </a:p>
                  </a:txBody>
                  <a:tcPr marL="34800" marR="34800" marT="17400" marB="17400" anchor="ctr"/>
                </a:tc>
                <a:tc>
                  <a:txBody>
                    <a:bodyPr/>
                    <a:lstStyle/>
                    <a:p>
                      <a:pPr algn="ctr"/>
                      <a:r>
                        <a:rPr lang="en-GB" sz="1200" dirty="0">
                          <a:solidFill>
                            <a:schemeClr val="tx1"/>
                          </a:solidFill>
                        </a:rPr>
                        <a:t>Small molecule</a:t>
                      </a:r>
                      <a:endParaRPr lang="en-GB" sz="1200" b="1" dirty="0">
                        <a:solidFill>
                          <a:schemeClr val="tx1"/>
                        </a:solidFill>
                      </a:endParaRPr>
                    </a:p>
                  </a:txBody>
                  <a:tcPr marL="34800" marR="34800" marT="17400" marB="17400" anchor="ctr"/>
                </a:tc>
                <a:tc>
                  <a:txBody>
                    <a:bodyPr/>
                    <a:lstStyle/>
                    <a:p>
                      <a:pPr algn="l"/>
                      <a:r>
                        <a:rPr lang="en-GB" sz="1200" dirty="0">
                          <a:hlinkClick r:id="rId7" tooltip="Hepatitis C"/>
                        </a:rPr>
                        <a:t>Hepatitis C</a:t>
                      </a:r>
                      <a:endParaRPr lang="en-GB" sz="1200" dirty="0"/>
                    </a:p>
                  </a:txBody>
                  <a:tcPr marL="34800" marR="34800" marT="17400" marB="17400" anchor="ctr"/>
                </a:tc>
                <a:tc>
                  <a:txBody>
                    <a:bodyPr/>
                    <a:lstStyle/>
                    <a:p>
                      <a:pPr algn="l"/>
                      <a:r>
                        <a:rPr lang="en-GB" sz="1200" dirty="0">
                          <a:hlinkClick r:id="rId8" tooltip="Gilead Sciences"/>
                        </a:rPr>
                        <a:t>Gilead Sciences</a:t>
                      </a:r>
                      <a:endParaRPr lang="en-GB" sz="1200" dirty="0"/>
                    </a:p>
                  </a:txBody>
                  <a:tcPr marL="34800" marR="34800" marT="17400" marB="17400" anchor="ctr"/>
                </a:tc>
                <a:tc>
                  <a:txBody>
                    <a:bodyPr/>
                    <a:lstStyle/>
                    <a:p>
                      <a:pPr lvl="0" algn="ctr"/>
                      <a:r>
                        <a:rPr lang="en-GB" sz="1200" dirty="0"/>
                        <a:t>5,276</a:t>
                      </a:r>
                    </a:p>
                  </a:txBody>
                  <a:tcPr marL="34800" marR="34800" marT="17400" marB="17400" anchor="ctr"/>
                </a:tc>
                <a:tc>
                  <a:txBody>
                    <a:bodyPr/>
                    <a:lstStyle/>
                    <a:p>
                      <a:pPr lvl="0" algn="ctr"/>
                      <a:r>
                        <a:rPr lang="en-GB" sz="1200" dirty="0"/>
                        <a:t>(</a:t>
                      </a:r>
                      <a:r>
                        <a:rPr lang="en-GB" sz="1200" dirty="0" smtClean="0"/>
                        <a:t>5,007)</a:t>
                      </a:r>
                      <a:endParaRPr lang="en-GB" sz="1200" dirty="0"/>
                    </a:p>
                  </a:txBody>
                  <a:tcPr marL="34800" marR="34800" marT="17400" marB="17400" anchor="ctr"/>
                </a:tc>
                <a:extLst>
                  <a:ext uri="{0D108BD9-81ED-4DB2-BD59-A6C34878D82A}">
                    <a16:rowId xmlns="" xmlns:a16="http://schemas.microsoft.com/office/drawing/2014/main" val="3805508703"/>
                  </a:ext>
                </a:extLst>
              </a:tr>
            </a:tbl>
          </a:graphicData>
        </a:graphic>
      </p:graphicFrame>
      <p:sp>
        <p:nvSpPr>
          <p:cNvPr id="7" name="Slide Number Placeholder 6"/>
          <p:cNvSpPr>
            <a:spLocks noGrp="1"/>
          </p:cNvSpPr>
          <p:nvPr>
            <p:ph type="sldNum" sz="quarter" idx="17"/>
          </p:nvPr>
        </p:nvSpPr>
        <p:spPr/>
        <p:txBody>
          <a:bodyPr/>
          <a:lstStyle/>
          <a:p>
            <a:fld id="{28ED40A3-BEA1-2645-9E17-452BD130FCD0}" type="slidenum">
              <a:rPr lang="en-US" smtClean="0"/>
              <a:pPr/>
              <a:t>5</a:t>
            </a:fld>
            <a:endParaRPr lang="en-US" dirty="0"/>
          </a:p>
        </p:txBody>
      </p:sp>
      <p:sp>
        <p:nvSpPr>
          <p:cNvPr id="9" name="TextBox 8"/>
          <p:cNvSpPr txBox="1"/>
          <p:nvPr/>
        </p:nvSpPr>
        <p:spPr>
          <a:xfrm>
            <a:off x="9604054" y="6376244"/>
            <a:ext cx="1450230" cy="276999"/>
          </a:xfrm>
          <a:prstGeom prst="rect">
            <a:avLst/>
          </a:prstGeom>
          <a:noFill/>
        </p:spPr>
        <p:txBody>
          <a:bodyPr wrap="square" rtlCol="0">
            <a:spAutoFit/>
          </a:bodyPr>
          <a:lstStyle/>
          <a:p>
            <a:pPr algn="r"/>
            <a:r>
              <a:rPr lang="en-GB" sz="1200" dirty="0"/>
              <a:t>Source </a:t>
            </a:r>
            <a:r>
              <a:rPr lang="en-GB" sz="1200" dirty="0">
                <a:hlinkClick r:id="rId32"/>
              </a:rPr>
              <a:t>Wikipedia</a:t>
            </a:r>
            <a:endParaRPr lang="en-GB" sz="1200" dirty="0"/>
          </a:p>
        </p:txBody>
      </p:sp>
      <p:sp>
        <p:nvSpPr>
          <p:cNvPr id="14" name="Rectangle 13"/>
          <p:cNvSpPr/>
          <p:nvPr/>
        </p:nvSpPr>
        <p:spPr>
          <a:xfrm>
            <a:off x="609600" y="1196752"/>
            <a:ext cx="3771032" cy="400110"/>
          </a:xfrm>
          <a:prstGeom prst="rect">
            <a:avLst/>
          </a:prstGeom>
        </p:spPr>
        <p:txBody>
          <a:bodyPr wrap="none">
            <a:spAutoFit/>
          </a:bodyPr>
          <a:lstStyle/>
          <a:p>
            <a:r>
              <a:rPr lang="en-GB" sz="2000" b="1" dirty="0"/>
              <a:t>Best selling pharmaceuticals 2015</a:t>
            </a:r>
            <a:endParaRPr lang="en-US" sz="2000" b="1" dirty="0"/>
          </a:p>
        </p:txBody>
      </p:sp>
      <p:graphicFrame>
        <p:nvGraphicFramePr>
          <p:cNvPr id="3" name="Table 2"/>
          <p:cNvGraphicFramePr>
            <a:graphicFrameLocks noGrp="1"/>
          </p:cNvGraphicFramePr>
          <p:nvPr/>
        </p:nvGraphicFramePr>
        <p:xfrm>
          <a:off x="6517341" y="995082"/>
          <a:ext cx="208280" cy="365760"/>
        </p:xfrm>
        <a:graphic>
          <a:graphicData uri="http://schemas.openxmlformats.org/drawingml/2006/table">
            <a:tbl>
              <a:tblPr/>
              <a:tblGrid>
                <a:gridCol w="208280"/>
              </a:tblGrid>
              <a:tr h="0">
                <a:tc>
                  <a:txBody>
                    <a:bodyPr/>
                    <a:lstStyle/>
                    <a:p>
                      <a:endParaRPr lang="en-US"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tr>
            </a:tbl>
          </a:graphicData>
        </a:graphic>
      </p:graphicFrame>
    </p:spTree>
    <p:extLst>
      <p:ext uri="{BB962C8B-B14F-4D97-AF65-F5344CB8AC3E}">
        <p14:creationId xmlns:p14="http://schemas.microsoft.com/office/powerpoint/2010/main" val="881756772"/>
      </p:ext>
    </p:extLst>
  </p:cSld>
  <p:clrMapOvr>
    <a:masterClrMapping/>
  </p:clrMapOvr>
  <mc:AlternateContent xmlns:mc="http://schemas.openxmlformats.org/markup-compatibility/2006" xmlns:p14="http://schemas.microsoft.com/office/powerpoint/2010/main">
    <mc:Choice Requires="p14">
      <p:transition spd="slow" p14:dur="1250" advTm="77561">
        <p:fade/>
      </p:transition>
    </mc:Choice>
    <mc:Fallback xmlns="">
      <p:transition spd="slow" advTm="77561">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8914"/>
            <a:ext cx="9422837" cy="707886"/>
          </a:xfrm>
        </p:spPr>
        <p:txBody>
          <a:bodyPr/>
          <a:lstStyle/>
          <a:p>
            <a:r>
              <a:rPr lang="en-GB" dirty="0" smtClean="0"/>
              <a:t>Why Now?</a:t>
            </a:r>
            <a:endParaRPr lang="en-GB"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496759699"/>
              </p:ext>
            </p:extLst>
          </p:nvPr>
        </p:nvGraphicFramePr>
        <p:xfrm>
          <a:off x="2192488" y="1726814"/>
          <a:ext cx="8857985" cy="4510035"/>
        </p:xfrm>
        <a:graphic>
          <a:graphicData uri="http://schemas.openxmlformats.org/drawingml/2006/table">
            <a:tbl>
              <a:tblPr firstRow="1">
                <a:tableStyleId>{9D7B26C5-4107-4FEC-AEDC-1716B250A1EF}</a:tableStyleId>
              </a:tblPr>
              <a:tblGrid>
                <a:gridCol w="458172">
                  <a:extLst>
                    <a:ext uri="{9D8B030D-6E8A-4147-A177-3AD203B41FA5}">
                      <a16:colId xmlns="" xmlns:a16="http://schemas.microsoft.com/office/drawing/2014/main" val="1066438260"/>
                    </a:ext>
                  </a:extLst>
                </a:gridCol>
                <a:gridCol w="1415038">
                  <a:extLst>
                    <a:ext uri="{9D8B030D-6E8A-4147-A177-3AD203B41FA5}">
                      <a16:colId xmlns="" xmlns:a16="http://schemas.microsoft.com/office/drawing/2014/main" val="612401462"/>
                    </a:ext>
                  </a:extLst>
                </a:gridCol>
                <a:gridCol w="1028544">
                  <a:extLst>
                    <a:ext uri="{9D8B030D-6E8A-4147-A177-3AD203B41FA5}">
                      <a16:colId xmlns="" xmlns:a16="http://schemas.microsoft.com/office/drawing/2014/main" val="3078685772"/>
                    </a:ext>
                  </a:extLst>
                </a:gridCol>
                <a:gridCol w="1145429">
                  <a:extLst>
                    <a:ext uri="{9D8B030D-6E8A-4147-A177-3AD203B41FA5}">
                      <a16:colId xmlns="" xmlns:a16="http://schemas.microsoft.com/office/drawing/2014/main" val="2143587007"/>
                    </a:ext>
                  </a:extLst>
                </a:gridCol>
                <a:gridCol w="1489058">
                  <a:extLst>
                    <a:ext uri="{9D8B030D-6E8A-4147-A177-3AD203B41FA5}">
                      <a16:colId xmlns="" xmlns:a16="http://schemas.microsoft.com/office/drawing/2014/main" val="2566725094"/>
                    </a:ext>
                  </a:extLst>
                </a:gridCol>
                <a:gridCol w="1107248">
                  <a:extLst>
                    <a:ext uri="{9D8B030D-6E8A-4147-A177-3AD203B41FA5}">
                      <a16:colId xmlns="" xmlns:a16="http://schemas.microsoft.com/office/drawing/2014/main" val="4070168154"/>
                    </a:ext>
                  </a:extLst>
                </a:gridCol>
                <a:gridCol w="1107248">
                  <a:extLst>
                    <a:ext uri="{9D8B030D-6E8A-4147-A177-3AD203B41FA5}">
                      <a16:colId xmlns="" xmlns:a16="http://schemas.microsoft.com/office/drawing/2014/main" val="700750916"/>
                    </a:ext>
                  </a:extLst>
                </a:gridCol>
                <a:gridCol w="1107248">
                  <a:extLst>
                    <a:ext uri="{9D8B030D-6E8A-4147-A177-3AD203B41FA5}">
                      <a16:colId xmlns="" xmlns:a16="http://schemas.microsoft.com/office/drawing/2014/main" val="2371989020"/>
                    </a:ext>
                  </a:extLst>
                </a:gridCol>
              </a:tblGrid>
              <a:tr h="452403">
                <a:tc>
                  <a:txBody>
                    <a:bodyPr/>
                    <a:lstStyle/>
                    <a:p>
                      <a:r>
                        <a:rPr lang="en-GB" sz="1200" b="1" dirty="0"/>
                        <a:t>Rank</a:t>
                      </a:r>
                    </a:p>
                  </a:txBody>
                  <a:tcPr marL="34800" marR="34800" marT="17400" marB="17400" anchor="ctr"/>
                </a:tc>
                <a:tc>
                  <a:txBody>
                    <a:bodyPr/>
                    <a:lstStyle/>
                    <a:p>
                      <a:pPr algn="ctr"/>
                      <a:r>
                        <a:rPr lang="en-GB" sz="1200" b="1" dirty="0"/>
                        <a:t>Drug</a:t>
                      </a:r>
                    </a:p>
                  </a:txBody>
                  <a:tcPr marL="34800" marR="34800" marT="17400" marB="17400" anchor="ctr"/>
                </a:tc>
                <a:tc>
                  <a:txBody>
                    <a:bodyPr/>
                    <a:lstStyle/>
                    <a:p>
                      <a:r>
                        <a:rPr lang="en-GB" sz="1200" b="1" dirty="0"/>
                        <a:t>Trade name</a:t>
                      </a:r>
                    </a:p>
                  </a:txBody>
                  <a:tcPr marL="34800" marR="34800" marT="17400" marB="17400" anchor="ctr"/>
                </a:tc>
                <a:tc>
                  <a:txBody>
                    <a:bodyPr/>
                    <a:lstStyle/>
                    <a:p>
                      <a:pPr algn="ctr"/>
                      <a:r>
                        <a:rPr lang="en-GB" sz="1200" b="1" dirty="0"/>
                        <a:t>Type</a:t>
                      </a:r>
                    </a:p>
                  </a:txBody>
                  <a:tcPr marL="34800" marR="34800" marT="17400" marB="17400" anchor="ctr">
                    <a:lnB w="12700" cap="flat" cmpd="sng" algn="ctr">
                      <a:solidFill>
                        <a:schemeClr val="tx1"/>
                      </a:solidFill>
                      <a:prstDash val="solid"/>
                      <a:round/>
                      <a:headEnd type="none" w="med" len="med"/>
                      <a:tailEnd type="none" w="med" len="med"/>
                    </a:lnB>
                  </a:tcPr>
                </a:tc>
                <a:tc>
                  <a:txBody>
                    <a:bodyPr/>
                    <a:lstStyle/>
                    <a:p>
                      <a:r>
                        <a:rPr lang="en-GB" sz="1200" b="1" dirty="0"/>
                        <a:t>Main indications</a:t>
                      </a:r>
                    </a:p>
                  </a:txBody>
                  <a:tcPr marL="34800" marR="34800" marT="17400" marB="17400" anchor="ctr"/>
                </a:tc>
                <a:tc>
                  <a:txBody>
                    <a:bodyPr/>
                    <a:lstStyle/>
                    <a:p>
                      <a:r>
                        <a:rPr lang="en-GB" sz="1200" b="1" dirty="0"/>
                        <a:t>Company</a:t>
                      </a:r>
                    </a:p>
                  </a:txBody>
                  <a:tcPr marL="34800" marR="34800" marT="17400" marB="17400" anchor="ctr"/>
                </a:tc>
                <a:tc>
                  <a:txBody>
                    <a:bodyPr/>
                    <a:lstStyle/>
                    <a:p>
                      <a:r>
                        <a:rPr lang="en-GB" sz="1200" b="1" dirty="0"/>
                        <a:t>Sales (USD millions/year)</a:t>
                      </a:r>
                    </a:p>
                  </a:txBody>
                  <a:tcPr marL="34800" marR="34800" marT="17400" marB="17400" anchor="ctr"/>
                </a:tc>
                <a:tc>
                  <a:txBody>
                    <a:bodyPr/>
                    <a:lstStyle/>
                    <a:p>
                      <a:r>
                        <a:rPr lang="en-GB" sz="1200" b="1" dirty="0"/>
                        <a:t>∆ vs 2014</a:t>
                      </a:r>
                    </a:p>
                  </a:txBody>
                  <a:tcPr marL="34800" marR="34800" marT="17400" marB="17400" anchor="ctr"/>
                </a:tc>
                <a:extLst>
                  <a:ext uri="{0D108BD9-81ED-4DB2-BD59-A6C34878D82A}">
                    <a16:rowId xmlns="" xmlns:a16="http://schemas.microsoft.com/office/drawing/2014/main" val="2871978990"/>
                  </a:ext>
                </a:extLst>
              </a:tr>
              <a:tr h="348003">
                <a:tc>
                  <a:txBody>
                    <a:bodyPr/>
                    <a:lstStyle/>
                    <a:p>
                      <a:pPr algn="l"/>
                      <a:r>
                        <a:rPr lang="en-GB" sz="1200" dirty="0"/>
                        <a:t>1</a:t>
                      </a:r>
                    </a:p>
                  </a:txBody>
                  <a:tcPr marL="34800" marR="34800" marT="17400" marB="17400" anchor="ctr"/>
                </a:tc>
                <a:tc>
                  <a:txBody>
                    <a:bodyPr/>
                    <a:lstStyle/>
                    <a:p>
                      <a:pPr algn="l"/>
                      <a:r>
                        <a:rPr lang="en-GB" sz="1200" dirty="0">
                          <a:hlinkClick r:id="rId3" tooltip="Adalimumab"/>
                        </a:rPr>
                        <a:t>Adalimumab</a:t>
                      </a:r>
                      <a:endParaRPr lang="en-GB" sz="1200" dirty="0"/>
                    </a:p>
                  </a:txBody>
                  <a:tcPr marL="34800" marR="34800" marT="17400" marB="17400" anchor="ctr"/>
                </a:tc>
                <a:tc>
                  <a:txBody>
                    <a:bodyPr/>
                    <a:lstStyle/>
                    <a:p>
                      <a:pPr algn="l"/>
                      <a:r>
                        <a:rPr lang="en-GB" sz="1200" dirty="0" err="1"/>
                        <a:t>Humira</a:t>
                      </a:r>
                      <a:endParaRPr lang="en-GB" sz="1200" dirty="0"/>
                    </a:p>
                  </a:txBody>
                  <a:tcPr marL="34800" marR="34800" marT="17400" marB="1740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l"/>
                      <a:r>
                        <a:rPr lang="en-GB" sz="1200" dirty="0">
                          <a:hlinkClick r:id="rId4" tooltip="Rheumatoid arthritis"/>
                        </a:rPr>
                        <a:t>Rheumatoid arthritis</a:t>
                      </a:r>
                      <a:endParaRPr lang="en-GB" sz="1200" dirty="0"/>
                    </a:p>
                  </a:txBody>
                  <a:tcPr marL="34800" marR="34800" marT="17400" marB="1740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a:txBody>
                    <a:bodyPr/>
                    <a:lstStyle/>
                    <a:p>
                      <a:pPr algn="l"/>
                      <a:r>
                        <a:rPr lang="en-GB" sz="1200" dirty="0">
                          <a:hlinkClick r:id="rId5" tooltip="AbbVie Inc."/>
                        </a:rPr>
                        <a:t>AbbVie Inc.</a:t>
                      </a:r>
                      <a:endParaRPr lang="en-GB" sz="1200" dirty="0"/>
                    </a:p>
                  </a:txBody>
                  <a:tcPr marL="34800" marR="34800" marT="17400" marB="17400" anchor="ctr"/>
                </a:tc>
                <a:tc>
                  <a:txBody>
                    <a:bodyPr/>
                    <a:lstStyle/>
                    <a:p>
                      <a:pPr lvl="0" algn="ctr"/>
                      <a:r>
                        <a:rPr lang="en-GB" sz="1200" dirty="0" smtClean="0"/>
                        <a:t>14,012     </a:t>
                      </a:r>
                      <a:r>
                        <a:rPr lang="en-GB" sz="1200" baseline="0" dirty="0" smtClean="0"/>
                        <a:t>   </a:t>
                      </a:r>
                      <a:r>
                        <a:rPr lang="en-GB" sz="1200" dirty="0" smtClean="0"/>
                        <a:t> </a:t>
                      </a:r>
                      <a:endParaRPr lang="en-GB" sz="1200" dirty="0"/>
                    </a:p>
                  </a:txBody>
                  <a:tcPr marL="34800" marR="34800" marT="17400" marB="17400" anchor="ctr"/>
                </a:tc>
                <a:tc>
                  <a:txBody>
                    <a:bodyPr/>
                    <a:lstStyle/>
                    <a:p>
                      <a:pPr lvl="0" algn="ctr"/>
                      <a:r>
                        <a:rPr lang="en-GB" sz="1200" dirty="0" smtClean="0"/>
                        <a:t> 1,469</a:t>
                      </a:r>
                      <a:endParaRPr lang="en-GB" sz="1200" dirty="0"/>
                    </a:p>
                  </a:txBody>
                  <a:tcPr marL="34800" marR="34800" marT="17400" marB="17400" anchor="ctr"/>
                </a:tc>
                <a:extLst>
                  <a:ext uri="{0D108BD9-81ED-4DB2-BD59-A6C34878D82A}">
                    <a16:rowId xmlns="" xmlns:a16="http://schemas.microsoft.com/office/drawing/2014/main" val="3596555789"/>
                  </a:ext>
                </a:extLst>
              </a:tr>
              <a:tr h="348003">
                <a:tc>
                  <a:txBody>
                    <a:bodyPr/>
                    <a:lstStyle/>
                    <a:p>
                      <a:pPr algn="l"/>
                      <a:r>
                        <a:rPr lang="en-GB" sz="1200"/>
                        <a:t>2</a:t>
                      </a:r>
                    </a:p>
                  </a:txBody>
                  <a:tcPr marL="34800" marR="34800" marT="17400" marB="17400" anchor="ctr"/>
                </a:tc>
                <a:tc>
                  <a:txBody>
                    <a:bodyPr/>
                    <a:lstStyle/>
                    <a:p>
                      <a:pPr algn="l"/>
                      <a:r>
                        <a:rPr lang="en-GB" sz="1200" dirty="0" err="1">
                          <a:hlinkClick r:id="rId6" tooltip="Ledipasvir/sofosbuvir"/>
                        </a:rPr>
                        <a:t>Ledipasvir</a:t>
                      </a:r>
                      <a:r>
                        <a:rPr lang="en-GB" sz="1200" dirty="0">
                          <a:hlinkClick r:id="rId6" tooltip="Ledipasvir/sofosbuvir"/>
                        </a:rPr>
                        <a:t>/</a:t>
                      </a:r>
                      <a:r>
                        <a:rPr lang="en-GB" sz="1200" dirty="0" err="1">
                          <a:hlinkClick r:id="rId6" tooltip="Ledipasvir/sofosbuvir"/>
                        </a:rPr>
                        <a:t>sofosbuvir</a:t>
                      </a:r>
                      <a:endParaRPr lang="en-GB" sz="1200" dirty="0"/>
                    </a:p>
                  </a:txBody>
                  <a:tcPr marL="34800" marR="34800" marT="17400" marB="17400" anchor="ctr"/>
                </a:tc>
                <a:tc>
                  <a:txBody>
                    <a:bodyPr/>
                    <a:lstStyle/>
                    <a:p>
                      <a:pPr algn="l"/>
                      <a:r>
                        <a:rPr lang="en-GB" sz="1200" dirty="0" err="1"/>
                        <a:t>Harvoni</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Small molecule</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7" tooltip="Hepatitis C"/>
                        </a:rPr>
                        <a:t>Hepatitis C</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8" tooltip="Gilead Sciences"/>
                        </a:rPr>
                        <a:t>Gilead Sciences</a:t>
                      </a:r>
                      <a:endParaRPr lang="en-GB" sz="1200" dirty="0"/>
                    </a:p>
                  </a:txBody>
                  <a:tcPr marL="34800" marR="34800" marT="17400" marB="17400" anchor="ctr"/>
                </a:tc>
                <a:tc>
                  <a:txBody>
                    <a:bodyPr/>
                    <a:lstStyle/>
                    <a:p>
                      <a:pPr lvl="0" algn="ctr"/>
                      <a:r>
                        <a:rPr lang="en-GB" sz="1200" dirty="0"/>
                        <a:t>13,864</a:t>
                      </a:r>
                    </a:p>
                  </a:txBody>
                  <a:tcPr marL="34800" marR="34800" marT="17400" marB="17400" anchor="ctr"/>
                </a:tc>
                <a:tc>
                  <a:txBody>
                    <a:bodyPr/>
                    <a:lstStyle/>
                    <a:p>
                      <a:pPr lvl="0" algn="ctr"/>
                      <a:r>
                        <a:rPr lang="en-GB" sz="1200" dirty="0"/>
                        <a:t>11,737</a:t>
                      </a:r>
                    </a:p>
                  </a:txBody>
                  <a:tcPr marL="34800" marR="34800" marT="17400" marB="17400" anchor="ctr"/>
                </a:tc>
                <a:extLst>
                  <a:ext uri="{0D108BD9-81ED-4DB2-BD59-A6C34878D82A}">
                    <a16:rowId xmlns="" xmlns:a16="http://schemas.microsoft.com/office/drawing/2014/main" val="1434469952"/>
                  </a:ext>
                </a:extLst>
              </a:tr>
              <a:tr h="348003">
                <a:tc>
                  <a:txBody>
                    <a:bodyPr/>
                    <a:lstStyle/>
                    <a:p>
                      <a:pPr algn="l"/>
                      <a:r>
                        <a:rPr lang="en-GB" sz="1200"/>
                        <a:t>3</a:t>
                      </a:r>
                    </a:p>
                  </a:txBody>
                  <a:tcPr marL="34800" marR="34800" marT="17400" marB="17400" anchor="ctr"/>
                </a:tc>
                <a:tc>
                  <a:txBody>
                    <a:bodyPr/>
                    <a:lstStyle/>
                    <a:p>
                      <a:pPr algn="l"/>
                      <a:r>
                        <a:rPr lang="en-GB" sz="1200" dirty="0" err="1">
                          <a:hlinkClick r:id="rId9" tooltip="Etanercept"/>
                        </a:rPr>
                        <a:t>Etanercept</a:t>
                      </a:r>
                      <a:endParaRPr lang="en-GB" sz="1200" dirty="0"/>
                    </a:p>
                  </a:txBody>
                  <a:tcPr marL="34800" marR="34800" marT="17400" marB="17400" anchor="ctr"/>
                </a:tc>
                <a:tc>
                  <a:txBody>
                    <a:bodyPr/>
                    <a:lstStyle/>
                    <a:p>
                      <a:pPr algn="l"/>
                      <a:r>
                        <a:rPr lang="en-GB" sz="1200" dirty="0"/>
                        <a:t>Enbrel</a:t>
                      </a:r>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l"/>
                      <a:r>
                        <a:rPr lang="en-GB" sz="1200" dirty="0">
                          <a:hlinkClick r:id="rId4" tooltip="Rheumatoid arthritis"/>
                        </a:rPr>
                        <a:t>Rheumatoid arthritis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0" tooltip="Amgen"/>
                        </a:rPr>
                        <a:t>Amgen</a:t>
                      </a:r>
                      <a:r>
                        <a:rPr lang="en-GB" sz="1200" dirty="0"/>
                        <a:t> </a:t>
                      </a:r>
                      <a:r>
                        <a:rPr lang="en-GB" sz="1200" dirty="0">
                          <a:hlinkClick r:id="rId11" tooltip="Pfizer"/>
                        </a:rPr>
                        <a:t>Pfizer</a:t>
                      </a:r>
                      <a:endParaRPr lang="en-GB" sz="1200" dirty="0"/>
                    </a:p>
                  </a:txBody>
                  <a:tcPr marL="34800" marR="34800" marT="17400" marB="17400" anchor="ctr"/>
                </a:tc>
                <a:tc>
                  <a:txBody>
                    <a:bodyPr/>
                    <a:lstStyle/>
                    <a:p>
                      <a:pPr lvl="0" algn="ctr"/>
                      <a:r>
                        <a:rPr lang="en-GB" sz="1200" dirty="0"/>
                        <a:t>8,697</a:t>
                      </a:r>
                    </a:p>
                  </a:txBody>
                  <a:tcPr marL="34800" marR="34800" marT="17400" marB="17400" anchor="ctr"/>
                </a:tc>
                <a:tc>
                  <a:txBody>
                    <a:bodyPr/>
                    <a:lstStyle/>
                    <a:p>
                      <a:pPr lvl="0" algn="ctr"/>
                      <a:r>
                        <a:rPr lang="en-GB" sz="1200" dirty="0"/>
                        <a:t>4,009</a:t>
                      </a:r>
                    </a:p>
                  </a:txBody>
                  <a:tcPr marL="34800" marR="34800" marT="17400" marB="17400" anchor="ctr"/>
                </a:tc>
                <a:extLst>
                  <a:ext uri="{0D108BD9-81ED-4DB2-BD59-A6C34878D82A}">
                    <a16:rowId xmlns="" xmlns:a16="http://schemas.microsoft.com/office/drawing/2014/main" val="480902885"/>
                  </a:ext>
                </a:extLst>
              </a:tr>
              <a:tr h="577388">
                <a:tc>
                  <a:txBody>
                    <a:bodyPr/>
                    <a:lstStyle/>
                    <a:p>
                      <a:pPr algn="l"/>
                      <a:r>
                        <a:rPr lang="en-GB" sz="1200"/>
                        <a:t>4</a:t>
                      </a:r>
                    </a:p>
                  </a:txBody>
                  <a:tcPr marL="34800" marR="34800" marT="17400" marB="17400" anchor="ctr"/>
                </a:tc>
                <a:tc>
                  <a:txBody>
                    <a:bodyPr/>
                    <a:lstStyle/>
                    <a:p>
                      <a:pPr algn="l"/>
                      <a:r>
                        <a:rPr lang="en-GB" sz="1200" dirty="0">
                          <a:hlinkClick r:id="rId12" tooltip="Infliximab"/>
                        </a:rPr>
                        <a:t>Infliximab</a:t>
                      </a:r>
                      <a:endParaRPr lang="en-GB" sz="1200" dirty="0"/>
                    </a:p>
                  </a:txBody>
                  <a:tcPr marL="34800" marR="34800" marT="17400" marB="17400" anchor="ctr"/>
                </a:tc>
                <a:tc>
                  <a:txBody>
                    <a:bodyPr/>
                    <a:lstStyle/>
                    <a:p>
                      <a:pPr algn="l"/>
                      <a:r>
                        <a:rPr lang="en-GB" sz="1200" dirty="0" err="1"/>
                        <a:t>Remicade</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l"/>
                      <a:r>
                        <a:rPr lang="en-GB" sz="1200" dirty="0">
                          <a:hlinkClick r:id="rId13" tooltip="Gastroesophageal reflux disease"/>
                        </a:rPr>
                        <a:t>Crohn's Disease</a:t>
                      </a:r>
                      <a:r>
                        <a:rPr lang="en-GB" sz="1200" dirty="0"/>
                        <a:t/>
                      </a:r>
                      <a:br>
                        <a:rPr lang="en-GB" sz="1200" dirty="0"/>
                      </a:br>
                      <a:r>
                        <a:rPr lang="en-GB" sz="1200" dirty="0">
                          <a:hlinkClick r:id="rId13" tooltip="Gastroesophageal reflux disease"/>
                        </a:rPr>
                        <a:t>Rheumatoid Arthritis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4" tooltip="Johnson &amp; Johnson"/>
                        </a:rPr>
                        <a:t>Johnson &amp; Johnson</a:t>
                      </a:r>
                      <a:endParaRPr lang="en-GB" sz="1200" dirty="0"/>
                    </a:p>
                  </a:txBody>
                  <a:tcPr marL="34800" marR="34800" marT="17400" marB="17400" anchor="ctr"/>
                </a:tc>
                <a:tc>
                  <a:txBody>
                    <a:bodyPr/>
                    <a:lstStyle/>
                    <a:p>
                      <a:pPr lvl="0" algn="ctr"/>
                      <a:r>
                        <a:rPr lang="en-GB" sz="1200" dirty="0"/>
                        <a:t>8,355</a:t>
                      </a:r>
                    </a:p>
                  </a:txBody>
                  <a:tcPr marL="34800" marR="34800" marT="17400" marB="17400" anchor="ctr"/>
                </a:tc>
                <a:tc>
                  <a:txBody>
                    <a:bodyPr/>
                    <a:lstStyle/>
                    <a:p>
                      <a:pPr lvl="0" algn="ctr"/>
                      <a:r>
                        <a:rPr lang="en-GB" sz="1200" dirty="0"/>
                        <a:t>1,487</a:t>
                      </a:r>
                    </a:p>
                  </a:txBody>
                  <a:tcPr marL="34800" marR="34800" marT="17400" marB="17400" anchor="ctr"/>
                </a:tc>
                <a:extLst>
                  <a:ext uri="{0D108BD9-81ED-4DB2-BD59-A6C34878D82A}">
                    <a16:rowId xmlns="" xmlns:a16="http://schemas.microsoft.com/office/drawing/2014/main" val="3577613468"/>
                  </a:ext>
                </a:extLst>
              </a:tr>
              <a:tr h="648072">
                <a:tc>
                  <a:txBody>
                    <a:bodyPr/>
                    <a:lstStyle/>
                    <a:p>
                      <a:pPr algn="l"/>
                      <a:r>
                        <a:rPr lang="en-GB" sz="1200" dirty="0"/>
                        <a:t>5</a:t>
                      </a:r>
                    </a:p>
                  </a:txBody>
                  <a:tcPr marL="34800" marR="34800" marT="17400" marB="17400" anchor="ctr"/>
                </a:tc>
                <a:tc>
                  <a:txBody>
                    <a:bodyPr/>
                    <a:lstStyle/>
                    <a:p>
                      <a:pPr algn="l"/>
                      <a:r>
                        <a:rPr lang="en-GB" sz="1200" dirty="0">
                          <a:hlinkClick r:id="rId15" tooltip="Rituximab"/>
                        </a:rPr>
                        <a:t>Rituximab</a:t>
                      </a:r>
                      <a:endParaRPr lang="en-GB" sz="1200" dirty="0"/>
                    </a:p>
                  </a:txBody>
                  <a:tcPr marL="34800" marR="34800" marT="17400" marB="17400" anchor="ctr"/>
                </a:tc>
                <a:tc>
                  <a:txBody>
                    <a:bodyPr/>
                    <a:lstStyle/>
                    <a:p>
                      <a:pPr algn="l"/>
                      <a:r>
                        <a:rPr lang="en-GB" sz="1200" dirty="0" err="1"/>
                        <a:t>Mabthera</a:t>
                      </a:r>
                      <a:r>
                        <a:rPr lang="en-GB" sz="1200" dirty="0"/>
                        <a:t> </a:t>
                      </a:r>
                      <a:r>
                        <a:rPr lang="en-GB" sz="1200" dirty="0" err="1"/>
                        <a:t>Rituxan</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l"/>
                      <a:r>
                        <a:rPr lang="en-GB" sz="1200" dirty="0">
                          <a:hlinkClick r:id="rId16" tooltip="Lymphoma"/>
                        </a:rPr>
                        <a:t>Lymphoma</a:t>
                      </a:r>
                      <a:r>
                        <a:rPr lang="en-GB" sz="1200" dirty="0"/>
                        <a:t> </a:t>
                      </a:r>
                      <a:r>
                        <a:rPr lang="en-GB" sz="1200" dirty="0" err="1">
                          <a:hlinkClick r:id="rId17" tooltip="Leukemia"/>
                        </a:rPr>
                        <a:t>Leukemia</a:t>
                      </a:r>
                      <a:endParaRPr lang="en-GB" sz="1200" dirty="0"/>
                    </a:p>
                    <a:p>
                      <a:pPr algn="l"/>
                      <a:r>
                        <a:rPr lang="en-GB" sz="1200" dirty="0">
                          <a:hlinkClick r:id="rId18" tooltip="Autoimmune disease"/>
                        </a:rPr>
                        <a:t>Autoimmune disorders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9" tooltip="Hoffmann-La Roche"/>
                        </a:rPr>
                        <a:t>Roche</a:t>
                      </a:r>
                      <a:endParaRPr lang="en-GB" sz="1200" dirty="0"/>
                    </a:p>
                  </a:txBody>
                  <a:tcPr marL="34800" marR="34800" marT="17400" marB="17400" anchor="ctr"/>
                </a:tc>
                <a:tc>
                  <a:txBody>
                    <a:bodyPr/>
                    <a:lstStyle/>
                    <a:p>
                      <a:pPr lvl="0" algn="ctr"/>
                      <a:r>
                        <a:rPr lang="en-GB" sz="1200" dirty="0"/>
                        <a:t>7,115</a:t>
                      </a:r>
                    </a:p>
                  </a:txBody>
                  <a:tcPr marL="34800" marR="34800" marT="17400" marB="17400" anchor="ctr"/>
                </a:tc>
                <a:tc>
                  <a:txBody>
                    <a:bodyPr/>
                    <a:lstStyle/>
                    <a:p>
                      <a:pPr lvl="0" algn="ctr"/>
                      <a:r>
                        <a:rPr lang="en-GB" sz="1200" dirty="0"/>
                        <a:t>1,456</a:t>
                      </a:r>
                    </a:p>
                  </a:txBody>
                  <a:tcPr marL="34800" marR="34800" marT="17400" marB="17400" anchor="ctr"/>
                </a:tc>
                <a:extLst>
                  <a:ext uri="{0D108BD9-81ED-4DB2-BD59-A6C34878D82A}">
                    <a16:rowId xmlns="" xmlns:a16="http://schemas.microsoft.com/office/drawing/2014/main" val="1999700228"/>
                  </a:ext>
                </a:extLst>
              </a:tr>
              <a:tr h="243602">
                <a:tc>
                  <a:txBody>
                    <a:bodyPr/>
                    <a:lstStyle/>
                    <a:p>
                      <a:pPr algn="l"/>
                      <a:r>
                        <a:rPr lang="en-GB" sz="1200"/>
                        <a:t>6</a:t>
                      </a:r>
                    </a:p>
                  </a:txBody>
                  <a:tcPr marL="34800" marR="34800" marT="17400" marB="17400" anchor="ctr"/>
                </a:tc>
                <a:tc>
                  <a:txBody>
                    <a:bodyPr/>
                    <a:lstStyle/>
                    <a:p>
                      <a:pPr algn="l"/>
                      <a:r>
                        <a:rPr lang="en-GB" sz="1200" dirty="0">
                          <a:hlinkClick r:id="rId20" tooltip="Insulin glargine"/>
                        </a:rPr>
                        <a:t>Insulin glargine</a:t>
                      </a:r>
                      <a:endParaRPr lang="en-GB" sz="1200" dirty="0"/>
                    </a:p>
                  </a:txBody>
                  <a:tcPr marL="34800" marR="34800" marT="17400" marB="17400" anchor="ctr"/>
                </a:tc>
                <a:tc>
                  <a:txBody>
                    <a:bodyPr/>
                    <a:lstStyle/>
                    <a:p>
                      <a:pPr algn="l"/>
                      <a:r>
                        <a:rPr lang="en-GB" sz="1200" dirty="0"/>
                        <a:t>Lantus</a:t>
                      </a:r>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l"/>
                      <a:r>
                        <a:rPr lang="en-GB" sz="1200" dirty="0">
                          <a:hlinkClick r:id="rId21" tooltip="Diabetes mellitus"/>
                        </a:rPr>
                        <a:t>Diabetes mellitus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22" tooltip="Sanofi"/>
                        </a:rPr>
                        <a:t>Sanofi</a:t>
                      </a:r>
                      <a:endParaRPr lang="en-GB" sz="1200" dirty="0"/>
                    </a:p>
                  </a:txBody>
                  <a:tcPr marL="34800" marR="34800" marT="17400" marB="17400" anchor="ctr"/>
                </a:tc>
                <a:tc>
                  <a:txBody>
                    <a:bodyPr/>
                    <a:lstStyle/>
                    <a:p>
                      <a:pPr lvl="0" algn="ctr"/>
                      <a:r>
                        <a:rPr lang="en-GB" sz="1200" dirty="0"/>
                        <a:t>7,029</a:t>
                      </a:r>
                    </a:p>
                  </a:txBody>
                  <a:tcPr marL="34800" marR="34800" marT="17400" marB="17400" anchor="ctr"/>
                </a:tc>
                <a:tc>
                  <a:txBody>
                    <a:bodyPr/>
                    <a:lstStyle/>
                    <a:p>
                      <a:pPr lvl="0" algn="ctr"/>
                      <a:r>
                        <a:rPr lang="en-GB" sz="1200" dirty="0"/>
                        <a:t>51</a:t>
                      </a:r>
                    </a:p>
                  </a:txBody>
                  <a:tcPr marL="34800" marR="34800" marT="17400" marB="17400" anchor="ctr"/>
                </a:tc>
                <a:extLst>
                  <a:ext uri="{0D108BD9-81ED-4DB2-BD59-A6C34878D82A}">
                    <a16:rowId xmlns="" xmlns:a16="http://schemas.microsoft.com/office/drawing/2014/main" val="2727046960"/>
                  </a:ext>
                </a:extLst>
              </a:tr>
              <a:tr h="348003">
                <a:tc>
                  <a:txBody>
                    <a:bodyPr/>
                    <a:lstStyle/>
                    <a:p>
                      <a:pPr algn="l"/>
                      <a:r>
                        <a:rPr lang="en-GB" sz="1200"/>
                        <a:t>7</a:t>
                      </a:r>
                    </a:p>
                  </a:txBody>
                  <a:tcPr marL="34800" marR="34800" marT="17400" marB="17400" anchor="ctr"/>
                </a:tc>
                <a:tc>
                  <a:txBody>
                    <a:bodyPr/>
                    <a:lstStyle/>
                    <a:p>
                      <a:pPr algn="l"/>
                      <a:r>
                        <a:rPr lang="en-GB" sz="1200" dirty="0">
                          <a:hlinkClick r:id="rId23" tooltip="Bevacizumab"/>
                        </a:rPr>
                        <a:t>Bevacizumab</a:t>
                      </a:r>
                      <a:endParaRPr lang="en-GB" sz="1200" dirty="0"/>
                    </a:p>
                  </a:txBody>
                  <a:tcPr marL="34800" marR="34800" marT="17400" marB="17400" anchor="ctr"/>
                </a:tc>
                <a:tc>
                  <a:txBody>
                    <a:bodyPr/>
                    <a:lstStyle/>
                    <a:p>
                      <a:pPr algn="l"/>
                      <a:r>
                        <a:rPr lang="en-GB" sz="1200" dirty="0" err="1"/>
                        <a:t>Avastin</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l"/>
                      <a:r>
                        <a:rPr lang="en-GB" sz="1200" dirty="0">
                          <a:hlinkClick r:id="rId24" tooltip="Cancer"/>
                        </a:rPr>
                        <a:t>Metastatic cancers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9" tooltip="Hoffmann-La Roche"/>
                        </a:rPr>
                        <a:t>Roche</a:t>
                      </a:r>
                      <a:endParaRPr lang="en-GB" sz="1200" dirty="0"/>
                    </a:p>
                  </a:txBody>
                  <a:tcPr marL="34800" marR="34800" marT="17400" marB="17400" anchor="ctr"/>
                </a:tc>
                <a:tc>
                  <a:txBody>
                    <a:bodyPr/>
                    <a:lstStyle/>
                    <a:p>
                      <a:pPr lvl="0" algn="ctr"/>
                      <a:r>
                        <a:rPr lang="en-GB" sz="1200" dirty="0"/>
                        <a:t>6,751</a:t>
                      </a:r>
                    </a:p>
                  </a:txBody>
                  <a:tcPr marL="34800" marR="34800" marT="17400" marB="17400" anchor="ctr"/>
                </a:tc>
                <a:tc>
                  <a:txBody>
                    <a:bodyPr/>
                    <a:lstStyle/>
                    <a:p>
                      <a:pPr lvl="0" algn="ctr"/>
                      <a:r>
                        <a:rPr lang="en-GB" sz="1200" dirty="0"/>
                        <a:t>270</a:t>
                      </a:r>
                    </a:p>
                  </a:txBody>
                  <a:tcPr marL="34800" marR="34800" marT="17400" marB="17400" anchor="ctr"/>
                </a:tc>
                <a:extLst>
                  <a:ext uri="{0D108BD9-81ED-4DB2-BD59-A6C34878D82A}">
                    <a16:rowId xmlns="" xmlns:a16="http://schemas.microsoft.com/office/drawing/2014/main" val="1846603403"/>
                  </a:ext>
                </a:extLst>
              </a:tr>
              <a:tr h="243602">
                <a:tc>
                  <a:txBody>
                    <a:bodyPr/>
                    <a:lstStyle/>
                    <a:p>
                      <a:pPr algn="l"/>
                      <a:r>
                        <a:rPr lang="en-GB" sz="1200"/>
                        <a:t>8</a:t>
                      </a:r>
                    </a:p>
                  </a:txBody>
                  <a:tcPr marL="34800" marR="34800" marT="17400" marB="17400" anchor="ctr"/>
                </a:tc>
                <a:tc>
                  <a:txBody>
                    <a:bodyPr/>
                    <a:lstStyle/>
                    <a:p>
                      <a:pPr algn="l"/>
                      <a:r>
                        <a:rPr lang="en-GB" sz="1200" dirty="0" err="1">
                          <a:hlinkClick r:id="rId25" tooltip="Trastuzumab"/>
                        </a:rPr>
                        <a:t>Trastuzumab</a:t>
                      </a:r>
                      <a:endParaRPr lang="en-GB" sz="1200" dirty="0"/>
                    </a:p>
                  </a:txBody>
                  <a:tcPr marL="34800" marR="34800" marT="17400" marB="17400" anchor="ctr"/>
                </a:tc>
                <a:tc>
                  <a:txBody>
                    <a:bodyPr/>
                    <a:lstStyle/>
                    <a:p>
                      <a:pPr algn="l"/>
                      <a:r>
                        <a:rPr lang="en-GB" sz="1200" dirty="0"/>
                        <a:t>Herceptin</a:t>
                      </a:r>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dirty="0">
                          <a:solidFill>
                            <a:schemeClr val="tx1"/>
                          </a:solidFill>
                        </a:rPr>
                        <a:t>Biologic</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l"/>
                      <a:r>
                        <a:rPr lang="en-GB" sz="1200" dirty="0">
                          <a:hlinkClick r:id="rId26" tooltip="Breast cancer"/>
                        </a:rPr>
                        <a:t>Breast cancer</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a:r>
                        <a:rPr lang="en-GB" sz="1200" dirty="0">
                          <a:hlinkClick r:id="rId19" tooltip="Hoffmann-La Roche"/>
                        </a:rPr>
                        <a:t>Roche</a:t>
                      </a:r>
                      <a:endParaRPr lang="en-GB" sz="1200" dirty="0"/>
                    </a:p>
                  </a:txBody>
                  <a:tcPr marL="34800" marR="34800" marT="17400" marB="17400" anchor="ctr"/>
                </a:tc>
                <a:tc>
                  <a:txBody>
                    <a:bodyPr/>
                    <a:lstStyle/>
                    <a:p>
                      <a:pPr lvl="0" algn="ctr"/>
                      <a:r>
                        <a:rPr lang="en-GB" sz="1200" dirty="0"/>
                        <a:t>6,603</a:t>
                      </a:r>
                    </a:p>
                  </a:txBody>
                  <a:tcPr marL="34800" marR="34800" marT="17400" marB="17400" anchor="ctr"/>
                </a:tc>
                <a:tc>
                  <a:txBody>
                    <a:bodyPr/>
                    <a:lstStyle/>
                    <a:p>
                      <a:pPr lvl="0" algn="ctr"/>
                      <a:r>
                        <a:rPr lang="en-GB" sz="1200" dirty="0"/>
                        <a:t>265</a:t>
                      </a:r>
                    </a:p>
                  </a:txBody>
                  <a:tcPr marL="34800" marR="34800" marT="17400" marB="17400" anchor="ctr"/>
                </a:tc>
                <a:extLst>
                  <a:ext uri="{0D108BD9-81ED-4DB2-BD59-A6C34878D82A}">
                    <a16:rowId xmlns="" xmlns:a16="http://schemas.microsoft.com/office/drawing/2014/main" val="2282581352"/>
                  </a:ext>
                </a:extLst>
              </a:tr>
              <a:tr h="604953">
                <a:tc>
                  <a:txBody>
                    <a:bodyPr/>
                    <a:lstStyle/>
                    <a:p>
                      <a:pPr algn="l"/>
                      <a:r>
                        <a:rPr lang="en-GB" sz="1200" dirty="0"/>
                        <a:t>9</a:t>
                      </a:r>
                    </a:p>
                  </a:txBody>
                  <a:tcPr marL="34800" marR="34800" marT="17400" marB="17400" anchor="ctr"/>
                </a:tc>
                <a:tc>
                  <a:txBody>
                    <a:bodyPr/>
                    <a:lstStyle/>
                    <a:p>
                      <a:pPr algn="l"/>
                      <a:r>
                        <a:rPr lang="en-GB" sz="1200" dirty="0" err="1">
                          <a:hlinkClick r:id="rId27" tooltip="Lenalidomide"/>
                        </a:rPr>
                        <a:t>Lenalidomide</a:t>
                      </a:r>
                      <a:endParaRPr lang="en-GB" sz="1200" dirty="0"/>
                    </a:p>
                  </a:txBody>
                  <a:tcPr marL="34800" marR="34800" marT="17400" marB="17400" anchor="ctr"/>
                </a:tc>
                <a:tc>
                  <a:txBody>
                    <a:bodyPr/>
                    <a:lstStyle/>
                    <a:p>
                      <a:pPr algn="l"/>
                      <a:r>
                        <a:rPr lang="en-GB" sz="1200" dirty="0" err="1"/>
                        <a:t>Revlimid</a:t>
                      </a:r>
                      <a:endParaRPr lang="en-GB" sz="1200" dirty="0"/>
                    </a:p>
                  </a:txBody>
                  <a:tcPr marL="34800" marR="34800" marT="17400" marB="174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GB" sz="1200" dirty="0">
                          <a:solidFill>
                            <a:schemeClr val="tx1"/>
                          </a:solidFill>
                        </a:rPr>
                        <a:t>Small molecule</a:t>
                      </a:r>
                      <a:endParaRPr lang="en-GB" sz="1200" b="1" dirty="0">
                        <a:solidFill>
                          <a:schemeClr val="tx1"/>
                        </a:solidFill>
                      </a:endParaRPr>
                    </a:p>
                  </a:txBody>
                  <a:tcPr marL="34800" marR="34800" marT="17400" marB="17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l"/>
                      <a:r>
                        <a:rPr lang="en-GB" sz="1200" dirty="0">
                          <a:hlinkClick r:id="rId28" tooltip="Multiple myeloma"/>
                        </a:rPr>
                        <a:t>Multiple myeloma</a:t>
                      </a:r>
                      <a:r>
                        <a:rPr lang="en-GB" sz="1200" dirty="0"/>
                        <a:t> </a:t>
                      </a:r>
                      <a:r>
                        <a:rPr lang="en-GB" sz="1200" dirty="0">
                          <a:hlinkClick r:id="rId29" tooltip="Myelodysplastic syndrome"/>
                        </a:rPr>
                        <a:t>Myelodysplastic syndromes</a:t>
                      </a:r>
                      <a:endParaRPr lang="en-GB" sz="1200" dirty="0"/>
                    </a:p>
                  </a:txBody>
                  <a:tcPr marL="34800" marR="34800" marT="17400" marB="174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a:txBody>
                    <a:bodyPr/>
                    <a:lstStyle/>
                    <a:p>
                      <a:pPr algn="l"/>
                      <a:r>
                        <a:rPr lang="en-GB" sz="1200" dirty="0">
                          <a:hlinkClick r:id="rId30" tooltip="Celgene"/>
                        </a:rPr>
                        <a:t>Celgene</a:t>
                      </a:r>
                      <a:endParaRPr lang="en-GB" sz="1200" dirty="0"/>
                    </a:p>
                  </a:txBody>
                  <a:tcPr marL="34800" marR="34800" marT="17400" marB="17400" anchor="ctr"/>
                </a:tc>
                <a:tc>
                  <a:txBody>
                    <a:bodyPr/>
                    <a:lstStyle/>
                    <a:p>
                      <a:pPr lvl="0" algn="ctr"/>
                      <a:r>
                        <a:rPr lang="en-GB" sz="1200" dirty="0"/>
                        <a:t>5,801</a:t>
                      </a:r>
                    </a:p>
                  </a:txBody>
                  <a:tcPr marL="34800" marR="34800" marT="17400" marB="17400" anchor="ctr"/>
                </a:tc>
                <a:tc>
                  <a:txBody>
                    <a:bodyPr/>
                    <a:lstStyle/>
                    <a:p>
                      <a:pPr lvl="0" algn="ctr"/>
                      <a:r>
                        <a:rPr lang="en-GB" sz="1200" dirty="0"/>
                        <a:t>821</a:t>
                      </a:r>
                    </a:p>
                  </a:txBody>
                  <a:tcPr marL="34800" marR="34800" marT="17400" marB="17400" anchor="ctr"/>
                </a:tc>
                <a:extLst>
                  <a:ext uri="{0D108BD9-81ED-4DB2-BD59-A6C34878D82A}">
                    <a16:rowId xmlns="" xmlns:a16="http://schemas.microsoft.com/office/drawing/2014/main" val="2758583372"/>
                  </a:ext>
                </a:extLst>
              </a:tr>
              <a:tr h="348003">
                <a:tc>
                  <a:txBody>
                    <a:bodyPr/>
                    <a:lstStyle/>
                    <a:p>
                      <a:pPr algn="l"/>
                      <a:r>
                        <a:rPr lang="en-GB" sz="1200" dirty="0"/>
                        <a:t>10</a:t>
                      </a:r>
                    </a:p>
                  </a:txBody>
                  <a:tcPr marL="34800" marR="34800" marT="17400" marB="17400" anchor="ctr"/>
                </a:tc>
                <a:tc>
                  <a:txBody>
                    <a:bodyPr/>
                    <a:lstStyle/>
                    <a:p>
                      <a:pPr algn="l"/>
                      <a:r>
                        <a:rPr lang="en-GB" sz="1200" dirty="0">
                          <a:hlinkClick r:id="rId31" tooltip="Sofosbuvir"/>
                        </a:rPr>
                        <a:t>Sofosbuvir</a:t>
                      </a:r>
                      <a:endParaRPr lang="en-GB" sz="1200" dirty="0"/>
                    </a:p>
                  </a:txBody>
                  <a:tcPr marL="34800" marR="34800" marT="17400" marB="17400" anchor="ctr"/>
                </a:tc>
                <a:tc>
                  <a:txBody>
                    <a:bodyPr/>
                    <a:lstStyle/>
                    <a:p>
                      <a:pPr algn="l"/>
                      <a:r>
                        <a:rPr lang="en-GB" sz="1200" dirty="0" err="1"/>
                        <a:t>Sovaldi</a:t>
                      </a:r>
                      <a:endParaRPr lang="en-GB" sz="1200" dirty="0"/>
                    </a:p>
                  </a:txBody>
                  <a:tcPr marL="34800" marR="34800" marT="17400" marB="17400" anchor="ctr"/>
                </a:tc>
                <a:tc>
                  <a:txBody>
                    <a:bodyPr/>
                    <a:lstStyle/>
                    <a:p>
                      <a:pPr algn="ctr"/>
                      <a:r>
                        <a:rPr lang="en-GB" sz="1200" dirty="0">
                          <a:solidFill>
                            <a:schemeClr val="tx1"/>
                          </a:solidFill>
                        </a:rPr>
                        <a:t>Small molecule</a:t>
                      </a:r>
                      <a:endParaRPr lang="en-GB" sz="1200" b="1" dirty="0">
                        <a:solidFill>
                          <a:schemeClr val="tx1"/>
                        </a:solidFill>
                      </a:endParaRPr>
                    </a:p>
                  </a:txBody>
                  <a:tcPr marL="34800" marR="34800" marT="17400" marB="17400" anchor="ctr"/>
                </a:tc>
                <a:tc>
                  <a:txBody>
                    <a:bodyPr/>
                    <a:lstStyle/>
                    <a:p>
                      <a:pPr algn="l"/>
                      <a:r>
                        <a:rPr lang="en-GB" sz="1200" dirty="0">
                          <a:hlinkClick r:id="rId7" tooltip="Hepatitis C"/>
                        </a:rPr>
                        <a:t>Hepatitis C</a:t>
                      </a:r>
                      <a:endParaRPr lang="en-GB" sz="1200" dirty="0"/>
                    </a:p>
                  </a:txBody>
                  <a:tcPr marL="34800" marR="34800" marT="17400" marB="17400" anchor="ctr"/>
                </a:tc>
                <a:tc>
                  <a:txBody>
                    <a:bodyPr/>
                    <a:lstStyle/>
                    <a:p>
                      <a:pPr algn="l"/>
                      <a:r>
                        <a:rPr lang="en-GB" sz="1200" dirty="0">
                          <a:hlinkClick r:id="rId8" tooltip="Gilead Sciences"/>
                        </a:rPr>
                        <a:t>Gilead Sciences</a:t>
                      </a:r>
                      <a:endParaRPr lang="en-GB" sz="1200" dirty="0"/>
                    </a:p>
                  </a:txBody>
                  <a:tcPr marL="34800" marR="34800" marT="17400" marB="17400" anchor="ctr"/>
                </a:tc>
                <a:tc>
                  <a:txBody>
                    <a:bodyPr/>
                    <a:lstStyle/>
                    <a:p>
                      <a:pPr lvl="0" algn="ctr"/>
                      <a:r>
                        <a:rPr lang="en-GB" sz="1200" dirty="0"/>
                        <a:t>5,276</a:t>
                      </a:r>
                    </a:p>
                  </a:txBody>
                  <a:tcPr marL="34800" marR="34800" marT="17400" marB="17400" anchor="ctr"/>
                </a:tc>
                <a:tc>
                  <a:txBody>
                    <a:bodyPr/>
                    <a:lstStyle/>
                    <a:p>
                      <a:pPr lvl="0" algn="ctr"/>
                      <a:r>
                        <a:rPr lang="en-GB" sz="1200" dirty="0"/>
                        <a:t>(</a:t>
                      </a:r>
                      <a:r>
                        <a:rPr lang="en-GB" sz="1200" dirty="0" smtClean="0"/>
                        <a:t>5,007)</a:t>
                      </a:r>
                      <a:endParaRPr lang="en-GB" sz="1200" dirty="0"/>
                    </a:p>
                  </a:txBody>
                  <a:tcPr marL="34800" marR="34800" marT="17400" marB="17400" anchor="ctr"/>
                </a:tc>
                <a:extLst>
                  <a:ext uri="{0D108BD9-81ED-4DB2-BD59-A6C34878D82A}">
                    <a16:rowId xmlns="" xmlns:a16="http://schemas.microsoft.com/office/drawing/2014/main" val="3805508703"/>
                  </a:ext>
                </a:extLst>
              </a:tr>
            </a:tbl>
          </a:graphicData>
        </a:graphic>
      </p:graphicFrame>
      <p:sp>
        <p:nvSpPr>
          <p:cNvPr id="7" name="Slide Number Placeholder 6"/>
          <p:cNvSpPr>
            <a:spLocks noGrp="1"/>
          </p:cNvSpPr>
          <p:nvPr>
            <p:ph type="sldNum" sz="quarter" idx="17"/>
          </p:nvPr>
        </p:nvSpPr>
        <p:spPr/>
        <p:txBody>
          <a:bodyPr/>
          <a:lstStyle/>
          <a:p>
            <a:fld id="{28ED40A3-BEA1-2645-9E17-452BD130FCD0}" type="slidenum">
              <a:rPr lang="en-US" smtClean="0"/>
              <a:pPr/>
              <a:t>6</a:t>
            </a:fld>
            <a:endParaRPr lang="en-US" dirty="0"/>
          </a:p>
        </p:txBody>
      </p:sp>
      <p:sp>
        <p:nvSpPr>
          <p:cNvPr id="9" name="TextBox 8"/>
          <p:cNvSpPr txBox="1"/>
          <p:nvPr/>
        </p:nvSpPr>
        <p:spPr>
          <a:xfrm>
            <a:off x="9604054" y="6376244"/>
            <a:ext cx="1450230" cy="276999"/>
          </a:xfrm>
          <a:prstGeom prst="rect">
            <a:avLst/>
          </a:prstGeom>
          <a:noFill/>
        </p:spPr>
        <p:txBody>
          <a:bodyPr wrap="square" rtlCol="0">
            <a:spAutoFit/>
          </a:bodyPr>
          <a:lstStyle/>
          <a:p>
            <a:pPr algn="r"/>
            <a:r>
              <a:rPr lang="en-GB" sz="1200" dirty="0"/>
              <a:t>Source </a:t>
            </a:r>
            <a:r>
              <a:rPr lang="en-GB" sz="1200" dirty="0">
                <a:hlinkClick r:id="rId32"/>
              </a:rPr>
              <a:t>Wikipedia</a:t>
            </a:r>
            <a:endParaRPr lang="en-GB" sz="1200" dirty="0"/>
          </a:p>
        </p:txBody>
      </p:sp>
      <p:sp>
        <p:nvSpPr>
          <p:cNvPr id="14" name="Rectangle 13"/>
          <p:cNvSpPr/>
          <p:nvPr/>
        </p:nvSpPr>
        <p:spPr>
          <a:xfrm>
            <a:off x="609600" y="1196752"/>
            <a:ext cx="3771032" cy="400110"/>
          </a:xfrm>
          <a:prstGeom prst="rect">
            <a:avLst/>
          </a:prstGeom>
        </p:spPr>
        <p:txBody>
          <a:bodyPr wrap="none">
            <a:spAutoFit/>
          </a:bodyPr>
          <a:lstStyle/>
          <a:p>
            <a:r>
              <a:rPr lang="en-GB" sz="2000" b="1" dirty="0"/>
              <a:t>Best selling pharmaceuticals 2015</a:t>
            </a:r>
            <a:endParaRPr lang="en-US" sz="2000" b="1" dirty="0"/>
          </a:p>
        </p:txBody>
      </p:sp>
      <p:graphicFrame>
        <p:nvGraphicFramePr>
          <p:cNvPr id="3" name="Table 2"/>
          <p:cNvGraphicFramePr>
            <a:graphicFrameLocks noGrp="1"/>
          </p:cNvGraphicFramePr>
          <p:nvPr/>
        </p:nvGraphicFramePr>
        <p:xfrm>
          <a:off x="6517341" y="995082"/>
          <a:ext cx="208280" cy="365760"/>
        </p:xfrm>
        <a:graphic>
          <a:graphicData uri="http://schemas.openxmlformats.org/drawingml/2006/table">
            <a:tbl>
              <a:tblPr/>
              <a:tblGrid>
                <a:gridCol w="208280"/>
              </a:tblGrid>
              <a:tr h="0">
                <a:tc>
                  <a:txBody>
                    <a:bodyPr/>
                    <a:lstStyle/>
                    <a:p>
                      <a:endParaRPr lang="en-US" dirty="0"/>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tr>
            </a:tbl>
          </a:graphicData>
        </a:graphic>
      </p:graphicFrame>
    </p:spTree>
    <p:extLst>
      <p:ext uri="{BB962C8B-B14F-4D97-AF65-F5344CB8AC3E}">
        <p14:creationId xmlns:p14="http://schemas.microsoft.com/office/powerpoint/2010/main" val="1093348475"/>
      </p:ext>
    </p:extLst>
  </p:cSld>
  <p:clrMapOvr>
    <a:masterClrMapping/>
  </p:clrMapOvr>
  <mc:AlternateContent xmlns:mc="http://schemas.openxmlformats.org/markup-compatibility/2006" xmlns:p14="http://schemas.microsoft.com/office/powerpoint/2010/main">
    <mc:Choice Requires="p14">
      <p:transition spd="slow" p14:dur="1250" advTm="77561">
        <p:fade/>
      </p:transition>
    </mc:Choice>
    <mc:Fallback xmlns="">
      <p:transition spd="slow" advTm="77561">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So what is the problem?</a:t>
            </a:r>
            <a:endParaRPr lang="en-GB"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7</a:t>
            </a:fld>
            <a:endParaRPr lang="en-US" dirty="0"/>
          </a:p>
        </p:txBody>
      </p:sp>
      <p:sp>
        <p:nvSpPr>
          <p:cNvPr id="6" name="Content Placeholder 5"/>
          <p:cNvSpPr>
            <a:spLocks noGrp="1"/>
          </p:cNvSpPr>
          <p:nvPr>
            <p:ph sz="quarter" idx="13"/>
          </p:nvPr>
        </p:nvSpPr>
        <p:spPr>
          <a:xfrm>
            <a:off x="609600" y="1053554"/>
            <a:ext cx="6638528" cy="5111750"/>
          </a:xfrm>
        </p:spPr>
        <p:txBody>
          <a:bodyPr/>
          <a:lstStyle/>
          <a:p>
            <a:r>
              <a:rPr lang="en-GB" dirty="0" smtClean="0"/>
              <a:t>Small molecule representation is well understood and has been used for many years.</a:t>
            </a:r>
          </a:p>
          <a:p>
            <a:r>
              <a:rPr lang="en-GB" dirty="0" smtClean="0"/>
              <a:t>Although there are still areas to talk about the fundamentals are established.</a:t>
            </a:r>
          </a:p>
          <a:p>
            <a:pPr lvl="1"/>
            <a:r>
              <a:rPr lang="en-GB" dirty="0" smtClean="0"/>
              <a:t>Most traditional pharma compounds can generally be handled</a:t>
            </a:r>
          </a:p>
          <a:p>
            <a:r>
              <a:rPr lang="en-GB" dirty="0" smtClean="0"/>
              <a:t>Biologics is a long way behind.</a:t>
            </a:r>
          </a:p>
          <a:p>
            <a:pPr lvl="1"/>
            <a:r>
              <a:rPr lang="en-GB" dirty="0" smtClean="0"/>
              <a:t>Many important substances cannot be represented fully with current tools</a:t>
            </a:r>
          </a:p>
          <a:p>
            <a:endParaRPr lang="en-GB" dirty="0"/>
          </a:p>
        </p:txBody>
      </p:sp>
      <p:sp>
        <p:nvSpPr>
          <p:cNvPr id="14" name="TextBox 13"/>
          <p:cNvSpPr txBox="1"/>
          <p:nvPr/>
        </p:nvSpPr>
        <p:spPr>
          <a:xfrm rot="226034">
            <a:off x="7171565" y="1362281"/>
            <a:ext cx="5070619" cy="4031873"/>
          </a:xfrm>
          <a:prstGeom prst="rect">
            <a:avLst/>
          </a:prstGeom>
          <a:noFill/>
          <a:ln>
            <a:solidFill>
              <a:schemeClr val="accent1"/>
            </a:solidFill>
          </a:ln>
        </p:spPr>
        <p:txBody>
          <a:bodyPr wrap="none" rtlCol="0">
            <a:spAutoFit/>
          </a:bodyPr>
          <a:lstStyle/>
          <a:p>
            <a:r>
              <a:rPr lang="pt-BR" sz="1600" dirty="0"/>
              <a:t>L-alanine</a:t>
            </a:r>
          </a:p>
          <a:p>
            <a:r>
              <a:rPr lang="pt-BR" sz="1600" dirty="0"/>
              <a:t>  Mrv1597 08171714312D          </a:t>
            </a:r>
          </a:p>
          <a:p>
            <a:endParaRPr lang="pt-BR" sz="1600" dirty="0"/>
          </a:p>
          <a:p>
            <a:r>
              <a:rPr lang="pt-BR" sz="1600" dirty="0"/>
              <a:t>  6  5  0  0  1  0            999 V2000</a:t>
            </a:r>
          </a:p>
          <a:p>
            <a:r>
              <a:rPr lang="pt-BR" sz="1600" dirty="0"/>
              <a:t>    0.8250    1.4289    0.0000 N   0  0  0  0  0  0  0  0  0  0  0  0</a:t>
            </a:r>
          </a:p>
          <a:p>
            <a:r>
              <a:rPr lang="pt-BR" sz="1600" dirty="0"/>
              <a:t>    1.2375    0.7145    0.0000 C   0  0  1  0  0  0  0  0  0  0  0  0</a:t>
            </a:r>
          </a:p>
          <a:p>
            <a:r>
              <a:rPr lang="pt-BR" sz="1600" dirty="0"/>
              <a:t>    2.0625    0.7145    0.0000 C   0  0  0  0  0  0  0  0  0  0  0  0</a:t>
            </a:r>
          </a:p>
          <a:p>
            <a:r>
              <a:rPr lang="pt-BR" sz="1600" dirty="0"/>
              <a:t>    0.8250    0.0000    0.0000 C   0  0  0  0  0  0  0  0  0  0  0  0</a:t>
            </a:r>
          </a:p>
          <a:p>
            <a:r>
              <a:rPr lang="pt-BR" sz="1600" dirty="0"/>
              <a:t>    1.2375   -0.7145    0.0000 O   0  0  0  0  0  0  0  0  0  0  0  0</a:t>
            </a:r>
          </a:p>
          <a:p>
            <a:r>
              <a:rPr lang="pt-BR" sz="1600" dirty="0"/>
              <a:t>    0.0000    0.0000    0.0000 O   0  0  0  0  0  0  0  0  0  0  0  0</a:t>
            </a:r>
          </a:p>
          <a:p>
            <a:r>
              <a:rPr lang="pt-BR" sz="1600" dirty="0"/>
              <a:t>  2  1  1  1  0  0  0</a:t>
            </a:r>
          </a:p>
          <a:p>
            <a:r>
              <a:rPr lang="pt-BR" sz="1600" dirty="0"/>
              <a:t>  2  3  1  0  0  0  0</a:t>
            </a:r>
          </a:p>
          <a:p>
            <a:r>
              <a:rPr lang="pt-BR" sz="1600" dirty="0"/>
              <a:t>  2  4  1  0  0  0  0</a:t>
            </a:r>
          </a:p>
          <a:p>
            <a:r>
              <a:rPr lang="pt-BR" sz="1600" dirty="0"/>
              <a:t>  4  5  1  0  0  0  0</a:t>
            </a:r>
          </a:p>
          <a:p>
            <a:r>
              <a:rPr lang="pt-BR" sz="1600" dirty="0"/>
              <a:t>  4  6  2  0  0  0  0</a:t>
            </a:r>
          </a:p>
          <a:p>
            <a:r>
              <a:rPr lang="pt-BR" sz="1600" dirty="0"/>
              <a:t>M  END</a:t>
            </a:r>
            <a:endParaRPr lang="en-US" sz="1600" dirty="0"/>
          </a:p>
        </p:txBody>
      </p:sp>
      <p:sp>
        <p:nvSpPr>
          <p:cNvPr id="7" name="Rectangle 6"/>
          <p:cNvSpPr/>
          <p:nvPr/>
        </p:nvSpPr>
        <p:spPr>
          <a:xfrm rot="21404292">
            <a:off x="9195611" y="4372762"/>
            <a:ext cx="1888659" cy="338554"/>
          </a:xfrm>
          <a:prstGeom prst="rect">
            <a:avLst/>
          </a:prstGeom>
          <a:solidFill>
            <a:schemeClr val="bg2"/>
          </a:solidFill>
          <a:ln>
            <a:solidFill>
              <a:schemeClr val="accent1"/>
            </a:solidFill>
          </a:ln>
        </p:spPr>
        <p:txBody>
          <a:bodyPr wrap="none">
            <a:spAutoFit/>
          </a:bodyPr>
          <a:lstStyle/>
          <a:p>
            <a:r>
              <a:rPr lang="en-GB" sz="1600" dirty="0"/>
              <a:t>O=C(O)[C@@H](N)C</a:t>
            </a:r>
          </a:p>
        </p:txBody>
      </p:sp>
      <p:sp>
        <p:nvSpPr>
          <p:cNvPr id="8" name="Rectangle 7"/>
          <p:cNvSpPr/>
          <p:nvPr/>
        </p:nvSpPr>
        <p:spPr>
          <a:xfrm rot="21169888">
            <a:off x="5965664" y="5602269"/>
            <a:ext cx="5835515" cy="584775"/>
          </a:xfrm>
          <a:prstGeom prst="rect">
            <a:avLst/>
          </a:prstGeom>
          <a:solidFill>
            <a:schemeClr val="bg2"/>
          </a:solidFill>
          <a:ln>
            <a:solidFill>
              <a:schemeClr val="accent1"/>
            </a:solidFill>
          </a:ln>
        </p:spPr>
        <p:txBody>
          <a:bodyPr wrap="square">
            <a:spAutoFit/>
          </a:bodyPr>
          <a:lstStyle/>
          <a:p>
            <a:r>
              <a:rPr lang="pt-BR" sz="1600" dirty="0"/>
              <a:t>InChI=1S/C3H7NO2/c1-2(4)3(5)6/h2H,4H2,1H3,(H,5,6)/t2-/m1/s1 </a:t>
            </a:r>
          </a:p>
          <a:p>
            <a:r>
              <a:rPr lang="pt-BR" sz="1600" dirty="0"/>
              <a:t>Key: QNAYBMKLOCPYGJ-UWTATZPHSA-N </a:t>
            </a:r>
            <a:endParaRPr lang="en-GB" sz="1600" dirty="0"/>
          </a:p>
        </p:txBody>
      </p:sp>
    </p:spTree>
    <p:extLst>
      <p:ext uri="{BB962C8B-B14F-4D97-AF65-F5344CB8AC3E}">
        <p14:creationId xmlns:p14="http://schemas.microsoft.com/office/powerpoint/2010/main" val="926075836"/>
      </p:ext>
    </p:extLst>
  </p:cSld>
  <p:clrMapOvr>
    <a:masterClrMapping/>
  </p:clrMapOvr>
  <mc:AlternateContent xmlns:mc="http://schemas.openxmlformats.org/markup-compatibility/2006" xmlns:p14="http://schemas.microsoft.com/office/powerpoint/2010/main">
    <mc:Choice Requires="p14">
      <p:transition spd="slow" p14:dur="1250" advTm="47060">
        <p:fade/>
      </p:transition>
    </mc:Choice>
    <mc:Fallback xmlns="">
      <p:transition spd="slow" advTm="4706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335558" y="1556792"/>
            <a:ext cx="440313" cy="949498"/>
          </a:xfrm>
          <a:prstGeom prst="rect">
            <a:avLst/>
          </a:prstGeom>
          <a:solidFill>
            <a:srgbClr val="E8F4D9"/>
          </a:solidFill>
          <a:ln>
            <a:solidFill>
              <a:srgbClr val="8AC53A"/>
            </a:solidFill>
          </a:ln>
        </p:spPr>
        <p:style>
          <a:lnRef idx="1">
            <a:schemeClr val="accent1"/>
          </a:lnRef>
          <a:fillRef idx="2">
            <a:schemeClr val="accent1"/>
          </a:fillRef>
          <a:effectRef idx="1">
            <a:schemeClr val="accent1"/>
          </a:effectRef>
          <a:fontRef idx="minor">
            <a:schemeClr val="dk1"/>
          </a:fontRef>
        </p:style>
        <p:txBody>
          <a:bodyPr vert="wordArtVert" wrap="square" rtlCol="0" anchor="ctr" anchorCtr="1">
            <a:spAutoFit/>
          </a:bodyPr>
          <a:lstStyle/>
          <a:p>
            <a:pPr algn="ctr" defTabSz="914400" fontAlgn="base">
              <a:spcBef>
                <a:spcPct val="0"/>
              </a:spcBef>
              <a:spcAft>
                <a:spcPct val="0"/>
              </a:spcAft>
              <a:defRPr/>
            </a:pPr>
            <a:r>
              <a:rPr lang="en-US" sz="1400" b="1" dirty="0">
                <a:solidFill>
                  <a:srgbClr val="666E71"/>
                </a:solidFill>
                <a:latin typeface="Calibri"/>
              </a:rPr>
              <a:t>GAP</a:t>
            </a:r>
          </a:p>
        </p:txBody>
      </p:sp>
      <p:sp>
        <p:nvSpPr>
          <p:cNvPr id="2" name="Title 1"/>
          <p:cNvSpPr>
            <a:spLocks noGrp="1"/>
          </p:cNvSpPr>
          <p:nvPr>
            <p:ph type="title"/>
          </p:nvPr>
        </p:nvSpPr>
        <p:spPr/>
        <p:txBody>
          <a:bodyPr/>
          <a:lstStyle/>
          <a:p>
            <a:r>
              <a:rPr lang="en-US" smtClean="0"/>
              <a:t>Biomolecules - Stuck in the middle…</a:t>
            </a:r>
            <a:endParaRPr lang="en-US" dirty="0"/>
          </a:p>
        </p:txBody>
      </p:sp>
      <p:sp>
        <p:nvSpPr>
          <p:cNvPr id="6" name="Oval 5"/>
          <p:cNvSpPr/>
          <p:nvPr/>
        </p:nvSpPr>
        <p:spPr bwMode="auto">
          <a:xfrm>
            <a:off x="3915114" y="2704292"/>
            <a:ext cx="3487917" cy="3487917"/>
          </a:xfrm>
          <a:prstGeom prst="ellipse">
            <a:avLst/>
          </a:prstGeom>
          <a:solidFill>
            <a:srgbClr val="E8F4D9"/>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defRPr/>
            </a:pPr>
            <a:endParaRPr lang="en-US" sz="2400">
              <a:solidFill>
                <a:srgbClr val="666E71"/>
              </a:solidFill>
              <a:latin typeface="Arial" charset="0"/>
              <a:ea typeface="ＭＳ Ｐゴシック" pitchFamily="28" charset="-128"/>
              <a:cs typeface="Arial" charset="0"/>
            </a:endParaRPr>
          </a:p>
        </p:txBody>
      </p:sp>
      <p:sp>
        <p:nvSpPr>
          <p:cNvPr id="7" name="Oval 6"/>
          <p:cNvSpPr/>
          <p:nvPr/>
        </p:nvSpPr>
        <p:spPr bwMode="auto">
          <a:xfrm>
            <a:off x="5725197" y="2705867"/>
            <a:ext cx="3487917" cy="3487917"/>
          </a:xfrm>
          <a:prstGeom prst="ellipse">
            <a:avLst/>
          </a:prstGeom>
          <a:solidFill>
            <a:srgbClr val="4AC9FF">
              <a:alpha val="50196"/>
            </a:srgb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defRPr/>
            </a:pPr>
            <a:endParaRPr lang="en-US" sz="2400">
              <a:solidFill>
                <a:srgbClr val="666E71"/>
              </a:solidFill>
              <a:latin typeface="Arial" charset="0"/>
              <a:ea typeface="ＭＳ Ｐゴシック" pitchFamily="28" charset="-128"/>
              <a:cs typeface="Arial" charset="0"/>
            </a:endParaRPr>
          </a:p>
        </p:txBody>
      </p:sp>
      <p:pic>
        <p:nvPicPr>
          <p:cNvPr id="8" name="Picture 2"/>
          <p:cNvPicPr>
            <a:picLocks noChangeAspect="1" noChangeArrowheads="1"/>
          </p:cNvPicPr>
          <p:nvPr/>
        </p:nvPicPr>
        <p:blipFill>
          <a:blip r:embed="rId3" cstate="print"/>
          <a:srcRect/>
          <a:stretch>
            <a:fillRect/>
          </a:stretch>
        </p:blipFill>
        <p:spPr bwMode="auto">
          <a:xfrm>
            <a:off x="4311340" y="4082633"/>
            <a:ext cx="1149906" cy="734382"/>
          </a:xfrm>
          <a:prstGeom prst="rect">
            <a:avLst/>
          </a:prstGeom>
          <a:noFill/>
          <a:ln w="9525">
            <a:noFill/>
            <a:miter lim="800000"/>
            <a:headEnd/>
            <a:tailEnd/>
          </a:ln>
          <a:effectLst>
            <a:outerShdw blurRad="50800" dist="38100" dir="2700000" algn="tl" rotWithShape="0">
              <a:prstClr val="black">
                <a:alpha val="40000"/>
              </a:prstClr>
            </a:outerShdw>
          </a:effectLst>
        </p:spPr>
      </p:pic>
      <p:cxnSp>
        <p:nvCxnSpPr>
          <p:cNvPr id="9" name="Straight Connector 8"/>
          <p:cNvCxnSpPr/>
          <p:nvPr/>
        </p:nvCxnSpPr>
        <p:spPr bwMode="auto">
          <a:xfrm>
            <a:off x="6411914" y="4901443"/>
            <a:ext cx="75500" cy="37751"/>
          </a:xfrm>
          <a:prstGeom prst="line">
            <a:avLst/>
          </a:prstGeom>
          <a:solidFill>
            <a:schemeClr val="accent1"/>
          </a:solidFill>
          <a:ln w="3175" cap="flat" cmpd="sng" algn="ctr">
            <a:solidFill>
              <a:schemeClr val="tx1">
                <a:lumMod val="75000"/>
                <a:lumOff val="25000"/>
              </a:schemeClr>
            </a:solidFill>
            <a:prstDash val="solid"/>
            <a:round/>
            <a:headEnd type="none" w="med" len="med"/>
            <a:tailEnd type="none" w="med" len="med"/>
          </a:ln>
          <a:effectLst/>
        </p:spPr>
      </p:cxnSp>
      <p:pic>
        <p:nvPicPr>
          <p:cNvPr id="10" name="Picture 2"/>
          <p:cNvPicPr>
            <a:picLocks noChangeAspect="1" noChangeArrowheads="1"/>
          </p:cNvPicPr>
          <p:nvPr/>
        </p:nvPicPr>
        <p:blipFill>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69155" y="3533849"/>
            <a:ext cx="1373191" cy="1828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5766857" y="3416417"/>
            <a:ext cx="1203313" cy="160255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cstate="print"/>
          <a:srcRect/>
          <a:stretch>
            <a:fillRect/>
          </a:stretch>
        </p:blipFill>
        <p:spPr bwMode="auto">
          <a:xfrm>
            <a:off x="6448759" y="4868146"/>
            <a:ext cx="843439" cy="538658"/>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13" name="Rectangle 12"/>
          <p:cNvSpPr/>
          <p:nvPr/>
        </p:nvSpPr>
        <p:spPr>
          <a:xfrm>
            <a:off x="2692853" y="4135568"/>
            <a:ext cx="1212263" cy="646331"/>
          </a:xfrm>
          <a:prstGeom prst="rect">
            <a:avLst/>
          </a:prstGeom>
        </p:spPr>
        <p:txBody>
          <a:bodyPr wrap="square">
            <a:spAutoFit/>
          </a:bodyPr>
          <a:lstStyle/>
          <a:p>
            <a:pPr algn="ctr" defTabSz="914400" fontAlgn="base">
              <a:spcBef>
                <a:spcPct val="0"/>
              </a:spcBef>
              <a:spcAft>
                <a:spcPct val="0"/>
              </a:spcAft>
              <a:defRPr/>
            </a:pPr>
            <a:r>
              <a:rPr lang="en-US" dirty="0">
                <a:solidFill>
                  <a:srgbClr val="4C5156"/>
                </a:solidFill>
                <a:latin typeface="Calibri" pitchFamily="34" charset="0"/>
                <a:cs typeface="Arial" charset="0"/>
              </a:rPr>
              <a:t>Small Molecules</a:t>
            </a:r>
          </a:p>
        </p:txBody>
      </p:sp>
      <p:sp>
        <p:nvSpPr>
          <p:cNvPr id="14" name="Rectangle 13"/>
          <p:cNvSpPr/>
          <p:nvPr/>
        </p:nvSpPr>
        <p:spPr>
          <a:xfrm>
            <a:off x="9228880" y="4263584"/>
            <a:ext cx="1439121" cy="646331"/>
          </a:xfrm>
          <a:prstGeom prst="rect">
            <a:avLst/>
          </a:prstGeom>
        </p:spPr>
        <p:txBody>
          <a:bodyPr wrap="square">
            <a:spAutoFit/>
          </a:bodyPr>
          <a:lstStyle/>
          <a:p>
            <a:pPr defTabSz="914400" fontAlgn="base">
              <a:spcBef>
                <a:spcPct val="0"/>
              </a:spcBef>
              <a:spcAft>
                <a:spcPct val="0"/>
              </a:spcAft>
              <a:defRPr/>
            </a:pPr>
            <a:r>
              <a:rPr lang="en-US" dirty="0">
                <a:solidFill>
                  <a:srgbClr val="4C5156"/>
                </a:solidFill>
                <a:latin typeface="Calibri" pitchFamily="34" charset="0"/>
                <a:cs typeface="Arial" charset="0"/>
              </a:rPr>
              <a:t>Sequence</a:t>
            </a:r>
          </a:p>
          <a:p>
            <a:pPr defTabSz="914400" fontAlgn="base">
              <a:spcBef>
                <a:spcPct val="0"/>
              </a:spcBef>
              <a:spcAft>
                <a:spcPct val="0"/>
              </a:spcAft>
              <a:defRPr/>
            </a:pPr>
            <a:r>
              <a:rPr lang="en-US" dirty="0">
                <a:solidFill>
                  <a:srgbClr val="4C5156"/>
                </a:solidFill>
                <a:latin typeface="Calibri" pitchFamily="34" charset="0"/>
                <a:cs typeface="Arial" charset="0"/>
              </a:rPr>
              <a:t>information</a:t>
            </a:r>
          </a:p>
        </p:txBody>
      </p:sp>
      <p:sp>
        <p:nvSpPr>
          <p:cNvPr id="15" name="Rectangle 14"/>
          <p:cNvSpPr/>
          <p:nvPr/>
        </p:nvSpPr>
        <p:spPr>
          <a:xfrm>
            <a:off x="5793412" y="6211255"/>
            <a:ext cx="1441420" cy="369332"/>
          </a:xfrm>
          <a:prstGeom prst="rect">
            <a:avLst/>
          </a:prstGeom>
        </p:spPr>
        <p:txBody>
          <a:bodyPr wrap="none">
            <a:spAutoFit/>
          </a:bodyPr>
          <a:lstStyle/>
          <a:p>
            <a:pPr defTabSz="914400" fontAlgn="base">
              <a:spcBef>
                <a:spcPct val="0"/>
              </a:spcBef>
              <a:spcAft>
                <a:spcPct val="0"/>
              </a:spcAft>
              <a:defRPr/>
            </a:pPr>
            <a:r>
              <a:rPr lang="en-US" dirty="0">
                <a:solidFill>
                  <a:srgbClr val="4C5156"/>
                </a:solidFill>
                <a:latin typeface="Calibri" pitchFamily="34" charset="0"/>
                <a:cs typeface="Arial" charset="0"/>
              </a:rPr>
              <a:t>Biomolecules</a:t>
            </a:r>
          </a:p>
        </p:txBody>
      </p:sp>
      <p:sp>
        <p:nvSpPr>
          <p:cNvPr id="16" name="TextBox 15"/>
          <p:cNvSpPr txBox="1"/>
          <p:nvPr/>
        </p:nvSpPr>
        <p:spPr>
          <a:xfrm>
            <a:off x="3518119" y="2198514"/>
            <a:ext cx="2140953" cy="307777"/>
          </a:xfrm>
          <a:prstGeom prst="rect">
            <a:avLst/>
          </a:prstGeom>
          <a:solidFill>
            <a:srgbClr val="E8F4D9"/>
          </a:solidFill>
          <a:ln>
            <a:solidFill>
              <a:srgbClr val="8AC53A"/>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defTabSz="914400" fontAlgn="base">
              <a:spcBef>
                <a:spcPct val="0"/>
              </a:spcBef>
              <a:spcAft>
                <a:spcPct val="0"/>
              </a:spcAft>
              <a:defRPr/>
            </a:pPr>
            <a:r>
              <a:rPr lang="en-US" sz="1400" dirty="0">
                <a:solidFill>
                  <a:srgbClr val="4C5156"/>
                </a:solidFill>
                <a:latin typeface="Calibri"/>
              </a:rPr>
              <a:t>Small Molecule Tools</a:t>
            </a:r>
          </a:p>
        </p:txBody>
      </p:sp>
      <p:sp>
        <p:nvSpPr>
          <p:cNvPr id="17" name="TextBox 16"/>
          <p:cNvSpPr txBox="1"/>
          <p:nvPr/>
        </p:nvSpPr>
        <p:spPr>
          <a:xfrm>
            <a:off x="7403031" y="2198513"/>
            <a:ext cx="2140953" cy="307777"/>
          </a:xfrm>
          <a:prstGeom prst="rect">
            <a:avLst/>
          </a:prstGeom>
          <a:solidFill>
            <a:srgbClr val="4AC9FF">
              <a:alpha val="49000"/>
            </a:srgbClr>
          </a:solidFill>
          <a:ln>
            <a:solidFill>
              <a:srgbClr val="8AC53A"/>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defTabSz="914400" fontAlgn="base">
              <a:spcBef>
                <a:spcPct val="0"/>
              </a:spcBef>
              <a:spcAft>
                <a:spcPct val="0"/>
              </a:spcAft>
              <a:defRPr/>
            </a:pPr>
            <a:r>
              <a:rPr lang="en-US" sz="1400" dirty="0">
                <a:solidFill>
                  <a:srgbClr val="4C5156"/>
                </a:solidFill>
                <a:latin typeface="Calibri"/>
              </a:rPr>
              <a:t>Sequence-Based Tools</a:t>
            </a:r>
          </a:p>
        </p:txBody>
      </p:sp>
      <p:sp>
        <p:nvSpPr>
          <p:cNvPr id="18" name="TextBox 17"/>
          <p:cNvSpPr txBox="1"/>
          <p:nvPr/>
        </p:nvSpPr>
        <p:spPr>
          <a:xfrm>
            <a:off x="6336876" y="1556792"/>
            <a:ext cx="440313" cy="949498"/>
          </a:xfrm>
          <a:prstGeom prst="rect">
            <a:avLst/>
          </a:prstGeom>
          <a:solidFill>
            <a:srgbClr val="4AC9FF">
              <a:alpha val="49000"/>
            </a:srgbClr>
          </a:solidFill>
          <a:ln>
            <a:noFill/>
          </a:ln>
          <a:effectLst/>
        </p:spPr>
        <p:style>
          <a:lnRef idx="1">
            <a:schemeClr val="accent1"/>
          </a:lnRef>
          <a:fillRef idx="2">
            <a:schemeClr val="accent1"/>
          </a:fillRef>
          <a:effectRef idx="1">
            <a:schemeClr val="accent1"/>
          </a:effectRef>
          <a:fontRef idx="minor">
            <a:schemeClr val="dk1"/>
          </a:fontRef>
        </p:style>
        <p:txBody>
          <a:bodyPr vert="wordArtVert" wrap="square" rtlCol="0" anchor="ctr" anchorCtr="1">
            <a:spAutoFit/>
          </a:bodyPr>
          <a:lstStyle/>
          <a:p>
            <a:pPr algn="ctr" defTabSz="914400" fontAlgn="base">
              <a:spcBef>
                <a:spcPct val="0"/>
              </a:spcBef>
              <a:spcAft>
                <a:spcPct val="0"/>
              </a:spcAft>
              <a:defRPr/>
            </a:pPr>
            <a:endParaRPr lang="en-US" sz="1400" dirty="0">
              <a:solidFill>
                <a:srgbClr val="4C5156"/>
              </a:solidFill>
              <a:latin typeface="Calibri"/>
            </a:endParaRPr>
          </a:p>
        </p:txBody>
      </p:sp>
      <p:cxnSp>
        <p:nvCxnSpPr>
          <p:cNvPr id="20" name="Straight Connector 19"/>
          <p:cNvCxnSpPr/>
          <p:nvPr/>
        </p:nvCxnSpPr>
        <p:spPr bwMode="auto">
          <a:xfrm>
            <a:off x="6564745" y="2570299"/>
            <a:ext cx="0" cy="291515"/>
          </a:xfrm>
          <a:prstGeom prst="line">
            <a:avLst/>
          </a:prstGeom>
          <a:solidFill>
            <a:schemeClr val="accent1"/>
          </a:solidFill>
          <a:ln w="38100" cap="flat" cmpd="sng" algn="ctr">
            <a:solidFill>
              <a:srgbClr val="003366"/>
            </a:solidFill>
            <a:prstDash val="solid"/>
            <a:round/>
            <a:headEnd type="none" w="med" len="med"/>
            <a:tailEnd type="triangle" w="med" len="med"/>
          </a:ln>
          <a:effectLst/>
        </p:spPr>
      </p:cxnSp>
      <p:pic>
        <p:nvPicPr>
          <p:cNvPr id="5" name="Picture 4"/>
          <p:cNvPicPr>
            <a:picLocks noChangeAspect="1"/>
          </p:cNvPicPr>
          <p:nvPr/>
        </p:nvPicPr>
        <p:blipFill rotWithShape="1">
          <a:blip r:embed="rId6"/>
          <a:srcRect l="27386" r="26866"/>
          <a:stretch/>
        </p:blipFill>
        <p:spPr>
          <a:xfrm>
            <a:off x="1703512" y="1484784"/>
            <a:ext cx="1619734" cy="2253072"/>
          </a:xfrm>
          <a:prstGeom prst="rect">
            <a:avLst/>
          </a:prstGeom>
        </p:spPr>
      </p:pic>
    </p:spTree>
    <p:extLst>
      <p:ext uri="{BB962C8B-B14F-4D97-AF65-F5344CB8AC3E}">
        <p14:creationId xmlns:p14="http://schemas.microsoft.com/office/powerpoint/2010/main" val="337924499"/>
      </p:ext>
    </p:extLst>
  </p:cSld>
  <p:clrMapOvr>
    <a:masterClrMapping/>
  </p:clrMapOvr>
  <mc:AlternateContent xmlns:mc="http://schemas.openxmlformats.org/markup-compatibility/2006" xmlns:p14="http://schemas.microsoft.com/office/powerpoint/2010/main">
    <mc:Choice Requires="p14">
      <p:transition spd="slow" p14:dur="1250" advTm="119622">
        <p:fade/>
      </p:transition>
    </mc:Choice>
    <mc:Fallback xmlns="">
      <p:transition spd="slow" advTm="119622">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8914"/>
            <a:ext cx="9422837" cy="954107"/>
          </a:xfrm>
        </p:spPr>
        <p:txBody>
          <a:bodyPr/>
          <a:lstStyle/>
          <a:p>
            <a:r>
              <a:rPr lang="en-GB" sz="3600" dirty="0" err="1" smtClean="0"/>
              <a:t>Mipomersen</a:t>
            </a:r>
            <a:r>
              <a:rPr lang="en-GB" sz="3600" dirty="0" smtClean="0"/>
              <a:t> – As a </a:t>
            </a:r>
            <a:r>
              <a:rPr lang="en-GB" sz="3600" dirty="0"/>
              <a:t>C</a:t>
            </a:r>
            <a:r>
              <a:rPr lang="en-GB" sz="3600" dirty="0" smtClean="0"/>
              <a:t>hemical </a:t>
            </a:r>
            <a:r>
              <a:rPr lang="en-GB" sz="3600" dirty="0"/>
              <a:t>S</a:t>
            </a:r>
            <a:r>
              <a:rPr lang="en-GB" sz="3600" dirty="0" smtClean="0"/>
              <a:t>tructure</a:t>
            </a:r>
            <a:r>
              <a:rPr lang="en-GB" dirty="0" smtClean="0"/>
              <a:t/>
            </a:r>
            <a:br>
              <a:rPr lang="en-GB" dirty="0" smtClean="0"/>
            </a:br>
            <a:r>
              <a:rPr lang="en-US" altLang="en-US" sz="2000" dirty="0" smtClean="0">
                <a:latin typeface="Arial" panose="020B0604020202020204" pitchFamily="34" charset="0"/>
                <a:cs typeface="Arial" panose="020B0604020202020204" pitchFamily="34" charset="0"/>
              </a:rPr>
              <a:t>A homozygous </a:t>
            </a:r>
            <a:r>
              <a:rPr lang="en-US" altLang="en-US" sz="2000" dirty="0">
                <a:latin typeface="Arial" panose="020B0604020202020204" pitchFamily="34" charset="0"/>
                <a:cs typeface="Arial" panose="020B0604020202020204" pitchFamily="34" charset="0"/>
              </a:rPr>
              <a:t>familial </a:t>
            </a:r>
            <a:r>
              <a:rPr lang="en-US" altLang="en-US" sz="2000" dirty="0" smtClean="0">
                <a:latin typeface="Arial" panose="020B0604020202020204" pitchFamily="34" charset="0"/>
                <a:cs typeface="Arial" panose="020B0604020202020204" pitchFamily="34" charset="0"/>
              </a:rPr>
              <a:t>hypercholesterolemia drug (IONIS)</a:t>
            </a:r>
            <a:endParaRPr lang="en-GB"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9</a:t>
            </a:fld>
            <a:endParaRPr lang="en-US" dirty="0"/>
          </a:p>
        </p:txBody>
      </p:sp>
      <p:pic>
        <p:nvPicPr>
          <p:cNvPr id="9" name="Picture 8"/>
          <p:cNvPicPr>
            <a:picLocks noChangeAspect="1"/>
          </p:cNvPicPr>
          <p:nvPr/>
        </p:nvPicPr>
        <p:blipFill>
          <a:blip r:embed="rId3"/>
          <a:stretch>
            <a:fillRect/>
          </a:stretch>
        </p:blipFill>
        <p:spPr>
          <a:xfrm>
            <a:off x="223734" y="1585998"/>
            <a:ext cx="7530061" cy="4824536"/>
          </a:xfrm>
          <a:prstGeom prst="rect">
            <a:avLst/>
          </a:prstGeom>
        </p:spPr>
      </p:pic>
      <p:sp>
        <p:nvSpPr>
          <p:cNvPr id="11" name="Rectangle 10"/>
          <p:cNvSpPr/>
          <p:nvPr/>
        </p:nvSpPr>
        <p:spPr>
          <a:xfrm>
            <a:off x="7080109" y="1681489"/>
            <a:ext cx="4992555" cy="2800767"/>
          </a:xfrm>
          <a:prstGeom prst="rect">
            <a:avLst/>
          </a:prstGeom>
        </p:spPr>
        <p:txBody>
          <a:bodyPr wrap="square">
            <a:spAutoFit/>
          </a:bodyPr>
          <a:lstStyle/>
          <a:p>
            <a:r>
              <a:rPr lang="en-US" sz="1600" b="1" dirty="0" smtClean="0">
                <a:solidFill>
                  <a:srgbClr val="222222"/>
                </a:solidFill>
                <a:latin typeface="Arial" panose="020B0604020202020204" pitchFamily="34" charset="0"/>
              </a:rPr>
              <a:t>Description</a:t>
            </a:r>
          </a:p>
          <a:p>
            <a:endParaRPr lang="en-US" sz="1600" b="1" dirty="0" smtClean="0">
              <a:solidFill>
                <a:srgbClr val="222222"/>
              </a:solidFill>
              <a:latin typeface="Arial" panose="020B0604020202020204" pitchFamily="34" charset="0"/>
            </a:endParaRPr>
          </a:p>
          <a:p>
            <a:pPr marL="285750" indent="-285750">
              <a:buFontTx/>
              <a:buChar char="-"/>
            </a:pPr>
            <a:r>
              <a:rPr lang="en-US" sz="1600" dirty="0" smtClean="0">
                <a:solidFill>
                  <a:srgbClr val="222222"/>
                </a:solidFill>
                <a:latin typeface="Arial" panose="020B0604020202020204" pitchFamily="34" charset="0"/>
              </a:rPr>
              <a:t>'second-generation</a:t>
            </a:r>
            <a:r>
              <a:rPr lang="en-US" sz="1600" dirty="0">
                <a:solidFill>
                  <a:srgbClr val="222222"/>
                </a:solidFill>
                <a:latin typeface="Arial" panose="020B0604020202020204" pitchFamily="34" charset="0"/>
              </a:rPr>
              <a:t>' </a:t>
            </a:r>
            <a:r>
              <a:rPr lang="en-US" sz="1600" dirty="0">
                <a:solidFill>
                  <a:srgbClr val="0B0080"/>
                </a:solidFill>
                <a:latin typeface="Arial" panose="020B0604020202020204" pitchFamily="34" charset="0"/>
                <a:hlinkClick r:id="rId4" tooltip="Antisense oligonucleotide"/>
              </a:rPr>
              <a:t>antisense </a:t>
            </a:r>
            <a:r>
              <a:rPr lang="en-US" sz="1600" dirty="0" smtClean="0">
                <a:solidFill>
                  <a:srgbClr val="0B0080"/>
                </a:solidFill>
                <a:latin typeface="Arial" panose="020B0604020202020204" pitchFamily="34" charset="0"/>
                <a:hlinkClick r:id="rId4" tooltip="Antisense oligonucleotide"/>
              </a:rPr>
              <a:t>oligonucleotide</a:t>
            </a:r>
            <a:endParaRPr lang="en-US" sz="1600" dirty="0">
              <a:solidFill>
                <a:srgbClr val="222222"/>
              </a:solidFill>
              <a:latin typeface="Arial" panose="020B0604020202020204" pitchFamily="34" charset="0"/>
            </a:endParaRPr>
          </a:p>
          <a:p>
            <a:pPr marL="285750" indent="-285750">
              <a:buFontTx/>
              <a:buChar char="-"/>
            </a:pPr>
            <a:endParaRPr lang="en-US" sz="1600" dirty="0" smtClean="0">
              <a:solidFill>
                <a:srgbClr val="222222"/>
              </a:solidFill>
              <a:latin typeface="Arial" panose="020B0604020202020204" pitchFamily="34" charset="0"/>
            </a:endParaRPr>
          </a:p>
          <a:p>
            <a:pPr marL="285750" indent="-285750">
              <a:buFontTx/>
              <a:buChar char="-"/>
            </a:pPr>
            <a:r>
              <a:rPr lang="en-US" sz="1600" dirty="0" smtClean="0">
                <a:solidFill>
                  <a:srgbClr val="222222"/>
                </a:solidFill>
                <a:latin typeface="Arial" panose="020B0604020202020204" pitchFamily="34" charset="0"/>
              </a:rPr>
              <a:t>nucleotides </a:t>
            </a:r>
            <a:r>
              <a:rPr lang="en-US" sz="1600" dirty="0">
                <a:solidFill>
                  <a:srgbClr val="222222"/>
                </a:solidFill>
                <a:latin typeface="Arial" panose="020B0604020202020204" pitchFamily="34" charset="0"/>
              </a:rPr>
              <a:t>are linked </a:t>
            </a:r>
            <a:r>
              <a:rPr lang="en-US" sz="1600" dirty="0" smtClean="0">
                <a:solidFill>
                  <a:srgbClr val="222222"/>
                </a:solidFill>
                <a:latin typeface="Arial" panose="020B0604020202020204" pitchFamily="34" charset="0"/>
              </a:rPr>
              <a:t>with</a:t>
            </a:r>
            <a:r>
              <a:rPr lang="en-US" sz="1600" dirty="0">
                <a:solidFill>
                  <a:srgbClr val="222222"/>
                </a:solidFill>
                <a:latin typeface="Arial" panose="020B0604020202020204" pitchFamily="34" charset="0"/>
              </a:rPr>
              <a:t> </a:t>
            </a:r>
            <a:r>
              <a:rPr lang="en-US" sz="1600" dirty="0" smtClean="0">
                <a:solidFill>
                  <a:srgbClr val="0B0080"/>
                </a:solidFill>
                <a:latin typeface="Arial" panose="020B0604020202020204" pitchFamily="34" charset="0"/>
                <a:hlinkClick r:id="rId5" tooltip="Thiophosphate"/>
              </a:rPr>
              <a:t>phosphorothioate</a:t>
            </a:r>
            <a:r>
              <a:rPr lang="en-US" sz="1600" dirty="0">
                <a:solidFill>
                  <a:srgbClr val="0B0080"/>
                </a:solidFill>
                <a:latin typeface="Arial" panose="020B0604020202020204" pitchFamily="34" charset="0"/>
              </a:rPr>
              <a:t> </a:t>
            </a:r>
            <a:r>
              <a:rPr lang="en-US" sz="1600" dirty="0" smtClean="0">
                <a:solidFill>
                  <a:srgbClr val="222222"/>
                </a:solidFill>
                <a:latin typeface="Arial" panose="020B0604020202020204" pitchFamily="34" charset="0"/>
              </a:rPr>
              <a:t>linkages </a:t>
            </a:r>
            <a:r>
              <a:rPr lang="en-US" sz="1600" dirty="0">
                <a:solidFill>
                  <a:srgbClr val="222222"/>
                </a:solidFill>
                <a:latin typeface="Arial" panose="020B0604020202020204" pitchFamily="34" charset="0"/>
              </a:rPr>
              <a:t>rather than the </a:t>
            </a:r>
            <a:r>
              <a:rPr lang="en-US" sz="1600" dirty="0">
                <a:solidFill>
                  <a:srgbClr val="0B0080"/>
                </a:solidFill>
                <a:latin typeface="Arial" panose="020B0604020202020204" pitchFamily="34" charset="0"/>
                <a:hlinkClick r:id="rId6" tooltip="Phosphodiester"/>
              </a:rPr>
              <a:t>phosphodiester</a:t>
            </a:r>
            <a:r>
              <a:rPr lang="en-US" sz="1600" dirty="0">
                <a:solidFill>
                  <a:srgbClr val="222222"/>
                </a:solidFill>
                <a:latin typeface="Arial" panose="020B0604020202020204" pitchFamily="34" charset="0"/>
              </a:rPr>
              <a:t> linkages </a:t>
            </a:r>
            <a:r>
              <a:rPr lang="en-US" sz="1600" dirty="0" smtClean="0">
                <a:solidFill>
                  <a:srgbClr val="222222"/>
                </a:solidFill>
                <a:latin typeface="Arial" panose="020B0604020202020204" pitchFamily="34" charset="0"/>
              </a:rPr>
              <a:t>for</a:t>
            </a:r>
            <a:r>
              <a:rPr lang="en-US" sz="1600" dirty="0">
                <a:solidFill>
                  <a:srgbClr val="222222"/>
                </a:solidFill>
                <a:latin typeface="Arial" panose="020B0604020202020204" pitchFamily="34" charset="0"/>
              </a:rPr>
              <a:t> </a:t>
            </a:r>
            <a:r>
              <a:rPr lang="en-US" sz="1600" dirty="0">
                <a:solidFill>
                  <a:srgbClr val="0B0080"/>
                </a:solidFill>
                <a:latin typeface="Arial" panose="020B0604020202020204" pitchFamily="34" charset="0"/>
                <a:hlinkClick r:id="rId7" tooltip="Ribonucleic acid"/>
              </a:rPr>
              <a:t>RNA</a:t>
            </a:r>
            <a:r>
              <a:rPr lang="en-US" sz="1600" dirty="0">
                <a:solidFill>
                  <a:srgbClr val="222222"/>
                </a:solidFill>
                <a:latin typeface="Arial" panose="020B0604020202020204" pitchFamily="34" charset="0"/>
              </a:rPr>
              <a:t> and </a:t>
            </a:r>
            <a:r>
              <a:rPr lang="en-US" sz="1600" dirty="0">
                <a:solidFill>
                  <a:srgbClr val="0B0080"/>
                </a:solidFill>
                <a:latin typeface="Arial" panose="020B0604020202020204" pitchFamily="34" charset="0"/>
                <a:hlinkClick r:id="rId8" tooltip="Deoxyribonucleic acid"/>
              </a:rPr>
              <a:t>DNA</a:t>
            </a:r>
            <a:r>
              <a:rPr lang="en-US" sz="1600" dirty="0">
                <a:solidFill>
                  <a:srgbClr val="222222"/>
                </a:solidFill>
                <a:latin typeface="Arial" panose="020B0604020202020204" pitchFamily="34" charset="0"/>
              </a:rPr>
              <a:t>, </a:t>
            </a:r>
            <a:endParaRPr lang="en-US" sz="1600" dirty="0" smtClean="0">
              <a:solidFill>
                <a:srgbClr val="222222"/>
              </a:solidFill>
              <a:latin typeface="Arial" panose="020B0604020202020204" pitchFamily="34" charset="0"/>
            </a:endParaRPr>
          </a:p>
          <a:p>
            <a:pPr marL="285750" indent="-285750">
              <a:buFontTx/>
              <a:buChar char="-"/>
            </a:pPr>
            <a:endParaRPr lang="en-US" sz="1600" dirty="0" smtClean="0">
              <a:solidFill>
                <a:srgbClr val="222222"/>
              </a:solidFill>
              <a:latin typeface="Arial" panose="020B0604020202020204" pitchFamily="34" charset="0"/>
            </a:endParaRPr>
          </a:p>
          <a:p>
            <a:pPr marL="285750" indent="-285750">
              <a:buFontTx/>
              <a:buChar char="-"/>
            </a:pPr>
            <a:r>
              <a:rPr lang="en-US" sz="1600" dirty="0" smtClean="0">
                <a:solidFill>
                  <a:srgbClr val="222222"/>
                </a:solidFill>
                <a:latin typeface="Arial" panose="020B0604020202020204" pitchFamily="34" charset="0"/>
              </a:rPr>
              <a:t>sugar </a:t>
            </a:r>
            <a:r>
              <a:rPr lang="en-US" sz="1600" dirty="0">
                <a:solidFill>
                  <a:srgbClr val="222222"/>
                </a:solidFill>
                <a:latin typeface="Arial" panose="020B0604020202020204" pitchFamily="34" charset="0"/>
              </a:rPr>
              <a:t>parts are </a:t>
            </a:r>
            <a:r>
              <a:rPr lang="en-US" sz="1600" dirty="0">
                <a:solidFill>
                  <a:srgbClr val="0B0080"/>
                </a:solidFill>
                <a:latin typeface="Arial" panose="020B0604020202020204" pitchFamily="34" charset="0"/>
                <a:hlinkClick r:id="rId9" tooltip="Deoxyribose"/>
              </a:rPr>
              <a:t>deoxyribose</a:t>
            </a:r>
            <a:r>
              <a:rPr lang="en-US" sz="1600" dirty="0">
                <a:solidFill>
                  <a:srgbClr val="222222"/>
                </a:solidFill>
                <a:latin typeface="Arial" panose="020B0604020202020204" pitchFamily="34" charset="0"/>
              </a:rPr>
              <a:t> in the middle part of the molecule and 2’-</a:t>
            </a:r>
            <a:r>
              <a:rPr lang="en-US" sz="1600" i="1" dirty="0">
                <a:solidFill>
                  <a:srgbClr val="222222"/>
                </a:solidFill>
                <a:latin typeface="Arial" panose="020B0604020202020204" pitchFamily="34" charset="0"/>
              </a:rPr>
              <a:t>O</a:t>
            </a:r>
            <a:r>
              <a:rPr lang="en-US" sz="1600" dirty="0">
                <a:solidFill>
                  <a:srgbClr val="222222"/>
                </a:solidFill>
                <a:latin typeface="Arial" panose="020B0604020202020204" pitchFamily="34" charset="0"/>
              </a:rPr>
              <a:t>-methoxyethyl-modified ribose at the two ends. </a:t>
            </a:r>
            <a:endParaRPr lang="en-US" sz="1600" dirty="0"/>
          </a:p>
        </p:txBody>
      </p:sp>
      <p:sp>
        <p:nvSpPr>
          <p:cNvPr id="12" name="Rectangle 11"/>
          <p:cNvSpPr/>
          <p:nvPr/>
        </p:nvSpPr>
        <p:spPr>
          <a:xfrm>
            <a:off x="7730131" y="6006912"/>
            <a:ext cx="4213333" cy="369332"/>
          </a:xfrm>
          <a:prstGeom prst="rect">
            <a:avLst/>
          </a:prstGeom>
        </p:spPr>
        <p:txBody>
          <a:bodyPr wrap="none">
            <a:spAutoFit/>
          </a:bodyPr>
          <a:lstStyle/>
          <a:p>
            <a:r>
              <a:rPr lang="en-US" dirty="0"/>
              <a:t>https://</a:t>
            </a:r>
            <a:r>
              <a:rPr lang="en-US" dirty="0" smtClean="0"/>
              <a:t>en.wikipedia.org/</a:t>
            </a:r>
            <a:r>
              <a:rPr lang="en-US" dirty="0"/>
              <a:t>ik</a:t>
            </a:r>
            <a:r>
              <a:rPr lang="en-US" dirty="0" smtClean="0"/>
              <a:t>wi/Mipomersen</a:t>
            </a:r>
            <a:endParaRPr lang="en-US" dirty="0"/>
          </a:p>
        </p:txBody>
      </p:sp>
    </p:spTree>
    <p:extLst>
      <p:ext uri="{BB962C8B-B14F-4D97-AF65-F5344CB8AC3E}">
        <p14:creationId xmlns:p14="http://schemas.microsoft.com/office/powerpoint/2010/main" val="3073302446"/>
      </p:ext>
    </p:extLst>
  </p:cSld>
  <p:clrMapOvr>
    <a:masterClrMapping/>
  </p:clrMapOvr>
  <mc:AlternateContent xmlns:mc="http://schemas.openxmlformats.org/markup-compatibility/2006" xmlns:p14="http://schemas.microsoft.com/office/powerpoint/2010/main">
    <mc:Choice Requires="p14">
      <p:transition spd="slow" p14:dur="1250" advTm="72879">
        <p:fade/>
      </p:transition>
    </mc:Choice>
    <mc:Fallback xmlns="">
      <p:transition spd="slow" advTm="72879">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Mipomersen</a:t>
            </a:r>
            <a:r>
              <a:rPr lang="en-GB" dirty="0" smtClean="0"/>
              <a:t> – </a:t>
            </a:r>
            <a:r>
              <a:rPr lang="en-GB" sz="3600" dirty="0" smtClean="0"/>
              <a:t>As An Annotated Sequence </a:t>
            </a:r>
            <a:endParaRPr lang="en-GB" sz="3600"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10</a:t>
            </a:fld>
            <a:endParaRPr lang="en-US" dirty="0"/>
          </a:p>
        </p:txBody>
      </p:sp>
      <p:sp>
        <p:nvSpPr>
          <p:cNvPr id="8" name="Rectangle 1"/>
          <p:cNvSpPr>
            <a:spLocks noChangeArrowheads="1"/>
          </p:cNvSpPr>
          <p:nvPr/>
        </p:nvSpPr>
        <p:spPr bwMode="auto">
          <a:xfrm>
            <a:off x="6744072" y="3817736"/>
            <a:ext cx="49685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defTabSz="914400" eaLnBrk="0" fontAlgn="base" hangingPunct="0">
              <a:spcBef>
                <a:spcPct val="0"/>
              </a:spcBef>
              <a:spcAft>
                <a:spcPct val="0"/>
              </a:spcAft>
            </a:pPr>
            <a:r>
              <a:rPr lang="en-US" altLang="en-US" sz="1400" dirty="0" smtClean="0">
                <a:latin typeface="Arial" panose="020B0604020202020204" pitchFamily="34" charset="0"/>
                <a:cs typeface="Arial" panose="020B0604020202020204" pitchFamily="34" charset="0"/>
              </a:rPr>
              <a:t>Compact, humanly understandable with adequate annotation.</a:t>
            </a:r>
          </a:p>
          <a:p>
            <a:pPr defTabSz="914400"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defTabSz="914400" eaLnBrk="0" fontAlgn="base" hangingPunct="0">
              <a:spcBef>
                <a:spcPct val="0"/>
              </a:spcBef>
              <a:spcAft>
                <a:spcPct val="0"/>
              </a:spcAft>
            </a:pPr>
            <a:r>
              <a:rPr lang="en-US" altLang="en-US" sz="1400" dirty="0" smtClean="0">
                <a:latin typeface="Arial" panose="020B0604020202020204" pitchFamily="34" charset="0"/>
                <a:cs typeface="Arial" panose="020B0604020202020204" pitchFamily="34" charset="0"/>
              </a:rPr>
              <a:t>GAP: automatic interpretation of notation</a:t>
            </a:r>
            <a:endParaRPr lang="en-US" altLang="en-US" sz="2400" dirty="0">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3"/>
          <a:stretch>
            <a:fillRect/>
          </a:stretch>
        </p:blipFill>
        <p:spPr>
          <a:xfrm>
            <a:off x="610002" y="1571427"/>
            <a:ext cx="5814464" cy="3945805"/>
          </a:xfrm>
          <a:prstGeom prst="rect">
            <a:avLst/>
          </a:prstGeom>
        </p:spPr>
      </p:pic>
      <p:sp>
        <p:nvSpPr>
          <p:cNvPr id="13" name="Rectangle 12"/>
          <p:cNvSpPr/>
          <p:nvPr/>
        </p:nvSpPr>
        <p:spPr>
          <a:xfrm>
            <a:off x="6744072" y="1577086"/>
            <a:ext cx="5323590" cy="1754326"/>
          </a:xfrm>
          <a:prstGeom prst="rect">
            <a:avLst/>
          </a:prstGeom>
          <a:ln>
            <a:solidFill>
              <a:schemeClr val="bg1">
                <a:lumMod val="65000"/>
              </a:schemeClr>
            </a:solidFill>
          </a:ln>
        </p:spPr>
        <p:txBody>
          <a:bodyPr wrap="square">
            <a:spAutoFit/>
          </a:bodyPr>
          <a:lstStyle/>
          <a:p>
            <a:pPr lvl="0" defTabSz="914400" eaLnBrk="0" fontAlgn="base" hangingPunct="0">
              <a:spcBef>
                <a:spcPct val="0"/>
              </a:spcBef>
              <a:spcAft>
                <a:spcPct val="0"/>
              </a:spcAft>
            </a:pPr>
            <a:r>
              <a:rPr lang="en-US" altLang="en-US" dirty="0">
                <a:solidFill>
                  <a:srgbClr val="000000"/>
                </a:solidFill>
                <a:latin typeface="Courier New" panose="02070309020205020404" pitchFamily="49" charset="0"/>
                <a:cs typeface="Courier New" panose="02070309020205020404" pitchFamily="49" charset="0"/>
              </a:rPr>
              <a:t>5’—</a:t>
            </a:r>
            <a:r>
              <a:rPr lang="en-US" altLang="en-US" dirty="0">
                <a:solidFill>
                  <a:srgbClr val="0B0080"/>
                </a:solidFill>
                <a:latin typeface="Courier New" panose="02070309020205020404" pitchFamily="49" charset="0"/>
                <a:cs typeface="Courier New" panose="02070309020205020404" pitchFamily="49" charset="0"/>
                <a:hlinkClick r:id="rId4" tooltip="Guanosine"/>
              </a:rPr>
              <a:t>G</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5" tooltip="5-Methylcytidine"/>
              </a:rPr>
              <a:t>mC</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5" tooltip="5-Methylcytidine"/>
              </a:rPr>
              <a:t>mC</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6" tooltip="5-Methyluridine"/>
              </a:rPr>
              <a:t>mU</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5" tooltip="5-Methylcytidine"/>
              </a:rPr>
              <a:t>mC</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7" tooltip="Deoxyadenosine"/>
              </a:rPr>
              <a:t>dA</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8" tooltip="Deoxyguanosine"/>
              </a:rPr>
              <a:t>dG</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9" tooltip="Thymidine"/>
              </a:rPr>
              <a:t>dT</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A55858"/>
                </a:solidFill>
                <a:latin typeface="Courier New" panose="02070309020205020404" pitchFamily="49" charset="0"/>
                <a:cs typeface="Courier New" panose="02070309020205020404" pitchFamily="49" charset="0"/>
                <a:hlinkClick r:id="rId10" tooltip="Deoxymethylcytidine (page does not exist)"/>
              </a:rPr>
              <a:t>dmC</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9" tooltip="Thymidine"/>
              </a:rPr>
              <a:t>dT</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8" tooltip="Deoxyguanosine"/>
              </a:rPr>
              <a:t>dG</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A55858"/>
                </a:solidFill>
                <a:latin typeface="Courier New" panose="02070309020205020404" pitchFamily="49" charset="0"/>
                <a:cs typeface="Courier New" panose="02070309020205020404" pitchFamily="49" charset="0"/>
                <a:hlinkClick r:id="rId10" tooltip="Deoxymethylcytidine (page does not exist)"/>
              </a:rPr>
              <a:t>dmC</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9" tooltip="Thymidine"/>
              </a:rPr>
              <a:t>dT</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9" tooltip="Thymidine"/>
              </a:rPr>
              <a:t>dT</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A55858"/>
                </a:solidFill>
                <a:latin typeface="Courier New" panose="02070309020205020404" pitchFamily="49" charset="0"/>
                <a:cs typeface="Courier New" panose="02070309020205020404" pitchFamily="49" charset="0"/>
                <a:hlinkClick r:id="rId10" tooltip="Deoxymethylcytidine (page does not exist)"/>
              </a:rPr>
              <a:t>dmC</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a:solidFill>
                  <a:srgbClr val="0B0080"/>
                </a:solidFill>
                <a:latin typeface="Courier New" panose="02070309020205020404" pitchFamily="49" charset="0"/>
                <a:cs typeface="Courier New" panose="02070309020205020404" pitchFamily="49" charset="0"/>
                <a:hlinkClick r:id="rId4" tooltip="Guanosine"/>
              </a:rPr>
              <a:t>G</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5" tooltip="5-Methylcytidine"/>
              </a:rPr>
              <a:t>mC</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a:solidFill>
                  <a:srgbClr val="0B0080"/>
                </a:solidFill>
                <a:latin typeface="Courier New" panose="02070309020205020404" pitchFamily="49" charset="0"/>
                <a:cs typeface="Courier New" panose="02070309020205020404" pitchFamily="49" charset="0"/>
                <a:hlinkClick r:id="rId11" tooltip="Adenosine"/>
              </a:rPr>
              <a:t>A</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5" tooltip="5-Methylcytidine"/>
              </a:rPr>
              <a:t>mC</a:t>
            </a:r>
            <a:r>
              <a:rPr lang="en-US" altLang="en-US" dirty="0">
                <a:solidFill>
                  <a:srgbClr val="000000"/>
                </a:solidFill>
                <a:latin typeface="Courier New" panose="02070309020205020404" pitchFamily="49" charset="0"/>
                <a:cs typeface="Courier New" panose="02070309020205020404" pitchFamily="49" charset="0"/>
              </a:rPr>
              <a:t>*—</a:t>
            </a:r>
            <a:r>
              <a:rPr lang="en-US" altLang="en-US" dirty="0" err="1">
                <a:solidFill>
                  <a:srgbClr val="0B0080"/>
                </a:solidFill>
                <a:latin typeface="Courier New" panose="02070309020205020404" pitchFamily="49" charset="0"/>
                <a:cs typeface="Courier New" panose="02070309020205020404" pitchFamily="49" charset="0"/>
                <a:hlinkClick r:id="rId5" tooltip="5-Methylcytidine"/>
              </a:rPr>
              <a:t>mC</a:t>
            </a:r>
            <a:r>
              <a:rPr lang="en-US" altLang="en-US" dirty="0">
                <a:solidFill>
                  <a:srgbClr val="000000"/>
                </a:solidFill>
                <a:latin typeface="Courier New" panose="02070309020205020404" pitchFamily="49" charset="0"/>
                <a:cs typeface="Courier New" panose="02070309020205020404" pitchFamily="49" charset="0"/>
              </a:rPr>
              <a:t>*—3’</a:t>
            </a:r>
            <a:endParaRPr lang="en-US" altLang="en-US" dirty="0">
              <a:solidFill>
                <a:srgbClr val="222222"/>
              </a:solidFill>
              <a:latin typeface="Arial" panose="020B0604020202020204" pitchFamily="34" charset="0"/>
              <a:cs typeface="Arial" panose="020B0604020202020204" pitchFamily="34" charset="0"/>
            </a:endParaRPr>
          </a:p>
          <a:p>
            <a:pPr lvl="1" indent="-457200" defTabSz="914400" eaLnBrk="0" fontAlgn="base" hangingPunct="0">
              <a:spcBef>
                <a:spcPct val="0"/>
              </a:spcBef>
              <a:spcAft>
                <a:spcPct val="0"/>
              </a:spcAft>
            </a:pPr>
            <a:r>
              <a:rPr lang="en-US" altLang="en-US" dirty="0">
                <a:solidFill>
                  <a:srgbClr val="000000"/>
                </a:solidFill>
                <a:latin typeface="Courier New" panose="02070309020205020404" pitchFamily="49" charset="0"/>
                <a:cs typeface="Courier New" panose="02070309020205020404" pitchFamily="49" charset="0"/>
              </a:rPr>
              <a:t>*</a:t>
            </a:r>
            <a:r>
              <a:rPr lang="en-US" altLang="en-US" dirty="0">
                <a:solidFill>
                  <a:srgbClr val="222222"/>
                </a:solidFill>
                <a:latin typeface="Arial" panose="020B0604020202020204" pitchFamily="34" charset="0"/>
                <a:cs typeface="Arial" panose="020B0604020202020204" pitchFamily="34" charset="0"/>
              </a:rPr>
              <a:t> = 2’-</a:t>
            </a:r>
            <a:r>
              <a:rPr lang="en-US" altLang="en-US" i="1" dirty="0">
                <a:solidFill>
                  <a:srgbClr val="222222"/>
                </a:solidFill>
                <a:latin typeface="Arial" panose="020B0604020202020204" pitchFamily="34" charset="0"/>
                <a:cs typeface="Arial" panose="020B0604020202020204" pitchFamily="34" charset="0"/>
              </a:rPr>
              <a:t>O</a:t>
            </a:r>
            <a:r>
              <a:rPr lang="en-US" altLang="en-US" dirty="0">
                <a:solidFill>
                  <a:srgbClr val="222222"/>
                </a:solidFill>
                <a:latin typeface="Arial" panose="020B0604020202020204" pitchFamily="34" charset="0"/>
                <a:cs typeface="Arial" panose="020B0604020202020204" pitchFamily="34" charset="0"/>
              </a:rPr>
              <a:t>-(2-methoxyethyl)</a:t>
            </a:r>
          </a:p>
          <a:p>
            <a:pPr lvl="1" indent="-457200" defTabSz="914400" eaLnBrk="0" fontAlgn="base" hangingPunct="0">
              <a:spcBef>
                <a:spcPct val="0"/>
              </a:spcBef>
              <a:spcAft>
                <a:spcPct val="0"/>
              </a:spcAft>
            </a:pPr>
            <a:r>
              <a:rPr lang="en-US" altLang="en-US" dirty="0">
                <a:solidFill>
                  <a:srgbClr val="000000"/>
                </a:solidFill>
                <a:latin typeface="Courier New" panose="02070309020205020404" pitchFamily="49" charset="0"/>
                <a:cs typeface="Courier New" panose="02070309020205020404" pitchFamily="49" charset="0"/>
              </a:rPr>
              <a:t>m</a:t>
            </a:r>
            <a:r>
              <a:rPr lang="en-US" altLang="en-US" dirty="0">
                <a:solidFill>
                  <a:srgbClr val="222222"/>
                </a:solidFill>
                <a:latin typeface="Arial" panose="020B0604020202020204" pitchFamily="34" charset="0"/>
                <a:cs typeface="Arial" panose="020B0604020202020204" pitchFamily="34" charset="0"/>
              </a:rPr>
              <a:t> = 5-methyl</a:t>
            </a:r>
          </a:p>
          <a:p>
            <a:pPr lvl="1" indent="-457200" defTabSz="914400" eaLnBrk="0" fontAlgn="base" hangingPunct="0">
              <a:spcBef>
                <a:spcPct val="0"/>
              </a:spcBef>
              <a:spcAft>
                <a:spcPct val="0"/>
              </a:spcAft>
            </a:pPr>
            <a:r>
              <a:rPr lang="en-US" altLang="en-US" dirty="0">
                <a:solidFill>
                  <a:srgbClr val="000000"/>
                </a:solidFill>
                <a:latin typeface="Courier New" panose="02070309020205020404" pitchFamily="49" charset="0"/>
                <a:cs typeface="Courier New" panose="02070309020205020404" pitchFamily="49" charset="0"/>
              </a:rPr>
              <a:t>d</a:t>
            </a:r>
            <a:r>
              <a:rPr lang="en-US" altLang="en-US" dirty="0">
                <a:solidFill>
                  <a:srgbClr val="222222"/>
                </a:solidFill>
                <a:latin typeface="Arial" panose="020B0604020202020204" pitchFamily="34" charset="0"/>
                <a:cs typeface="Arial" panose="020B0604020202020204" pitchFamily="34" charset="0"/>
              </a:rPr>
              <a:t> = 2’-deoxy</a:t>
            </a:r>
          </a:p>
        </p:txBody>
      </p:sp>
      <p:sp>
        <p:nvSpPr>
          <p:cNvPr id="9" name="Rectangle 8"/>
          <p:cNvSpPr/>
          <p:nvPr/>
        </p:nvSpPr>
        <p:spPr>
          <a:xfrm>
            <a:off x="7730131" y="6006912"/>
            <a:ext cx="4213333" cy="369332"/>
          </a:xfrm>
          <a:prstGeom prst="rect">
            <a:avLst/>
          </a:prstGeom>
        </p:spPr>
        <p:txBody>
          <a:bodyPr wrap="none">
            <a:spAutoFit/>
          </a:bodyPr>
          <a:lstStyle/>
          <a:p>
            <a:r>
              <a:rPr lang="en-US" dirty="0"/>
              <a:t>https://</a:t>
            </a:r>
            <a:r>
              <a:rPr lang="en-US" dirty="0" smtClean="0"/>
              <a:t>en.wikipedia.org/</a:t>
            </a:r>
            <a:r>
              <a:rPr lang="en-US" dirty="0"/>
              <a:t>ik</a:t>
            </a:r>
            <a:r>
              <a:rPr lang="en-US" dirty="0" smtClean="0"/>
              <a:t>wi/Mipomersen</a:t>
            </a:r>
            <a:endParaRPr lang="en-US" dirty="0"/>
          </a:p>
        </p:txBody>
      </p:sp>
    </p:spTree>
    <p:extLst>
      <p:ext uri="{BB962C8B-B14F-4D97-AF65-F5344CB8AC3E}">
        <p14:creationId xmlns:p14="http://schemas.microsoft.com/office/powerpoint/2010/main" val="933549146"/>
      </p:ext>
    </p:extLst>
  </p:cSld>
  <p:clrMapOvr>
    <a:masterClrMapping/>
  </p:clrMapOvr>
  <mc:AlternateContent xmlns:mc="http://schemas.openxmlformats.org/markup-compatibility/2006" xmlns:p14="http://schemas.microsoft.com/office/powerpoint/2010/main">
    <mc:Choice Requires="p14">
      <p:transition spd="slow" p14:dur="1250" advTm="72879">
        <p:fade/>
      </p:transition>
    </mc:Choice>
    <mc:Fallback xmlns="">
      <p:transition spd="slow" advTm="72879">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8914"/>
            <a:ext cx="9422837" cy="646331"/>
          </a:xfrm>
        </p:spPr>
        <p:txBody>
          <a:bodyPr/>
          <a:lstStyle/>
          <a:p>
            <a:r>
              <a:rPr lang="en-GB" sz="3600" dirty="0" err="1"/>
              <a:t>Mipomersen</a:t>
            </a:r>
            <a:r>
              <a:rPr lang="en-GB" sz="3600" dirty="0"/>
              <a:t> – </a:t>
            </a:r>
            <a:r>
              <a:rPr lang="en-GB" sz="3600" dirty="0" smtClean="0"/>
              <a:t>As A HELM Representation</a:t>
            </a:r>
            <a:endParaRPr lang="en-US" sz="3600"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11</a:t>
            </a:fld>
            <a:endParaRPr lang="en-US" dirty="0"/>
          </a:p>
        </p:txBody>
      </p:sp>
      <p:sp>
        <p:nvSpPr>
          <p:cNvPr id="5" name="Date Placeholder 4"/>
          <p:cNvSpPr>
            <a:spLocks noGrp="1"/>
          </p:cNvSpPr>
          <p:nvPr>
            <p:ph type="dt" sz="half" idx="12"/>
          </p:nvPr>
        </p:nvSpPr>
        <p:spPr/>
        <p:txBody>
          <a:bodyPr/>
          <a:lstStyle/>
          <a:p>
            <a:fld id="{FD61CEE0-8A0E-574A-8FC2-CE7BA89F0253}" type="datetime3">
              <a:rPr lang="en-GB" smtClean="0"/>
              <a:pPr/>
              <a:t>18 September, 2017</a:t>
            </a:fld>
            <a:endParaRPr lang="en-US" dirty="0"/>
          </a:p>
        </p:txBody>
      </p:sp>
      <p:sp>
        <p:nvSpPr>
          <p:cNvPr id="6" name="Content Placeholder 5"/>
          <p:cNvSpPr>
            <a:spLocks noGrp="1"/>
          </p:cNvSpPr>
          <p:nvPr>
            <p:ph sz="quarter" idx="13"/>
          </p:nvPr>
        </p:nvSpPr>
        <p:spPr>
          <a:xfrm>
            <a:off x="276736" y="1439444"/>
            <a:ext cx="10972800" cy="1667574"/>
          </a:xfrm>
          <a:solidFill>
            <a:schemeClr val="bg1"/>
          </a:solidFill>
        </p:spPr>
        <p:txBody>
          <a:bodyPr>
            <a:normAutofit/>
          </a:bodyPr>
          <a:lstStyle/>
          <a:p>
            <a:pPr marL="0" indent="0">
              <a:buNone/>
            </a:pPr>
            <a:r>
              <a:rPr lang="en-US" sz="2400" dirty="0">
                <a:solidFill>
                  <a:srgbClr val="000000"/>
                </a:solidFill>
                <a:latin typeface="Arial" panose="020B0604020202020204" pitchFamily="34" charset="0"/>
              </a:rPr>
              <a:t>RNA1{[</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].d(A)[</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](A)[</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smtClean="0">
                <a:solidFill>
                  <a:srgbClr val="000000"/>
                </a:solidFill>
                <a:latin typeface="Arial" panose="020B0604020202020204" pitchFamily="34" charset="0"/>
              </a:rPr>
              <a:t>V2.0</a:t>
            </a:r>
            <a:endParaRPr lang="en-US" sz="2400" dirty="0"/>
          </a:p>
        </p:txBody>
      </p:sp>
      <p:sp>
        <p:nvSpPr>
          <p:cNvPr id="11" name="Rectangle 10"/>
          <p:cNvSpPr/>
          <p:nvPr/>
        </p:nvSpPr>
        <p:spPr>
          <a:xfrm>
            <a:off x="1198844" y="3765385"/>
            <a:ext cx="6096000" cy="1200329"/>
          </a:xfrm>
          <a:prstGeom prst="rect">
            <a:avLst/>
          </a:prstGeom>
        </p:spPr>
        <p:txBody>
          <a:bodyPr>
            <a:spAutoFit/>
          </a:bodyPr>
          <a:lstStyle/>
          <a:p>
            <a:r>
              <a:rPr lang="en-US" dirty="0" err="1" smtClean="0">
                <a:solidFill>
                  <a:srgbClr val="1A1C1E"/>
                </a:solidFill>
                <a:latin typeface="Arial" panose="020B0604020202020204" pitchFamily="34" charset="0"/>
              </a:rPr>
              <a:t>moe</a:t>
            </a:r>
            <a:r>
              <a:rPr lang="en-US" dirty="0" smtClean="0">
                <a:solidFill>
                  <a:srgbClr val="1A1C1E"/>
                </a:solidFill>
                <a:latin typeface="Arial" panose="020B0604020202020204" pitchFamily="34" charset="0"/>
              </a:rPr>
              <a:t>	: </a:t>
            </a:r>
            <a:r>
              <a:rPr lang="en-US" dirty="0">
                <a:solidFill>
                  <a:srgbClr val="1A1C1E"/>
                </a:solidFill>
                <a:latin typeface="Arial" panose="020B0604020202020204" pitchFamily="34" charset="0"/>
              </a:rPr>
              <a:t>2’-</a:t>
            </a:r>
            <a:r>
              <a:rPr lang="en-US" i="1" dirty="0">
                <a:solidFill>
                  <a:srgbClr val="1A1C1E"/>
                </a:solidFill>
                <a:latin typeface="Arial" panose="020B0604020202020204" pitchFamily="34" charset="0"/>
              </a:rPr>
              <a:t>O</a:t>
            </a:r>
            <a:r>
              <a:rPr lang="en-US" dirty="0">
                <a:solidFill>
                  <a:srgbClr val="1A1C1E"/>
                </a:solidFill>
                <a:latin typeface="Arial" panose="020B0604020202020204" pitchFamily="34" charset="0"/>
              </a:rPr>
              <a:t>-methoxyethyl-modified ribose</a:t>
            </a:r>
            <a:r>
              <a:rPr lang="en-US" dirty="0" smtClean="0">
                <a:solidFill>
                  <a:srgbClr val="1A1C1E"/>
                </a:solidFill>
                <a:latin typeface="Arial" panose="020B0604020202020204" pitchFamily="34" charset="0"/>
              </a:rPr>
              <a:t> </a:t>
            </a:r>
            <a:endParaRPr lang="en-US" dirty="0">
              <a:solidFill>
                <a:srgbClr val="1A1C1E"/>
              </a:solidFill>
              <a:latin typeface="Arial" panose="020B0604020202020204" pitchFamily="34" charset="0"/>
            </a:endParaRPr>
          </a:p>
          <a:p>
            <a:r>
              <a:rPr lang="en-US" dirty="0" err="1">
                <a:solidFill>
                  <a:srgbClr val="1A1C1E"/>
                </a:solidFill>
                <a:latin typeface="Arial" panose="020B0604020202020204" pitchFamily="34" charset="0"/>
              </a:rPr>
              <a:t>sp</a:t>
            </a:r>
            <a:r>
              <a:rPr lang="en-US" dirty="0">
                <a:solidFill>
                  <a:srgbClr val="1A1C1E"/>
                </a:solidFill>
                <a:latin typeface="Arial" panose="020B0604020202020204" pitchFamily="34" charset="0"/>
              </a:rPr>
              <a:t>	: </a:t>
            </a:r>
            <a:r>
              <a:rPr lang="en-US" dirty="0" smtClean="0">
                <a:solidFill>
                  <a:srgbClr val="1A1C1E"/>
                </a:solidFill>
                <a:latin typeface="Arial" panose="020B0604020202020204" pitchFamily="34" charset="0"/>
              </a:rPr>
              <a:t>Phosphorothioate</a:t>
            </a:r>
            <a:endParaRPr lang="en-US" dirty="0">
              <a:solidFill>
                <a:srgbClr val="1A1C1E"/>
              </a:solidFill>
              <a:latin typeface="Arial" panose="020B0604020202020204" pitchFamily="34" charset="0"/>
            </a:endParaRPr>
          </a:p>
          <a:p>
            <a:r>
              <a:rPr lang="en-US" dirty="0" smtClean="0">
                <a:solidFill>
                  <a:srgbClr val="1A1C1E"/>
                </a:solidFill>
                <a:latin typeface="Arial" panose="020B0604020202020204" pitchFamily="34" charset="0"/>
              </a:rPr>
              <a:t>G	: </a:t>
            </a:r>
            <a:r>
              <a:rPr lang="en-US" dirty="0" err="1" smtClean="0">
                <a:solidFill>
                  <a:srgbClr val="1A1C1E"/>
                </a:solidFill>
                <a:latin typeface="Arial" panose="020B0604020202020204" pitchFamily="34" charset="0"/>
              </a:rPr>
              <a:t>Guanin</a:t>
            </a:r>
            <a:endParaRPr lang="en-US" dirty="0" smtClean="0">
              <a:solidFill>
                <a:srgbClr val="1A1C1E"/>
              </a:solidFill>
              <a:latin typeface="Arial" panose="020B0604020202020204" pitchFamily="34" charset="0"/>
            </a:endParaRPr>
          </a:p>
          <a:p>
            <a:r>
              <a:rPr lang="en-US" dirty="0" smtClean="0">
                <a:solidFill>
                  <a:srgbClr val="1A1C1E"/>
                </a:solidFill>
                <a:latin typeface="Arial" panose="020B0604020202020204" pitchFamily="34" charset="0"/>
              </a:rPr>
              <a:t>m5C: </a:t>
            </a:r>
            <a:r>
              <a:rPr lang="en-US" altLang="en-US" dirty="0" smtClean="0">
                <a:solidFill>
                  <a:srgbClr val="222222"/>
                </a:solidFill>
                <a:latin typeface="Arial" panose="020B0604020202020204" pitchFamily="34" charset="0"/>
                <a:cs typeface="Arial" panose="020B0604020202020204" pitchFamily="34" charset="0"/>
              </a:rPr>
              <a:t>5-Methyl</a:t>
            </a:r>
            <a:r>
              <a:rPr lang="en-US" altLang="en-US" dirty="0" smtClean="0">
                <a:solidFill>
                  <a:srgbClr val="1A1C1E"/>
                </a:solidFill>
                <a:latin typeface="Arial" panose="020B0604020202020204" pitchFamily="34" charset="0"/>
              </a:rPr>
              <a:t>cytosine</a:t>
            </a:r>
            <a:endParaRPr lang="en-US" altLang="en-US" dirty="0">
              <a:solidFill>
                <a:srgbClr val="22222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26357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8914"/>
            <a:ext cx="9422837" cy="646331"/>
          </a:xfrm>
        </p:spPr>
        <p:txBody>
          <a:bodyPr/>
          <a:lstStyle/>
          <a:p>
            <a:r>
              <a:rPr lang="en-GB" sz="3600" dirty="0" err="1"/>
              <a:t>Mipomersen</a:t>
            </a:r>
            <a:r>
              <a:rPr lang="en-GB" sz="3600" dirty="0"/>
              <a:t> – </a:t>
            </a:r>
            <a:r>
              <a:rPr lang="en-GB" sz="3600" dirty="0" smtClean="0"/>
              <a:t>As A HELM Representation</a:t>
            </a:r>
            <a:endParaRPr lang="en-US" sz="3600"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12</a:t>
            </a:fld>
            <a:endParaRPr lang="en-US" dirty="0"/>
          </a:p>
        </p:txBody>
      </p:sp>
      <p:sp>
        <p:nvSpPr>
          <p:cNvPr id="5" name="Date Placeholder 4"/>
          <p:cNvSpPr>
            <a:spLocks noGrp="1"/>
          </p:cNvSpPr>
          <p:nvPr>
            <p:ph type="dt" sz="half" idx="12"/>
          </p:nvPr>
        </p:nvSpPr>
        <p:spPr/>
        <p:txBody>
          <a:bodyPr/>
          <a:lstStyle/>
          <a:p>
            <a:fld id="{FD61CEE0-8A0E-574A-8FC2-CE7BA89F0253}" type="datetime3">
              <a:rPr lang="en-GB" smtClean="0"/>
              <a:pPr/>
              <a:t>18 September, 2017</a:t>
            </a:fld>
            <a:endParaRPr lang="en-US" dirty="0"/>
          </a:p>
        </p:txBody>
      </p:sp>
      <p:pic>
        <p:nvPicPr>
          <p:cNvPr id="8" name="Picture 7"/>
          <p:cNvPicPr>
            <a:picLocks noChangeAspect="1"/>
          </p:cNvPicPr>
          <p:nvPr/>
        </p:nvPicPr>
        <p:blipFill>
          <a:blip r:embed="rId3"/>
          <a:stretch>
            <a:fillRect/>
          </a:stretch>
        </p:blipFill>
        <p:spPr>
          <a:xfrm>
            <a:off x="0" y="3624011"/>
            <a:ext cx="12192000" cy="1884086"/>
          </a:xfrm>
          <a:prstGeom prst="rect">
            <a:avLst/>
          </a:prstGeom>
        </p:spPr>
      </p:pic>
      <p:sp>
        <p:nvSpPr>
          <p:cNvPr id="6" name="Content Placeholder 5"/>
          <p:cNvSpPr>
            <a:spLocks noGrp="1"/>
          </p:cNvSpPr>
          <p:nvPr>
            <p:ph sz="quarter" idx="13"/>
          </p:nvPr>
        </p:nvSpPr>
        <p:spPr>
          <a:xfrm>
            <a:off x="276736" y="1439444"/>
            <a:ext cx="10972800" cy="1667574"/>
          </a:xfrm>
          <a:solidFill>
            <a:schemeClr val="bg1"/>
          </a:solidFill>
        </p:spPr>
        <p:txBody>
          <a:bodyPr>
            <a:normAutofit/>
          </a:bodyPr>
          <a:lstStyle/>
          <a:p>
            <a:pPr marL="0" indent="0">
              <a:buNone/>
            </a:pPr>
            <a:r>
              <a:rPr lang="en-US" sz="2400" dirty="0">
                <a:solidFill>
                  <a:srgbClr val="000000"/>
                </a:solidFill>
                <a:latin typeface="Arial" panose="020B0604020202020204" pitchFamily="34" charset="0"/>
              </a:rPr>
              <a:t>RNA1{[</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].d(A)[</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](A)[</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smtClean="0">
                <a:solidFill>
                  <a:srgbClr val="000000"/>
                </a:solidFill>
                <a:latin typeface="Arial" panose="020B0604020202020204" pitchFamily="34" charset="0"/>
              </a:rPr>
              <a:t>V2.0</a:t>
            </a:r>
            <a:endParaRPr lang="en-US" sz="2400" dirty="0"/>
          </a:p>
        </p:txBody>
      </p:sp>
    </p:spTree>
    <p:extLst>
      <p:ext uri="{BB962C8B-B14F-4D97-AF65-F5344CB8AC3E}">
        <p14:creationId xmlns:p14="http://schemas.microsoft.com/office/powerpoint/2010/main" val="189877337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168696" y="3107018"/>
            <a:ext cx="32330343" cy="4996157"/>
          </a:xfrm>
          <a:prstGeom prst="rect">
            <a:avLst/>
          </a:prstGeom>
        </p:spPr>
      </p:pic>
      <p:sp>
        <p:nvSpPr>
          <p:cNvPr id="2" name="Title 1"/>
          <p:cNvSpPr>
            <a:spLocks noGrp="1"/>
          </p:cNvSpPr>
          <p:nvPr>
            <p:ph type="title"/>
          </p:nvPr>
        </p:nvSpPr>
        <p:spPr>
          <a:xfrm>
            <a:off x="609600" y="358914"/>
            <a:ext cx="9422837" cy="646331"/>
          </a:xfrm>
        </p:spPr>
        <p:txBody>
          <a:bodyPr/>
          <a:lstStyle/>
          <a:p>
            <a:r>
              <a:rPr lang="en-GB" sz="3600" dirty="0" err="1"/>
              <a:t>Mipomersen</a:t>
            </a:r>
            <a:r>
              <a:rPr lang="en-GB" sz="3600" dirty="0"/>
              <a:t> – </a:t>
            </a:r>
            <a:r>
              <a:rPr lang="en-GB" sz="3600" dirty="0" smtClean="0"/>
              <a:t>As A HELM Representation</a:t>
            </a:r>
            <a:endParaRPr lang="en-US" sz="3600"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13</a:t>
            </a:fld>
            <a:endParaRPr lang="en-US" dirty="0"/>
          </a:p>
        </p:txBody>
      </p:sp>
      <p:sp>
        <p:nvSpPr>
          <p:cNvPr id="5" name="Date Placeholder 4"/>
          <p:cNvSpPr>
            <a:spLocks noGrp="1"/>
          </p:cNvSpPr>
          <p:nvPr>
            <p:ph type="dt" sz="half" idx="12"/>
          </p:nvPr>
        </p:nvSpPr>
        <p:spPr/>
        <p:txBody>
          <a:bodyPr/>
          <a:lstStyle/>
          <a:p>
            <a:fld id="{FD61CEE0-8A0E-574A-8FC2-CE7BA89F0253}" type="datetime3">
              <a:rPr lang="en-GB" smtClean="0"/>
              <a:pPr/>
              <a:t>18 September, 2017</a:t>
            </a:fld>
            <a:endParaRPr lang="en-US" dirty="0"/>
          </a:p>
        </p:txBody>
      </p:sp>
      <p:sp>
        <p:nvSpPr>
          <p:cNvPr id="6" name="Content Placeholder 5"/>
          <p:cNvSpPr>
            <a:spLocks noGrp="1"/>
          </p:cNvSpPr>
          <p:nvPr>
            <p:ph sz="quarter" idx="13"/>
          </p:nvPr>
        </p:nvSpPr>
        <p:spPr>
          <a:xfrm>
            <a:off x="276736" y="1439444"/>
            <a:ext cx="10972800" cy="1667574"/>
          </a:xfrm>
          <a:solidFill>
            <a:schemeClr val="bg1"/>
          </a:solidFill>
        </p:spPr>
        <p:txBody>
          <a:bodyPr>
            <a:normAutofit/>
          </a:bodyPr>
          <a:lstStyle/>
          <a:p>
            <a:pPr marL="0" indent="0">
              <a:buNone/>
            </a:pPr>
            <a:r>
              <a:rPr lang="en-US" sz="2400" dirty="0">
                <a:solidFill>
                  <a:srgbClr val="000000"/>
                </a:solidFill>
                <a:latin typeface="Arial" panose="020B0604020202020204" pitchFamily="34" charset="0"/>
              </a:rPr>
              <a:t>RNA1{[</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].d(A)[</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].d(T)[</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].d([m5C])[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](G)[</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](A)[</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err="1">
                <a:solidFill>
                  <a:srgbClr val="000000"/>
                </a:solidFill>
                <a:latin typeface="Arial" panose="020B0604020202020204" pitchFamily="34" charset="0"/>
              </a:rPr>
              <a:t>sp</a:t>
            </a:r>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moe</a:t>
            </a:r>
            <a:r>
              <a:rPr lang="en-US" sz="2400" dirty="0">
                <a:solidFill>
                  <a:srgbClr val="000000"/>
                </a:solidFill>
                <a:latin typeface="Arial" panose="020B0604020202020204" pitchFamily="34" charset="0"/>
              </a:rPr>
              <a:t>]([m5C])}$$$$</a:t>
            </a:r>
            <a:r>
              <a:rPr lang="en-US" sz="2400" dirty="0" smtClean="0">
                <a:solidFill>
                  <a:srgbClr val="000000"/>
                </a:solidFill>
                <a:latin typeface="Arial" panose="020B0604020202020204" pitchFamily="34" charset="0"/>
              </a:rPr>
              <a:t>V2.0</a:t>
            </a:r>
            <a:endParaRPr lang="en-US" sz="2400" dirty="0"/>
          </a:p>
        </p:txBody>
      </p:sp>
      <p:sp>
        <p:nvSpPr>
          <p:cNvPr id="9" name="Rectangle 8"/>
          <p:cNvSpPr/>
          <p:nvPr/>
        </p:nvSpPr>
        <p:spPr>
          <a:xfrm>
            <a:off x="312440" y="3165220"/>
            <a:ext cx="6096000" cy="1200329"/>
          </a:xfrm>
          <a:prstGeom prst="rect">
            <a:avLst/>
          </a:prstGeom>
        </p:spPr>
        <p:txBody>
          <a:bodyPr>
            <a:spAutoFit/>
          </a:bodyPr>
          <a:lstStyle/>
          <a:p>
            <a:r>
              <a:rPr lang="en-US" dirty="0" err="1" smtClean="0">
                <a:solidFill>
                  <a:srgbClr val="1A1C1E"/>
                </a:solidFill>
                <a:latin typeface="Arial" panose="020B0604020202020204" pitchFamily="34" charset="0"/>
              </a:rPr>
              <a:t>moe</a:t>
            </a:r>
            <a:r>
              <a:rPr lang="en-US" dirty="0" smtClean="0">
                <a:solidFill>
                  <a:srgbClr val="1A1C1E"/>
                </a:solidFill>
                <a:latin typeface="Arial" panose="020B0604020202020204" pitchFamily="34" charset="0"/>
              </a:rPr>
              <a:t>	: </a:t>
            </a:r>
            <a:r>
              <a:rPr lang="en-US" dirty="0">
                <a:solidFill>
                  <a:srgbClr val="1A1C1E"/>
                </a:solidFill>
                <a:latin typeface="Arial" panose="020B0604020202020204" pitchFamily="34" charset="0"/>
              </a:rPr>
              <a:t>2’-</a:t>
            </a:r>
            <a:r>
              <a:rPr lang="en-US" i="1" dirty="0">
                <a:solidFill>
                  <a:srgbClr val="1A1C1E"/>
                </a:solidFill>
                <a:latin typeface="Arial" panose="020B0604020202020204" pitchFamily="34" charset="0"/>
              </a:rPr>
              <a:t>O</a:t>
            </a:r>
            <a:r>
              <a:rPr lang="en-US" dirty="0">
                <a:solidFill>
                  <a:srgbClr val="1A1C1E"/>
                </a:solidFill>
                <a:latin typeface="Arial" panose="020B0604020202020204" pitchFamily="34" charset="0"/>
              </a:rPr>
              <a:t>-methoxyethyl-modified ribose</a:t>
            </a:r>
            <a:r>
              <a:rPr lang="en-US" dirty="0" smtClean="0">
                <a:solidFill>
                  <a:srgbClr val="1A1C1E"/>
                </a:solidFill>
                <a:latin typeface="Arial" panose="020B0604020202020204" pitchFamily="34" charset="0"/>
              </a:rPr>
              <a:t> </a:t>
            </a:r>
            <a:endParaRPr lang="en-US" dirty="0">
              <a:solidFill>
                <a:srgbClr val="1A1C1E"/>
              </a:solidFill>
              <a:latin typeface="Arial" panose="020B0604020202020204" pitchFamily="34" charset="0"/>
            </a:endParaRPr>
          </a:p>
          <a:p>
            <a:r>
              <a:rPr lang="en-US" dirty="0" err="1">
                <a:solidFill>
                  <a:srgbClr val="1A1C1E"/>
                </a:solidFill>
                <a:latin typeface="Arial" panose="020B0604020202020204" pitchFamily="34" charset="0"/>
              </a:rPr>
              <a:t>sp</a:t>
            </a:r>
            <a:r>
              <a:rPr lang="en-US" dirty="0">
                <a:solidFill>
                  <a:srgbClr val="1A1C1E"/>
                </a:solidFill>
                <a:latin typeface="Arial" panose="020B0604020202020204" pitchFamily="34" charset="0"/>
              </a:rPr>
              <a:t>	: </a:t>
            </a:r>
            <a:r>
              <a:rPr lang="en-US" dirty="0" smtClean="0">
                <a:solidFill>
                  <a:srgbClr val="1A1C1E"/>
                </a:solidFill>
                <a:latin typeface="Arial" panose="020B0604020202020204" pitchFamily="34" charset="0"/>
              </a:rPr>
              <a:t>Phosphorothioate</a:t>
            </a:r>
            <a:endParaRPr lang="en-US" dirty="0">
              <a:solidFill>
                <a:srgbClr val="1A1C1E"/>
              </a:solidFill>
              <a:latin typeface="Arial" panose="020B0604020202020204" pitchFamily="34" charset="0"/>
            </a:endParaRPr>
          </a:p>
          <a:p>
            <a:r>
              <a:rPr lang="en-US" dirty="0" smtClean="0">
                <a:solidFill>
                  <a:srgbClr val="1A1C1E"/>
                </a:solidFill>
                <a:latin typeface="Arial" panose="020B0604020202020204" pitchFamily="34" charset="0"/>
              </a:rPr>
              <a:t>G	: </a:t>
            </a:r>
            <a:r>
              <a:rPr lang="en-US" dirty="0" err="1" smtClean="0">
                <a:solidFill>
                  <a:srgbClr val="1A1C1E"/>
                </a:solidFill>
                <a:latin typeface="Arial" panose="020B0604020202020204" pitchFamily="34" charset="0"/>
              </a:rPr>
              <a:t>Guanin</a:t>
            </a:r>
            <a:endParaRPr lang="en-US" dirty="0" smtClean="0">
              <a:solidFill>
                <a:srgbClr val="1A1C1E"/>
              </a:solidFill>
              <a:latin typeface="Arial" panose="020B0604020202020204" pitchFamily="34" charset="0"/>
            </a:endParaRPr>
          </a:p>
          <a:p>
            <a:r>
              <a:rPr lang="en-US" dirty="0" smtClean="0">
                <a:solidFill>
                  <a:srgbClr val="1A1C1E"/>
                </a:solidFill>
                <a:latin typeface="Arial" panose="020B0604020202020204" pitchFamily="34" charset="0"/>
              </a:rPr>
              <a:t>m5C: </a:t>
            </a:r>
            <a:r>
              <a:rPr lang="en-US" altLang="en-US" dirty="0" smtClean="0">
                <a:solidFill>
                  <a:srgbClr val="222222"/>
                </a:solidFill>
                <a:latin typeface="Arial" panose="020B0604020202020204" pitchFamily="34" charset="0"/>
                <a:cs typeface="Arial" panose="020B0604020202020204" pitchFamily="34" charset="0"/>
              </a:rPr>
              <a:t>5-Methyl</a:t>
            </a:r>
            <a:r>
              <a:rPr lang="en-US" altLang="en-US" dirty="0" smtClean="0">
                <a:solidFill>
                  <a:srgbClr val="1A1C1E"/>
                </a:solidFill>
                <a:latin typeface="Arial" panose="020B0604020202020204" pitchFamily="34" charset="0"/>
              </a:rPr>
              <a:t>cytosine</a:t>
            </a:r>
            <a:endParaRPr lang="en-US" altLang="en-US" dirty="0">
              <a:solidFill>
                <a:srgbClr val="22222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366684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38400"/>
            <a:ext cx="10668000" cy="2246769"/>
          </a:xfrm>
        </p:spPr>
        <p:txBody>
          <a:bodyPr/>
          <a:lstStyle/>
          <a:p>
            <a:r>
              <a:rPr lang="en-GB" sz="2800" dirty="0" smtClean="0">
                <a:solidFill>
                  <a:schemeClr val="bg1">
                    <a:lumMod val="60000"/>
                    <a:lumOff val="40000"/>
                  </a:schemeClr>
                </a:solidFill>
              </a:rPr>
              <a:t>Current challenges regarding the representation of biomolecules</a:t>
            </a:r>
            <a:r>
              <a:rPr lang="en-GB" sz="2800" dirty="0"/>
              <a:t/>
            </a:r>
            <a:br>
              <a:rPr lang="en-GB" sz="2800" dirty="0"/>
            </a:br>
            <a:r>
              <a:rPr lang="en-GB" sz="2800" dirty="0" smtClean="0"/>
              <a:t>What </a:t>
            </a:r>
            <a:r>
              <a:rPr lang="en-GB" sz="2800" dirty="0"/>
              <a:t>is HELM</a:t>
            </a:r>
            <a:r>
              <a:rPr lang="en-GB" sz="2800" dirty="0" smtClean="0"/>
              <a:t>?</a:t>
            </a:r>
            <a:r>
              <a:rPr lang="en-GB" sz="2800" dirty="0">
                <a:solidFill>
                  <a:srgbClr val="228B96"/>
                </a:solidFill>
              </a:rPr>
              <a:t> HELM in practice</a:t>
            </a:r>
            <a:br>
              <a:rPr lang="en-GB" sz="2800" dirty="0">
                <a:solidFill>
                  <a:srgbClr val="228B96"/>
                </a:solidFill>
              </a:rPr>
            </a:br>
            <a:r>
              <a:rPr lang="en-GB" sz="2800" dirty="0">
                <a:solidFill>
                  <a:schemeClr val="bg1">
                    <a:lumMod val="60000"/>
                    <a:lumOff val="40000"/>
                  </a:schemeClr>
                </a:solidFill>
              </a:rPr>
              <a:t>HELM in practice </a:t>
            </a:r>
            <a:r>
              <a:rPr lang="en-GB" sz="2800" dirty="0" smtClean="0">
                <a:solidFill>
                  <a:schemeClr val="bg1">
                    <a:lumMod val="60000"/>
                    <a:lumOff val="40000"/>
                  </a:schemeClr>
                </a:solidFill>
              </a:rPr>
              <a:t>HELM </a:t>
            </a:r>
            <a:r>
              <a:rPr lang="en-GB" sz="2800" dirty="0">
                <a:solidFill>
                  <a:schemeClr val="bg1">
                    <a:lumMod val="60000"/>
                    <a:lumOff val="40000"/>
                  </a:schemeClr>
                </a:solidFill>
              </a:rPr>
              <a:t>in </a:t>
            </a:r>
            <a:r>
              <a:rPr lang="en-GB" sz="2800" dirty="0" smtClean="0">
                <a:solidFill>
                  <a:schemeClr val="bg1">
                    <a:lumMod val="60000"/>
                    <a:lumOff val="40000"/>
                  </a:schemeClr>
                </a:solidFill>
              </a:rPr>
              <a:t>practice</a:t>
            </a:r>
            <a:r>
              <a:rPr lang="en-GB" sz="2800" dirty="0">
                <a:solidFill>
                  <a:schemeClr val="bg1">
                    <a:lumMod val="60000"/>
                    <a:lumOff val="40000"/>
                  </a:schemeClr>
                </a:solidFill>
              </a:rPr>
              <a:t/>
            </a:r>
            <a:br>
              <a:rPr lang="en-GB" sz="2800" dirty="0">
                <a:solidFill>
                  <a:schemeClr val="bg1">
                    <a:lumMod val="60000"/>
                    <a:lumOff val="40000"/>
                  </a:schemeClr>
                </a:solidFill>
              </a:rPr>
            </a:br>
            <a:r>
              <a:rPr lang="en-GB" sz="2800" dirty="0" smtClean="0">
                <a:solidFill>
                  <a:schemeClr val="bg1">
                    <a:lumMod val="60000"/>
                    <a:lumOff val="40000"/>
                  </a:schemeClr>
                </a:solidFill>
              </a:rPr>
              <a:t>The </a:t>
            </a:r>
            <a:r>
              <a:rPr lang="en-GB" sz="2800" dirty="0">
                <a:solidFill>
                  <a:schemeClr val="bg1">
                    <a:lumMod val="60000"/>
                    <a:lumOff val="40000"/>
                  </a:schemeClr>
                </a:solidFill>
              </a:rPr>
              <a:t>HELM ecosystem </a:t>
            </a:r>
            <a:br>
              <a:rPr lang="en-GB" sz="2800" dirty="0">
                <a:solidFill>
                  <a:schemeClr val="bg1">
                    <a:lumMod val="60000"/>
                    <a:lumOff val="40000"/>
                  </a:schemeClr>
                </a:solidFill>
              </a:rPr>
            </a:br>
            <a:r>
              <a:rPr lang="en-GB" sz="2800" dirty="0" smtClean="0">
                <a:solidFill>
                  <a:schemeClr val="bg1">
                    <a:lumMod val="60000"/>
                    <a:lumOff val="40000"/>
                  </a:schemeClr>
                </a:solidFill>
              </a:rPr>
              <a:t>Current activities</a:t>
            </a:r>
            <a:endParaRPr lang="en-GB" sz="2800" dirty="0">
              <a:solidFill>
                <a:schemeClr val="bg1">
                  <a:lumMod val="60000"/>
                  <a:lumOff val="40000"/>
                </a:schemeClr>
              </a:solidFill>
            </a:endParaRPr>
          </a:p>
        </p:txBody>
      </p:sp>
      <p:sp>
        <p:nvSpPr>
          <p:cNvPr id="6" name="Slide Number Placeholder 5"/>
          <p:cNvSpPr>
            <a:spLocks noGrp="1"/>
          </p:cNvSpPr>
          <p:nvPr>
            <p:ph type="sldNum" sz="quarter" idx="4294967295"/>
          </p:nvPr>
        </p:nvSpPr>
        <p:spPr>
          <a:xfrm>
            <a:off x="11506200" y="6376988"/>
            <a:ext cx="685800" cy="344487"/>
          </a:xfrm>
          <a:prstGeom prst="rect">
            <a:avLst/>
          </a:prstGeom>
        </p:spPr>
        <p:txBody>
          <a:bodyPr/>
          <a:lstStyle/>
          <a:p>
            <a:pPr>
              <a:defRPr/>
            </a:pPr>
            <a:fld id="{28ED40A3-BEA1-2645-9E17-452BD130FCD0}" type="slidenum">
              <a:rPr lang="en-US"/>
              <a:pPr>
                <a:defRPr/>
              </a:pPr>
              <a:t>14</a:t>
            </a:fld>
            <a:endParaRPr lang="en-US" dirty="0"/>
          </a:p>
        </p:txBody>
      </p:sp>
    </p:spTree>
    <p:extLst>
      <p:ext uri="{BB962C8B-B14F-4D97-AF65-F5344CB8AC3E}">
        <p14:creationId xmlns:p14="http://schemas.microsoft.com/office/powerpoint/2010/main" val="3764626393"/>
      </p:ext>
    </p:extLst>
  </p:cSld>
  <p:clrMapOvr>
    <a:masterClrMapping/>
  </p:clrMapOvr>
  <mc:AlternateContent xmlns:mc="http://schemas.openxmlformats.org/markup-compatibility/2006" xmlns:p14="http://schemas.microsoft.com/office/powerpoint/2010/main">
    <mc:Choice Requires="p14">
      <p:transition spd="slow" p14:dur="1250" advTm="11624">
        <p:fade/>
      </p:transition>
    </mc:Choice>
    <mc:Fallback xmlns="">
      <p:transition spd="slow" advTm="11624">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a:xfrm>
            <a:off x="1991544" y="3645024"/>
            <a:ext cx="8064896" cy="2520280"/>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2" name="Title 1"/>
          <p:cNvSpPr>
            <a:spLocks noGrp="1"/>
          </p:cNvSpPr>
          <p:nvPr>
            <p:ph type="title"/>
          </p:nvPr>
        </p:nvSpPr>
        <p:spPr>
          <a:xfrm>
            <a:off x="609600" y="358914"/>
            <a:ext cx="9422837" cy="584775"/>
          </a:xfrm>
        </p:spPr>
        <p:txBody>
          <a:bodyPr/>
          <a:lstStyle/>
          <a:p>
            <a:r>
              <a:rPr lang="en-US" sz="3200" b="1" u="sng" dirty="0" smtClean="0"/>
              <a:t>H</a:t>
            </a:r>
            <a:r>
              <a:rPr lang="en-US" sz="3200" dirty="0" smtClean="0"/>
              <a:t>ierarchical </a:t>
            </a:r>
            <a:r>
              <a:rPr lang="en-US" sz="3200" b="1" u="sng" dirty="0" smtClean="0"/>
              <a:t>E</a:t>
            </a:r>
            <a:r>
              <a:rPr lang="en-US" sz="3200" dirty="0" smtClean="0"/>
              <a:t>diting </a:t>
            </a:r>
            <a:r>
              <a:rPr lang="en-US" sz="3200" b="1" u="sng" dirty="0" smtClean="0"/>
              <a:t>L</a:t>
            </a:r>
            <a:r>
              <a:rPr lang="en-US" sz="3200" dirty="0" smtClean="0"/>
              <a:t>anguage for </a:t>
            </a:r>
            <a:r>
              <a:rPr lang="en-US" sz="3200" b="1" u="sng" dirty="0" smtClean="0"/>
              <a:t>M</a:t>
            </a:r>
            <a:r>
              <a:rPr lang="en-US" sz="3200" dirty="0" smtClean="0"/>
              <a:t>acromolecules</a:t>
            </a:r>
            <a:endParaRPr lang="en-US" sz="3200" dirty="0"/>
          </a:p>
        </p:txBody>
      </p:sp>
      <p:sp>
        <p:nvSpPr>
          <p:cNvPr id="3" name="Content Placeholder 2"/>
          <p:cNvSpPr>
            <a:spLocks noGrp="1"/>
          </p:cNvSpPr>
          <p:nvPr>
            <p:ph idx="1"/>
          </p:nvPr>
        </p:nvSpPr>
        <p:spPr/>
        <p:txBody>
          <a:bodyPr/>
          <a:lstStyle/>
          <a:p>
            <a:pPr marL="0" indent="0">
              <a:buNone/>
            </a:pPr>
            <a:r>
              <a:rPr lang="en-US" dirty="0" smtClean="0"/>
              <a:t>Hierarchical</a:t>
            </a:r>
          </a:p>
          <a:p>
            <a:pPr lvl="1"/>
            <a:r>
              <a:rPr lang="en-US" dirty="0" smtClean="0"/>
              <a:t>Biomolecules are “multi-level polymers”</a:t>
            </a:r>
            <a:endParaRPr lang="en-US" dirty="0"/>
          </a:p>
        </p:txBody>
      </p:sp>
      <p:sp>
        <p:nvSpPr>
          <p:cNvPr id="4" name="Rounded Rectangle 3"/>
          <p:cNvSpPr/>
          <p:nvPr/>
        </p:nvSpPr>
        <p:spPr>
          <a:xfrm>
            <a:off x="2135560"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Complex Polymer</a:t>
            </a:r>
            <a:endParaRPr lang="en-US" dirty="0">
              <a:ln w="28575" cmpd="sng">
                <a:solidFill>
                  <a:srgbClr val="C00000"/>
                </a:solidFill>
              </a:ln>
              <a:solidFill>
                <a:srgbClr val="666E71"/>
              </a:solidFill>
              <a:latin typeface="Calibri"/>
            </a:endParaRPr>
          </a:p>
        </p:txBody>
      </p:sp>
      <p:sp>
        <p:nvSpPr>
          <p:cNvPr id="13" name="Rounded Rectangle 12"/>
          <p:cNvSpPr/>
          <p:nvPr/>
        </p:nvSpPr>
        <p:spPr>
          <a:xfrm>
            <a:off x="4079776" y="2708920"/>
            <a:ext cx="1872208" cy="504056"/>
          </a:xfrm>
          <a:prstGeom prst="roundRect">
            <a:avLst/>
          </a:prstGeom>
          <a:solidFill>
            <a:srgbClr val="F2F2F2"/>
          </a:solidFill>
          <a:ln w="28575" cmpd="sng">
            <a:solidFill>
              <a:srgbClr val="666E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Simple Polymer</a:t>
            </a:r>
            <a:endParaRPr lang="en-US" dirty="0">
              <a:ln w="28575" cmpd="sng">
                <a:solidFill>
                  <a:srgbClr val="C00000"/>
                </a:solidFill>
              </a:ln>
              <a:solidFill>
                <a:srgbClr val="666E71"/>
              </a:solidFill>
              <a:latin typeface="Calibri"/>
            </a:endParaRPr>
          </a:p>
        </p:txBody>
      </p:sp>
      <p:sp>
        <p:nvSpPr>
          <p:cNvPr id="14" name="Rounded Rectangle 13"/>
          <p:cNvSpPr/>
          <p:nvPr/>
        </p:nvSpPr>
        <p:spPr>
          <a:xfrm>
            <a:off x="6023992" y="2708920"/>
            <a:ext cx="1872208" cy="504056"/>
          </a:xfrm>
          <a:prstGeom prst="roundRect">
            <a:avLst/>
          </a:prstGeom>
          <a:solidFill>
            <a:srgbClr val="F2F2F2"/>
          </a:solidFill>
          <a:ln w="28575" cmpd="sng">
            <a:solidFill>
              <a:srgbClr val="666E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Monomer</a:t>
            </a:r>
            <a:endParaRPr lang="en-US" dirty="0">
              <a:ln w="28575" cmpd="sng">
                <a:solidFill>
                  <a:srgbClr val="C00000"/>
                </a:solidFill>
              </a:ln>
              <a:solidFill>
                <a:srgbClr val="666E71"/>
              </a:solidFill>
              <a:latin typeface="Calibri"/>
            </a:endParaRPr>
          </a:p>
        </p:txBody>
      </p:sp>
      <p:sp>
        <p:nvSpPr>
          <p:cNvPr id="15" name="Rounded Rectangle 14"/>
          <p:cNvSpPr/>
          <p:nvPr/>
        </p:nvSpPr>
        <p:spPr>
          <a:xfrm>
            <a:off x="7968208" y="2708920"/>
            <a:ext cx="1872208" cy="504056"/>
          </a:xfrm>
          <a:prstGeom prst="roundRect">
            <a:avLst/>
          </a:prstGeom>
          <a:solidFill>
            <a:srgbClr val="F2F2F2"/>
          </a:solidFill>
          <a:ln w="28575" cmpd="sng">
            <a:solidFill>
              <a:srgbClr val="666E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Atom</a:t>
            </a:r>
            <a:endParaRPr lang="en-US" dirty="0">
              <a:ln w="28575" cmpd="sng">
                <a:solidFill>
                  <a:srgbClr val="C00000"/>
                </a:solidFill>
              </a:ln>
              <a:solidFill>
                <a:srgbClr val="666E71"/>
              </a:solidFill>
              <a:latin typeface="Calibri"/>
            </a:endParaRPr>
          </a:p>
        </p:txBody>
      </p:sp>
      <p:pic>
        <p:nvPicPr>
          <p:cNvPr id="7" name="Picture 6" descr="temp.png"/>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96854" y="3645024"/>
            <a:ext cx="7987578" cy="2448272"/>
          </a:xfrm>
          <a:prstGeom prst="rect">
            <a:avLst/>
          </a:prstGeom>
        </p:spPr>
      </p:pic>
    </p:spTree>
    <p:extLst>
      <p:ext uri="{BB962C8B-B14F-4D97-AF65-F5344CB8AC3E}">
        <p14:creationId xmlns:p14="http://schemas.microsoft.com/office/powerpoint/2010/main" val="1707161854"/>
      </p:ext>
    </p:extLst>
  </p:cSld>
  <p:clrMapOvr>
    <a:masterClrMapping/>
  </p:clrMapOvr>
  <mc:AlternateContent xmlns:mc="http://schemas.openxmlformats.org/markup-compatibility/2006" xmlns:p14="http://schemas.microsoft.com/office/powerpoint/2010/main">
    <mc:Choice Requires="p14">
      <p:transition spd="slow" p14:dur="1250" advTm="26343">
        <p:fade/>
      </p:transition>
    </mc:Choice>
    <mc:Fallback xmlns="">
      <p:transition spd="slow" advTm="26343">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a:xfrm>
            <a:off x="2783632" y="5445224"/>
            <a:ext cx="4824536" cy="792088"/>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9" name="Rounded Rectangle 8"/>
          <p:cNvSpPr/>
          <p:nvPr/>
        </p:nvSpPr>
        <p:spPr>
          <a:xfrm>
            <a:off x="1991544" y="3645024"/>
            <a:ext cx="7992888" cy="1224136"/>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2" name="Title 1"/>
          <p:cNvSpPr>
            <a:spLocks noGrp="1"/>
          </p:cNvSpPr>
          <p:nvPr>
            <p:ph type="title"/>
          </p:nvPr>
        </p:nvSpPr>
        <p:spPr>
          <a:xfrm>
            <a:off x="609600" y="358914"/>
            <a:ext cx="9422837" cy="584775"/>
          </a:xfrm>
        </p:spPr>
        <p:txBody>
          <a:bodyPr/>
          <a:lstStyle/>
          <a:p>
            <a:r>
              <a:rPr lang="en-US" sz="3200" b="1" u="sng" dirty="0"/>
              <a:t>H</a:t>
            </a:r>
            <a:r>
              <a:rPr lang="en-US" sz="3200" dirty="0"/>
              <a:t>ierarchical </a:t>
            </a:r>
            <a:r>
              <a:rPr lang="en-US" sz="3200" b="1" u="sng" dirty="0"/>
              <a:t>E</a:t>
            </a:r>
            <a:r>
              <a:rPr lang="en-US" sz="3200" dirty="0"/>
              <a:t>diting </a:t>
            </a:r>
            <a:r>
              <a:rPr lang="en-US" sz="3200" b="1" u="sng" dirty="0"/>
              <a:t>L</a:t>
            </a:r>
            <a:r>
              <a:rPr lang="en-US" sz="3200" dirty="0"/>
              <a:t>anguage for </a:t>
            </a:r>
            <a:r>
              <a:rPr lang="en-US" sz="3200" b="1" u="sng" dirty="0"/>
              <a:t>M</a:t>
            </a:r>
            <a:r>
              <a:rPr lang="en-US" sz="3200" dirty="0"/>
              <a:t>acromolecules</a:t>
            </a:r>
          </a:p>
        </p:txBody>
      </p:sp>
      <p:sp>
        <p:nvSpPr>
          <p:cNvPr id="3" name="Content Placeholder 2"/>
          <p:cNvSpPr>
            <a:spLocks noGrp="1"/>
          </p:cNvSpPr>
          <p:nvPr>
            <p:ph idx="1"/>
          </p:nvPr>
        </p:nvSpPr>
        <p:spPr/>
        <p:txBody>
          <a:bodyPr/>
          <a:lstStyle/>
          <a:p>
            <a:pPr marL="0" indent="0">
              <a:buNone/>
            </a:pPr>
            <a:r>
              <a:rPr lang="en-US" dirty="0" smtClean="0"/>
              <a:t>Hierarchical</a:t>
            </a:r>
          </a:p>
          <a:p>
            <a:pPr lvl="1"/>
            <a:r>
              <a:rPr lang="en-US" dirty="0" smtClean="0"/>
              <a:t>Biomolecules are “multi-level polymers”</a:t>
            </a:r>
            <a:endParaRPr lang="en-US" dirty="0"/>
          </a:p>
        </p:txBody>
      </p:sp>
      <p:sp>
        <p:nvSpPr>
          <p:cNvPr id="4" name="Rounded Rectangle 3"/>
          <p:cNvSpPr/>
          <p:nvPr/>
        </p:nvSpPr>
        <p:spPr>
          <a:xfrm>
            <a:off x="2135560"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Complex Polymer</a:t>
            </a:r>
            <a:endParaRPr lang="en-US" dirty="0">
              <a:ln w="28575" cmpd="sng">
                <a:solidFill>
                  <a:srgbClr val="C00000"/>
                </a:solidFill>
              </a:ln>
              <a:solidFill>
                <a:srgbClr val="666E71"/>
              </a:solidFill>
              <a:latin typeface="Calibri"/>
            </a:endParaRPr>
          </a:p>
        </p:txBody>
      </p:sp>
      <p:sp>
        <p:nvSpPr>
          <p:cNvPr id="13" name="Rounded Rectangle 12"/>
          <p:cNvSpPr/>
          <p:nvPr/>
        </p:nvSpPr>
        <p:spPr>
          <a:xfrm>
            <a:off x="4079776"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Simple Polymer</a:t>
            </a:r>
            <a:endParaRPr lang="en-US" dirty="0">
              <a:ln w="28575" cmpd="sng">
                <a:solidFill>
                  <a:srgbClr val="C00000"/>
                </a:solidFill>
              </a:ln>
              <a:solidFill>
                <a:srgbClr val="666E71"/>
              </a:solidFill>
              <a:latin typeface="Calibri"/>
            </a:endParaRPr>
          </a:p>
        </p:txBody>
      </p:sp>
      <p:sp>
        <p:nvSpPr>
          <p:cNvPr id="14" name="Rounded Rectangle 13"/>
          <p:cNvSpPr/>
          <p:nvPr/>
        </p:nvSpPr>
        <p:spPr>
          <a:xfrm>
            <a:off x="6023992" y="2708920"/>
            <a:ext cx="1872208" cy="504056"/>
          </a:xfrm>
          <a:prstGeom prst="roundRect">
            <a:avLst/>
          </a:prstGeom>
          <a:solidFill>
            <a:srgbClr val="F2F2F2"/>
          </a:solidFill>
          <a:ln w="28575" cmpd="sng">
            <a:solidFill>
              <a:srgbClr val="666E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Monomer</a:t>
            </a:r>
            <a:endParaRPr lang="en-US" dirty="0">
              <a:ln w="28575" cmpd="sng">
                <a:solidFill>
                  <a:srgbClr val="C00000"/>
                </a:solidFill>
              </a:ln>
              <a:solidFill>
                <a:srgbClr val="666E71"/>
              </a:solidFill>
              <a:latin typeface="Calibri"/>
            </a:endParaRPr>
          </a:p>
        </p:txBody>
      </p:sp>
      <p:sp>
        <p:nvSpPr>
          <p:cNvPr id="15" name="Rounded Rectangle 14"/>
          <p:cNvSpPr/>
          <p:nvPr/>
        </p:nvSpPr>
        <p:spPr>
          <a:xfrm>
            <a:off x="7968208" y="2708920"/>
            <a:ext cx="1872208" cy="504056"/>
          </a:xfrm>
          <a:prstGeom prst="roundRect">
            <a:avLst/>
          </a:prstGeom>
          <a:solidFill>
            <a:srgbClr val="F2F2F2"/>
          </a:solidFill>
          <a:ln w="28575" cmpd="sng">
            <a:solidFill>
              <a:srgbClr val="666E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Atom</a:t>
            </a:r>
            <a:endParaRPr lang="en-US" dirty="0">
              <a:ln w="28575" cmpd="sng">
                <a:solidFill>
                  <a:srgbClr val="C00000"/>
                </a:solidFill>
              </a:ln>
              <a:solidFill>
                <a:srgbClr val="666E71"/>
              </a:solidFill>
              <a:latin typeface="Calibri"/>
            </a:endParaRPr>
          </a:p>
        </p:txBody>
      </p:sp>
      <p:pic>
        <p:nvPicPr>
          <p:cNvPr id="7" name="Picture 6" descr="temp.png"/>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96854" y="3645024"/>
            <a:ext cx="7987578" cy="2448272"/>
          </a:xfrm>
          <a:prstGeom prst="rect">
            <a:avLst/>
          </a:prstGeom>
        </p:spPr>
      </p:pic>
    </p:spTree>
    <p:extLst>
      <p:ext uri="{BB962C8B-B14F-4D97-AF65-F5344CB8AC3E}">
        <p14:creationId xmlns:p14="http://schemas.microsoft.com/office/powerpoint/2010/main" val="2059630871"/>
      </p:ext>
    </p:extLst>
  </p:cSld>
  <p:clrMapOvr>
    <a:masterClrMapping/>
  </p:clrMapOvr>
  <mc:AlternateContent xmlns:mc="http://schemas.openxmlformats.org/markup-compatibility/2006" xmlns:p14="http://schemas.microsoft.com/office/powerpoint/2010/main">
    <mc:Choice Requires="p14">
      <p:transition spd="slow" p14:dur="1250" advTm="15876">
        <p:fade/>
      </p:transition>
    </mc:Choice>
    <mc:Fallback xmlns="">
      <p:transition spd="slow" advTm="15876">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3313874"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17" name="Rounded Rectangle 16"/>
          <p:cNvSpPr/>
          <p:nvPr/>
        </p:nvSpPr>
        <p:spPr>
          <a:xfrm>
            <a:off x="4249978"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18" name="Rounded Rectangle 17"/>
          <p:cNvSpPr/>
          <p:nvPr/>
        </p:nvSpPr>
        <p:spPr>
          <a:xfrm>
            <a:off x="5159896"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19" name="Rounded Rectangle 18"/>
          <p:cNvSpPr/>
          <p:nvPr/>
        </p:nvSpPr>
        <p:spPr>
          <a:xfrm>
            <a:off x="6096000"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20" name="Rounded Rectangle 19"/>
          <p:cNvSpPr/>
          <p:nvPr/>
        </p:nvSpPr>
        <p:spPr>
          <a:xfrm>
            <a:off x="7019011"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21" name="Rounded Rectangle 20"/>
          <p:cNvSpPr/>
          <p:nvPr/>
        </p:nvSpPr>
        <p:spPr>
          <a:xfrm>
            <a:off x="7942022"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22" name="Rounded Rectangle 21"/>
          <p:cNvSpPr/>
          <p:nvPr/>
        </p:nvSpPr>
        <p:spPr>
          <a:xfrm>
            <a:off x="8878126"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10" name="Rounded Rectangle 9"/>
          <p:cNvSpPr/>
          <p:nvPr/>
        </p:nvSpPr>
        <p:spPr>
          <a:xfrm>
            <a:off x="2423592"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2" name="Title 1"/>
          <p:cNvSpPr>
            <a:spLocks noGrp="1"/>
          </p:cNvSpPr>
          <p:nvPr>
            <p:ph type="title"/>
          </p:nvPr>
        </p:nvSpPr>
        <p:spPr>
          <a:xfrm>
            <a:off x="609600" y="358914"/>
            <a:ext cx="9422837" cy="584775"/>
          </a:xfrm>
        </p:spPr>
        <p:txBody>
          <a:bodyPr/>
          <a:lstStyle/>
          <a:p>
            <a:r>
              <a:rPr lang="en-US" sz="3200" b="1" u="sng" dirty="0"/>
              <a:t>H</a:t>
            </a:r>
            <a:r>
              <a:rPr lang="en-US" sz="3200" dirty="0"/>
              <a:t>ierarchical </a:t>
            </a:r>
            <a:r>
              <a:rPr lang="en-US" sz="3200" b="1" u="sng" dirty="0"/>
              <a:t>E</a:t>
            </a:r>
            <a:r>
              <a:rPr lang="en-US" sz="3200" dirty="0"/>
              <a:t>diting </a:t>
            </a:r>
            <a:r>
              <a:rPr lang="en-US" sz="3200" b="1" u="sng" dirty="0"/>
              <a:t>L</a:t>
            </a:r>
            <a:r>
              <a:rPr lang="en-US" sz="3200" dirty="0"/>
              <a:t>anguage for </a:t>
            </a:r>
            <a:r>
              <a:rPr lang="en-US" sz="3200" b="1" u="sng" dirty="0"/>
              <a:t>M</a:t>
            </a:r>
            <a:r>
              <a:rPr lang="en-US" sz="3200" dirty="0"/>
              <a:t>acromolecules</a:t>
            </a:r>
          </a:p>
        </p:txBody>
      </p:sp>
      <p:sp>
        <p:nvSpPr>
          <p:cNvPr id="3" name="Content Placeholder 2"/>
          <p:cNvSpPr>
            <a:spLocks noGrp="1"/>
          </p:cNvSpPr>
          <p:nvPr>
            <p:ph idx="1"/>
          </p:nvPr>
        </p:nvSpPr>
        <p:spPr/>
        <p:txBody>
          <a:bodyPr/>
          <a:lstStyle/>
          <a:p>
            <a:pPr marL="0" indent="0">
              <a:buNone/>
            </a:pPr>
            <a:r>
              <a:rPr lang="en-US" dirty="0" smtClean="0"/>
              <a:t>Hierarchical</a:t>
            </a:r>
          </a:p>
          <a:p>
            <a:pPr lvl="1"/>
            <a:r>
              <a:rPr lang="en-US" dirty="0" smtClean="0"/>
              <a:t>Biomolecules are “multi-level polymers”</a:t>
            </a:r>
            <a:endParaRPr lang="en-US" dirty="0"/>
          </a:p>
        </p:txBody>
      </p:sp>
      <p:sp>
        <p:nvSpPr>
          <p:cNvPr id="4" name="Rounded Rectangle 3"/>
          <p:cNvSpPr/>
          <p:nvPr/>
        </p:nvSpPr>
        <p:spPr>
          <a:xfrm>
            <a:off x="2135560"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Complex Polymer</a:t>
            </a:r>
            <a:endParaRPr lang="en-US" dirty="0">
              <a:ln w="28575" cmpd="sng">
                <a:solidFill>
                  <a:srgbClr val="C00000"/>
                </a:solidFill>
              </a:ln>
              <a:solidFill>
                <a:srgbClr val="666E71"/>
              </a:solidFill>
              <a:latin typeface="Calibri"/>
            </a:endParaRPr>
          </a:p>
        </p:txBody>
      </p:sp>
      <p:sp>
        <p:nvSpPr>
          <p:cNvPr id="13" name="Rounded Rectangle 12"/>
          <p:cNvSpPr/>
          <p:nvPr/>
        </p:nvSpPr>
        <p:spPr>
          <a:xfrm>
            <a:off x="4079776"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Simple Polymer</a:t>
            </a:r>
            <a:endParaRPr lang="en-US" dirty="0">
              <a:ln w="28575" cmpd="sng">
                <a:solidFill>
                  <a:srgbClr val="C00000"/>
                </a:solidFill>
              </a:ln>
              <a:solidFill>
                <a:srgbClr val="666E71"/>
              </a:solidFill>
              <a:latin typeface="Calibri"/>
            </a:endParaRPr>
          </a:p>
        </p:txBody>
      </p:sp>
      <p:sp>
        <p:nvSpPr>
          <p:cNvPr id="14" name="Rounded Rectangle 13"/>
          <p:cNvSpPr/>
          <p:nvPr/>
        </p:nvSpPr>
        <p:spPr>
          <a:xfrm>
            <a:off x="6023992"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Monomer</a:t>
            </a:r>
            <a:endParaRPr lang="en-US" dirty="0">
              <a:ln w="28575" cmpd="sng">
                <a:solidFill>
                  <a:srgbClr val="C00000"/>
                </a:solidFill>
              </a:ln>
              <a:solidFill>
                <a:srgbClr val="666E71"/>
              </a:solidFill>
              <a:latin typeface="Calibri"/>
            </a:endParaRPr>
          </a:p>
        </p:txBody>
      </p:sp>
      <p:sp>
        <p:nvSpPr>
          <p:cNvPr id="15" name="Rounded Rectangle 14"/>
          <p:cNvSpPr/>
          <p:nvPr/>
        </p:nvSpPr>
        <p:spPr>
          <a:xfrm>
            <a:off x="7968208" y="2708920"/>
            <a:ext cx="1872208" cy="504056"/>
          </a:xfrm>
          <a:prstGeom prst="roundRect">
            <a:avLst/>
          </a:prstGeom>
          <a:solidFill>
            <a:srgbClr val="F2F2F2"/>
          </a:solidFill>
          <a:ln w="28575" cmpd="sng">
            <a:solidFill>
              <a:srgbClr val="666E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Atom</a:t>
            </a:r>
            <a:endParaRPr lang="en-US" dirty="0">
              <a:ln w="28575" cmpd="sng">
                <a:solidFill>
                  <a:srgbClr val="C00000"/>
                </a:solidFill>
              </a:ln>
              <a:solidFill>
                <a:srgbClr val="666E71"/>
              </a:solidFill>
              <a:latin typeface="Calibri"/>
            </a:endParaRPr>
          </a:p>
        </p:txBody>
      </p:sp>
      <p:pic>
        <p:nvPicPr>
          <p:cNvPr id="6" name="Picture 5" descr="temp.png"/>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63552" y="3429000"/>
            <a:ext cx="7568163" cy="1296144"/>
          </a:xfrm>
          <a:prstGeom prst="rect">
            <a:avLst/>
          </a:prstGeom>
        </p:spPr>
      </p:pic>
    </p:spTree>
    <p:extLst>
      <p:ext uri="{BB962C8B-B14F-4D97-AF65-F5344CB8AC3E}">
        <p14:creationId xmlns:p14="http://schemas.microsoft.com/office/powerpoint/2010/main" val="2250605184"/>
      </p:ext>
    </p:extLst>
  </p:cSld>
  <p:clrMapOvr>
    <a:masterClrMapping/>
  </p:clrMapOvr>
  <mc:AlternateContent xmlns:mc="http://schemas.openxmlformats.org/markup-compatibility/2006" xmlns:p14="http://schemas.microsoft.com/office/powerpoint/2010/main">
    <mc:Choice Requires="p14">
      <p:transition spd="slow" p14:dur="1250" advTm="27478">
        <p:fade/>
      </p:transition>
    </mc:Choice>
    <mc:Fallback xmlns="">
      <p:transition spd="slow" advTm="27478">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a:xfrm>
            <a:off x="2423592" y="3605742"/>
            <a:ext cx="648072" cy="1008112"/>
          </a:xfrm>
          <a:prstGeom prst="roundRect">
            <a:avLst/>
          </a:prstGeom>
          <a:solidFill>
            <a:srgbClr val="CBEFF2"/>
          </a:solidFill>
          <a:ln w="2540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endParaRPr lang="en-US">
              <a:solidFill>
                <a:prstClr val="white"/>
              </a:solidFill>
              <a:latin typeface="Calibri"/>
            </a:endParaRPr>
          </a:p>
        </p:txBody>
      </p:sp>
      <p:sp>
        <p:nvSpPr>
          <p:cNvPr id="2" name="Title 1"/>
          <p:cNvSpPr>
            <a:spLocks noGrp="1"/>
          </p:cNvSpPr>
          <p:nvPr>
            <p:ph type="title"/>
          </p:nvPr>
        </p:nvSpPr>
        <p:spPr>
          <a:xfrm>
            <a:off x="609600" y="358914"/>
            <a:ext cx="9422837" cy="584775"/>
          </a:xfrm>
        </p:spPr>
        <p:txBody>
          <a:bodyPr/>
          <a:lstStyle/>
          <a:p>
            <a:r>
              <a:rPr lang="en-US" sz="3200" b="1" u="sng" dirty="0"/>
              <a:t>H</a:t>
            </a:r>
            <a:r>
              <a:rPr lang="en-US" sz="3200" dirty="0"/>
              <a:t>ierarchical </a:t>
            </a:r>
            <a:r>
              <a:rPr lang="en-US" sz="3200" b="1" u="sng" dirty="0"/>
              <a:t>E</a:t>
            </a:r>
            <a:r>
              <a:rPr lang="en-US" sz="3200" dirty="0"/>
              <a:t>diting </a:t>
            </a:r>
            <a:r>
              <a:rPr lang="en-US" sz="3200" b="1" u="sng" dirty="0"/>
              <a:t>L</a:t>
            </a:r>
            <a:r>
              <a:rPr lang="en-US" sz="3200" dirty="0"/>
              <a:t>anguage for </a:t>
            </a:r>
            <a:r>
              <a:rPr lang="en-US" sz="3200" b="1" u="sng" dirty="0"/>
              <a:t>M</a:t>
            </a:r>
            <a:r>
              <a:rPr lang="en-US" sz="3200" dirty="0"/>
              <a:t>acromolecules</a:t>
            </a:r>
          </a:p>
        </p:txBody>
      </p:sp>
      <p:sp>
        <p:nvSpPr>
          <p:cNvPr id="3" name="Content Placeholder 2"/>
          <p:cNvSpPr>
            <a:spLocks noGrp="1"/>
          </p:cNvSpPr>
          <p:nvPr>
            <p:ph idx="1"/>
          </p:nvPr>
        </p:nvSpPr>
        <p:spPr/>
        <p:txBody>
          <a:bodyPr/>
          <a:lstStyle/>
          <a:p>
            <a:pPr marL="0" indent="0">
              <a:buNone/>
            </a:pPr>
            <a:r>
              <a:rPr lang="en-US" dirty="0" smtClean="0"/>
              <a:t>Hierarchical</a:t>
            </a:r>
          </a:p>
          <a:p>
            <a:pPr lvl="1"/>
            <a:r>
              <a:rPr lang="en-US" dirty="0" smtClean="0"/>
              <a:t>Biomolecules are “multi-level polymers”</a:t>
            </a:r>
            <a:endParaRPr lang="en-US" dirty="0"/>
          </a:p>
        </p:txBody>
      </p:sp>
      <p:sp>
        <p:nvSpPr>
          <p:cNvPr id="4" name="Rounded Rectangle 3"/>
          <p:cNvSpPr/>
          <p:nvPr/>
        </p:nvSpPr>
        <p:spPr>
          <a:xfrm>
            <a:off x="2135560"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Complex Polymer</a:t>
            </a:r>
            <a:endParaRPr lang="en-US" dirty="0">
              <a:ln w="28575" cmpd="sng">
                <a:solidFill>
                  <a:srgbClr val="C00000"/>
                </a:solidFill>
              </a:ln>
              <a:solidFill>
                <a:srgbClr val="666E71"/>
              </a:solidFill>
              <a:latin typeface="Calibri"/>
            </a:endParaRPr>
          </a:p>
        </p:txBody>
      </p:sp>
      <p:sp>
        <p:nvSpPr>
          <p:cNvPr id="13" name="Rounded Rectangle 12"/>
          <p:cNvSpPr/>
          <p:nvPr/>
        </p:nvSpPr>
        <p:spPr>
          <a:xfrm>
            <a:off x="4079776"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Simple Polymer</a:t>
            </a:r>
            <a:endParaRPr lang="en-US" dirty="0">
              <a:ln w="28575" cmpd="sng">
                <a:solidFill>
                  <a:srgbClr val="C00000"/>
                </a:solidFill>
              </a:ln>
              <a:solidFill>
                <a:srgbClr val="666E71"/>
              </a:solidFill>
              <a:latin typeface="Calibri"/>
            </a:endParaRPr>
          </a:p>
        </p:txBody>
      </p:sp>
      <p:sp>
        <p:nvSpPr>
          <p:cNvPr id="14" name="Rounded Rectangle 13"/>
          <p:cNvSpPr/>
          <p:nvPr/>
        </p:nvSpPr>
        <p:spPr>
          <a:xfrm>
            <a:off x="6023992"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Monomer</a:t>
            </a:r>
            <a:endParaRPr lang="en-US" dirty="0">
              <a:ln w="28575" cmpd="sng">
                <a:solidFill>
                  <a:srgbClr val="C00000"/>
                </a:solidFill>
              </a:ln>
              <a:solidFill>
                <a:srgbClr val="666E71"/>
              </a:solidFill>
              <a:latin typeface="Calibri"/>
            </a:endParaRPr>
          </a:p>
        </p:txBody>
      </p:sp>
      <p:sp>
        <p:nvSpPr>
          <p:cNvPr id="15" name="Rounded Rectangle 14"/>
          <p:cNvSpPr/>
          <p:nvPr/>
        </p:nvSpPr>
        <p:spPr>
          <a:xfrm>
            <a:off x="7968208" y="2708920"/>
            <a:ext cx="1872208" cy="504056"/>
          </a:xfrm>
          <a:prstGeom prst="roundRect">
            <a:avLst/>
          </a:prstGeom>
          <a:solidFill>
            <a:srgbClr val="CBEFF2"/>
          </a:solid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fontAlgn="base">
              <a:spcBef>
                <a:spcPct val="0"/>
              </a:spcBef>
              <a:spcAft>
                <a:spcPct val="0"/>
              </a:spcAft>
              <a:defRPr/>
            </a:pPr>
            <a:r>
              <a:rPr lang="en-US" dirty="0">
                <a:solidFill>
                  <a:srgbClr val="666E71"/>
                </a:solidFill>
                <a:latin typeface="Calibri"/>
              </a:rPr>
              <a:t>Atom</a:t>
            </a:r>
            <a:endParaRPr lang="en-US" dirty="0">
              <a:ln w="28575" cmpd="sng">
                <a:solidFill>
                  <a:srgbClr val="C00000"/>
                </a:solidFill>
              </a:ln>
              <a:solidFill>
                <a:srgbClr val="666E71"/>
              </a:solidFill>
              <a:latin typeface="Calibri"/>
            </a:endParaRPr>
          </a:p>
        </p:txBody>
      </p:sp>
      <p:pic>
        <p:nvPicPr>
          <p:cNvPr id="23"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439817" y="3501009"/>
            <a:ext cx="3588607" cy="3145989"/>
          </a:xfrm>
          <a:prstGeom prst="rect">
            <a:avLst/>
          </a:prstGeom>
          <a:noFill/>
          <a:ln>
            <a:noFill/>
          </a:ln>
          <a:effectLst>
            <a:outerShdw blurRad="190500" algn="ctr" rotWithShape="0">
              <a:srgbClr val="000000">
                <a:alpha val="70000"/>
              </a:srgbClr>
            </a:outerShdw>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24" name="Picture 23" descr="temp.png"/>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75964" y="3839310"/>
            <a:ext cx="576064" cy="597802"/>
          </a:xfrm>
          <a:prstGeom prst="rect">
            <a:avLst/>
          </a:prstGeom>
        </p:spPr>
      </p:pic>
      <p:cxnSp>
        <p:nvCxnSpPr>
          <p:cNvPr id="11" name="Straight Arrow Connector 10"/>
          <p:cNvCxnSpPr/>
          <p:nvPr/>
        </p:nvCxnSpPr>
        <p:spPr>
          <a:xfrm>
            <a:off x="3287688" y="4149080"/>
            <a:ext cx="936104" cy="0"/>
          </a:xfrm>
          <a:prstGeom prst="straightConnector1">
            <a:avLst/>
          </a:prstGeom>
          <a:ln w="38100" cmpd="sng">
            <a:solidFill>
              <a:srgbClr val="C0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7028480"/>
      </p:ext>
    </p:extLst>
  </p:cSld>
  <p:clrMapOvr>
    <a:masterClrMapping/>
  </p:clrMapOvr>
  <mc:AlternateContent xmlns:mc="http://schemas.openxmlformats.org/markup-compatibility/2006" xmlns:p14="http://schemas.microsoft.com/office/powerpoint/2010/main">
    <mc:Choice Requires="p14">
      <p:transition spd="slow" p14:dur="1250" advTm="19238">
        <p:fade/>
      </p:transition>
    </mc:Choice>
    <mc:Fallback xmlns="">
      <p:transition spd="slow" advTm="19238">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6">
            <a:extLst>
              <a:ext uri="{FF2B5EF4-FFF2-40B4-BE49-F238E27FC236}">
                <a16:creationId xmlns="" xmlns:a16="http://schemas.microsoft.com/office/drawing/2014/main" id="{8C975267-7818-47C0-9C01-A39058A263B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1418"/>
          <a:stretch/>
        </p:blipFill>
        <p:spPr>
          <a:xfrm>
            <a:off x="6635733" y="3305241"/>
            <a:ext cx="5113221" cy="2745361"/>
          </a:xfrm>
          <a:prstGeom prst="rect">
            <a:avLst/>
          </a:prstGeom>
        </p:spPr>
      </p:pic>
      <p:sp>
        <p:nvSpPr>
          <p:cNvPr id="18434" name="Title 1"/>
          <p:cNvSpPr>
            <a:spLocks noGrp="1"/>
          </p:cNvSpPr>
          <p:nvPr>
            <p:ph type="title"/>
          </p:nvPr>
        </p:nvSpPr>
        <p:spPr/>
        <p:txBody>
          <a:bodyPr/>
          <a:lstStyle/>
          <a:p>
            <a:r>
              <a:rPr lang="en-US" dirty="0" smtClean="0"/>
              <a:t>Notation Format</a:t>
            </a:r>
            <a:endParaRPr lang="en-GB" dirty="0"/>
          </a:p>
        </p:txBody>
      </p:sp>
      <p:pic>
        <p:nvPicPr>
          <p:cNvPr id="5"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3346" b="57389"/>
          <a:stretch/>
        </p:blipFill>
        <p:spPr bwMode="auto">
          <a:xfrm>
            <a:off x="716282" y="2189360"/>
            <a:ext cx="5667750" cy="564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pic>
      <p:sp>
        <p:nvSpPr>
          <p:cNvPr id="2" name="Rectangle 1"/>
          <p:cNvSpPr/>
          <p:nvPr/>
        </p:nvSpPr>
        <p:spPr>
          <a:xfrm>
            <a:off x="608270" y="2754035"/>
            <a:ext cx="5883774" cy="369332"/>
          </a:xfrm>
          <a:prstGeom prst="rect">
            <a:avLst/>
          </a:prstGeom>
        </p:spPr>
        <p:txBody>
          <a:bodyPr wrap="square">
            <a:spAutoFit/>
          </a:bodyPr>
          <a:lstStyle/>
          <a:p>
            <a:pPr defTabSz="914400" fontAlgn="base">
              <a:spcBef>
                <a:spcPct val="0"/>
              </a:spcBef>
              <a:spcAft>
                <a:spcPct val="0"/>
              </a:spcAft>
              <a:defRPr/>
            </a:pPr>
            <a:r>
              <a:rPr lang="en-US" dirty="0">
                <a:solidFill>
                  <a:schemeClr val="tx2"/>
                </a:solidFill>
                <a:latin typeface="Calibri" pitchFamily="34" charset="0"/>
                <a:cs typeface="Arial" charset="0"/>
              </a:rPr>
              <a:t>HELM notation:    </a:t>
            </a:r>
            <a:r>
              <a:rPr lang="en-US" dirty="0">
                <a:solidFill>
                  <a:srgbClr val="4C5156"/>
                </a:solidFill>
                <a:latin typeface="Calibri" pitchFamily="34" charset="0"/>
                <a:cs typeface="Arial" charset="0"/>
              </a:rPr>
              <a:t>PEPTIDE1{A.R.G.[</a:t>
            </a:r>
            <a:r>
              <a:rPr lang="en-US" dirty="0" err="1">
                <a:solidFill>
                  <a:srgbClr val="4C5156"/>
                </a:solidFill>
                <a:latin typeface="Calibri" pitchFamily="34" charset="0"/>
                <a:cs typeface="Arial" charset="0"/>
              </a:rPr>
              <a:t>dF</a:t>
            </a:r>
            <a:r>
              <a:rPr lang="en-US" dirty="0">
                <a:solidFill>
                  <a:srgbClr val="4C5156"/>
                </a:solidFill>
                <a:latin typeface="Calibri" pitchFamily="34" charset="0"/>
                <a:cs typeface="Arial" charset="0"/>
              </a:rPr>
              <a:t>].C.K.[</a:t>
            </a:r>
            <a:r>
              <a:rPr lang="en-US" dirty="0" err="1">
                <a:solidFill>
                  <a:srgbClr val="4C5156"/>
                </a:solidFill>
                <a:latin typeface="Calibri" pitchFamily="34" charset="0"/>
                <a:cs typeface="Arial" charset="0"/>
              </a:rPr>
              <a:t>meA</a:t>
            </a:r>
            <a:r>
              <a:rPr lang="en-US" dirty="0">
                <a:solidFill>
                  <a:srgbClr val="4C5156"/>
                </a:solidFill>
                <a:latin typeface="Calibri" pitchFamily="34" charset="0"/>
                <a:cs typeface="Arial" charset="0"/>
              </a:rPr>
              <a:t>].E.D.A}$$$$</a:t>
            </a:r>
          </a:p>
        </p:txBody>
      </p:sp>
      <p:sp>
        <p:nvSpPr>
          <p:cNvPr id="3" name="Rectangle 2">
            <a:extLst>
              <a:ext uri="{FF2B5EF4-FFF2-40B4-BE49-F238E27FC236}">
                <a16:creationId xmlns="" xmlns:a16="http://schemas.microsoft.com/office/drawing/2014/main" id="{43FAD4A5-69AD-42C5-B9DA-9636A6CFE7FC}"/>
              </a:ext>
            </a:extLst>
          </p:cNvPr>
          <p:cNvSpPr/>
          <p:nvPr/>
        </p:nvSpPr>
        <p:spPr>
          <a:xfrm>
            <a:off x="716282" y="1310133"/>
            <a:ext cx="8568952" cy="369332"/>
          </a:xfrm>
          <a:prstGeom prst="rect">
            <a:avLst/>
          </a:prstGeom>
          <a:solidFill>
            <a:schemeClr val="accent1">
              <a:lumMod val="60000"/>
              <a:lumOff val="40000"/>
            </a:schemeClr>
          </a:solidFill>
          <a:ln w="19050">
            <a:solidFill>
              <a:schemeClr val="tx1"/>
            </a:solidFill>
          </a:ln>
        </p:spPr>
        <p:txBody>
          <a:bodyPr wrap="square">
            <a:spAutoFit/>
          </a:bodyPr>
          <a:lstStyle/>
          <a:p>
            <a:r>
              <a:rPr lang="en-US" dirty="0">
                <a:solidFill>
                  <a:srgbClr val="4C5156"/>
                </a:solidFill>
                <a:ea typeface="MS PGothic" pitchFamily="34" charset="-128"/>
                <a:cs typeface="Calibri"/>
              </a:rPr>
              <a:t>ListOfSimplePolymers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ListOfConnections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ListOfPolymerGroups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ExtendedAnnotation</a:t>
            </a:r>
            <a:r>
              <a:rPr lang="en-US" dirty="0">
                <a:solidFill>
                  <a:srgbClr val="FF0000"/>
                </a:solidFill>
                <a:ea typeface="MS PGothic" pitchFamily="34" charset="-128"/>
                <a:cs typeface="Calibri"/>
              </a:rPr>
              <a:t>$</a:t>
            </a:r>
            <a:endParaRPr lang="en-US" dirty="0">
              <a:solidFill>
                <a:srgbClr val="FF0000"/>
              </a:solidFill>
              <a:latin typeface="Calibri" pitchFamily="34" charset="0"/>
              <a:cs typeface="Arial" charset="0"/>
            </a:endParaRPr>
          </a:p>
        </p:txBody>
      </p:sp>
      <p:sp>
        <p:nvSpPr>
          <p:cNvPr id="8" name="Textfeld 7">
            <a:extLst>
              <a:ext uri="{FF2B5EF4-FFF2-40B4-BE49-F238E27FC236}">
                <a16:creationId xmlns="" xmlns:a16="http://schemas.microsoft.com/office/drawing/2014/main" id="{38FD3897-F9D5-49E1-8539-6E3D8F9C7C62}"/>
              </a:ext>
            </a:extLst>
          </p:cNvPr>
          <p:cNvSpPr txBox="1"/>
          <p:nvPr/>
        </p:nvSpPr>
        <p:spPr>
          <a:xfrm>
            <a:off x="2783632" y="4762950"/>
            <a:ext cx="6408712" cy="923330"/>
          </a:xfrm>
          <a:prstGeom prst="rect">
            <a:avLst/>
          </a:prstGeom>
          <a:noFill/>
        </p:spPr>
        <p:txBody>
          <a:bodyPr wrap="square" rtlCol="0">
            <a:spAutoFit/>
          </a:bodyPr>
          <a:lstStyle/>
          <a:p>
            <a:pPr defTabSz="914400" fontAlgn="base">
              <a:spcBef>
                <a:spcPct val="0"/>
              </a:spcBef>
              <a:spcAft>
                <a:spcPct val="0"/>
              </a:spcAft>
            </a:pPr>
            <a:r>
              <a:rPr lang="de-DE" b="1" dirty="0">
                <a:solidFill>
                  <a:srgbClr val="173B64"/>
                </a:solidFill>
                <a:latin typeface="Arial" charset="0"/>
              </a:rPr>
              <a:t>PEPTIDE1</a:t>
            </a:r>
            <a:r>
              <a:rPr lang="de-DE" b="1" dirty="0">
                <a:solidFill>
                  <a:srgbClr val="FF0000"/>
                </a:solidFill>
                <a:latin typeface="Arial" charset="0"/>
              </a:rPr>
              <a:t>{</a:t>
            </a:r>
            <a:r>
              <a:rPr lang="de-DE" dirty="0">
                <a:solidFill>
                  <a:srgbClr val="173B64"/>
                </a:solidFill>
                <a:latin typeface="Arial" charset="0"/>
              </a:rPr>
              <a:t>W.N.D.[T-est].G.[</a:t>
            </a:r>
            <a:r>
              <a:rPr lang="de-DE" dirty="0" smtClean="0">
                <a:solidFill>
                  <a:srgbClr val="173B64"/>
                </a:solidFill>
                <a:latin typeface="Arial" charset="0"/>
              </a:rPr>
              <a:t>ORN].</a:t>
            </a:r>
            <a:r>
              <a:rPr lang="de-DE" dirty="0">
                <a:solidFill>
                  <a:srgbClr val="173B64"/>
                </a:solidFill>
                <a:latin typeface="Arial" charset="0"/>
              </a:rPr>
              <a:t>D.A.D.G.S.[</a:t>
            </a:r>
            <a:r>
              <a:rPr lang="de-DE" dirty="0" smtClean="0">
                <a:solidFill>
                  <a:srgbClr val="173B64"/>
                </a:solidFill>
                <a:latin typeface="Arial" charset="0"/>
              </a:rPr>
              <a:t>LME].[</a:t>
            </a:r>
            <a:r>
              <a:rPr lang="de-DE" dirty="0">
                <a:solidFill>
                  <a:srgbClr val="173B64"/>
                </a:solidFill>
                <a:latin typeface="Arial" charset="0"/>
              </a:rPr>
              <a:t>KYN</a:t>
            </a:r>
            <a:r>
              <a:rPr lang="de-DE" dirty="0" smtClean="0">
                <a:solidFill>
                  <a:srgbClr val="173B64"/>
                </a:solidFill>
                <a:latin typeface="Arial" charset="0"/>
              </a:rPr>
              <a:t>]</a:t>
            </a:r>
            <a:r>
              <a:rPr lang="de-DE" b="1" dirty="0" smtClean="0">
                <a:solidFill>
                  <a:srgbClr val="FF0000"/>
                </a:solidFill>
                <a:latin typeface="Arial" charset="0"/>
              </a:rPr>
              <a:t>}</a:t>
            </a:r>
            <a:r>
              <a:rPr lang="de-DE" dirty="0" smtClean="0">
                <a:solidFill>
                  <a:srgbClr val="2E8C5D"/>
                </a:solidFill>
                <a:latin typeface="Arial" charset="0"/>
              </a:rPr>
              <a:t>|</a:t>
            </a:r>
          </a:p>
          <a:p>
            <a:pPr defTabSz="914400" fontAlgn="base">
              <a:spcBef>
                <a:spcPct val="0"/>
              </a:spcBef>
              <a:spcAft>
                <a:spcPct val="0"/>
              </a:spcAft>
            </a:pPr>
            <a:r>
              <a:rPr lang="de-DE" b="1" dirty="0" smtClean="0">
                <a:solidFill>
                  <a:srgbClr val="173B64"/>
                </a:solidFill>
                <a:latin typeface="Arial" charset="0"/>
              </a:rPr>
              <a:t>CHEM1</a:t>
            </a:r>
            <a:r>
              <a:rPr lang="de-DE" b="1" dirty="0" smtClean="0">
                <a:solidFill>
                  <a:srgbClr val="FF0000"/>
                </a:solidFill>
                <a:latin typeface="Arial" charset="0"/>
              </a:rPr>
              <a:t>{</a:t>
            </a:r>
            <a:r>
              <a:rPr lang="de-DE" dirty="0" smtClean="0">
                <a:solidFill>
                  <a:srgbClr val="173B64"/>
                </a:solidFill>
                <a:latin typeface="Arial" charset="0"/>
              </a:rPr>
              <a:t>DA</a:t>
            </a:r>
            <a:r>
              <a:rPr lang="de-DE" b="1" dirty="0" smtClean="0">
                <a:solidFill>
                  <a:srgbClr val="FF0000"/>
                </a:solidFill>
                <a:latin typeface="Arial" charset="0"/>
              </a:rPr>
              <a:t>}</a:t>
            </a:r>
            <a:r>
              <a:rPr lang="de-DE" b="1" dirty="0" smtClean="0">
                <a:solidFill>
                  <a:srgbClr val="2E8C5D"/>
                </a:solidFill>
                <a:latin typeface="Arial" charset="0"/>
              </a:rPr>
              <a:t>$</a:t>
            </a:r>
            <a:r>
              <a:rPr lang="de-DE" dirty="0" smtClean="0">
                <a:solidFill>
                  <a:schemeClr val="tx2"/>
                </a:solidFill>
                <a:latin typeface="Arial" charset="0"/>
              </a:rPr>
              <a:t>PEPTIDE1,PEPTIDE1,</a:t>
            </a:r>
            <a:r>
              <a:rPr lang="de-DE" dirty="0" smtClean="0">
                <a:solidFill>
                  <a:schemeClr val="accent2">
                    <a:lumMod val="50000"/>
                  </a:schemeClr>
                </a:solidFill>
                <a:latin typeface="Arial" charset="0"/>
              </a:rPr>
              <a:t>13:R2</a:t>
            </a:r>
            <a:r>
              <a:rPr lang="de-DE" dirty="0" smtClean="0">
                <a:solidFill>
                  <a:schemeClr val="tx2"/>
                </a:solidFill>
                <a:latin typeface="Arial" charset="0"/>
              </a:rPr>
              <a:t>-</a:t>
            </a:r>
            <a:r>
              <a:rPr lang="de-DE" dirty="0" smtClean="0">
                <a:solidFill>
                  <a:schemeClr val="accent5">
                    <a:lumMod val="75000"/>
                  </a:schemeClr>
                </a:solidFill>
                <a:latin typeface="Arial" charset="0"/>
              </a:rPr>
              <a:t>4:R3</a:t>
            </a:r>
            <a:r>
              <a:rPr lang="de-DE" b="1" dirty="0" smtClean="0">
                <a:solidFill>
                  <a:srgbClr val="2E8C5D"/>
                </a:solidFill>
                <a:latin typeface="Arial" charset="0"/>
              </a:rPr>
              <a:t>|</a:t>
            </a:r>
            <a:r>
              <a:rPr lang="de-DE" dirty="0" smtClean="0">
                <a:solidFill>
                  <a:srgbClr val="2103D5"/>
                </a:solidFill>
                <a:latin typeface="Arial" charset="0"/>
              </a:rPr>
              <a:t>PEPTIDE1,</a:t>
            </a:r>
          </a:p>
          <a:p>
            <a:pPr defTabSz="914400" fontAlgn="base">
              <a:spcBef>
                <a:spcPct val="0"/>
              </a:spcBef>
              <a:spcAft>
                <a:spcPct val="0"/>
              </a:spcAft>
            </a:pPr>
            <a:r>
              <a:rPr lang="de-DE" dirty="0" smtClean="0">
                <a:solidFill>
                  <a:srgbClr val="2103D5"/>
                </a:solidFill>
                <a:latin typeface="Arial" charset="0"/>
              </a:rPr>
              <a:t>CHEM1,1:R1-1:R1</a:t>
            </a:r>
            <a:r>
              <a:rPr lang="de-DE" b="1" dirty="0">
                <a:solidFill>
                  <a:srgbClr val="2E8C5D"/>
                </a:solidFill>
                <a:latin typeface="Arial" charset="0"/>
              </a:rPr>
              <a:t>$$$</a:t>
            </a:r>
          </a:p>
        </p:txBody>
      </p:sp>
      <p:sp>
        <p:nvSpPr>
          <p:cNvPr id="4" name="Rectangle 3">
            <a:extLst>
              <a:ext uri="{FF2B5EF4-FFF2-40B4-BE49-F238E27FC236}">
                <a16:creationId xmlns="" xmlns:a16="http://schemas.microsoft.com/office/drawing/2014/main" id="{0E7F3CDE-70E3-496E-95BB-ED66DAB7AAC6}"/>
              </a:ext>
            </a:extLst>
          </p:cNvPr>
          <p:cNvSpPr/>
          <p:nvPr/>
        </p:nvSpPr>
        <p:spPr>
          <a:xfrm>
            <a:off x="6816080" y="3686090"/>
            <a:ext cx="1680717" cy="461665"/>
          </a:xfrm>
          <a:prstGeom prst="rect">
            <a:avLst/>
          </a:prstGeom>
        </p:spPr>
        <p:txBody>
          <a:bodyPr wrap="none">
            <a:spAutoFit/>
          </a:bodyPr>
          <a:lstStyle/>
          <a:p>
            <a:r>
              <a:rPr lang="en-US" sz="2400" dirty="0">
                <a:latin typeface="Calibri" pitchFamily="34" charset="0"/>
                <a:cs typeface="Arial" charset="0"/>
              </a:rPr>
              <a:t>Daptomycin</a:t>
            </a:r>
            <a:endParaRPr lang="en-GB" sz="2400" dirty="0"/>
          </a:p>
        </p:txBody>
      </p:sp>
    </p:spTree>
    <p:extLst>
      <p:ext uri="{BB962C8B-B14F-4D97-AF65-F5344CB8AC3E}">
        <p14:creationId xmlns:p14="http://schemas.microsoft.com/office/powerpoint/2010/main" val="224410405"/>
      </p:ext>
    </p:extLst>
  </p:cSld>
  <p:clrMapOvr>
    <a:masterClrMapping/>
  </p:clrMapOvr>
  <mc:AlternateContent xmlns:mc="http://schemas.openxmlformats.org/markup-compatibility/2006" xmlns:p14="http://schemas.microsoft.com/office/powerpoint/2010/main">
    <mc:Choice Requires="p14">
      <p:transition spd="slow" p14:dur="1250" advTm="72629">
        <p:fade/>
      </p:transition>
    </mc:Choice>
    <mc:Fallback xmlns="">
      <p:transition spd="slow" advTm="72629">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a:extLst>
              <a:ext uri="{FF2B5EF4-FFF2-40B4-BE49-F238E27FC236}">
                <a16:creationId xmlns="" xmlns:a16="http://schemas.microsoft.com/office/drawing/2014/main" id="{2594551C-0757-4164-86B5-99E016EC63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033" t="17288" r="1202" b="32674"/>
          <a:stretch/>
        </p:blipFill>
        <p:spPr bwMode="auto">
          <a:xfrm>
            <a:off x="2778460" y="2060849"/>
            <a:ext cx="6419056" cy="338067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18434" name="Title 1"/>
          <p:cNvSpPr>
            <a:spLocks noGrp="1"/>
          </p:cNvSpPr>
          <p:nvPr>
            <p:ph type="title"/>
          </p:nvPr>
        </p:nvSpPr>
        <p:spPr/>
        <p:txBody>
          <a:bodyPr/>
          <a:lstStyle/>
          <a:p>
            <a:r>
              <a:rPr lang="en-US" dirty="0"/>
              <a:t>Notation </a:t>
            </a:r>
            <a:r>
              <a:rPr lang="en-US" dirty="0" smtClean="0"/>
              <a:t>Format</a:t>
            </a:r>
            <a:endParaRPr lang="en-GB" dirty="0"/>
          </a:p>
        </p:txBody>
      </p:sp>
      <p:sp>
        <p:nvSpPr>
          <p:cNvPr id="6" name="Content Placeholder 2">
            <a:extLst>
              <a:ext uri="{FF2B5EF4-FFF2-40B4-BE49-F238E27FC236}">
                <a16:creationId xmlns="" xmlns:a16="http://schemas.microsoft.com/office/drawing/2014/main" id="{C588B1FA-7291-43F6-91C2-C8FDC919E058}"/>
              </a:ext>
            </a:extLst>
          </p:cNvPr>
          <p:cNvSpPr txBox="1">
            <a:spLocks/>
          </p:cNvSpPr>
          <p:nvPr/>
        </p:nvSpPr>
        <p:spPr>
          <a:xfrm>
            <a:off x="716282" y="5013176"/>
            <a:ext cx="8280920" cy="1372979"/>
          </a:xfrm>
          <a:prstGeom prst="rect">
            <a:avLst/>
          </a:prstGeom>
        </p:spPr>
        <p:txBody>
          <a:bodyPr/>
          <a:lstStyle>
            <a:lvl1pPr marL="342900" indent="-342900" algn="l" rtl="0" eaLnBrk="0" fontAlgn="base" hangingPunct="0">
              <a:spcBef>
                <a:spcPct val="20000"/>
              </a:spcBef>
              <a:spcAft>
                <a:spcPct val="0"/>
              </a:spcAft>
              <a:buChar char="•"/>
              <a:defRPr sz="3200">
                <a:solidFill>
                  <a:srgbClr val="002060"/>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800">
                <a:solidFill>
                  <a:srgbClr val="002060"/>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rgbClr val="002060"/>
                </a:solidFill>
                <a:latin typeface="+mn-lt"/>
                <a:ea typeface="MS PGothic" pitchFamily="34" charset="-128"/>
              </a:defRPr>
            </a:lvl3pPr>
            <a:lvl4pPr marL="1600200" indent="-228600" algn="l" rtl="0" eaLnBrk="0" fontAlgn="base" hangingPunct="0">
              <a:spcBef>
                <a:spcPct val="20000"/>
              </a:spcBef>
              <a:spcAft>
                <a:spcPct val="0"/>
              </a:spcAft>
              <a:buChar char="–"/>
              <a:defRPr sz="2000">
                <a:solidFill>
                  <a:srgbClr val="002060"/>
                </a:solidFill>
                <a:latin typeface="+mn-lt"/>
                <a:ea typeface="MS PGothic" pitchFamily="34" charset="-128"/>
              </a:defRPr>
            </a:lvl4pPr>
            <a:lvl5pPr marL="2057400" indent="-228600" algn="l" rtl="0" eaLnBrk="0" fontAlgn="base" hangingPunct="0">
              <a:spcBef>
                <a:spcPct val="20000"/>
              </a:spcBef>
              <a:spcAft>
                <a:spcPct val="0"/>
              </a:spcAft>
              <a:buChar char="»"/>
              <a:defRPr sz="2000">
                <a:solidFill>
                  <a:srgbClr val="002060"/>
                </a:solidFill>
                <a:latin typeface="+mn-lt"/>
                <a:ea typeface="MS PGothic" pitchFamily="34" charset="-128"/>
              </a:defRPr>
            </a:lvl5pPr>
            <a:lvl6pPr marL="2514600" indent="-228600" algn="l" rtl="0" eaLnBrk="1" fontAlgn="base" hangingPunct="1">
              <a:spcBef>
                <a:spcPct val="20000"/>
              </a:spcBef>
              <a:spcAft>
                <a:spcPct val="0"/>
              </a:spcAft>
              <a:buChar char="»"/>
              <a:defRPr sz="2000">
                <a:solidFill>
                  <a:srgbClr val="462300"/>
                </a:solidFill>
                <a:latin typeface="+mn-lt"/>
              </a:defRPr>
            </a:lvl6pPr>
            <a:lvl7pPr marL="2971800" indent="-228600" algn="l" rtl="0" eaLnBrk="1" fontAlgn="base" hangingPunct="1">
              <a:spcBef>
                <a:spcPct val="20000"/>
              </a:spcBef>
              <a:spcAft>
                <a:spcPct val="0"/>
              </a:spcAft>
              <a:buChar char="»"/>
              <a:defRPr sz="2000">
                <a:solidFill>
                  <a:srgbClr val="462300"/>
                </a:solidFill>
                <a:latin typeface="+mn-lt"/>
              </a:defRPr>
            </a:lvl7pPr>
            <a:lvl8pPr marL="3429000" indent="-228600" algn="l" rtl="0" eaLnBrk="1" fontAlgn="base" hangingPunct="1">
              <a:spcBef>
                <a:spcPct val="20000"/>
              </a:spcBef>
              <a:spcAft>
                <a:spcPct val="0"/>
              </a:spcAft>
              <a:buChar char="»"/>
              <a:defRPr sz="2000">
                <a:solidFill>
                  <a:srgbClr val="462300"/>
                </a:solidFill>
                <a:latin typeface="+mn-lt"/>
              </a:defRPr>
            </a:lvl8pPr>
            <a:lvl9pPr marL="3886200" indent="-228600" algn="l" rtl="0" eaLnBrk="1" fontAlgn="base" hangingPunct="1">
              <a:spcBef>
                <a:spcPct val="20000"/>
              </a:spcBef>
              <a:spcAft>
                <a:spcPct val="0"/>
              </a:spcAft>
              <a:buChar char="»"/>
              <a:defRPr sz="2000">
                <a:solidFill>
                  <a:srgbClr val="462300"/>
                </a:solidFill>
                <a:latin typeface="+mn-lt"/>
              </a:defRPr>
            </a:lvl9pPr>
          </a:lstStyle>
          <a:p>
            <a:pPr marL="0" indent="0" defTabSz="914400" eaLnBrk="1" hangingPunct="1">
              <a:spcBef>
                <a:spcPct val="0"/>
              </a:spcBef>
              <a:buNone/>
              <a:defRPr/>
            </a:pPr>
            <a:r>
              <a:rPr lang="en-US" sz="1800" dirty="0">
                <a:solidFill>
                  <a:schemeClr val="tx2"/>
                </a:solidFill>
                <a:latin typeface="Calibri" pitchFamily="34" charset="0"/>
                <a:ea typeface="+mn-ea"/>
                <a:cs typeface="Arial" charset="0"/>
              </a:rPr>
              <a:t>HELM notation</a:t>
            </a:r>
          </a:p>
          <a:p>
            <a:pPr marL="0" indent="0" defTabSz="914400">
              <a:buNone/>
              <a:defRPr/>
            </a:pPr>
            <a:r>
              <a:rPr lang="en-US" sz="1800" dirty="0">
                <a:solidFill>
                  <a:srgbClr val="4C5156"/>
                </a:solidFill>
                <a:latin typeface="Calibri"/>
                <a:cs typeface="Calibri"/>
              </a:rPr>
              <a:t>RNA1{R(G)P.R(G)P.R(C)P.R(A)P.R(C)P.R(U)P.R(U)P.R(C)P.R(G)P.R(G)P.R(U)P.R(G)P.R(C)P.R(C)}</a:t>
            </a:r>
            <a:r>
              <a:rPr lang="en-US" sz="1800" dirty="0">
                <a:solidFill>
                  <a:schemeClr val="accent5">
                    <a:lumMod val="75000"/>
                  </a:schemeClr>
                </a:solidFill>
                <a:latin typeface="Calibri"/>
                <a:cs typeface="Calibri"/>
              </a:rPr>
              <a:t>$$</a:t>
            </a:r>
            <a:r>
              <a:rPr lang="en-US" sz="1800" dirty="0">
                <a:solidFill>
                  <a:srgbClr val="4C5156"/>
                </a:solidFill>
                <a:latin typeface="Calibri"/>
                <a:cs typeface="Calibri"/>
              </a:rPr>
              <a:t>RNA1,RNA1,11:pair-32:pair|RNA1,RNA1,5:pair-38:pair|RNA1,RNA1,14:pair-29:pair|RNA1,RNA1,8:pair-35:pair|RNA1,RNA1,2:pair-41:pair$$</a:t>
            </a:r>
          </a:p>
        </p:txBody>
      </p:sp>
      <p:sp>
        <p:nvSpPr>
          <p:cNvPr id="7" name="Rectangle 6">
            <a:extLst>
              <a:ext uri="{FF2B5EF4-FFF2-40B4-BE49-F238E27FC236}">
                <a16:creationId xmlns="" xmlns:a16="http://schemas.microsoft.com/office/drawing/2014/main" id="{43FAD4A5-69AD-42C5-B9DA-9636A6CFE7FC}"/>
              </a:ext>
            </a:extLst>
          </p:cNvPr>
          <p:cNvSpPr/>
          <p:nvPr/>
        </p:nvSpPr>
        <p:spPr>
          <a:xfrm>
            <a:off x="716282" y="1310133"/>
            <a:ext cx="8568952" cy="369332"/>
          </a:xfrm>
          <a:prstGeom prst="rect">
            <a:avLst/>
          </a:prstGeom>
          <a:solidFill>
            <a:schemeClr val="accent1">
              <a:lumMod val="60000"/>
              <a:lumOff val="40000"/>
            </a:schemeClr>
          </a:solidFill>
          <a:ln w="19050">
            <a:solidFill>
              <a:schemeClr val="tx1"/>
            </a:solidFill>
          </a:ln>
        </p:spPr>
        <p:txBody>
          <a:bodyPr wrap="square">
            <a:spAutoFit/>
          </a:bodyPr>
          <a:lstStyle/>
          <a:p>
            <a:r>
              <a:rPr lang="en-US" dirty="0">
                <a:solidFill>
                  <a:srgbClr val="4C5156"/>
                </a:solidFill>
                <a:ea typeface="MS PGothic" pitchFamily="34" charset="-128"/>
                <a:cs typeface="Calibri"/>
              </a:rPr>
              <a:t>ListOfSimplePolymers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ListOfConnections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ListOfPolymerGroups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ExtendedAnnotation</a:t>
            </a:r>
            <a:r>
              <a:rPr lang="en-US" dirty="0">
                <a:solidFill>
                  <a:srgbClr val="FF0000"/>
                </a:solidFill>
                <a:ea typeface="MS PGothic" pitchFamily="34" charset="-128"/>
                <a:cs typeface="Calibri"/>
              </a:rPr>
              <a:t>$</a:t>
            </a:r>
            <a:endParaRPr lang="en-US" dirty="0">
              <a:solidFill>
                <a:srgbClr val="FF0000"/>
              </a:solidFill>
              <a:latin typeface="Calibri" pitchFamily="34" charset="0"/>
              <a:cs typeface="Arial" charset="0"/>
            </a:endParaRPr>
          </a:p>
        </p:txBody>
      </p:sp>
    </p:spTree>
    <p:extLst>
      <p:ext uri="{BB962C8B-B14F-4D97-AF65-F5344CB8AC3E}">
        <p14:creationId xmlns:p14="http://schemas.microsoft.com/office/powerpoint/2010/main" val="1669484456"/>
      </p:ext>
    </p:extLst>
  </p:cSld>
  <p:clrMapOvr>
    <a:masterClrMapping/>
  </p:clrMapOvr>
  <mc:AlternateContent xmlns:mc="http://schemas.openxmlformats.org/markup-compatibility/2006" xmlns:p14="http://schemas.microsoft.com/office/powerpoint/2010/main">
    <mc:Choice Requires="p14">
      <p:transition spd="slow" p14:dur="1250" advTm="16201">
        <p:fade/>
      </p:transition>
    </mc:Choice>
    <mc:Fallback xmlns="">
      <p:transition spd="slow" advTm="16201">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smtClean="0"/>
              <a:t>HELM…</a:t>
            </a:r>
            <a:endParaRPr lang="en-GB" dirty="0"/>
          </a:p>
        </p:txBody>
      </p:sp>
      <p:sp>
        <p:nvSpPr>
          <p:cNvPr id="3" name="Inhaltsplatzhalter 2"/>
          <p:cNvSpPr>
            <a:spLocks noGrp="1"/>
          </p:cNvSpPr>
          <p:nvPr>
            <p:ph idx="1"/>
          </p:nvPr>
        </p:nvSpPr>
        <p:spPr/>
        <p:txBody>
          <a:bodyPr>
            <a:normAutofit fontScale="85000" lnSpcReduction="20000"/>
          </a:bodyPr>
          <a:lstStyle/>
          <a:p>
            <a:pPr marL="0" indent="0">
              <a:buNone/>
            </a:pPr>
            <a:r>
              <a:rPr lang="en-GB" dirty="0" smtClean="0">
                <a:solidFill>
                  <a:srgbClr val="228B96"/>
                </a:solidFill>
              </a:rPr>
              <a:t>…and very large molecules</a:t>
            </a:r>
            <a:endParaRPr lang="de-DE" dirty="0" smtClean="0">
              <a:solidFill>
                <a:srgbClr val="228B96"/>
              </a:solidFill>
            </a:endParaRPr>
          </a:p>
          <a:p>
            <a:pPr lvl="1"/>
            <a:r>
              <a:rPr lang="de-DE" sz="2200" dirty="0" smtClean="0"/>
              <a:t>Example: Connectin (Titin)</a:t>
            </a:r>
          </a:p>
          <a:p>
            <a:pPr lvl="1"/>
            <a:r>
              <a:rPr lang="de-DE" sz="2200" dirty="0" smtClean="0"/>
              <a:t>Human muscle protein out of 34,350 amino acids</a:t>
            </a:r>
          </a:p>
          <a:p>
            <a:pPr lvl="1"/>
            <a:r>
              <a:rPr lang="de-DE" sz="2200" dirty="0" smtClean="0"/>
              <a:t>=&gt; 540,000 atoms</a:t>
            </a:r>
          </a:p>
          <a:p>
            <a:pPr lvl="1"/>
            <a:r>
              <a:rPr lang="de-DE" sz="2200" dirty="0" smtClean="0"/>
              <a:t>Creation and validation of HELM notation </a:t>
            </a:r>
          </a:p>
          <a:p>
            <a:pPr marL="457200" lvl="1" indent="0">
              <a:buNone/>
            </a:pPr>
            <a:r>
              <a:rPr lang="de-DE" sz="2200" dirty="0" smtClean="0"/>
              <a:t>    from FASTA in &lt; 1 s</a:t>
            </a:r>
          </a:p>
          <a:p>
            <a:endParaRPr lang="de-DE" dirty="0" smtClean="0"/>
          </a:p>
          <a:p>
            <a:pPr marL="0" indent="0">
              <a:buNone/>
            </a:pPr>
            <a:r>
              <a:rPr lang="en-US" dirty="0" smtClean="0">
                <a:solidFill>
                  <a:srgbClr val="228B96"/>
                </a:solidFill>
              </a:rPr>
              <a:t>…and exchanging information</a:t>
            </a:r>
          </a:p>
          <a:p>
            <a:pPr lvl="1"/>
            <a:r>
              <a:rPr lang="en-US" dirty="0" smtClean="0"/>
              <a:t>HELM relies on the monomer definitions</a:t>
            </a:r>
          </a:p>
          <a:p>
            <a:pPr lvl="1"/>
            <a:r>
              <a:rPr lang="en-US" dirty="0" smtClean="0"/>
              <a:t>Monomer information can be exchanged using </a:t>
            </a:r>
            <a:r>
              <a:rPr lang="en-US" dirty="0" err="1" smtClean="0"/>
              <a:t>xHELM</a:t>
            </a:r>
            <a:r>
              <a:rPr lang="en-US" dirty="0" smtClean="0"/>
              <a:t>, an XML file format that includes the monomers for the molecules in the file.</a:t>
            </a:r>
          </a:p>
          <a:p>
            <a:endParaRPr lang="en-US" dirty="0" smtClean="0"/>
          </a:p>
          <a:p>
            <a:pPr marL="0" indent="0">
              <a:buNone/>
            </a:pPr>
            <a:r>
              <a:rPr lang="en-US" dirty="0" smtClean="0">
                <a:solidFill>
                  <a:srgbClr val="228B96"/>
                </a:solidFill>
              </a:rPr>
              <a:t>… and monomer bloat</a:t>
            </a:r>
          </a:p>
          <a:p>
            <a:pPr lvl="1"/>
            <a:r>
              <a:rPr lang="en-US" dirty="0" smtClean="0"/>
              <a:t>In-line HELM allows the definition of ‘temporary’ monomers when you with only use a monomer once. </a:t>
            </a:r>
            <a:endParaRPr lang="en-US" dirty="0"/>
          </a:p>
        </p:txBody>
      </p:sp>
      <p:sp>
        <p:nvSpPr>
          <p:cNvPr id="4" name="Foliennummernplatzhalter 3"/>
          <p:cNvSpPr>
            <a:spLocks noGrp="1"/>
          </p:cNvSpPr>
          <p:nvPr>
            <p:ph type="sldNum" sz="quarter" idx="10"/>
          </p:nvPr>
        </p:nvSpPr>
        <p:spPr/>
        <p:txBody>
          <a:bodyPr/>
          <a:lstStyle/>
          <a:p>
            <a:fld id="{79F65372-B929-454B-AC40-6926AEC9B884}" type="slidenum">
              <a:rPr lang="de-DE" smtClean="0"/>
              <a:pPr/>
              <a:t>21</a:t>
            </a:fld>
            <a:endParaRPr lang="de-DE"/>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087" y="1464893"/>
            <a:ext cx="5040979" cy="2317107"/>
          </a:xfrm>
          <a:prstGeom prst="rect">
            <a:avLst/>
          </a:prstGeom>
        </p:spPr>
      </p:pic>
    </p:spTree>
    <p:extLst>
      <p:ext uri="{BB962C8B-B14F-4D97-AF65-F5344CB8AC3E}">
        <p14:creationId xmlns:p14="http://schemas.microsoft.com/office/powerpoint/2010/main" val="1009231898"/>
      </p:ext>
    </p:extLst>
  </p:cSld>
  <p:clrMapOvr>
    <a:masterClrMapping/>
  </p:clrMapOvr>
  <mc:AlternateContent xmlns:mc="http://schemas.openxmlformats.org/markup-compatibility/2006" xmlns:p14="http://schemas.microsoft.com/office/powerpoint/2010/main">
    <mc:Choice Requires="p14">
      <p:transition spd="slow" p14:dur="1250" advTm="75961">
        <p:fade/>
      </p:transition>
    </mc:Choice>
    <mc:Fallback xmlns="">
      <p:transition spd="slow" advTm="75961">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smtClean="0"/>
              <a:t>So… mission completed?</a:t>
            </a:r>
            <a:endParaRPr lang="en-GB" dirty="0"/>
          </a:p>
        </p:txBody>
      </p:sp>
      <p:sp>
        <p:nvSpPr>
          <p:cNvPr id="26" name="Inhaltsplatzhalter 2"/>
          <p:cNvSpPr>
            <a:spLocks noGrp="1"/>
          </p:cNvSpPr>
          <p:nvPr>
            <p:ph idx="1"/>
          </p:nvPr>
        </p:nvSpPr>
        <p:spPr>
          <a:xfrm>
            <a:off x="765192" y="3928386"/>
            <a:ext cx="10972799" cy="2016224"/>
          </a:xfrm>
        </p:spPr>
        <p:txBody>
          <a:bodyPr>
            <a:normAutofit fontScale="70000" lnSpcReduction="20000"/>
          </a:bodyPr>
          <a:lstStyle/>
          <a:p>
            <a:r>
              <a:rPr lang="de-DE" dirty="0" smtClean="0"/>
              <a:t>Unknown numbers of repeating elements</a:t>
            </a:r>
          </a:p>
          <a:p>
            <a:r>
              <a:rPr lang="de-DE" dirty="0" smtClean="0"/>
              <a:t>Various connection points of ADCs</a:t>
            </a:r>
          </a:p>
          <a:p>
            <a:r>
              <a:rPr lang="de-DE" dirty="0" smtClean="0"/>
              <a:t>Unknown elements in sequences</a:t>
            </a:r>
          </a:p>
          <a:p>
            <a:r>
              <a:rPr lang="de-DE" dirty="0" smtClean="0"/>
              <a:t>Unknown connections between polymers</a:t>
            </a:r>
          </a:p>
          <a:p>
            <a:r>
              <a:rPr lang="de-DE" dirty="0" smtClean="0"/>
              <a:t>Undefined polymers</a:t>
            </a:r>
          </a:p>
          <a:p>
            <a:r>
              <a:rPr lang="de-DE" dirty="0" smtClean="0"/>
              <a:t>...</a:t>
            </a:r>
            <a:endParaRPr lang="de-DE" dirty="0"/>
          </a:p>
        </p:txBody>
      </p:sp>
      <p:sp>
        <p:nvSpPr>
          <p:cNvPr id="4" name="Foliennummernplatzhalter 3"/>
          <p:cNvSpPr>
            <a:spLocks noGrp="1"/>
          </p:cNvSpPr>
          <p:nvPr>
            <p:ph type="sldNum" sz="quarter" idx="10"/>
          </p:nvPr>
        </p:nvSpPr>
        <p:spPr/>
        <p:txBody>
          <a:bodyPr/>
          <a:lstStyle/>
          <a:p>
            <a:fld id="{79F65372-B929-454B-AC40-6926AEC9B884}" type="slidenum">
              <a:rPr lang="de-DE" smtClean="0"/>
              <a:pPr/>
              <a:t>22</a:t>
            </a:fld>
            <a:endParaRPr lang="de-DE"/>
          </a:p>
        </p:txBody>
      </p:sp>
      <p:sp>
        <p:nvSpPr>
          <p:cNvPr id="5" name="Textfeld 4"/>
          <p:cNvSpPr txBox="1"/>
          <p:nvPr/>
        </p:nvSpPr>
        <p:spPr>
          <a:xfrm>
            <a:off x="4871864" y="1301860"/>
            <a:ext cx="470000" cy="830997"/>
          </a:xfrm>
          <a:prstGeom prst="rect">
            <a:avLst/>
          </a:prstGeom>
          <a:noFill/>
        </p:spPr>
        <p:txBody>
          <a:bodyPr wrap="none" rtlCol="0">
            <a:spAutoFit/>
          </a:bodyPr>
          <a:lstStyle/>
          <a:p>
            <a:r>
              <a:rPr lang="de-DE" sz="4800" b="1" dirty="0">
                <a:solidFill>
                  <a:srgbClr val="FF0000"/>
                </a:solidFill>
              </a:rPr>
              <a:t>?</a:t>
            </a:r>
          </a:p>
        </p:txBody>
      </p:sp>
      <p:sp>
        <p:nvSpPr>
          <p:cNvPr id="22" name="Textfeld 21"/>
          <p:cNvSpPr txBox="1"/>
          <p:nvPr/>
        </p:nvSpPr>
        <p:spPr>
          <a:xfrm>
            <a:off x="3575720" y="1301860"/>
            <a:ext cx="470000" cy="830997"/>
          </a:xfrm>
          <a:prstGeom prst="rect">
            <a:avLst/>
          </a:prstGeom>
          <a:noFill/>
        </p:spPr>
        <p:txBody>
          <a:bodyPr wrap="none" rtlCol="0">
            <a:spAutoFit/>
          </a:bodyPr>
          <a:lstStyle/>
          <a:p>
            <a:r>
              <a:rPr lang="de-DE" sz="4800" b="1" dirty="0">
                <a:solidFill>
                  <a:srgbClr val="FF0000"/>
                </a:solidFill>
              </a:rPr>
              <a:t>?</a:t>
            </a:r>
          </a:p>
        </p:txBody>
      </p:sp>
      <p:sp>
        <p:nvSpPr>
          <p:cNvPr id="23" name="Textfeld 22"/>
          <p:cNvSpPr txBox="1"/>
          <p:nvPr/>
        </p:nvSpPr>
        <p:spPr>
          <a:xfrm>
            <a:off x="2276460" y="1301860"/>
            <a:ext cx="470000" cy="830997"/>
          </a:xfrm>
          <a:prstGeom prst="rect">
            <a:avLst/>
          </a:prstGeom>
          <a:noFill/>
        </p:spPr>
        <p:txBody>
          <a:bodyPr wrap="none" rtlCol="0">
            <a:spAutoFit/>
          </a:bodyPr>
          <a:lstStyle/>
          <a:p>
            <a:r>
              <a:rPr lang="de-DE" sz="4800" b="1" dirty="0">
                <a:solidFill>
                  <a:srgbClr val="FF0000"/>
                </a:solidFill>
              </a:rPr>
              <a:t>?</a:t>
            </a:r>
          </a:p>
        </p:txBody>
      </p:sp>
      <p:pic>
        <p:nvPicPr>
          <p:cNvPr id="24" name="Picture 2" descr="http://cdn4.pistoiaalliance.org/wp-content/uploads/2015/05/Slide6b.png?7bc65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8774" y="2236586"/>
            <a:ext cx="7794855" cy="1120406"/>
          </a:xfrm>
          <a:prstGeom prst="rect">
            <a:avLst/>
          </a:prstGeom>
          <a:noFill/>
          <a:extLst>
            <a:ext uri="{909E8E84-426E-40dd-AFC4-6F175D3DCCD1}">
              <a14:hiddenFill xmlns="" xmlns:a14="http://schemas.microsoft.com/office/drawing/2010/main">
                <a:solidFill>
                  <a:srgbClr val="FFFFFF"/>
                </a:solidFill>
              </a14:hiddenFill>
            </a:ext>
          </a:extLst>
        </p:spPr>
      </p:pic>
      <p:sp>
        <p:nvSpPr>
          <p:cNvPr id="27" name="Textfeld 26"/>
          <p:cNvSpPr txBox="1"/>
          <p:nvPr/>
        </p:nvSpPr>
        <p:spPr>
          <a:xfrm>
            <a:off x="8846996" y="1301860"/>
            <a:ext cx="470000" cy="830997"/>
          </a:xfrm>
          <a:prstGeom prst="rect">
            <a:avLst/>
          </a:prstGeom>
          <a:noFill/>
        </p:spPr>
        <p:txBody>
          <a:bodyPr wrap="none" rtlCol="0">
            <a:spAutoFit/>
          </a:bodyPr>
          <a:lstStyle/>
          <a:p>
            <a:r>
              <a:rPr lang="de-DE" sz="4800" b="1" dirty="0">
                <a:solidFill>
                  <a:srgbClr val="FF0000"/>
                </a:solidFill>
              </a:rPr>
              <a:t>?</a:t>
            </a:r>
          </a:p>
        </p:txBody>
      </p:sp>
      <p:sp>
        <p:nvSpPr>
          <p:cNvPr id="28" name="Textfeld 27"/>
          <p:cNvSpPr txBox="1"/>
          <p:nvPr/>
        </p:nvSpPr>
        <p:spPr>
          <a:xfrm>
            <a:off x="7550852" y="1301860"/>
            <a:ext cx="470000" cy="830997"/>
          </a:xfrm>
          <a:prstGeom prst="rect">
            <a:avLst/>
          </a:prstGeom>
          <a:noFill/>
        </p:spPr>
        <p:txBody>
          <a:bodyPr wrap="none" rtlCol="0">
            <a:spAutoFit/>
          </a:bodyPr>
          <a:lstStyle/>
          <a:p>
            <a:r>
              <a:rPr lang="de-DE" sz="4800" b="1" dirty="0">
                <a:solidFill>
                  <a:srgbClr val="FF0000"/>
                </a:solidFill>
              </a:rPr>
              <a:t>?</a:t>
            </a:r>
          </a:p>
        </p:txBody>
      </p:sp>
      <p:sp>
        <p:nvSpPr>
          <p:cNvPr id="29" name="Textfeld 28"/>
          <p:cNvSpPr txBox="1"/>
          <p:nvPr/>
        </p:nvSpPr>
        <p:spPr>
          <a:xfrm>
            <a:off x="6251592" y="1301860"/>
            <a:ext cx="470000" cy="830997"/>
          </a:xfrm>
          <a:prstGeom prst="rect">
            <a:avLst/>
          </a:prstGeom>
          <a:noFill/>
        </p:spPr>
        <p:txBody>
          <a:bodyPr wrap="none" rtlCol="0">
            <a:spAutoFit/>
          </a:bodyPr>
          <a:lstStyle/>
          <a:p>
            <a:r>
              <a:rPr lang="de-DE" sz="4800" b="1" dirty="0">
                <a:solidFill>
                  <a:srgbClr val="FF0000"/>
                </a:solidFill>
              </a:rPr>
              <a:t>?</a:t>
            </a:r>
          </a:p>
        </p:txBody>
      </p:sp>
      <p:sp>
        <p:nvSpPr>
          <p:cNvPr id="12" name="Rectangle: Folded Corner 11">
            <a:extLst>
              <a:ext uri="{FF2B5EF4-FFF2-40B4-BE49-F238E27FC236}">
                <a16:creationId xmlns="" xmlns:a16="http://schemas.microsoft.com/office/drawing/2014/main" id="{DCA642F4-E167-4096-A2EC-2D97432A77EE}"/>
              </a:ext>
            </a:extLst>
          </p:cNvPr>
          <p:cNvSpPr/>
          <p:nvPr/>
        </p:nvSpPr>
        <p:spPr>
          <a:xfrm>
            <a:off x="7189313" y="4005064"/>
            <a:ext cx="3315366" cy="1746665"/>
          </a:xfrm>
          <a:prstGeom prst="foldedCorner">
            <a:avLst/>
          </a:prstGeom>
          <a:solidFill>
            <a:schemeClr val="accent6">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000" dirty="0">
                <a:solidFill>
                  <a:schemeClr val="tx1">
                    <a:lumMod val="50000"/>
                  </a:schemeClr>
                </a:solidFill>
              </a:rPr>
              <a:t>Ambiguity is not something we handle well in either small or large molecule representation. </a:t>
            </a:r>
          </a:p>
        </p:txBody>
      </p:sp>
    </p:spTree>
    <p:extLst>
      <p:ext uri="{BB962C8B-B14F-4D97-AF65-F5344CB8AC3E}">
        <p14:creationId xmlns:p14="http://schemas.microsoft.com/office/powerpoint/2010/main" val="2237739792"/>
      </p:ext>
    </p:extLst>
  </p:cSld>
  <p:clrMapOvr>
    <a:masterClrMapping/>
  </p:clrMapOvr>
  <mc:AlternateContent xmlns:mc="http://schemas.openxmlformats.org/markup-compatibility/2006" xmlns:p14="http://schemas.microsoft.com/office/powerpoint/2010/main">
    <mc:Choice Requires="p14">
      <p:transition spd="slow" p14:dur="1250" advTm="54838">
        <p:fade/>
      </p:transition>
    </mc:Choice>
    <mc:Fallback xmlns="">
      <p:transition spd="slow" advTm="54838">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Monomer Ambiguity</a:t>
            </a:r>
            <a:endParaRPr lang="de-DE"/>
          </a:p>
        </p:txBody>
      </p:sp>
      <p:graphicFrame>
        <p:nvGraphicFramePr>
          <p:cNvPr id="5" name="Inhaltsplatzhalter 4"/>
          <p:cNvGraphicFramePr>
            <a:graphicFrameLocks noGrp="1"/>
          </p:cNvGraphicFramePr>
          <p:nvPr>
            <p:ph idx="1"/>
            <p:extLst>
              <p:ext uri="{D42A27DB-BD31-4B8C-83A1-F6EECF244321}">
                <p14:modId xmlns:p14="http://schemas.microsoft.com/office/powerpoint/2010/main" val="3410140772"/>
              </p:ext>
            </p:extLst>
          </p:nvPr>
        </p:nvGraphicFramePr>
        <p:xfrm>
          <a:off x="609600" y="1484313"/>
          <a:ext cx="8022405" cy="2743200"/>
        </p:xfrm>
        <a:graphic>
          <a:graphicData uri="http://schemas.openxmlformats.org/drawingml/2006/table">
            <a:tbl>
              <a:tblPr firstRow="1" bandRow="1">
                <a:tableStyleId>{C4B1156A-380E-4F78-BDF5-A606A8083BF9}</a:tableStyleId>
              </a:tblPr>
              <a:tblGrid>
                <a:gridCol w="695942">
                  <a:extLst>
                    <a:ext uri="{9D8B030D-6E8A-4147-A177-3AD203B41FA5}">
                      <a16:colId xmlns="" xmlns:a16="http://schemas.microsoft.com/office/drawing/2014/main" val="20000"/>
                    </a:ext>
                  </a:extLst>
                </a:gridCol>
                <a:gridCol w="2976466">
                  <a:extLst>
                    <a:ext uri="{9D8B030D-6E8A-4147-A177-3AD203B41FA5}">
                      <a16:colId xmlns="" xmlns:a16="http://schemas.microsoft.com/office/drawing/2014/main" val="20001"/>
                    </a:ext>
                  </a:extLst>
                </a:gridCol>
                <a:gridCol w="4349997">
                  <a:extLst>
                    <a:ext uri="{9D8B030D-6E8A-4147-A177-3AD203B41FA5}">
                      <a16:colId xmlns="" xmlns:a16="http://schemas.microsoft.com/office/drawing/2014/main" val="20002"/>
                    </a:ext>
                  </a:extLst>
                </a:gridCol>
              </a:tblGrid>
              <a:tr h="370840">
                <a:tc>
                  <a:txBody>
                    <a:bodyPr/>
                    <a:lstStyle/>
                    <a:p>
                      <a:r>
                        <a:rPr lang="de-DE" sz="1400" b="0" dirty="0"/>
                        <a:t>*</a:t>
                      </a:r>
                    </a:p>
                  </a:txBody>
                  <a:tcPr/>
                </a:tc>
                <a:tc>
                  <a:txBody>
                    <a:bodyPr/>
                    <a:lstStyle/>
                    <a:p>
                      <a:r>
                        <a:rPr lang="de-DE" sz="1400" b="0" dirty="0"/>
                        <a:t>0..n unknown</a:t>
                      </a:r>
                      <a:r>
                        <a:rPr lang="de-DE" sz="1400" b="0" baseline="0" dirty="0"/>
                        <a:t> monomers</a:t>
                      </a:r>
                      <a:endParaRPr lang="de-DE" sz="14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b="0">
                          <a:latin typeface="Consolas" panose="020B0609020204030204" pitchFamily="49" charset="0"/>
                          <a:cs typeface="Consolas" panose="020B0609020204030204" pitchFamily="49" charset="0"/>
                        </a:rPr>
                        <a:t>PEPTIDE1{A.</a:t>
                      </a:r>
                      <a:r>
                        <a:rPr lang="de-DE" sz="1400" b="0">
                          <a:solidFill>
                            <a:srgbClr val="FF0000"/>
                          </a:solidFill>
                          <a:latin typeface="Consolas" panose="020B0609020204030204" pitchFamily="49" charset="0"/>
                          <a:cs typeface="Consolas" panose="020B0609020204030204" pitchFamily="49" charset="0"/>
                        </a:rPr>
                        <a:t>*</a:t>
                      </a:r>
                      <a:r>
                        <a:rPr lang="de-DE" sz="1400" b="0">
                          <a:latin typeface="Consolas" panose="020B0609020204030204" pitchFamily="49" charset="0"/>
                          <a:cs typeface="Consolas" panose="020B0609020204030204" pitchFamily="49" charset="0"/>
                        </a:rPr>
                        <a:t>.G.C}$$$$V2.0</a:t>
                      </a:r>
                    </a:p>
                  </a:txBody>
                  <a:tcPr/>
                </a:tc>
                <a:extLst>
                  <a:ext uri="{0D108BD9-81ED-4DB2-BD59-A6C34878D82A}">
                    <a16:rowId xmlns="" xmlns:a16="http://schemas.microsoft.com/office/drawing/2014/main" val="10000"/>
                  </a:ext>
                </a:extLst>
              </a:tr>
              <a:tr h="370840">
                <a:tc>
                  <a:txBody>
                    <a:bodyPr/>
                    <a:lstStyle/>
                    <a:p>
                      <a:r>
                        <a:rPr lang="de-DE" sz="1400"/>
                        <a:t>X</a:t>
                      </a:r>
                    </a:p>
                  </a:txBody>
                  <a:tcPr/>
                </a:tc>
                <a:tc>
                  <a:txBody>
                    <a:bodyPr/>
                    <a:lstStyle/>
                    <a:p>
                      <a:r>
                        <a:rPr lang="de-DE" sz="1400" dirty="0"/>
                        <a:t>Single unknown amino acid</a:t>
                      </a:r>
                      <a:r>
                        <a:rPr lang="de-DE" sz="1400" baseline="0" dirty="0"/>
                        <a:t> in a PEPTIDE</a:t>
                      </a:r>
                      <a:endParaRPr lang="de-DE" sz="1400" dirty="0"/>
                    </a:p>
                  </a:txBody>
                  <a:tcPr/>
                </a:tc>
                <a:tc>
                  <a:txBody>
                    <a:bodyPr/>
                    <a:lstStyle/>
                    <a:p>
                      <a:r>
                        <a:rPr lang="de-DE" sz="1400" b="0">
                          <a:latin typeface="Consolas" panose="020B0609020204030204" pitchFamily="49" charset="0"/>
                          <a:cs typeface="Consolas" panose="020B0609020204030204" pitchFamily="49" charset="0"/>
                        </a:rPr>
                        <a:t>PEPTIDE1{A.</a:t>
                      </a:r>
                      <a:r>
                        <a:rPr lang="de-DE" sz="1400" b="0">
                          <a:solidFill>
                            <a:srgbClr val="FF0000"/>
                          </a:solidFill>
                          <a:latin typeface="Consolas" panose="020B0609020204030204" pitchFamily="49" charset="0"/>
                          <a:cs typeface="Consolas" panose="020B0609020204030204" pitchFamily="49" charset="0"/>
                        </a:rPr>
                        <a:t>X</a:t>
                      </a:r>
                      <a:r>
                        <a:rPr lang="de-DE" sz="1400" b="0">
                          <a:latin typeface="Consolas" panose="020B0609020204030204" pitchFamily="49" charset="0"/>
                          <a:cs typeface="Consolas" panose="020B0609020204030204" pitchFamily="49" charset="0"/>
                        </a:rPr>
                        <a:t>.G.C}$$$$V2.0</a:t>
                      </a:r>
                    </a:p>
                  </a:txBody>
                  <a:tcPr/>
                </a:tc>
                <a:extLst>
                  <a:ext uri="{0D108BD9-81ED-4DB2-BD59-A6C34878D82A}">
                    <a16:rowId xmlns="" xmlns:a16="http://schemas.microsoft.com/office/drawing/2014/main" val="10001"/>
                  </a:ext>
                </a:extLst>
              </a:tr>
              <a:tr h="370840">
                <a:tc>
                  <a:txBody>
                    <a:bodyPr/>
                    <a:lstStyle/>
                    <a:p>
                      <a:r>
                        <a:rPr lang="de-DE" sz="1400"/>
                        <a:t>N</a:t>
                      </a:r>
                    </a:p>
                  </a:txBody>
                  <a:tcPr/>
                </a:tc>
                <a:tc>
                  <a:txBody>
                    <a:bodyPr/>
                    <a:lstStyle/>
                    <a:p>
                      <a:r>
                        <a:rPr lang="de-DE" sz="1400" dirty="0"/>
                        <a:t>Single unknown</a:t>
                      </a:r>
                      <a:r>
                        <a:rPr lang="de-DE" sz="1400" baseline="0" dirty="0"/>
                        <a:t> base in a RNA</a:t>
                      </a:r>
                      <a:endParaRPr lang="de-DE" sz="1400" dirty="0"/>
                    </a:p>
                  </a:txBody>
                  <a:tcPr/>
                </a:tc>
                <a:tc>
                  <a:txBody>
                    <a:bodyPr/>
                    <a:lstStyle/>
                    <a:p>
                      <a:r>
                        <a:rPr lang="de-DE" sz="1400" b="0">
                          <a:latin typeface="Consolas" panose="020B0609020204030204" pitchFamily="49" charset="0"/>
                          <a:cs typeface="Consolas" panose="020B0609020204030204" pitchFamily="49" charset="0"/>
                        </a:rPr>
                        <a:t>RNA1{R(A)P.R(</a:t>
                      </a:r>
                      <a:r>
                        <a:rPr lang="de-DE" sz="1400" b="0">
                          <a:solidFill>
                            <a:srgbClr val="FF0000"/>
                          </a:solidFill>
                          <a:latin typeface="Consolas" panose="020B0609020204030204" pitchFamily="49" charset="0"/>
                          <a:cs typeface="Consolas" panose="020B0609020204030204" pitchFamily="49" charset="0"/>
                        </a:rPr>
                        <a:t>N</a:t>
                      </a:r>
                      <a:r>
                        <a:rPr lang="de-DE" sz="1400" b="0">
                          <a:latin typeface="Consolas" panose="020B0609020204030204" pitchFamily="49" charset="0"/>
                          <a:cs typeface="Consolas" panose="020B0609020204030204" pitchFamily="49" charset="0"/>
                        </a:rPr>
                        <a:t>)P.R(C)P.R(C)P.R(C)}$$$$V2.0</a:t>
                      </a:r>
                    </a:p>
                  </a:txBody>
                  <a:tcPr/>
                </a:tc>
                <a:extLst>
                  <a:ext uri="{0D108BD9-81ED-4DB2-BD59-A6C34878D82A}">
                    <a16:rowId xmlns="" xmlns:a16="http://schemas.microsoft.com/office/drawing/2014/main" val="10002"/>
                  </a:ext>
                </a:extLst>
              </a:tr>
              <a:tr h="370840">
                <a:tc>
                  <a:txBody>
                    <a:bodyPr/>
                    <a:lstStyle/>
                    <a:p>
                      <a:r>
                        <a:rPr lang="de-DE" sz="1400"/>
                        <a:t>( , )</a:t>
                      </a:r>
                    </a:p>
                  </a:txBody>
                  <a:tcPr/>
                </a:tc>
                <a:tc>
                  <a:txBody>
                    <a:bodyPr/>
                    <a:lstStyle/>
                    <a:p>
                      <a:r>
                        <a:rPr lang="de-DE" sz="1400" dirty="0"/>
                        <a:t>One of a list of monomer is possible</a:t>
                      </a:r>
                    </a:p>
                  </a:txBody>
                  <a:tcPr/>
                </a:tc>
                <a:tc>
                  <a:txBody>
                    <a:bodyPr/>
                    <a:lstStyle/>
                    <a:p>
                      <a:r>
                        <a:rPr lang="de-DE" sz="1400" b="0">
                          <a:latin typeface="Consolas" panose="020B0609020204030204" pitchFamily="49" charset="0"/>
                          <a:cs typeface="Consolas" panose="020B0609020204030204" pitchFamily="49" charset="0"/>
                        </a:rPr>
                        <a:t>PEPTIDE1{A.</a:t>
                      </a:r>
                      <a:r>
                        <a:rPr lang="de-DE" sz="1400" b="0">
                          <a:solidFill>
                            <a:srgbClr val="FF0000"/>
                          </a:solidFill>
                          <a:latin typeface="Consolas" panose="020B0609020204030204" pitchFamily="49" charset="0"/>
                          <a:cs typeface="Consolas" panose="020B0609020204030204" pitchFamily="49" charset="0"/>
                        </a:rPr>
                        <a:t>(A:10,G:90)</a:t>
                      </a:r>
                      <a:r>
                        <a:rPr lang="de-DE" sz="1400" b="0">
                          <a:latin typeface="Consolas" panose="020B0609020204030204" pitchFamily="49" charset="0"/>
                          <a:cs typeface="Consolas" panose="020B0609020204030204" pitchFamily="49" charset="0"/>
                        </a:rPr>
                        <a:t>.G.C}$$$$V2.0</a:t>
                      </a:r>
                    </a:p>
                  </a:txBody>
                  <a:tcPr/>
                </a:tc>
                <a:extLst>
                  <a:ext uri="{0D108BD9-81ED-4DB2-BD59-A6C34878D82A}">
                    <a16:rowId xmlns="" xmlns:a16="http://schemas.microsoft.com/office/drawing/2014/main" val="10003"/>
                  </a:ext>
                </a:extLst>
              </a:tr>
              <a:tr h="370840">
                <a:tc>
                  <a:txBody>
                    <a:bodyPr/>
                    <a:lstStyle/>
                    <a:p>
                      <a:r>
                        <a:rPr lang="de-DE" sz="1400"/>
                        <a:t>( + )</a:t>
                      </a:r>
                    </a:p>
                  </a:txBody>
                  <a:tcPr/>
                </a:tc>
                <a:tc>
                  <a:txBody>
                    <a:bodyPr/>
                    <a:lstStyle/>
                    <a:p>
                      <a:r>
                        <a:rPr lang="de-DE" sz="1400" dirty="0"/>
                        <a:t>Mixture of monomers</a:t>
                      </a:r>
                    </a:p>
                  </a:txBody>
                  <a:tcPr/>
                </a:tc>
                <a:tc>
                  <a:txBody>
                    <a:bodyPr/>
                    <a:lstStyle/>
                    <a:p>
                      <a:r>
                        <a:rPr lang="de-DE" sz="1400" b="0">
                          <a:latin typeface="Consolas" panose="020B0609020204030204" pitchFamily="49" charset="0"/>
                          <a:cs typeface="Consolas" panose="020B0609020204030204" pitchFamily="49" charset="0"/>
                        </a:rPr>
                        <a:t>PEPTIDE1{A.</a:t>
                      </a:r>
                      <a:r>
                        <a:rPr lang="de-DE" sz="1400" b="0">
                          <a:solidFill>
                            <a:srgbClr val="FF0000"/>
                          </a:solidFill>
                          <a:latin typeface="Consolas" panose="020B0609020204030204" pitchFamily="49" charset="0"/>
                          <a:cs typeface="Consolas" panose="020B0609020204030204" pitchFamily="49" charset="0"/>
                        </a:rPr>
                        <a:t>(A+G+C)</a:t>
                      </a:r>
                      <a:r>
                        <a:rPr lang="de-DE" sz="1400" b="0">
                          <a:latin typeface="Consolas" panose="020B0609020204030204" pitchFamily="49" charset="0"/>
                          <a:cs typeface="Consolas" panose="020B0609020204030204" pitchFamily="49" charset="0"/>
                        </a:rPr>
                        <a:t>.G.C}$$$$V2.0</a:t>
                      </a:r>
                    </a:p>
                  </a:txBody>
                  <a:tcPr/>
                </a:tc>
                <a:extLst>
                  <a:ext uri="{0D108BD9-81ED-4DB2-BD59-A6C34878D82A}">
                    <a16:rowId xmlns="" xmlns:a16="http://schemas.microsoft.com/office/drawing/2014/main" val="10004"/>
                  </a:ext>
                </a:extLst>
              </a:tr>
              <a:tr h="370840">
                <a:tc>
                  <a:txBody>
                    <a:bodyPr/>
                    <a:lstStyle/>
                    <a:p>
                      <a:r>
                        <a:rPr lang="de-DE" sz="1400"/>
                        <a:t>_</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a:t>Deleted or</a:t>
                      </a:r>
                      <a:r>
                        <a:rPr lang="de-DE" sz="1400" baseline="0"/>
                        <a:t> missing single monomer</a:t>
                      </a:r>
                      <a:endParaRPr lang="de-DE" sz="14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b="0">
                          <a:latin typeface="Consolas" panose="020B0609020204030204" pitchFamily="49" charset="0"/>
                          <a:cs typeface="Consolas" panose="020B0609020204030204" pitchFamily="49" charset="0"/>
                        </a:rPr>
                        <a:t>PEPTIDE1{A.</a:t>
                      </a:r>
                      <a:r>
                        <a:rPr lang="de-DE" sz="1400" b="0">
                          <a:solidFill>
                            <a:srgbClr val="FF0000"/>
                          </a:solidFill>
                          <a:latin typeface="Consolas" panose="020B0609020204030204" pitchFamily="49" charset="0"/>
                          <a:cs typeface="Consolas" panose="020B0609020204030204" pitchFamily="49" charset="0"/>
                        </a:rPr>
                        <a:t>(A,_)</a:t>
                      </a:r>
                      <a:r>
                        <a:rPr lang="de-DE" sz="1400" b="0">
                          <a:latin typeface="Consolas" panose="020B0609020204030204" pitchFamily="49" charset="0"/>
                          <a:cs typeface="Consolas" panose="020B0609020204030204" pitchFamily="49" charset="0"/>
                        </a:rPr>
                        <a:t>.G.C}$$$$V2.0</a:t>
                      </a:r>
                    </a:p>
                  </a:txBody>
                  <a:tcPr/>
                </a:tc>
                <a:extLst>
                  <a:ext uri="{0D108BD9-81ED-4DB2-BD59-A6C34878D82A}">
                    <a16:rowId xmlns="" xmlns:a16="http://schemas.microsoft.com/office/drawing/2014/main" val="10005"/>
                  </a:ext>
                </a:extLst>
              </a:tr>
              <a:tr h="370840">
                <a:tc>
                  <a:txBody>
                    <a:bodyPr/>
                    <a:lstStyle/>
                    <a:p>
                      <a:r>
                        <a:rPr lang="de-DE" sz="1400" dirty="0"/>
                        <a:t>´</a:t>
                      </a:r>
                      <a:r>
                        <a:rPr lang="de-DE" sz="1400" baseline="0" dirty="0"/>
                        <a:t> ´</a:t>
                      </a:r>
                      <a:endParaRPr lang="de-DE"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a:t>Repeating monomers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b="0" dirty="0">
                          <a:latin typeface="Consolas" panose="020B0609020204030204" pitchFamily="49" charset="0"/>
                          <a:cs typeface="Consolas" panose="020B0609020204030204" pitchFamily="49" charset="0"/>
                        </a:rPr>
                        <a:t>PEPTIDE1{A.G.A.C.A</a:t>
                      </a:r>
                      <a:r>
                        <a:rPr lang="de-DE" sz="1400" b="0" dirty="0">
                          <a:solidFill>
                            <a:srgbClr val="FF0000"/>
                          </a:solidFill>
                          <a:latin typeface="Consolas" panose="020B0609020204030204" pitchFamily="49" charset="0"/>
                          <a:cs typeface="Consolas" panose="020B0609020204030204" pitchFamily="49" charset="0"/>
                        </a:rPr>
                        <a:t>‘5-30‘</a:t>
                      </a:r>
                      <a:r>
                        <a:rPr lang="de-DE" sz="1400" b="0" dirty="0">
                          <a:latin typeface="Consolas" panose="020B0609020204030204" pitchFamily="49" charset="0"/>
                          <a:cs typeface="Consolas" panose="020B0609020204030204" pitchFamily="49" charset="0"/>
                        </a:rPr>
                        <a:t>}$$$$V2.0</a:t>
                      </a:r>
                    </a:p>
                  </a:txBody>
                  <a:tcPr/>
                </a:tc>
                <a:extLst>
                  <a:ext uri="{0D108BD9-81ED-4DB2-BD59-A6C34878D82A}">
                    <a16:rowId xmlns="" xmlns:a16="http://schemas.microsoft.com/office/drawing/2014/main" val="10006"/>
                  </a:ext>
                </a:extLst>
              </a:tr>
            </a:tbl>
          </a:graphicData>
        </a:graphic>
      </p:graphicFrame>
      <p:sp>
        <p:nvSpPr>
          <p:cNvPr id="4" name="Foliennummernplatzhalter 3"/>
          <p:cNvSpPr>
            <a:spLocks noGrp="1"/>
          </p:cNvSpPr>
          <p:nvPr>
            <p:ph type="sldNum" sz="quarter" idx="10"/>
          </p:nvPr>
        </p:nvSpPr>
        <p:spPr/>
        <p:txBody>
          <a:bodyPr/>
          <a:lstStyle/>
          <a:p>
            <a:fld id="{79F65372-B929-454B-AC40-6926AEC9B884}" type="slidenum">
              <a:rPr lang="de-DE" smtClean="0"/>
              <a:pPr/>
              <a:t>23</a:t>
            </a:fld>
            <a:endParaRPr lang="de-DE"/>
          </a:p>
        </p:txBody>
      </p:sp>
      <p:sp>
        <p:nvSpPr>
          <p:cNvPr id="3" name="Raute 2"/>
          <p:cNvSpPr/>
          <p:nvPr/>
        </p:nvSpPr>
        <p:spPr bwMode="auto">
          <a:xfrm>
            <a:off x="4583832" y="5229200"/>
            <a:ext cx="504056" cy="504056"/>
          </a:xfrm>
          <a:prstGeom prst="diamond">
            <a:avLst/>
          </a:prstGeom>
          <a:solidFill>
            <a:srgbClr val="FF000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r>
              <a:rPr lang="de-DE" sz="1600">
                <a:solidFill>
                  <a:srgbClr val="173B64"/>
                </a:solidFill>
                <a:latin typeface="Arial" charset="0"/>
              </a:rPr>
              <a:t>A</a:t>
            </a:r>
          </a:p>
        </p:txBody>
      </p:sp>
      <p:sp>
        <p:nvSpPr>
          <p:cNvPr id="7" name="Raute 6"/>
          <p:cNvSpPr/>
          <p:nvPr/>
        </p:nvSpPr>
        <p:spPr bwMode="auto">
          <a:xfrm>
            <a:off x="5375920" y="5229200"/>
            <a:ext cx="504056" cy="504056"/>
          </a:xfrm>
          <a:prstGeom prst="diamond">
            <a:avLst/>
          </a:prstGeom>
          <a:solidFill>
            <a:srgbClr val="FF000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de-DE" sz="1600">
              <a:solidFill>
                <a:srgbClr val="173B64"/>
              </a:solidFill>
              <a:latin typeface="Arial" charset="0"/>
            </a:endParaRPr>
          </a:p>
        </p:txBody>
      </p:sp>
      <p:cxnSp>
        <p:nvCxnSpPr>
          <p:cNvPr id="9" name="Gerader Verbinder 8"/>
          <p:cNvCxnSpPr>
            <a:stCxn id="3" idx="3"/>
            <a:endCxn id="7" idx="1"/>
          </p:cNvCxnSpPr>
          <p:nvPr/>
        </p:nvCxnSpPr>
        <p:spPr bwMode="auto">
          <a:xfrm>
            <a:off x="5087888" y="5481228"/>
            <a:ext cx="288032" cy="0"/>
          </a:xfrm>
          <a:prstGeom prst="line">
            <a:avLst/>
          </a:prstGeom>
          <a:solidFill>
            <a:srgbClr val="00A886"/>
          </a:solidFill>
          <a:ln w="12700" cap="flat" cmpd="sng" algn="ctr">
            <a:solidFill>
              <a:schemeClr val="tx1"/>
            </a:solidFill>
            <a:prstDash val="solid"/>
            <a:round/>
            <a:headEnd type="none" w="med" len="med"/>
            <a:tailEnd type="none" w="med" len="med"/>
          </a:ln>
          <a:effectLst/>
        </p:spPr>
      </p:cxnSp>
      <p:sp>
        <p:nvSpPr>
          <p:cNvPr id="10" name="Raute 9"/>
          <p:cNvSpPr/>
          <p:nvPr/>
        </p:nvSpPr>
        <p:spPr bwMode="auto">
          <a:xfrm>
            <a:off x="6168300" y="5229200"/>
            <a:ext cx="504056" cy="504056"/>
          </a:xfrm>
          <a:prstGeom prst="diamond">
            <a:avLst/>
          </a:prstGeom>
          <a:solidFill>
            <a:srgbClr val="FF000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r>
              <a:rPr lang="de-DE"/>
              <a:t>G</a:t>
            </a:r>
            <a:endParaRPr lang="de-DE" sz="1600">
              <a:solidFill>
                <a:srgbClr val="173B64"/>
              </a:solidFill>
              <a:latin typeface="Arial" charset="0"/>
            </a:endParaRPr>
          </a:p>
        </p:txBody>
      </p:sp>
      <p:sp>
        <p:nvSpPr>
          <p:cNvPr id="11" name="Raute 10"/>
          <p:cNvSpPr/>
          <p:nvPr/>
        </p:nvSpPr>
        <p:spPr bwMode="auto">
          <a:xfrm>
            <a:off x="6960388" y="5229200"/>
            <a:ext cx="504056" cy="504056"/>
          </a:xfrm>
          <a:prstGeom prst="diamond">
            <a:avLst/>
          </a:prstGeom>
          <a:solidFill>
            <a:srgbClr val="FF000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r>
              <a:rPr lang="de-DE"/>
              <a:t>C</a:t>
            </a:r>
            <a:endParaRPr lang="de-DE" sz="1600">
              <a:solidFill>
                <a:srgbClr val="173B64"/>
              </a:solidFill>
              <a:latin typeface="Arial" charset="0"/>
            </a:endParaRPr>
          </a:p>
        </p:txBody>
      </p:sp>
      <p:cxnSp>
        <p:nvCxnSpPr>
          <p:cNvPr id="12" name="Gerader Verbinder 11"/>
          <p:cNvCxnSpPr>
            <a:stCxn id="10" idx="3"/>
            <a:endCxn id="11" idx="1"/>
          </p:cNvCxnSpPr>
          <p:nvPr/>
        </p:nvCxnSpPr>
        <p:spPr bwMode="auto">
          <a:xfrm>
            <a:off x="6672356" y="5481228"/>
            <a:ext cx="288032" cy="0"/>
          </a:xfrm>
          <a:prstGeom prst="line">
            <a:avLst/>
          </a:prstGeom>
          <a:solidFill>
            <a:srgbClr val="00A886"/>
          </a:solidFill>
          <a:ln w="12700" cap="flat" cmpd="sng" algn="ctr">
            <a:solidFill>
              <a:schemeClr val="tx1"/>
            </a:solidFill>
            <a:prstDash val="solid"/>
            <a:round/>
            <a:headEnd type="none" w="med" len="med"/>
            <a:tailEnd type="none" w="med" len="med"/>
          </a:ln>
          <a:effectLst/>
        </p:spPr>
      </p:cxnSp>
      <p:cxnSp>
        <p:nvCxnSpPr>
          <p:cNvPr id="14" name="Gerader Verbinder 13"/>
          <p:cNvCxnSpPr>
            <a:stCxn id="7" idx="3"/>
            <a:endCxn id="10" idx="1"/>
          </p:cNvCxnSpPr>
          <p:nvPr/>
        </p:nvCxnSpPr>
        <p:spPr bwMode="auto">
          <a:xfrm>
            <a:off x="5879976" y="5481228"/>
            <a:ext cx="288324" cy="0"/>
          </a:xfrm>
          <a:prstGeom prst="line">
            <a:avLst/>
          </a:prstGeom>
          <a:solidFill>
            <a:srgbClr val="00A886"/>
          </a:solidFill>
          <a:ln w="12700" cap="flat" cmpd="sng" algn="ctr">
            <a:solidFill>
              <a:schemeClr val="tx1"/>
            </a:solidFill>
            <a:prstDash val="solid"/>
            <a:round/>
            <a:headEnd type="none" w="med" len="med"/>
            <a:tailEnd type="none" w="med" len="med"/>
          </a:ln>
          <a:effectLst/>
        </p:spPr>
      </p:cxnSp>
      <p:sp>
        <p:nvSpPr>
          <p:cNvPr id="15" name="Textfeld 14"/>
          <p:cNvSpPr txBox="1"/>
          <p:nvPr/>
        </p:nvSpPr>
        <p:spPr>
          <a:xfrm>
            <a:off x="5225365" y="4813629"/>
            <a:ext cx="660758" cy="1323439"/>
          </a:xfrm>
          <a:prstGeom prst="rect">
            <a:avLst/>
          </a:prstGeom>
          <a:noFill/>
        </p:spPr>
        <p:txBody>
          <a:bodyPr wrap="none" rtlCol="0">
            <a:spAutoFit/>
          </a:bodyPr>
          <a:lstStyle/>
          <a:p>
            <a:r>
              <a:rPr lang="de-DE" sz="8000" b="1" dirty="0"/>
              <a:t>?</a:t>
            </a:r>
          </a:p>
        </p:txBody>
      </p:sp>
    </p:spTree>
    <p:extLst>
      <p:ext uri="{BB962C8B-B14F-4D97-AF65-F5344CB8AC3E}">
        <p14:creationId xmlns:p14="http://schemas.microsoft.com/office/powerpoint/2010/main" val="3160118246"/>
      </p:ext>
    </p:extLst>
  </p:cSld>
  <p:clrMapOvr>
    <a:masterClrMapping/>
  </p:clrMapOvr>
  <mc:AlternateContent xmlns:mc="http://schemas.openxmlformats.org/markup-compatibility/2006" xmlns:p14="http://schemas.microsoft.com/office/powerpoint/2010/main">
    <mc:Choice Requires="p14">
      <p:transition spd="slow" p14:dur="1250" advTm="48012">
        <p:fade/>
      </p:transition>
    </mc:Choice>
    <mc:Fallback xmlns="">
      <p:transition spd="slow" advTm="48012">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Other Ambiguity Types</a:t>
            </a:r>
            <a:endParaRPr lang="de-DE" dirty="0"/>
          </a:p>
        </p:txBody>
      </p:sp>
      <p:sp>
        <p:nvSpPr>
          <p:cNvPr id="3" name="Inhaltsplatzhalter 2"/>
          <p:cNvSpPr>
            <a:spLocks noGrp="1"/>
          </p:cNvSpPr>
          <p:nvPr>
            <p:ph idx="1"/>
          </p:nvPr>
        </p:nvSpPr>
        <p:spPr/>
        <p:txBody>
          <a:bodyPr/>
          <a:lstStyle/>
          <a:p>
            <a:pPr marL="0" indent="0">
              <a:buNone/>
            </a:pPr>
            <a:r>
              <a:rPr lang="de-DE" dirty="0" smtClean="0"/>
              <a:t>Sequence or polymer type is unknown</a:t>
            </a:r>
            <a:endParaRPr lang="de-DE" dirty="0"/>
          </a:p>
        </p:txBody>
      </p:sp>
      <p:sp>
        <p:nvSpPr>
          <p:cNvPr id="4" name="Foliennummernplatzhalter 3"/>
          <p:cNvSpPr>
            <a:spLocks noGrp="1"/>
          </p:cNvSpPr>
          <p:nvPr>
            <p:ph type="sldNum" sz="quarter" idx="10"/>
          </p:nvPr>
        </p:nvSpPr>
        <p:spPr/>
        <p:txBody>
          <a:bodyPr/>
          <a:lstStyle/>
          <a:p>
            <a:fld id="{79F65372-B929-454B-AC40-6926AEC9B884}" type="slidenum">
              <a:rPr lang="de-DE" smtClean="0"/>
              <a:pPr/>
              <a:t>24</a:t>
            </a:fld>
            <a:endParaRPr lang="de-DE"/>
          </a:p>
        </p:txBody>
      </p:sp>
      <p:sp>
        <p:nvSpPr>
          <p:cNvPr id="5" name="Textfeld 4"/>
          <p:cNvSpPr txBox="1"/>
          <p:nvPr/>
        </p:nvSpPr>
        <p:spPr>
          <a:xfrm>
            <a:off x="695400" y="2045190"/>
            <a:ext cx="580667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de-DE" b="1" dirty="0">
                <a:solidFill>
                  <a:srgbClr val="FF0000"/>
                </a:solidFill>
              </a:rPr>
              <a:t>BLOB1{Bead}”Aminated Polystyrene”</a:t>
            </a:r>
            <a:r>
              <a:rPr lang="de-DE" dirty="0"/>
              <a:t>|PEPTIDE1{A.G.T}$$$$</a:t>
            </a:r>
          </a:p>
        </p:txBody>
      </p:sp>
      <p:sp>
        <p:nvSpPr>
          <p:cNvPr id="6" name="Ellipse 5"/>
          <p:cNvSpPr/>
          <p:nvPr/>
        </p:nvSpPr>
        <p:spPr bwMode="auto">
          <a:xfrm>
            <a:off x="5159896" y="2526828"/>
            <a:ext cx="1152128" cy="1152128"/>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de-DE" sz="1600">
              <a:solidFill>
                <a:srgbClr val="173B64"/>
              </a:solidFill>
              <a:latin typeface="Arial" charset="0"/>
            </a:endParaRPr>
          </a:p>
        </p:txBody>
      </p:sp>
      <p:sp>
        <p:nvSpPr>
          <p:cNvPr id="7" name="Raute 6"/>
          <p:cNvSpPr/>
          <p:nvPr/>
        </p:nvSpPr>
        <p:spPr bwMode="auto">
          <a:xfrm>
            <a:off x="6816080" y="2850864"/>
            <a:ext cx="504056" cy="504056"/>
          </a:xfrm>
          <a:prstGeom prst="diamond">
            <a:avLst/>
          </a:prstGeom>
          <a:solidFill>
            <a:srgbClr val="FF000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r>
              <a:rPr lang="de-DE" sz="1600">
                <a:solidFill>
                  <a:srgbClr val="173B64"/>
                </a:solidFill>
                <a:latin typeface="Arial" charset="0"/>
              </a:rPr>
              <a:t>A</a:t>
            </a:r>
          </a:p>
        </p:txBody>
      </p:sp>
      <p:sp>
        <p:nvSpPr>
          <p:cNvPr id="8" name="Raute 7"/>
          <p:cNvSpPr/>
          <p:nvPr/>
        </p:nvSpPr>
        <p:spPr bwMode="auto">
          <a:xfrm>
            <a:off x="7608168" y="2850864"/>
            <a:ext cx="504056" cy="504056"/>
          </a:xfrm>
          <a:prstGeom prst="diamond">
            <a:avLst/>
          </a:prstGeom>
          <a:solidFill>
            <a:srgbClr val="FF000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r>
              <a:rPr lang="de-DE" sz="1600">
                <a:solidFill>
                  <a:srgbClr val="173B64"/>
                </a:solidFill>
                <a:latin typeface="Arial" charset="0"/>
              </a:rPr>
              <a:t>G</a:t>
            </a:r>
          </a:p>
        </p:txBody>
      </p:sp>
      <p:cxnSp>
        <p:nvCxnSpPr>
          <p:cNvPr id="9" name="Gerader Verbinder 8"/>
          <p:cNvCxnSpPr/>
          <p:nvPr/>
        </p:nvCxnSpPr>
        <p:spPr bwMode="auto">
          <a:xfrm>
            <a:off x="7320136" y="3102892"/>
            <a:ext cx="288032" cy="0"/>
          </a:xfrm>
          <a:prstGeom prst="line">
            <a:avLst/>
          </a:prstGeom>
          <a:solidFill>
            <a:srgbClr val="00A886"/>
          </a:solidFill>
          <a:ln w="12700" cap="flat" cmpd="sng" algn="ctr">
            <a:solidFill>
              <a:schemeClr val="tx1"/>
            </a:solidFill>
            <a:prstDash val="solid"/>
            <a:round/>
            <a:headEnd type="none" w="med" len="med"/>
            <a:tailEnd type="none" w="med" len="med"/>
          </a:ln>
          <a:effectLst/>
        </p:spPr>
      </p:cxnSp>
      <p:sp>
        <p:nvSpPr>
          <p:cNvPr id="10" name="Raute 9"/>
          <p:cNvSpPr/>
          <p:nvPr/>
        </p:nvSpPr>
        <p:spPr bwMode="auto">
          <a:xfrm>
            <a:off x="8400548" y="2850864"/>
            <a:ext cx="504056" cy="504056"/>
          </a:xfrm>
          <a:prstGeom prst="diamond">
            <a:avLst/>
          </a:prstGeom>
          <a:solidFill>
            <a:srgbClr val="FF000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r>
              <a:rPr lang="de-DE"/>
              <a:t>T</a:t>
            </a:r>
            <a:endParaRPr lang="de-DE" sz="1600">
              <a:solidFill>
                <a:srgbClr val="173B64"/>
              </a:solidFill>
              <a:latin typeface="Arial" charset="0"/>
            </a:endParaRPr>
          </a:p>
        </p:txBody>
      </p:sp>
      <p:cxnSp>
        <p:nvCxnSpPr>
          <p:cNvPr id="13" name="Gerader Verbinder 12"/>
          <p:cNvCxnSpPr/>
          <p:nvPr/>
        </p:nvCxnSpPr>
        <p:spPr bwMode="auto">
          <a:xfrm>
            <a:off x="8112224" y="3102892"/>
            <a:ext cx="288324" cy="0"/>
          </a:xfrm>
          <a:prstGeom prst="line">
            <a:avLst/>
          </a:prstGeom>
          <a:solidFill>
            <a:srgbClr val="00A886"/>
          </a:solidFill>
          <a:ln w="12700" cap="flat" cmpd="sng" algn="ctr">
            <a:solidFill>
              <a:schemeClr val="tx1"/>
            </a:solidFill>
            <a:prstDash val="solid"/>
            <a:round/>
            <a:headEnd type="none" w="med" len="med"/>
            <a:tailEnd type="none" w="med" len="med"/>
          </a:ln>
          <a:effectLst/>
        </p:spPr>
      </p:cxnSp>
      <p:cxnSp>
        <p:nvCxnSpPr>
          <p:cNvPr id="15" name="Gerader Verbinder 14"/>
          <p:cNvCxnSpPr/>
          <p:nvPr/>
        </p:nvCxnSpPr>
        <p:spPr bwMode="auto">
          <a:xfrm>
            <a:off x="6312024" y="3102892"/>
            <a:ext cx="504056" cy="0"/>
          </a:xfrm>
          <a:prstGeom prst="line">
            <a:avLst/>
          </a:prstGeom>
          <a:solidFill>
            <a:srgbClr val="00A886"/>
          </a:solidFill>
          <a:ln w="12700" cap="flat" cmpd="sng" algn="ctr">
            <a:solidFill>
              <a:schemeClr val="tx1"/>
            </a:solidFill>
            <a:prstDash val="solid"/>
            <a:round/>
            <a:headEnd type="none" w="med" len="med"/>
            <a:tailEnd type="none" w="med" len="med"/>
          </a:ln>
          <a:effectLst/>
        </p:spPr>
      </p:cxnSp>
      <p:sp>
        <p:nvSpPr>
          <p:cNvPr id="14" name="Inhaltsplatzhalter 2">
            <a:extLst>
              <a:ext uri="{FF2B5EF4-FFF2-40B4-BE49-F238E27FC236}">
                <a16:creationId xmlns="" xmlns:a16="http://schemas.microsoft.com/office/drawing/2014/main" id="{A6B9A6DF-5BB7-4904-8F4F-CD16E077F07F}"/>
              </a:ext>
            </a:extLst>
          </p:cNvPr>
          <p:cNvSpPr txBox="1">
            <a:spLocks/>
          </p:cNvSpPr>
          <p:nvPr/>
        </p:nvSpPr>
        <p:spPr>
          <a:xfrm>
            <a:off x="1487488" y="4773962"/>
            <a:ext cx="6481092" cy="48738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de-DE" sz="2000" dirty="0"/>
              <a:t>Connections are unknown</a:t>
            </a:r>
          </a:p>
        </p:txBody>
      </p:sp>
      <p:pic>
        <p:nvPicPr>
          <p:cNvPr id="11" name="Picture 10">
            <a:extLst>
              <a:ext uri="{FF2B5EF4-FFF2-40B4-BE49-F238E27FC236}">
                <a16:creationId xmlns="" xmlns:a16="http://schemas.microsoft.com/office/drawing/2014/main" id="{DCEB1F25-0FDF-4C81-8470-80165254FDB5}"/>
              </a:ext>
            </a:extLst>
          </p:cNvPr>
          <p:cNvPicPr>
            <a:picLocks noChangeAspect="1"/>
          </p:cNvPicPr>
          <p:nvPr/>
        </p:nvPicPr>
        <p:blipFill>
          <a:blip r:embed="rId2"/>
          <a:stretch>
            <a:fillRect/>
          </a:stretch>
        </p:blipFill>
        <p:spPr>
          <a:xfrm>
            <a:off x="5553273" y="4813372"/>
            <a:ext cx="2021558" cy="1735488"/>
          </a:xfrm>
          <a:prstGeom prst="rect">
            <a:avLst/>
          </a:prstGeom>
        </p:spPr>
      </p:pic>
    </p:spTree>
    <p:extLst>
      <p:ext uri="{BB962C8B-B14F-4D97-AF65-F5344CB8AC3E}">
        <p14:creationId xmlns:p14="http://schemas.microsoft.com/office/powerpoint/2010/main" val="956025298"/>
      </p:ext>
    </p:extLst>
  </p:cSld>
  <p:clrMapOvr>
    <a:masterClrMapping/>
  </p:clrMapOvr>
  <mc:AlternateContent xmlns:mc="http://schemas.openxmlformats.org/markup-compatibility/2006" xmlns:p14="http://schemas.microsoft.com/office/powerpoint/2010/main">
    <mc:Choice Requires="p14">
      <p:transition spd="slow" p14:dur="1250" advTm="36788">
        <p:fade/>
      </p:transition>
    </mc:Choice>
    <mc:Fallback xmlns="">
      <p:transition spd="slow" advTm="36788">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4223792" y="620688"/>
            <a:ext cx="4818580" cy="3687458"/>
          </a:xfrm>
          <a:prstGeom prst="rect">
            <a:avLst/>
          </a:prstGeom>
        </p:spPr>
      </p:pic>
      <p:sp>
        <p:nvSpPr>
          <p:cNvPr id="2" name="Title 1"/>
          <p:cNvSpPr>
            <a:spLocks noGrp="1"/>
          </p:cNvSpPr>
          <p:nvPr>
            <p:ph type="title"/>
          </p:nvPr>
        </p:nvSpPr>
        <p:spPr/>
        <p:txBody>
          <a:bodyPr/>
          <a:lstStyle/>
          <a:p>
            <a:r>
              <a:rPr lang="en-GB" smtClean="0"/>
              <a:t>Ambiguity - Kadcyla</a:t>
            </a:r>
            <a:endParaRPr lang="en-GB" dirty="0"/>
          </a:p>
        </p:txBody>
      </p:sp>
      <p:sp>
        <p:nvSpPr>
          <p:cNvPr id="4" name="Slide Number Placeholder 3"/>
          <p:cNvSpPr>
            <a:spLocks noGrp="1"/>
          </p:cNvSpPr>
          <p:nvPr>
            <p:ph type="sldNum" sz="quarter" idx="11"/>
          </p:nvPr>
        </p:nvSpPr>
        <p:spPr/>
        <p:txBody>
          <a:bodyPr/>
          <a:lstStyle/>
          <a:p>
            <a:fld id="{098AEABF-7EFC-C542-BC91-5F53F601ED7B}" type="slidenum">
              <a:rPr lang="en-US" smtClean="0"/>
              <a:pPr/>
              <a:t>25</a:t>
            </a:fld>
            <a:endParaRPr lang="en-US" dirty="0"/>
          </a:p>
        </p:txBody>
      </p:sp>
      <p:sp>
        <p:nvSpPr>
          <p:cNvPr id="6" name="Content Placeholder 5"/>
          <p:cNvSpPr>
            <a:spLocks noGrp="1"/>
          </p:cNvSpPr>
          <p:nvPr>
            <p:ph sz="quarter" idx="13"/>
          </p:nvPr>
        </p:nvSpPr>
        <p:spPr>
          <a:xfrm>
            <a:off x="609600" y="4947518"/>
            <a:ext cx="10972800" cy="1217786"/>
          </a:xfrm>
        </p:spPr>
        <p:txBody>
          <a:bodyPr>
            <a:normAutofit fontScale="70000" lnSpcReduction="20000"/>
          </a:bodyPr>
          <a:lstStyle/>
          <a:p>
            <a:r>
              <a:rPr lang="en-GB" dirty="0" smtClean="0"/>
              <a:t>The connection between the drug and antibody is not well understood (</a:t>
            </a:r>
            <a:r>
              <a:rPr lang="en-GB" dirty="0" err="1" smtClean="0"/>
              <a:t>Marcoux</a:t>
            </a:r>
            <a:r>
              <a:rPr lang="en-GB" dirty="0" smtClean="0"/>
              <a:t> et al. 2015). Lysine-linked, but where? </a:t>
            </a:r>
          </a:p>
          <a:p>
            <a:r>
              <a:rPr lang="en-GB" dirty="0" smtClean="0"/>
              <a:t>Each </a:t>
            </a:r>
            <a:r>
              <a:rPr lang="en-GB" dirty="0" err="1" smtClean="0"/>
              <a:t>trastuzumab</a:t>
            </a:r>
            <a:r>
              <a:rPr lang="en-GB" dirty="0" smtClean="0"/>
              <a:t> molecule may be linked to zero to eight DM1 molecules (3.5 on average) </a:t>
            </a:r>
          </a:p>
          <a:p>
            <a:r>
              <a:rPr lang="en-GB" dirty="0" smtClean="0"/>
              <a:t>Glycosylation is present and not well understood</a:t>
            </a:r>
            <a:endParaRPr lang="en-GB"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440" y="1673206"/>
            <a:ext cx="2476500" cy="2286000"/>
          </a:xfrm>
          <a:prstGeom prst="rect">
            <a:avLst/>
          </a:prstGeom>
        </p:spPr>
      </p:pic>
    </p:spTree>
    <p:extLst>
      <p:ext uri="{BB962C8B-B14F-4D97-AF65-F5344CB8AC3E}">
        <p14:creationId xmlns:p14="http://schemas.microsoft.com/office/powerpoint/2010/main" val="3243350779"/>
      </p:ext>
    </p:extLst>
  </p:cSld>
  <p:clrMapOvr>
    <a:masterClrMapping/>
  </p:clrMapOvr>
  <mc:AlternateContent xmlns:mc="http://schemas.openxmlformats.org/markup-compatibility/2006" xmlns:p14="http://schemas.microsoft.com/office/powerpoint/2010/main">
    <mc:Choice Requires="p14">
      <p:transition spd="slow" p14:dur="1250" advTm="47029">
        <p:fade/>
      </p:transition>
    </mc:Choice>
    <mc:Fallback xmlns="">
      <p:transition spd="slow" advTm="47029">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HELM notation - Kadcyla</a:t>
            </a:r>
            <a:endParaRPr lang="en-US" dirty="0"/>
          </a:p>
        </p:txBody>
      </p:sp>
      <p:sp>
        <p:nvSpPr>
          <p:cNvPr id="4" name="Foliennummernplatzhalter 3"/>
          <p:cNvSpPr>
            <a:spLocks noGrp="1"/>
          </p:cNvSpPr>
          <p:nvPr>
            <p:ph type="sldNum" sz="quarter" idx="10"/>
          </p:nvPr>
        </p:nvSpPr>
        <p:spPr/>
        <p:txBody>
          <a:bodyPr/>
          <a:lstStyle/>
          <a:p>
            <a:fld id="{79F65372-B929-454B-AC40-6926AEC9B884}" type="slidenum">
              <a:rPr lang="de-DE" smtClean="0"/>
              <a:pPr/>
              <a:t>26</a:t>
            </a:fld>
            <a:endParaRPr lang="de-DE" dirty="0"/>
          </a:p>
        </p:txBody>
      </p:sp>
      <p:sp>
        <p:nvSpPr>
          <p:cNvPr id="5" name="Pfeil: nach oben 4"/>
          <p:cNvSpPr/>
          <p:nvPr/>
        </p:nvSpPr>
        <p:spPr bwMode="auto">
          <a:xfrm>
            <a:off x="8674013" y="5484167"/>
            <a:ext cx="288032" cy="709151"/>
          </a:xfrm>
          <a:prstGeom prst="upArrow">
            <a:avLst/>
          </a:prstGeom>
          <a:solidFill>
            <a:srgbClr val="C00000"/>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de-DE" sz="1600">
              <a:solidFill>
                <a:srgbClr val="173B64"/>
              </a:solidFill>
              <a:latin typeface="Arial" charset="0"/>
            </a:endParaRPr>
          </a:p>
        </p:txBody>
      </p:sp>
      <p:sp>
        <p:nvSpPr>
          <p:cNvPr id="6" name="Pfeil: nach oben 5"/>
          <p:cNvSpPr/>
          <p:nvPr/>
        </p:nvSpPr>
        <p:spPr bwMode="auto">
          <a:xfrm>
            <a:off x="2697349" y="5484167"/>
            <a:ext cx="288032" cy="709151"/>
          </a:xfrm>
          <a:prstGeom prst="upArrow">
            <a:avLst/>
          </a:prstGeom>
          <a:solidFill>
            <a:srgbClr val="C00000"/>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de-DE" sz="1600">
              <a:solidFill>
                <a:srgbClr val="173B64"/>
              </a:solidFill>
              <a:latin typeface="Arial" charset="0"/>
            </a:endParaRPr>
          </a:p>
        </p:txBody>
      </p:sp>
      <p:sp>
        <p:nvSpPr>
          <p:cNvPr id="7" name="TextBox 6">
            <a:extLst>
              <a:ext uri="{FF2B5EF4-FFF2-40B4-BE49-F238E27FC236}">
                <a16:creationId xmlns="" xmlns:a16="http://schemas.microsoft.com/office/drawing/2014/main" id="{0985A1DE-512B-49AB-B34C-56A04D94F6E6}"/>
              </a:ext>
            </a:extLst>
          </p:cNvPr>
          <p:cNvSpPr txBox="1"/>
          <p:nvPr/>
        </p:nvSpPr>
        <p:spPr>
          <a:xfrm>
            <a:off x="2995627" y="5622339"/>
            <a:ext cx="2088232" cy="830997"/>
          </a:xfrm>
          <a:prstGeom prst="rect">
            <a:avLst/>
          </a:prstGeom>
          <a:noFill/>
        </p:spPr>
        <p:txBody>
          <a:bodyPr wrap="square" rtlCol="0">
            <a:spAutoFit/>
          </a:bodyPr>
          <a:lstStyle/>
          <a:p>
            <a:r>
              <a:rPr lang="en-GB" sz="1600" dirty="0"/>
              <a:t>Connected to a lysine, but could be any in the group</a:t>
            </a:r>
          </a:p>
        </p:txBody>
      </p:sp>
      <p:sp>
        <p:nvSpPr>
          <p:cNvPr id="8" name="TextBox 7">
            <a:extLst>
              <a:ext uri="{FF2B5EF4-FFF2-40B4-BE49-F238E27FC236}">
                <a16:creationId xmlns="" xmlns:a16="http://schemas.microsoft.com/office/drawing/2014/main" id="{6624165B-FAF5-4E93-8530-93A84A528CB4}"/>
              </a:ext>
            </a:extLst>
          </p:cNvPr>
          <p:cNvSpPr txBox="1"/>
          <p:nvPr/>
        </p:nvSpPr>
        <p:spPr>
          <a:xfrm>
            <a:off x="6585781" y="5745450"/>
            <a:ext cx="2088232" cy="584775"/>
          </a:xfrm>
          <a:prstGeom prst="rect">
            <a:avLst/>
          </a:prstGeom>
          <a:noFill/>
        </p:spPr>
        <p:txBody>
          <a:bodyPr wrap="square" rtlCol="0">
            <a:spAutoFit/>
          </a:bodyPr>
          <a:lstStyle/>
          <a:p>
            <a:r>
              <a:rPr lang="en-GB" sz="1600" dirty="0"/>
              <a:t>3.5:1 ratio of SMCC to antibody</a:t>
            </a:r>
          </a:p>
        </p:txBody>
      </p:sp>
      <p:sp>
        <p:nvSpPr>
          <p:cNvPr id="17" name="Inhaltsplatzhalter 2"/>
          <p:cNvSpPr>
            <a:spLocks noGrp="1"/>
          </p:cNvSpPr>
          <p:nvPr>
            <p:ph idx="1"/>
          </p:nvPr>
        </p:nvSpPr>
        <p:spPr>
          <a:xfrm>
            <a:off x="1836653" y="1949930"/>
            <a:ext cx="8424936" cy="3672408"/>
          </a:xfrm>
        </p:spPr>
        <p:txBody>
          <a:bodyPr/>
          <a:lstStyle/>
          <a:p>
            <a:pPr marL="0" indent="0">
              <a:buNone/>
            </a:pPr>
            <a:r>
              <a:rPr lang="en-US" sz="800" b="1" dirty="0" smtClean="0">
                <a:highlight>
                  <a:srgbClr val="FFFF00"/>
                </a:highlight>
                <a:latin typeface="Consolas" panose="020B0609020204030204" pitchFamily="49" charset="0"/>
              </a:rPr>
              <a:t>PEPTIDE1</a:t>
            </a:r>
            <a:r>
              <a:rPr lang="en-US" sz="800" dirty="0" smtClean="0">
                <a:latin typeface="Consolas" panose="020B0609020204030204" pitchFamily="49" charset="0"/>
              </a:rPr>
              <a:t>{D.I.Q.M.T.Q.S.P.S.S.L.S.A.S.V.G.D.R.V.T.I.T.C.R.A.S.Q.D.V.N.T.A.V.A.W.Y.Q.Q.K.P.G.K.A.P.K.L.L.I.Y.S.A.S.F.L.Y.S.G.V.P.S.R.F.S.G.S.R.S.G.T.D.F.T.L.T.I.S.S.L.Q.P.E.D.F.A.T.Y.Y.C.Q.Q.H.Y.T.T.P.P.T.F.G.Q.G.T.K.V.E.I.K.R.T.V.A.A.P.S.V.F.I.F.P.P.S.D.E.Q.L.K.S.G.T.A.S.V.V.C.L.L.N.N.F.Y.P.R.E.A.K.V.Q.W.K.V.D.N.A.L.Q.S.G.N.S.Q.E.S.V.T.E.Q.D.S.K.D.S.T.Y.S.L.S.S.T.L.T.L.S.K.A.D.Y.E.K.H.K.V.Y.A.C.E.V.T.H.Q.G.L.S.S.P.V.T.K.S.F.N.R.G.E.C}|</a:t>
            </a:r>
            <a:r>
              <a:rPr lang="en-US" sz="800" b="1" dirty="0" smtClean="0">
                <a:highlight>
                  <a:srgbClr val="FFFF00"/>
                </a:highlight>
                <a:latin typeface="Consolas" panose="020B0609020204030204" pitchFamily="49" charset="0"/>
              </a:rPr>
              <a:t>PEPTIDE2</a:t>
            </a:r>
            <a:r>
              <a:rPr lang="en-US" sz="800" dirty="0" smtClean="0">
                <a:latin typeface="Consolas" panose="020B0609020204030204" pitchFamily="49" charset="0"/>
              </a:rPr>
              <a:t>{E.V.Q.L.V.E.S.G.G.G.L.V.Q.P.G.G.S.L.R.L.S.C.A.A.S.G.F.N.I.K.D.T.Y.I.H.W.V.R.Q.A.P.G.K.G.L.E.W.V.A.R.I.Y.P.T.N.G.Y.T.R.Y.A.D.S.V.K.G.R.F.T.I.S.A.D.T.S.K.N.T.A.Y.L.Q.M.N.S.L.R.A.E.D.T.A.V.Y.Y.C.S.R.W.G.G.D.G.F.Y.A.M.D.Y.W.G.Q.G.T.L.V.T.V.S.S.A.S.T.K.G.P.S.V.F.P.L.A.P.S.S.K.S.T.S.G.G.T.A.A.L.G.C.L.V.K.D.Y.F.P.E.P.V.T.V.S.W.N.S.G.A.L.T.S.G.V.H.T.F.P.A.V.L.Q.S.S.G.L.Y.S.L.S.S.V.V.T.V.P.S.S.S.L.G.T.Q.T.Y.I.C.N.V.N.H.K.P.S.N.T.K.V.D.K.K.V.E.P.P.K.S.C.D.K.T.H.T.C.P.P.C.P.A.P.E.L.L.G.G.P.S.V.F.L.F.P.P.K.P.K.D.T.L.M.I.S.R.T.P.E.V.T.C.V.V.V.D.V.S.H.E.D.P.E.V.K.F.N.W.Y.V.D.G.V.E.V.H.N.A.K.T.K.P.R.E.E.Q.Y.N.S.T.Y.R.V.V.S.V.L.T.V.L.H.Q.D.W.L.N.G.K.E.Y.K.C.K.V.S.N.K.A.L.P.A.P.I.E.K.T.I.S.K.A.K.G.Q.P.R.E.P.Q.V.Y.T.L.P.P.S.R.D.E.L.T.K.N.Q.V.S.L.T.C.L.V.K.G.F.Y.P.S.D.I.A.V.E.W.E.S.N.G.Q.P.E.N.N.Y.K.T.T.P.P.V.L.D.S.D.G.S.F.F.L.Y.S.K.L.T.V.D.K.S.R.W.Q.Q.G.N.V.F.S.C.S.V.M.H.E.A.L.H.N.H.Y.T.Q.K.S.L.S.L.S.P.G.K}|</a:t>
            </a:r>
            <a:r>
              <a:rPr lang="en-US" sz="800" b="1" dirty="0" smtClean="0">
                <a:highlight>
                  <a:srgbClr val="FFFF00"/>
                </a:highlight>
                <a:latin typeface="Consolas" panose="020B0609020204030204" pitchFamily="49" charset="0"/>
              </a:rPr>
              <a:t>PEPTIDE3</a:t>
            </a:r>
            <a:r>
              <a:rPr lang="en-US" sz="800" dirty="0" smtClean="0">
                <a:latin typeface="Consolas" panose="020B0609020204030204" pitchFamily="49" charset="0"/>
              </a:rPr>
              <a:t>{E.V.Q.L.V.E.S.G.G.G.L.V.Q.P.G.G.S.L.R.L.S.C.A.A.S.G.F.N.I.K.D.T.Y.I.H.W.V.R.Q.A.P.G.K.G.L.E.W.V.A.R.I.Y.P.T.N.G.Y.T.R.Y.A.D.S.V.K.G.R.F.T.I.S.A.D.T.S.K.N.T.A.Y.L.Q.M.N.S.L.R.A.E.D.T.A.V.Y.Y.C.S.R.W.G.G.D.G.F.Y.A.M.D.Y.W.G.Q.G.T.L.V.T.V.S.S.A.S.T.K.G.P.S.V.F.P.L.A.P.S.S.K.S.T.S.G.G.T.A.A.L.G.C.L.V.K.D.Y.F.P.E.P.V.T.V.S.W.N.S.G.A.L.T.S.G.V.H.T.F.P.A.V.L.Q.S.S.G.L.Y.S.L.S.S.V.V.T.V.P.S.S.S.L.G.T.Q.T.Y.I.C.N.V.N.H.K.P.S.N.T.K.V.D.K.K.V.E.P.P.K.S.C.D.K.T.H.T.C.P.P.C.P.A.P.E.L.L.G.G.P.S.V.F.L.F.P.P.K.P.K.D.T.L.M.I.S.R.T.P.E.V.T.C.V.V.V.D.V.S.H.E.D.P.E.V.K.F.N.W.Y.V.D.G.V.E.V.H.N.A.K.T.K.P.R.E.E.Q.Y.N.S.T.Y.R.V.V.S.V.L.T.V.L.H.Q.D.W.L.N.G.K.E.Y.K.C.K.V.S.N.K.A.L.P.A.P.I.E.K.T.I.S.K.A.K.G.Q.P.R.E.P.Q.V.Y.T.L.P.P.S.R.D.E.L.T.K.N.Q.V.S.L.T.C.L.V.K.G.F.Y.P.S.D.I.A.V.E.W.E.S.N.G.Q.P.E.N.N.Y.K.T.T.P.P.V.L.D.S.D.G.S.F.F.L.Y.S.K.L.T.V.D.K.S.R.W.Q.Q.G.N.V.F.S.C.S.V.M.H.E.A.L.H.N.H.Y.T.Q.K.S.L.S.L.S.P.G.K}|</a:t>
            </a:r>
            <a:r>
              <a:rPr lang="en-US" sz="800" b="1" dirty="0" smtClean="0">
                <a:highlight>
                  <a:srgbClr val="FFFF00"/>
                </a:highlight>
                <a:latin typeface="Consolas" panose="020B0609020204030204" pitchFamily="49" charset="0"/>
              </a:rPr>
              <a:t>PEPTIDE4</a:t>
            </a:r>
            <a:r>
              <a:rPr lang="en-US" sz="800" dirty="0" smtClean="0">
                <a:latin typeface="Consolas" panose="020B0609020204030204" pitchFamily="49" charset="0"/>
              </a:rPr>
              <a:t>{D.I.Q.M.T.Q.S.P.S.S.L.S.A.S.V.G.D.R.V.T.I.T.C.R.A.S.Q.D.V.N.T.A.V.A.W.Y.Q.Q.K.P.G.K.A.P.K.L.L.I.Y.S.A.S.F.L.Y.S.G.V.P.S.R.F.S.G.S.R.S.G.T.D.F.T.L.T.I.S.S.L.Q.P.E.D.F.A.T.Y.Y.C.Q.Q.H.Y.T.T.P.P.T.F.G.Q.G.T.K.V.E.I.K.R.T.V.A.A.P.S.V.F.I.F.P.P.S.D.E.Q.L.K.S.G.T.A.S.V.V.C.L.L.N.N.F.Y.P.R.E.A.K.V.Q.W.K.V.D.N.A.L.Q.S.G.N.S.Q.E.S.V.T.E.Q.D.S.K.D.S.T.Y.S.L.S.S.T.L.T.L.S.K.A.D.Y.E.K.H.K.V.Y.A.C.E.V.T.H.Q.G.L.S.S.P.V.T.K.S.F.N.R.G.E.C}|</a:t>
            </a:r>
            <a:r>
              <a:rPr lang="en-US" sz="1000" b="1" dirty="0" smtClean="0">
                <a:solidFill>
                  <a:schemeClr val="bg2">
                    <a:lumMod val="10000"/>
                  </a:schemeClr>
                </a:solidFill>
                <a:highlight>
                  <a:srgbClr val="FFFF00"/>
                </a:highlight>
                <a:latin typeface="Consolas" panose="020B0609020204030204" pitchFamily="49" charset="0"/>
              </a:rPr>
              <a:t>CHEM1</a:t>
            </a:r>
            <a:r>
              <a:rPr lang="en-US" sz="1000" dirty="0" smtClean="0">
                <a:solidFill>
                  <a:schemeClr val="bg2">
                    <a:lumMod val="10000"/>
                  </a:schemeClr>
                </a:solidFill>
                <a:latin typeface="Consolas" panose="020B0609020204030204" pitchFamily="49" charset="0"/>
              </a:rPr>
              <a:t>{[SMCC]}|</a:t>
            </a:r>
            <a:r>
              <a:rPr lang="en-US" sz="1000" b="1" dirty="0" smtClean="0">
                <a:solidFill>
                  <a:schemeClr val="bg2">
                    <a:lumMod val="10000"/>
                  </a:schemeClr>
                </a:solidFill>
                <a:highlight>
                  <a:srgbClr val="FFFF00"/>
                </a:highlight>
                <a:latin typeface="Consolas" panose="020B0609020204030204" pitchFamily="49" charset="0"/>
              </a:rPr>
              <a:t>CHEM2</a:t>
            </a:r>
            <a:r>
              <a:rPr lang="en-US" sz="1000" dirty="0" smtClean="0">
                <a:solidFill>
                  <a:schemeClr val="bg2">
                    <a:lumMod val="10000"/>
                  </a:schemeClr>
                </a:solidFill>
                <a:latin typeface="Consolas" panose="020B0609020204030204" pitchFamily="49" charset="0"/>
              </a:rPr>
              <a:t>{[DM1]}</a:t>
            </a:r>
            <a:r>
              <a:rPr lang="en-US" sz="1000" dirty="0" smtClean="0">
                <a:solidFill>
                  <a:schemeClr val="tx1"/>
                </a:solidFill>
                <a:highlight>
                  <a:srgbClr val="00FF00"/>
                </a:highlight>
                <a:latin typeface="Consolas" panose="020B0609020204030204" pitchFamily="49" charset="0"/>
              </a:rPr>
              <a:t>$</a:t>
            </a:r>
            <a:r>
              <a:rPr lang="en-US" sz="1000" dirty="0" smtClean="0">
                <a:latin typeface="Consolas" panose="020B0609020204030204" pitchFamily="49" charset="0"/>
              </a:rPr>
              <a:t>CHEM1,CHEM2,1:R2-1:R1|PEPTIDE1,PEPTIDE1,23:R3-88:R3|PEPTIDE2,PEPTIDE2,371:R3-429:R3|PEPTIDE4,PEPTIDE4,134:R3-194:R3|PEPTIDE1,PEPTIDE1,134:R3-194:R3|PEPTIDE3,PEPTIDE3,265:R3-325:R3|PEPTIDE3,PEPTIDE4,224:R3-214:R3|PEPTIDE2,PEPTIDE3,233:R3-233:R3|PEPTIDE2,PEPTIDE2,265:R3-325:R3|PEPTIDE2,PEPTIDE2,147:R3-203:R3|PEPTIDE2,PEPTIDE3,230:R3-230:R3|PEPTIDE2,PEPTIDE1,224:R3-214:R3|PEPTIDE3,PEPTIDE3,147:R3-203:R3|PEPTIDE2,PEPTIDE2,22:R3-96:R3|PEPTIDE3,PEPTIDE3,22:R3-96:R3|PEPTIDE3,PEPTIDE3,371:R3-429:R3|PEPTIDE4,PEPTIDE4,23:R3-88:R3|</a:t>
            </a:r>
          </a:p>
          <a:p>
            <a:pPr marL="0" indent="0">
              <a:buNone/>
            </a:pPr>
            <a:r>
              <a:rPr lang="en-US" sz="1400" b="1" dirty="0" smtClean="0">
                <a:solidFill>
                  <a:srgbClr val="2103D5"/>
                </a:solidFill>
                <a:latin typeface="Consolas" panose="020B0609020204030204" pitchFamily="49" charset="0"/>
              </a:rPr>
              <a:t>G1,CHEM1,K:R3-1:R1</a:t>
            </a:r>
            <a:r>
              <a:rPr lang="en-US" sz="1400" dirty="0">
                <a:solidFill>
                  <a:schemeClr val="tx1"/>
                </a:solidFill>
                <a:highlight>
                  <a:srgbClr val="00FF00"/>
                </a:highlight>
                <a:latin typeface="Consolas" panose="020B0609020204030204" pitchFamily="49" charset="0"/>
              </a:rPr>
              <a:t>$</a:t>
            </a:r>
            <a:r>
              <a:rPr lang="en-US" sz="1400" b="1" dirty="0" smtClean="0">
                <a:solidFill>
                  <a:srgbClr val="FF0000"/>
                </a:solidFill>
                <a:latin typeface="Consolas" panose="020B0609020204030204" pitchFamily="49" charset="0"/>
              </a:rPr>
              <a:t>G1(PEPTIDE1+PEPTIDE2+PEPTIDE3+PEPTIDE4)|G2(CHEM1:3.5+G1:1)</a:t>
            </a:r>
            <a:r>
              <a:rPr lang="en-US" sz="1400" dirty="0" smtClean="0">
                <a:solidFill>
                  <a:schemeClr val="tx1"/>
                </a:solidFill>
                <a:highlight>
                  <a:srgbClr val="00FF00"/>
                </a:highlight>
                <a:latin typeface="Consolas" panose="020B0609020204030204" pitchFamily="49" charset="0"/>
              </a:rPr>
              <a:t>$$</a:t>
            </a:r>
            <a:r>
              <a:rPr lang="en-US" sz="1400" dirty="0" smtClean="0">
                <a:latin typeface="Consolas" panose="020B0609020204030204" pitchFamily="49" charset="0"/>
              </a:rPr>
              <a:t>V2.0</a:t>
            </a:r>
            <a:endParaRPr lang="en-US" sz="1400" b="1" dirty="0">
              <a:solidFill>
                <a:srgbClr val="FF0000"/>
              </a:solidFill>
              <a:latin typeface="Consolas" panose="020B0609020204030204" pitchFamily="49" charset="0"/>
            </a:endParaRPr>
          </a:p>
        </p:txBody>
      </p:sp>
      <p:sp>
        <p:nvSpPr>
          <p:cNvPr id="18" name="Rectangle 17">
            <a:extLst>
              <a:ext uri="{FF2B5EF4-FFF2-40B4-BE49-F238E27FC236}">
                <a16:creationId xmlns="" xmlns:a16="http://schemas.microsoft.com/office/drawing/2014/main" id="{43FAD4A5-69AD-42C5-B9DA-9636A6CFE7FC}"/>
              </a:ext>
            </a:extLst>
          </p:cNvPr>
          <p:cNvSpPr/>
          <p:nvPr/>
        </p:nvSpPr>
        <p:spPr>
          <a:xfrm>
            <a:off x="716282" y="1310133"/>
            <a:ext cx="8568952" cy="369332"/>
          </a:xfrm>
          <a:prstGeom prst="rect">
            <a:avLst/>
          </a:prstGeom>
          <a:solidFill>
            <a:schemeClr val="accent1">
              <a:lumMod val="60000"/>
              <a:lumOff val="40000"/>
            </a:schemeClr>
          </a:solidFill>
          <a:ln w="19050">
            <a:solidFill>
              <a:schemeClr val="tx1"/>
            </a:solidFill>
          </a:ln>
        </p:spPr>
        <p:txBody>
          <a:bodyPr wrap="square">
            <a:spAutoFit/>
          </a:bodyPr>
          <a:lstStyle/>
          <a:p>
            <a:r>
              <a:rPr lang="en-US" dirty="0">
                <a:solidFill>
                  <a:srgbClr val="4C5156"/>
                </a:solidFill>
                <a:ea typeface="MS PGothic" pitchFamily="34" charset="-128"/>
                <a:cs typeface="Calibri"/>
              </a:rPr>
              <a:t>ListOfSimplePolymers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ListOfConnections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ListOfPolymerGroups</a:t>
            </a:r>
            <a:r>
              <a:rPr lang="en-US" dirty="0">
                <a:solidFill>
                  <a:schemeClr val="accent5">
                    <a:lumMod val="75000"/>
                  </a:schemeClr>
                </a:solidFill>
                <a:ea typeface="MS PGothic" pitchFamily="34" charset="-128"/>
                <a:cs typeface="Calibri"/>
              </a:rPr>
              <a:t>$</a:t>
            </a:r>
            <a:r>
              <a:rPr lang="en-US" dirty="0">
                <a:solidFill>
                  <a:srgbClr val="4C5156"/>
                </a:solidFill>
                <a:ea typeface="MS PGothic" pitchFamily="34" charset="-128"/>
                <a:cs typeface="Calibri"/>
              </a:rPr>
              <a:t>ExtendedAnnotation</a:t>
            </a:r>
            <a:r>
              <a:rPr lang="en-US" dirty="0">
                <a:solidFill>
                  <a:srgbClr val="FF0000"/>
                </a:solidFill>
                <a:ea typeface="MS PGothic" pitchFamily="34" charset="-128"/>
                <a:cs typeface="Calibri"/>
              </a:rPr>
              <a:t>$</a:t>
            </a:r>
            <a:endParaRPr lang="en-US" dirty="0">
              <a:solidFill>
                <a:srgbClr val="FF0000"/>
              </a:solidFill>
              <a:latin typeface="Calibri" pitchFamily="34" charset="0"/>
              <a:cs typeface="Arial" charset="0"/>
            </a:endParaRPr>
          </a:p>
        </p:txBody>
      </p:sp>
    </p:spTree>
    <p:extLst>
      <p:ext uri="{BB962C8B-B14F-4D97-AF65-F5344CB8AC3E}">
        <p14:creationId xmlns:p14="http://schemas.microsoft.com/office/powerpoint/2010/main" val="3233650975"/>
      </p:ext>
    </p:extLst>
  </p:cSld>
  <p:clrMapOvr>
    <a:masterClrMapping/>
  </p:clrMapOvr>
  <mc:AlternateContent xmlns:mc="http://schemas.openxmlformats.org/markup-compatibility/2006" xmlns:p14="http://schemas.microsoft.com/office/powerpoint/2010/main">
    <mc:Choice Requires="p14">
      <p:transition spd="slow" p14:dur="1250" advTm="114693">
        <p:fade/>
      </p:transition>
    </mc:Choice>
    <mc:Fallback xmlns="">
      <p:transition spd="slow" advTm="114693">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38400"/>
            <a:ext cx="10668000" cy="2246769"/>
          </a:xfrm>
        </p:spPr>
        <p:txBody>
          <a:bodyPr/>
          <a:lstStyle/>
          <a:p>
            <a:r>
              <a:rPr lang="en-GB" sz="2800" dirty="0" smtClean="0">
                <a:solidFill>
                  <a:schemeClr val="bg1">
                    <a:lumMod val="60000"/>
                    <a:lumOff val="40000"/>
                  </a:schemeClr>
                </a:solidFill>
              </a:rPr>
              <a:t>Current challenges regarding the representation of biomolecules</a:t>
            </a:r>
            <a:r>
              <a:rPr lang="en-GB" sz="2800" dirty="0"/>
              <a:t/>
            </a:r>
            <a:br>
              <a:rPr lang="en-GB" sz="2800" dirty="0"/>
            </a:br>
            <a:r>
              <a:rPr lang="en-GB" sz="2800" dirty="0" smtClean="0">
                <a:solidFill>
                  <a:schemeClr val="bg1">
                    <a:lumMod val="60000"/>
                    <a:lumOff val="40000"/>
                  </a:schemeClr>
                </a:solidFill>
              </a:rPr>
              <a:t>What </a:t>
            </a:r>
            <a:r>
              <a:rPr lang="en-GB" sz="2800" dirty="0">
                <a:solidFill>
                  <a:schemeClr val="bg1">
                    <a:lumMod val="60000"/>
                    <a:lumOff val="40000"/>
                  </a:schemeClr>
                </a:solidFill>
              </a:rPr>
              <a:t>is HELM</a:t>
            </a:r>
            <a:r>
              <a:rPr lang="en-GB" sz="2800" dirty="0" smtClean="0">
                <a:solidFill>
                  <a:schemeClr val="bg1">
                    <a:lumMod val="60000"/>
                    <a:lumOff val="40000"/>
                  </a:schemeClr>
                </a:solidFill>
              </a:rPr>
              <a:t>?</a:t>
            </a:r>
            <a:r>
              <a:rPr lang="en-GB" sz="2800" dirty="0">
                <a:solidFill>
                  <a:schemeClr val="bg1">
                    <a:lumMod val="60000"/>
                    <a:lumOff val="40000"/>
                  </a:schemeClr>
                </a:solidFill>
              </a:rPr>
              <a:t> </a:t>
            </a:r>
            <a:r>
              <a:rPr lang="en-GB" sz="2800" dirty="0">
                <a:solidFill>
                  <a:srgbClr val="228B96"/>
                </a:solidFill>
              </a:rPr>
              <a:t>HELM in practice</a:t>
            </a:r>
            <a:br>
              <a:rPr lang="en-GB" sz="2800" dirty="0">
                <a:solidFill>
                  <a:srgbClr val="228B96"/>
                </a:solidFill>
              </a:rPr>
            </a:br>
            <a:r>
              <a:rPr lang="en-GB" sz="2800" dirty="0"/>
              <a:t>HELM in practice </a:t>
            </a:r>
            <a:r>
              <a:rPr lang="en-GB" sz="2800" dirty="0" smtClean="0"/>
              <a:t/>
            </a:r>
            <a:br>
              <a:rPr lang="en-GB" sz="2800" dirty="0" smtClean="0"/>
            </a:br>
            <a:r>
              <a:rPr lang="en-GB" sz="2800" dirty="0" smtClean="0">
                <a:solidFill>
                  <a:schemeClr val="bg1">
                    <a:lumMod val="60000"/>
                    <a:lumOff val="40000"/>
                  </a:schemeClr>
                </a:solidFill>
              </a:rPr>
              <a:t>The </a:t>
            </a:r>
            <a:r>
              <a:rPr lang="en-GB" sz="2800" dirty="0">
                <a:solidFill>
                  <a:schemeClr val="bg1">
                    <a:lumMod val="60000"/>
                    <a:lumOff val="40000"/>
                  </a:schemeClr>
                </a:solidFill>
              </a:rPr>
              <a:t>HELM ecosystem </a:t>
            </a:r>
            <a:br>
              <a:rPr lang="en-GB" sz="2800" dirty="0">
                <a:solidFill>
                  <a:schemeClr val="bg1">
                    <a:lumMod val="60000"/>
                    <a:lumOff val="40000"/>
                  </a:schemeClr>
                </a:solidFill>
              </a:rPr>
            </a:br>
            <a:r>
              <a:rPr lang="en-GB" sz="2800" dirty="0" smtClean="0">
                <a:solidFill>
                  <a:schemeClr val="bg1">
                    <a:lumMod val="60000"/>
                    <a:lumOff val="40000"/>
                  </a:schemeClr>
                </a:solidFill>
              </a:rPr>
              <a:t>Current activities</a:t>
            </a:r>
            <a:endParaRPr lang="en-GB" sz="2800" dirty="0">
              <a:solidFill>
                <a:schemeClr val="bg1">
                  <a:lumMod val="60000"/>
                  <a:lumOff val="40000"/>
                </a:schemeClr>
              </a:solidFill>
            </a:endParaRPr>
          </a:p>
        </p:txBody>
      </p:sp>
      <p:sp>
        <p:nvSpPr>
          <p:cNvPr id="6" name="Slide Number Placeholder 5"/>
          <p:cNvSpPr>
            <a:spLocks noGrp="1"/>
          </p:cNvSpPr>
          <p:nvPr>
            <p:ph type="sldNum" sz="quarter" idx="4294967295"/>
          </p:nvPr>
        </p:nvSpPr>
        <p:spPr>
          <a:xfrm>
            <a:off x="11506200" y="6376988"/>
            <a:ext cx="685800" cy="344487"/>
          </a:xfrm>
          <a:prstGeom prst="rect">
            <a:avLst/>
          </a:prstGeom>
        </p:spPr>
        <p:txBody>
          <a:bodyPr/>
          <a:lstStyle/>
          <a:p>
            <a:pPr>
              <a:defRPr/>
            </a:pPr>
            <a:fld id="{28ED40A3-BEA1-2645-9E17-452BD130FCD0}" type="slidenum">
              <a:rPr lang="en-US"/>
              <a:pPr>
                <a:defRPr/>
              </a:pPr>
              <a:t>27</a:t>
            </a:fld>
            <a:endParaRPr lang="en-US" dirty="0"/>
          </a:p>
        </p:txBody>
      </p:sp>
    </p:spTree>
    <p:extLst>
      <p:ext uri="{BB962C8B-B14F-4D97-AF65-F5344CB8AC3E}">
        <p14:creationId xmlns:p14="http://schemas.microsoft.com/office/powerpoint/2010/main" val="2439592669"/>
      </p:ext>
    </p:extLst>
  </p:cSld>
  <p:clrMapOvr>
    <a:masterClrMapping/>
  </p:clrMapOvr>
  <mc:AlternateContent xmlns:mc="http://schemas.openxmlformats.org/markup-compatibility/2006" xmlns:p14="http://schemas.microsoft.com/office/powerpoint/2010/main">
    <mc:Choice Requires="p14">
      <p:transition spd="slow" p14:dur="1250" advTm="11624">
        <p:fade/>
      </p:transition>
    </mc:Choice>
    <mc:Fallback xmlns="">
      <p:transition spd="slow" advTm="11624">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HELM Project</a:t>
            </a:r>
            <a:endParaRPr lang="en-US" dirty="0"/>
          </a:p>
        </p:txBody>
      </p:sp>
      <p:pic>
        <p:nvPicPr>
          <p:cNvPr id="10" name="Picture 9">
            <a:extLst>
              <a:ext uri="{FF2B5EF4-FFF2-40B4-BE49-F238E27FC236}">
                <a16:creationId xmlns="" xmlns:a16="http://schemas.microsoft.com/office/drawing/2014/main" id="{9B742ACE-A054-417F-A69E-C05C595CBBE1}"/>
              </a:ext>
            </a:extLst>
          </p:cNvPr>
          <p:cNvPicPr>
            <a:picLocks noChangeAspect="1"/>
          </p:cNvPicPr>
          <p:nvPr/>
        </p:nvPicPr>
        <p:blipFill>
          <a:blip r:embed="rId2"/>
          <a:stretch>
            <a:fillRect/>
          </a:stretch>
        </p:blipFill>
        <p:spPr>
          <a:xfrm>
            <a:off x="1524000" y="1700808"/>
            <a:ext cx="9144000" cy="4147840"/>
          </a:xfrm>
          <a:prstGeom prst="rect">
            <a:avLst/>
          </a:prstGeom>
        </p:spPr>
      </p:pic>
    </p:spTree>
    <p:extLst>
      <p:ext uri="{BB962C8B-B14F-4D97-AF65-F5344CB8AC3E}">
        <p14:creationId xmlns:p14="http://schemas.microsoft.com/office/powerpoint/2010/main" val="619309159"/>
      </p:ext>
    </p:extLst>
  </p:cSld>
  <p:clrMapOvr>
    <a:masterClrMapping/>
  </p:clrMapOvr>
  <mc:AlternateContent xmlns:mc="http://schemas.openxmlformats.org/markup-compatibility/2006" xmlns:p14="http://schemas.microsoft.com/office/powerpoint/2010/main">
    <mc:Choice Requires="p14">
      <p:transition spd="slow" p14:dur="1250" advTm="16134">
        <p:fade/>
      </p:transition>
    </mc:Choice>
    <mc:Fallback xmlns="">
      <p:transition spd="slow" advTm="16134">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HELM Open Source Tools</a:t>
            </a:r>
            <a:endParaRPr lang="en-US" dirty="0"/>
          </a:p>
        </p:txBody>
      </p:sp>
      <p:sp>
        <p:nvSpPr>
          <p:cNvPr id="6" name="Content Placeholder 5"/>
          <p:cNvSpPr>
            <a:spLocks noGrp="1"/>
          </p:cNvSpPr>
          <p:nvPr>
            <p:ph idx="1"/>
          </p:nvPr>
        </p:nvSpPr>
        <p:spPr>
          <a:xfrm>
            <a:off x="732426" y="1376360"/>
            <a:ext cx="4572784" cy="1440159"/>
          </a:xfrm>
        </p:spPr>
        <p:txBody>
          <a:bodyPr/>
          <a:lstStyle/>
          <a:p>
            <a:pPr marL="0" indent="0" defTabSz="914400" fontAlgn="base">
              <a:spcBef>
                <a:spcPct val="0"/>
              </a:spcBef>
              <a:spcAft>
                <a:spcPct val="0"/>
              </a:spcAft>
              <a:buNone/>
              <a:defRPr/>
            </a:pPr>
            <a:r>
              <a:rPr lang="en-US" sz="2000" dirty="0" smtClean="0">
                <a:latin typeface="Calibri" pitchFamily="34" charset="0"/>
                <a:cs typeface="Arial" charset="0"/>
              </a:rPr>
              <a:t>Web-based </a:t>
            </a:r>
            <a:r>
              <a:rPr lang="en-US" sz="2000" dirty="0">
                <a:latin typeface="Calibri" pitchFamily="34" charset="0"/>
                <a:cs typeface="Arial" charset="0"/>
              </a:rPr>
              <a:t>editor – currently </a:t>
            </a:r>
            <a:r>
              <a:rPr lang="en-US" sz="2000" dirty="0" smtClean="0">
                <a:latin typeface="Calibri" pitchFamily="34" charset="0"/>
                <a:cs typeface="Arial" charset="0"/>
              </a:rPr>
              <a:t>HELM1.</a:t>
            </a:r>
          </a:p>
          <a:p>
            <a:pPr marL="0" indent="0" defTabSz="914400" fontAlgn="base">
              <a:spcBef>
                <a:spcPct val="0"/>
              </a:spcBef>
              <a:spcAft>
                <a:spcPct val="0"/>
              </a:spcAft>
              <a:buNone/>
              <a:defRPr/>
            </a:pPr>
            <a:r>
              <a:rPr lang="en-US" sz="2000" dirty="0" smtClean="0">
                <a:latin typeface="Calibri" pitchFamily="34" charset="0"/>
                <a:cs typeface="Arial" charset="0"/>
              </a:rPr>
              <a:t>We </a:t>
            </a:r>
            <a:r>
              <a:rPr lang="en-US" sz="2000" dirty="0">
                <a:latin typeface="Calibri" pitchFamily="34" charset="0"/>
                <a:cs typeface="Arial" charset="0"/>
              </a:rPr>
              <a:t>are working on HELM2 and expect </a:t>
            </a:r>
          </a:p>
          <a:p>
            <a:pPr marL="0" indent="0" defTabSz="914400" fontAlgn="base">
              <a:spcBef>
                <a:spcPct val="0"/>
              </a:spcBef>
              <a:spcAft>
                <a:spcPct val="0"/>
              </a:spcAft>
              <a:buNone/>
              <a:defRPr/>
            </a:pPr>
            <a:r>
              <a:rPr lang="en-US" sz="2000" dirty="0" smtClean="0">
                <a:latin typeface="Calibri" pitchFamily="34" charset="0"/>
                <a:cs typeface="Arial" charset="0"/>
              </a:rPr>
              <a:t>    to </a:t>
            </a:r>
            <a:r>
              <a:rPr lang="en-US" sz="2000" dirty="0">
                <a:latin typeface="Calibri" pitchFamily="34" charset="0"/>
                <a:cs typeface="Arial" charset="0"/>
              </a:rPr>
              <a:t>publish later this year. </a:t>
            </a:r>
          </a:p>
          <a:p>
            <a:endParaRPr lang="en-US" dirty="0"/>
          </a:p>
        </p:txBody>
      </p:sp>
      <p:sp>
        <p:nvSpPr>
          <p:cNvPr id="3" name="Rectangle 2"/>
          <p:cNvSpPr/>
          <p:nvPr/>
        </p:nvSpPr>
        <p:spPr>
          <a:xfrm>
            <a:off x="1745416" y="1772816"/>
            <a:ext cx="184731" cy="369332"/>
          </a:xfrm>
          <a:prstGeom prst="rect">
            <a:avLst/>
          </a:prstGeom>
        </p:spPr>
        <p:txBody>
          <a:bodyPr wrap="none">
            <a:spAutoFit/>
          </a:bodyPr>
          <a:lstStyle/>
          <a:p>
            <a:pPr defTabSz="914400" fontAlgn="base">
              <a:spcBef>
                <a:spcPct val="0"/>
              </a:spcBef>
              <a:spcAft>
                <a:spcPct val="0"/>
              </a:spcAft>
              <a:defRPr/>
            </a:pPr>
            <a:endParaRPr lang="en-US" dirty="0">
              <a:solidFill>
                <a:srgbClr val="4C5156"/>
              </a:solidFill>
              <a:latin typeface="Calibri" pitchFamily="34" charset="0"/>
              <a:cs typeface="Arial" charset="0"/>
            </a:endParaRPr>
          </a:p>
        </p:txBody>
      </p:sp>
      <p:pic>
        <p:nvPicPr>
          <p:cNvPr id="4" name="Picture 3">
            <a:extLst>
              <a:ext uri="{FF2B5EF4-FFF2-40B4-BE49-F238E27FC236}">
                <a16:creationId xmlns="" xmlns:a16="http://schemas.microsoft.com/office/drawing/2014/main" id="{95582A6A-EBE3-4A26-9762-D9D90F7F39E0}"/>
              </a:ext>
            </a:extLst>
          </p:cNvPr>
          <p:cNvPicPr>
            <a:picLocks noChangeAspect="1"/>
          </p:cNvPicPr>
          <p:nvPr/>
        </p:nvPicPr>
        <p:blipFill rotWithShape="1">
          <a:blip r:embed="rId2"/>
          <a:srcRect t="2176"/>
          <a:stretch/>
        </p:blipFill>
        <p:spPr>
          <a:xfrm>
            <a:off x="6306637" y="1376360"/>
            <a:ext cx="4705517" cy="3236625"/>
          </a:xfrm>
          <a:prstGeom prst="rect">
            <a:avLst/>
          </a:prstGeom>
        </p:spPr>
      </p:pic>
      <p:pic>
        <p:nvPicPr>
          <p:cNvPr id="9" name="Picture 8">
            <a:extLst>
              <a:ext uri="{FF2B5EF4-FFF2-40B4-BE49-F238E27FC236}">
                <a16:creationId xmlns="" xmlns:a16="http://schemas.microsoft.com/office/drawing/2014/main" id="{340BA581-0D6A-4D6C-807A-37A26F350109}"/>
              </a:ext>
            </a:extLst>
          </p:cNvPr>
          <p:cNvPicPr>
            <a:picLocks noChangeAspect="1"/>
          </p:cNvPicPr>
          <p:nvPr/>
        </p:nvPicPr>
        <p:blipFill rotWithShape="1">
          <a:blip r:embed="rId3"/>
          <a:srcRect t="6744" b="5381"/>
          <a:stretch/>
        </p:blipFill>
        <p:spPr>
          <a:xfrm>
            <a:off x="587112" y="3501008"/>
            <a:ext cx="4706535" cy="2352439"/>
          </a:xfrm>
          <a:prstGeom prst="rect">
            <a:avLst/>
          </a:prstGeom>
        </p:spPr>
      </p:pic>
      <p:sp>
        <p:nvSpPr>
          <p:cNvPr id="8" name="Rectangle 7">
            <a:extLst>
              <a:ext uri="{FF2B5EF4-FFF2-40B4-BE49-F238E27FC236}">
                <a16:creationId xmlns="" xmlns:a16="http://schemas.microsoft.com/office/drawing/2014/main" id="{A295CFC1-B022-4C90-B8CE-CAEFBCFCC718}"/>
              </a:ext>
            </a:extLst>
          </p:cNvPr>
          <p:cNvSpPr/>
          <p:nvPr/>
        </p:nvSpPr>
        <p:spPr>
          <a:xfrm>
            <a:off x="4727848" y="5085184"/>
            <a:ext cx="3993786" cy="1015663"/>
          </a:xfrm>
          <a:prstGeom prst="rect">
            <a:avLst/>
          </a:prstGeom>
        </p:spPr>
        <p:txBody>
          <a:bodyPr wrap="none">
            <a:spAutoFit/>
          </a:bodyPr>
          <a:lstStyle/>
          <a:p>
            <a:pPr defTabSz="914400" fontAlgn="base">
              <a:spcBef>
                <a:spcPct val="0"/>
              </a:spcBef>
              <a:spcAft>
                <a:spcPct val="0"/>
              </a:spcAft>
              <a:defRPr/>
            </a:pPr>
            <a:r>
              <a:rPr lang="en-US" sz="2000" dirty="0">
                <a:solidFill>
                  <a:srgbClr val="4C5156"/>
                </a:solidFill>
                <a:latin typeface="Calibri" pitchFamily="34" charset="0"/>
                <a:cs typeface="Arial" charset="0"/>
              </a:rPr>
              <a:t>HELM2 is implemented in the toolkit</a:t>
            </a:r>
          </a:p>
          <a:p>
            <a:pPr defTabSz="914400" fontAlgn="base">
              <a:spcBef>
                <a:spcPct val="0"/>
              </a:spcBef>
              <a:spcAft>
                <a:spcPct val="0"/>
              </a:spcAft>
              <a:defRPr/>
            </a:pPr>
            <a:r>
              <a:rPr lang="en-US" sz="2000" dirty="0">
                <a:solidFill>
                  <a:srgbClr val="4C5156"/>
                </a:solidFill>
                <a:latin typeface="Calibri" pitchFamily="34" charset="0"/>
                <a:cs typeface="Arial" charset="0"/>
              </a:rPr>
              <a:t>a</a:t>
            </a:r>
            <a:r>
              <a:rPr lang="en-US" sz="2000" dirty="0" smtClean="0">
                <a:solidFill>
                  <a:srgbClr val="4C5156"/>
                </a:solidFill>
                <a:latin typeface="Calibri" pitchFamily="34" charset="0"/>
                <a:cs typeface="Arial" charset="0"/>
              </a:rPr>
              <a:t>nd </a:t>
            </a:r>
            <a:r>
              <a:rPr lang="en-US" sz="2000" dirty="0">
                <a:solidFill>
                  <a:srgbClr val="4C5156"/>
                </a:solidFill>
                <a:latin typeface="Calibri" pitchFamily="34" charset="0"/>
                <a:cs typeface="Arial" charset="0"/>
              </a:rPr>
              <a:t>can be accessed via </a:t>
            </a:r>
            <a:r>
              <a:rPr lang="en-US" sz="2000" dirty="0" smtClean="0">
                <a:solidFill>
                  <a:srgbClr val="4C5156"/>
                </a:solidFill>
                <a:latin typeface="Calibri" pitchFamily="34" charset="0"/>
                <a:cs typeface="Arial" charset="0"/>
              </a:rPr>
              <a:t>RESTful </a:t>
            </a:r>
            <a:endParaRPr lang="en-US" sz="2000" dirty="0">
              <a:solidFill>
                <a:srgbClr val="4C5156"/>
              </a:solidFill>
              <a:latin typeface="Calibri" pitchFamily="34" charset="0"/>
              <a:cs typeface="Arial" charset="0"/>
            </a:endParaRPr>
          </a:p>
          <a:p>
            <a:pPr defTabSz="914400" fontAlgn="base">
              <a:spcBef>
                <a:spcPct val="0"/>
              </a:spcBef>
              <a:spcAft>
                <a:spcPct val="0"/>
              </a:spcAft>
              <a:defRPr/>
            </a:pPr>
            <a:r>
              <a:rPr lang="en-US" sz="2000" dirty="0">
                <a:solidFill>
                  <a:srgbClr val="4C5156"/>
                </a:solidFill>
                <a:latin typeface="Calibri" pitchFamily="34" charset="0"/>
                <a:cs typeface="Arial" charset="0"/>
              </a:rPr>
              <a:t>w</a:t>
            </a:r>
            <a:r>
              <a:rPr lang="en-US" sz="2000" dirty="0" err="1">
                <a:solidFill>
                  <a:srgbClr val="4C5156"/>
                </a:solidFill>
                <a:latin typeface="Calibri" pitchFamily="34" charset="0"/>
                <a:cs typeface="Arial" charset="0"/>
              </a:rPr>
              <a:t>eb</a:t>
            </a:r>
            <a:r>
              <a:rPr lang="en-US" sz="2000" dirty="0">
                <a:solidFill>
                  <a:srgbClr val="4C5156"/>
                </a:solidFill>
                <a:latin typeface="Calibri" pitchFamily="34" charset="0"/>
                <a:cs typeface="Arial" charset="0"/>
              </a:rPr>
              <a:t>-services </a:t>
            </a:r>
          </a:p>
        </p:txBody>
      </p:sp>
    </p:spTree>
    <p:extLst>
      <p:ext uri="{BB962C8B-B14F-4D97-AF65-F5344CB8AC3E}">
        <p14:creationId xmlns:p14="http://schemas.microsoft.com/office/powerpoint/2010/main" val="3601131322"/>
      </p:ext>
    </p:extLst>
  </p:cSld>
  <p:clrMapOvr>
    <a:masterClrMapping/>
  </p:clrMapOvr>
  <mc:AlternateContent xmlns:mc="http://schemas.openxmlformats.org/markup-compatibility/2006" xmlns:p14="http://schemas.microsoft.com/office/powerpoint/2010/main">
    <mc:Choice Requires="p14">
      <p:transition spd="slow" p14:dur="1250" advTm="30741">
        <p:fade/>
      </p:transition>
    </mc:Choice>
    <mc:Fallback xmlns="">
      <p:transition spd="slow" advTm="30741">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HELM Antibody Editor (HAbE)</a:t>
            </a:r>
            <a:endParaRPr lang="de-DE" dirty="0"/>
          </a:p>
        </p:txBody>
      </p:sp>
      <p:sp>
        <p:nvSpPr>
          <p:cNvPr id="8" name="Content Placeholder 7"/>
          <p:cNvSpPr>
            <a:spLocks noGrp="1"/>
          </p:cNvSpPr>
          <p:nvPr>
            <p:ph idx="1"/>
          </p:nvPr>
        </p:nvSpPr>
        <p:spPr>
          <a:xfrm>
            <a:off x="609601" y="1916832"/>
            <a:ext cx="4622303" cy="1728191"/>
          </a:xfrm>
        </p:spPr>
        <p:txBody>
          <a:bodyPr>
            <a:normAutofit fontScale="92500"/>
          </a:bodyPr>
          <a:lstStyle/>
          <a:p>
            <a:pPr marL="0" indent="0" defTabSz="914400" fontAlgn="base">
              <a:spcBef>
                <a:spcPct val="0"/>
              </a:spcBef>
              <a:spcAft>
                <a:spcPct val="0"/>
              </a:spcAft>
              <a:buNone/>
              <a:defRPr/>
            </a:pPr>
            <a:r>
              <a:rPr lang="en-US" dirty="0" err="1">
                <a:latin typeface="Calibri" pitchFamily="34" charset="0"/>
                <a:cs typeface="Arial" charset="0"/>
              </a:rPr>
              <a:t>HAbE</a:t>
            </a:r>
            <a:r>
              <a:rPr lang="en-US" dirty="0">
                <a:latin typeface="Calibri" pitchFamily="34" charset="0"/>
                <a:cs typeface="Arial" charset="0"/>
              </a:rPr>
              <a:t> (developed by Roche), will take in an antibody sequence, run a BLAST search and identify and display domains. </a:t>
            </a:r>
          </a:p>
          <a:p>
            <a:endParaRPr lang="en-US" dirty="0"/>
          </a:p>
        </p:txBody>
      </p:sp>
      <p:sp>
        <p:nvSpPr>
          <p:cNvPr id="4" name="Foliennummernplatzhalter 3"/>
          <p:cNvSpPr>
            <a:spLocks noGrp="1"/>
          </p:cNvSpPr>
          <p:nvPr>
            <p:ph type="sldNum" sz="quarter" idx="10"/>
          </p:nvPr>
        </p:nvSpPr>
        <p:spPr/>
        <p:txBody>
          <a:bodyPr/>
          <a:lstStyle/>
          <a:p>
            <a:fld id="{79F65372-B929-454B-AC40-6926AEC9B884}" type="slidenum">
              <a:rPr lang="de-DE" smtClean="0"/>
              <a:pPr/>
              <a:t>30</a:t>
            </a:fld>
            <a:endParaRPr lang="de-DE"/>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3748" y="1844824"/>
            <a:ext cx="6651192" cy="3940548"/>
          </a:xfrm>
          <a:prstGeom prst="rect">
            <a:avLst/>
          </a:prstGeom>
        </p:spPr>
      </p:pic>
      <p:sp>
        <p:nvSpPr>
          <p:cNvPr id="9" name="Content Placeholder 7"/>
          <p:cNvSpPr txBox="1">
            <a:spLocks/>
          </p:cNvSpPr>
          <p:nvPr/>
        </p:nvSpPr>
        <p:spPr>
          <a:xfrm>
            <a:off x="609601" y="4221088"/>
            <a:ext cx="6278487" cy="1862510"/>
          </a:xfrm>
          <a:prstGeom prst="rect">
            <a:avLst/>
          </a:prstGeom>
        </p:spPr>
        <p:txBody>
          <a:bodyPr vert="horz" lIns="91440" tIns="45720" rIns="91440" bIns="45720" rtlCol="0">
            <a:normAutofit fontScale="92500"/>
          </a:bodyPr>
          <a:lst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fontAlgn="base">
              <a:spcBef>
                <a:spcPct val="0"/>
              </a:spcBef>
              <a:spcAft>
                <a:spcPct val="0"/>
              </a:spcAft>
              <a:buFont typeface="Arial"/>
              <a:buNone/>
              <a:defRPr/>
            </a:pPr>
            <a:r>
              <a:rPr lang="en-US" dirty="0" smtClean="0">
                <a:latin typeface="Calibri" pitchFamily="34" charset="0"/>
                <a:cs typeface="Arial" charset="0"/>
              </a:rPr>
              <a:t>The initial domain assignment can be edited if the scientist believes it is incorrect and the editor can be used to adjust </a:t>
            </a:r>
            <a:r>
              <a:rPr lang="en-US" dirty="0" err="1" smtClean="0">
                <a:latin typeface="Calibri" pitchFamily="34" charset="0"/>
                <a:cs typeface="Arial" charset="0"/>
              </a:rPr>
              <a:t>Cys-cys</a:t>
            </a:r>
            <a:r>
              <a:rPr lang="en-US" dirty="0" smtClean="0">
                <a:latin typeface="Calibri" pitchFamily="34" charset="0"/>
                <a:cs typeface="Arial" charset="0"/>
              </a:rPr>
              <a:t> bonds and any other structural element. </a:t>
            </a:r>
          </a:p>
          <a:p>
            <a:endParaRPr lang="en-US" dirty="0"/>
          </a:p>
        </p:txBody>
      </p:sp>
    </p:spTree>
    <p:extLst>
      <p:ext uri="{BB962C8B-B14F-4D97-AF65-F5344CB8AC3E}">
        <p14:creationId xmlns:p14="http://schemas.microsoft.com/office/powerpoint/2010/main" val="2581900438"/>
      </p:ext>
    </p:extLst>
  </p:cSld>
  <p:clrMapOvr>
    <a:masterClrMapping/>
  </p:clrMapOvr>
  <mc:AlternateContent xmlns:mc="http://schemas.openxmlformats.org/markup-compatibility/2006" xmlns:p14="http://schemas.microsoft.com/office/powerpoint/2010/main">
    <mc:Choice Requires="p14">
      <p:transition spd="slow" p14:dur="1250" advTm="79048">
        <p:fade/>
      </p:transition>
    </mc:Choice>
    <mc:Fallback xmlns="">
      <p:transition spd="slow" advTm="79048">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38400"/>
            <a:ext cx="10668000" cy="2246769"/>
          </a:xfrm>
        </p:spPr>
        <p:txBody>
          <a:bodyPr/>
          <a:lstStyle/>
          <a:p>
            <a:r>
              <a:rPr lang="en-GB" sz="2800" dirty="0" smtClean="0">
                <a:solidFill>
                  <a:schemeClr val="bg1">
                    <a:lumMod val="60000"/>
                    <a:lumOff val="40000"/>
                  </a:schemeClr>
                </a:solidFill>
              </a:rPr>
              <a:t>Current challenges regarding the representation of biomolecules</a:t>
            </a:r>
            <a:r>
              <a:rPr lang="en-GB" sz="2800" dirty="0"/>
              <a:t/>
            </a:r>
            <a:br>
              <a:rPr lang="en-GB" sz="2800" dirty="0"/>
            </a:br>
            <a:r>
              <a:rPr lang="en-GB" sz="2800" dirty="0" smtClean="0">
                <a:solidFill>
                  <a:schemeClr val="bg1">
                    <a:lumMod val="60000"/>
                    <a:lumOff val="40000"/>
                  </a:schemeClr>
                </a:solidFill>
              </a:rPr>
              <a:t>What </a:t>
            </a:r>
            <a:r>
              <a:rPr lang="en-GB" sz="2800" dirty="0">
                <a:solidFill>
                  <a:schemeClr val="bg1">
                    <a:lumMod val="60000"/>
                    <a:lumOff val="40000"/>
                  </a:schemeClr>
                </a:solidFill>
              </a:rPr>
              <a:t>is HELM</a:t>
            </a:r>
            <a:r>
              <a:rPr lang="en-GB" sz="2800" dirty="0" smtClean="0">
                <a:solidFill>
                  <a:schemeClr val="bg1">
                    <a:lumMod val="60000"/>
                    <a:lumOff val="40000"/>
                  </a:schemeClr>
                </a:solidFill>
              </a:rPr>
              <a:t>?</a:t>
            </a:r>
            <a:r>
              <a:rPr lang="en-GB" sz="2800" dirty="0">
                <a:solidFill>
                  <a:schemeClr val="bg1">
                    <a:lumMod val="60000"/>
                    <a:lumOff val="40000"/>
                  </a:schemeClr>
                </a:solidFill>
              </a:rPr>
              <a:t> </a:t>
            </a:r>
            <a:r>
              <a:rPr lang="en-GB" sz="2800" dirty="0">
                <a:solidFill>
                  <a:srgbClr val="228B96"/>
                </a:solidFill>
              </a:rPr>
              <a:t>HELM in practice</a:t>
            </a:r>
            <a:br>
              <a:rPr lang="en-GB" sz="2800" dirty="0">
                <a:solidFill>
                  <a:srgbClr val="228B96"/>
                </a:solidFill>
              </a:rPr>
            </a:br>
            <a:r>
              <a:rPr lang="en-GB" sz="2800" dirty="0">
                <a:solidFill>
                  <a:schemeClr val="tx1">
                    <a:lumMod val="65000"/>
                  </a:schemeClr>
                </a:solidFill>
              </a:rPr>
              <a:t>HELM in practice </a:t>
            </a:r>
            <a:r>
              <a:rPr lang="en-GB" sz="2800" dirty="0" smtClean="0"/>
              <a:t/>
            </a:r>
            <a:br>
              <a:rPr lang="en-GB" sz="2800" dirty="0" smtClean="0"/>
            </a:br>
            <a:r>
              <a:rPr lang="en-GB" sz="2800" dirty="0" smtClean="0"/>
              <a:t>The </a:t>
            </a:r>
            <a:r>
              <a:rPr lang="en-GB" sz="2800" dirty="0"/>
              <a:t>HELM ecosystem </a:t>
            </a:r>
            <a:br>
              <a:rPr lang="en-GB" sz="2800" dirty="0"/>
            </a:br>
            <a:r>
              <a:rPr lang="en-GB" sz="2800" dirty="0" smtClean="0">
                <a:solidFill>
                  <a:schemeClr val="bg1">
                    <a:lumMod val="60000"/>
                    <a:lumOff val="40000"/>
                  </a:schemeClr>
                </a:solidFill>
              </a:rPr>
              <a:t>Current activities</a:t>
            </a:r>
            <a:endParaRPr lang="en-GB" sz="2800" dirty="0">
              <a:solidFill>
                <a:schemeClr val="bg1">
                  <a:lumMod val="60000"/>
                  <a:lumOff val="40000"/>
                </a:schemeClr>
              </a:solidFill>
            </a:endParaRPr>
          </a:p>
        </p:txBody>
      </p:sp>
      <p:sp>
        <p:nvSpPr>
          <p:cNvPr id="6" name="Slide Number Placeholder 5"/>
          <p:cNvSpPr>
            <a:spLocks noGrp="1"/>
          </p:cNvSpPr>
          <p:nvPr>
            <p:ph type="sldNum" sz="quarter" idx="4294967295"/>
          </p:nvPr>
        </p:nvSpPr>
        <p:spPr>
          <a:xfrm>
            <a:off x="11506200" y="6376988"/>
            <a:ext cx="685800" cy="344487"/>
          </a:xfrm>
          <a:prstGeom prst="rect">
            <a:avLst/>
          </a:prstGeom>
        </p:spPr>
        <p:txBody>
          <a:bodyPr/>
          <a:lstStyle/>
          <a:p>
            <a:pPr>
              <a:defRPr/>
            </a:pPr>
            <a:fld id="{28ED40A3-BEA1-2645-9E17-452BD130FCD0}" type="slidenum">
              <a:rPr lang="en-US"/>
              <a:pPr>
                <a:defRPr/>
              </a:pPr>
              <a:t>31</a:t>
            </a:fld>
            <a:endParaRPr lang="en-US" dirty="0"/>
          </a:p>
        </p:txBody>
      </p:sp>
    </p:spTree>
    <p:extLst>
      <p:ext uri="{BB962C8B-B14F-4D97-AF65-F5344CB8AC3E}">
        <p14:creationId xmlns:p14="http://schemas.microsoft.com/office/powerpoint/2010/main" val="1357595930"/>
      </p:ext>
    </p:extLst>
  </p:cSld>
  <p:clrMapOvr>
    <a:masterClrMapping/>
  </p:clrMapOvr>
  <mc:AlternateContent xmlns:mc="http://schemas.openxmlformats.org/markup-compatibility/2006" xmlns:p14="http://schemas.microsoft.com/office/powerpoint/2010/main">
    <mc:Choice Requires="p14">
      <p:transition spd="slow" p14:dur="1250" advTm="11624">
        <p:fade/>
      </p:transition>
    </mc:Choice>
    <mc:Fallback xmlns="">
      <p:transition spd="slow" advTm="11624">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The HELM Ecosystem</a:t>
            </a:r>
            <a:endParaRPr lang="en-GB" dirty="0"/>
          </a:p>
        </p:txBody>
      </p:sp>
      <p:sp>
        <p:nvSpPr>
          <p:cNvPr id="3" name="Content Placeholder 2"/>
          <p:cNvSpPr>
            <a:spLocks noGrp="1"/>
          </p:cNvSpPr>
          <p:nvPr>
            <p:ph idx="1"/>
          </p:nvPr>
        </p:nvSpPr>
        <p:spPr>
          <a:xfrm>
            <a:off x="609602" y="1484785"/>
            <a:ext cx="6508672" cy="4871567"/>
          </a:xfrm>
        </p:spPr>
        <p:txBody>
          <a:bodyPr>
            <a:normAutofit lnSpcReduction="10000"/>
          </a:bodyPr>
          <a:lstStyle/>
          <a:p>
            <a:r>
              <a:rPr lang="en-US" dirty="0" smtClean="0"/>
              <a:t>Pharma / Biotech </a:t>
            </a:r>
          </a:p>
          <a:p>
            <a:pPr lvl="1"/>
            <a:r>
              <a:rPr lang="en-US" dirty="0" smtClean="0"/>
              <a:t>BMS, GSK, </a:t>
            </a:r>
            <a:r>
              <a:rPr lang="en-US" dirty="0" err="1" smtClean="0"/>
              <a:t>Ionis</a:t>
            </a:r>
            <a:r>
              <a:rPr lang="en-US" dirty="0" smtClean="0"/>
              <a:t>, Merck, Novartis, Pfizer, Roche</a:t>
            </a:r>
          </a:p>
          <a:p>
            <a:r>
              <a:rPr lang="en-US" dirty="0" smtClean="0"/>
              <a:t>Software vendors</a:t>
            </a:r>
          </a:p>
          <a:p>
            <a:pPr lvl="1"/>
            <a:r>
              <a:rPr lang="en-US" dirty="0" smtClean="0"/>
              <a:t>ACD/Labs, </a:t>
            </a:r>
            <a:r>
              <a:rPr lang="en-US" dirty="0" err="1" smtClean="0"/>
              <a:t>BioMax</a:t>
            </a:r>
            <a:r>
              <a:rPr lang="en-US" dirty="0" smtClean="0"/>
              <a:t>, BIOVIA, ChemAxon, </a:t>
            </a:r>
            <a:r>
              <a:rPr lang="en-US" dirty="0" err="1" smtClean="0"/>
              <a:t>NextMove</a:t>
            </a:r>
            <a:r>
              <a:rPr lang="en-US" dirty="0" smtClean="0"/>
              <a:t>, PerkinElmer, </a:t>
            </a:r>
            <a:r>
              <a:rPr lang="en-US" dirty="0" err="1" smtClean="0"/>
              <a:t>Scilligence</a:t>
            </a:r>
            <a:r>
              <a:rPr lang="en-US" dirty="0" smtClean="0"/>
              <a:t> </a:t>
            </a:r>
          </a:p>
          <a:p>
            <a:r>
              <a:rPr lang="en-US" dirty="0" smtClean="0"/>
              <a:t>Content / Service Providers</a:t>
            </a:r>
          </a:p>
          <a:p>
            <a:pPr lvl="1"/>
            <a:r>
              <a:rPr lang="en-US" dirty="0" smtClean="0"/>
              <a:t>EBI (</a:t>
            </a:r>
            <a:r>
              <a:rPr lang="en-US" dirty="0" err="1" smtClean="0"/>
              <a:t>ChEMBL</a:t>
            </a:r>
            <a:r>
              <a:rPr lang="en-US" dirty="0" smtClean="0"/>
              <a:t>), NCBI (PubChem), </a:t>
            </a:r>
            <a:r>
              <a:rPr lang="en-US" dirty="0" err="1" smtClean="0"/>
              <a:t>quattro</a:t>
            </a:r>
            <a:r>
              <a:rPr lang="en-US" dirty="0" smtClean="0"/>
              <a:t> research</a:t>
            </a:r>
          </a:p>
          <a:p>
            <a:r>
              <a:rPr lang="en-US" dirty="0" smtClean="0"/>
              <a:t>Regulatory</a:t>
            </a:r>
          </a:p>
          <a:p>
            <a:pPr lvl="1"/>
            <a:r>
              <a:rPr lang="en-US" dirty="0" smtClean="0"/>
              <a:t>Acceptable format in ISO 11238 guidelines</a:t>
            </a:r>
            <a:endParaRPr lang="en-US" dirty="0"/>
          </a:p>
        </p:txBody>
      </p:sp>
      <p:grpSp>
        <p:nvGrpSpPr>
          <p:cNvPr id="7" name="Group 6"/>
          <p:cNvGrpSpPr/>
          <p:nvPr/>
        </p:nvGrpSpPr>
        <p:grpSpPr>
          <a:xfrm>
            <a:off x="7445053" y="2040691"/>
            <a:ext cx="2747843" cy="2776618"/>
            <a:chOff x="7445053" y="2452583"/>
            <a:chExt cx="2747843" cy="2776618"/>
          </a:xfrm>
        </p:grpSpPr>
        <p:pic>
          <p:nvPicPr>
            <p:cNvPr id="6" name="Picture 5"/>
            <p:cNvPicPr>
              <a:picLocks noChangeAspect="1"/>
            </p:cNvPicPr>
            <p:nvPr/>
          </p:nvPicPr>
          <p:blipFill>
            <a:blip r:embed="rId3"/>
            <a:stretch>
              <a:fillRect/>
            </a:stretch>
          </p:blipFill>
          <p:spPr>
            <a:xfrm>
              <a:off x="8107741" y="3090828"/>
              <a:ext cx="1387872" cy="1387872"/>
            </a:xfrm>
            <a:prstGeom prst="rect">
              <a:avLst/>
            </a:prstGeom>
          </p:spPr>
        </p:pic>
        <p:sp>
          <p:nvSpPr>
            <p:cNvPr id="13" name="Freeform 12"/>
            <p:cNvSpPr>
              <a:spLocks/>
            </p:cNvSpPr>
            <p:nvPr/>
          </p:nvSpPr>
          <p:spPr bwMode="auto">
            <a:xfrm>
              <a:off x="8883545" y="2461093"/>
              <a:ext cx="1224136" cy="1259470"/>
            </a:xfrm>
            <a:custGeom>
              <a:avLst/>
              <a:gdLst>
                <a:gd name="T0" fmla="*/ 2419350 w 1524"/>
                <a:gd name="T1" fmla="*/ 1762125 h 1568"/>
                <a:gd name="T2" fmla="*/ 2349500 w 1524"/>
                <a:gd name="T3" fmla="*/ 1574800 h 1568"/>
                <a:gd name="T4" fmla="*/ 2266950 w 1524"/>
                <a:gd name="T5" fmla="*/ 1393825 h 1568"/>
                <a:gd name="T6" fmla="*/ 2171700 w 1524"/>
                <a:gd name="T7" fmla="*/ 1219200 h 1568"/>
                <a:gd name="T8" fmla="*/ 2060575 w 1524"/>
                <a:gd name="T9" fmla="*/ 1057275 h 1568"/>
                <a:gd name="T10" fmla="*/ 1939925 w 1524"/>
                <a:gd name="T11" fmla="*/ 901700 h 1568"/>
                <a:gd name="T12" fmla="*/ 1806575 w 1524"/>
                <a:gd name="T13" fmla="*/ 755650 h 1568"/>
                <a:gd name="T14" fmla="*/ 1663700 w 1524"/>
                <a:gd name="T15" fmla="*/ 622300 h 1568"/>
                <a:gd name="T16" fmla="*/ 1511300 w 1524"/>
                <a:gd name="T17" fmla="*/ 498475 h 1568"/>
                <a:gd name="T18" fmla="*/ 1349375 w 1524"/>
                <a:gd name="T19" fmla="*/ 387350 h 1568"/>
                <a:gd name="T20" fmla="*/ 1177925 w 1524"/>
                <a:gd name="T21" fmla="*/ 288925 h 1568"/>
                <a:gd name="T22" fmla="*/ 996950 w 1524"/>
                <a:gd name="T23" fmla="*/ 203200 h 1568"/>
                <a:gd name="T24" fmla="*/ 809625 w 1524"/>
                <a:gd name="T25" fmla="*/ 133350 h 1568"/>
                <a:gd name="T26" fmla="*/ 615950 w 1524"/>
                <a:gd name="T27" fmla="*/ 76200 h 1568"/>
                <a:gd name="T28" fmla="*/ 415925 w 1524"/>
                <a:gd name="T29" fmla="*/ 34925 h 1568"/>
                <a:gd name="T30" fmla="*/ 209550 w 1524"/>
                <a:gd name="T31" fmla="*/ 9525 h 1568"/>
                <a:gd name="T32" fmla="*/ 0 w 1524"/>
                <a:gd name="T33" fmla="*/ 0 h 1568"/>
                <a:gd name="T34" fmla="*/ 596900 w 1524"/>
                <a:gd name="T35" fmla="*/ 508000 h 1568"/>
                <a:gd name="T36" fmla="*/ 0 w 1524"/>
                <a:gd name="T37" fmla="*/ 1016000 h 1568"/>
                <a:gd name="T38" fmla="*/ 0 w 1524"/>
                <a:gd name="T39" fmla="*/ 1016000 h 1568"/>
                <a:gd name="T40" fmla="*/ 127000 w 1524"/>
                <a:gd name="T41" fmla="*/ 1022350 h 1568"/>
                <a:gd name="T42" fmla="*/ 250825 w 1524"/>
                <a:gd name="T43" fmla="*/ 1038225 h 1568"/>
                <a:gd name="T44" fmla="*/ 371475 w 1524"/>
                <a:gd name="T45" fmla="*/ 1060450 h 1568"/>
                <a:gd name="T46" fmla="*/ 485775 w 1524"/>
                <a:gd name="T47" fmla="*/ 1095375 h 1568"/>
                <a:gd name="T48" fmla="*/ 600075 w 1524"/>
                <a:gd name="T49" fmla="*/ 1139825 h 1568"/>
                <a:gd name="T50" fmla="*/ 708025 w 1524"/>
                <a:gd name="T51" fmla="*/ 1190625 h 1568"/>
                <a:gd name="T52" fmla="*/ 809625 w 1524"/>
                <a:gd name="T53" fmla="*/ 1250950 h 1568"/>
                <a:gd name="T54" fmla="*/ 908050 w 1524"/>
                <a:gd name="T55" fmla="*/ 1317625 h 1568"/>
                <a:gd name="T56" fmla="*/ 1000125 w 1524"/>
                <a:gd name="T57" fmla="*/ 1390650 h 1568"/>
                <a:gd name="T58" fmla="*/ 1085850 w 1524"/>
                <a:gd name="T59" fmla="*/ 1470025 h 1568"/>
                <a:gd name="T60" fmla="*/ 1165225 w 1524"/>
                <a:gd name="T61" fmla="*/ 1558925 h 1568"/>
                <a:gd name="T62" fmla="*/ 1238250 w 1524"/>
                <a:gd name="T63" fmla="*/ 1651000 h 1568"/>
                <a:gd name="T64" fmla="*/ 1304925 w 1524"/>
                <a:gd name="T65" fmla="*/ 1749425 h 1568"/>
                <a:gd name="T66" fmla="*/ 1362075 w 1524"/>
                <a:gd name="T67" fmla="*/ 1854200 h 1568"/>
                <a:gd name="T68" fmla="*/ 1409700 w 1524"/>
                <a:gd name="T69" fmla="*/ 1965325 h 1568"/>
                <a:gd name="T70" fmla="*/ 1450975 w 1524"/>
                <a:gd name="T71" fmla="*/ 2076450 h 1568"/>
                <a:gd name="T72" fmla="*/ 2120900 w 1524"/>
                <a:gd name="T73" fmla="*/ 2489200 h 1568"/>
                <a:gd name="T74" fmla="*/ 2419350 w 1524"/>
                <a:gd name="T75" fmla="*/ 1762125 h 15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524" h="1568">
                  <a:moveTo>
                    <a:pt x="1524" y="1110"/>
                  </a:moveTo>
                  <a:lnTo>
                    <a:pt x="1524" y="1110"/>
                  </a:lnTo>
                  <a:lnTo>
                    <a:pt x="1504" y="1050"/>
                  </a:lnTo>
                  <a:lnTo>
                    <a:pt x="1480" y="992"/>
                  </a:lnTo>
                  <a:lnTo>
                    <a:pt x="1456" y="934"/>
                  </a:lnTo>
                  <a:lnTo>
                    <a:pt x="1428" y="878"/>
                  </a:lnTo>
                  <a:lnTo>
                    <a:pt x="1398" y="822"/>
                  </a:lnTo>
                  <a:lnTo>
                    <a:pt x="1368" y="768"/>
                  </a:lnTo>
                  <a:lnTo>
                    <a:pt x="1334" y="716"/>
                  </a:lnTo>
                  <a:lnTo>
                    <a:pt x="1298" y="666"/>
                  </a:lnTo>
                  <a:lnTo>
                    <a:pt x="1262" y="616"/>
                  </a:lnTo>
                  <a:lnTo>
                    <a:pt x="1222" y="568"/>
                  </a:lnTo>
                  <a:lnTo>
                    <a:pt x="1182" y="522"/>
                  </a:lnTo>
                  <a:lnTo>
                    <a:pt x="1138" y="476"/>
                  </a:lnTo>
                  <a:lnTo>
                    <a:pt x="1094" y="432"/>
                  </a:lnTo>
                  <a:lnTo>
                    <a:pt x="1048" y="392"/>
                  </a:lnTo>
                  <a:lnTo>
                    <a:pt x="1000" y="352"/>
                  </a:lnTo>
                  <a:lnTo>
                    <a:pt x="952" y="314"/>
                  </a:lnTo>
                  <a:lnTo>
                    <a:pt x="902" y="278"/>
                  </a:lnTo>
                  <a:lnTo>
                    <a:pt x="850" y="244"/>
                  </a:lnTo>
                  <a:lnTo>
                    <a:pt x="796" y="212"/>
                  </a:lnTo>
                  <a:lnTo>
                    <a:pt x="742" y="182"/>
                  </a:lnTo>
                  <a:lnTo>
                    <a:pt x="686" y="154"/>
                  </a:lnTo>
                  <a:lnTo>
                    <a:pt x="628" y="128"/>
                  </a:lnTo>
                  <a:lnTo>
                    <a:pt x="570" y="104"/>
                  </a:lnTo>
                  <a:lnTo>
                    <a:pt x="510" y="84"/>
                  </a:lnTo>
                  <a:lnTo>
                    <a:pt x="450" y="64"/>
                  </a:lnTo>
                  <a:lnTo>
                    <a:pt x="388" y="48"/>
                  </a:lnTo>
                  <a:lnTo>
                    <a:pt x="326" y="34"/>
                  </a:lnTo>
                  <a:lnTo>
                    <a:pt x="262" y="22"/>
                  </a:lnTo>
                  <a:lnTo>
                    <a:pt x="198" y="12"/>
                  </a:lnTo>
                  <a:lnTo>
                    <a:pt x="132" y="6"/>
                  </a:lnTo>
                  <a:lnTo>
                    <a:pt x="66" y="2"/>
                  </a:lnTo>
                  <a:lnTo>
                    <a:pt x="0" y="0"/>
                  </a:lnTo>
                  <a:lnTo>
                    <a:pt x="376" y="320"/>
                  </a:lnTo>
                  <a:lnTo>
                    <a:pt x="188" y="480"/>
                  </a:lnTo>
                  <a:lnTo>
                    <a:pt x="0" y="640"/>
                  </a:lnTo>
                  <a:lnTo>
                    <a:pt x="40" y="642"/>
                  </a:lnTo>
                  <a:lnTo>
                    <a:pt x="80" y="644"/>
                  </a:lnTo>
                  <a:lnTo>
                    <a:pt x="118" y="648"/>
                  </a:lnTo>
                  <a:lnTo>
                    <a:pt x="158" y="654"/>
                  </a:lnTo>
                  <a:lnTo>
                    <a:pt x="196" y="660"/>
                  </a:lnTo>
                  <a:lnTo>
                    <a:pt x="234" y="668"/>
                  </a:lnTo>
                  <a:lnTo>
                    <a:pt x="270" y="678"/>
                  </a:lnTo>
                  <a:lnTo>
                    <a:pt x="306" y="690"/>
                  </a:lnTo>
                  <a:lnTo>
                    <a:pt x="342" y="704"/>
                  </a:lnTo>
                  <a:lnTo>
                    <a:pt x="378" y="718"/>
                  </a:lnTo>
                  <a:lnTo>
                    <a:pt x="412" y="732"/>
                  </a:lnTo>
                  <a:lnTo>
                    <a:pt x="446" y="750"/>
                  </a:lnTo>
                  <a:lnTo>
                    <a:pt x="478" y="768"/>
                  </a:lnTo>
                  <a:lnTo>
                    <a:pt x="510" y="788"/>
                  </a:lnTo>
                  <a:lnTo>
                    <a:pt x="542" y="808"/>
                  </a:lnTo>
                  <a:lnTo>
                    <a:pt x="572" y="830"/>
                  </a:lnTo>
                  <a:lnTo>
                    <a:pt x="602" y="852"/>
                  </a:lnTo>
                  <a:lnTo>
                    <a:pt x="630" y="876"/>
                  </a:lnTo>
                  <a:lnTo>
                    <a:pt x="658" y="900"/>
                  </a:lnTo>
                  <a:lnTo>
                    <a:pt x="684" y="926"/>
                  </a:lnTo>
                  <a:lnTo>
                    <a:pt x="710" y="954"/>
                  </a:lnTo>
                  <a:lnTo>
                    <a:pt x="734" y="982"/>
                  </a:lnTo>
                  <a:lnTo>
                    <a:pt x="758" y="1010"/>
                  </a:lnTo>
                  <a:lnTo>
                    <a:pt x="780" y="1040"/>
                  </a:lnTo>
                  <a:lnTo>
                    <a:pt x="802" y="1072"/>
                  </a:lnTo>
                  <a:lnTo>
                    <a:pt x="822" y="1102"/>
                  </a:lnTo>
                  <a:lnTo>
                    <a:pt x="840" y="1136"/>
                  </a:lnTo>
                  <a:lnTo>
                    <a:pt x="858" y="1168"/>
                  </a:lnTo>
                  <a:lnTo>
                    <a:pt x="874" y="1202"/>
                  </a:lnTo>
                  <a:lnTo>
                    <a:pt x="888" y="1238"/>
                  </a:lnTo>
                  <a:lnTo>
                    <a:pt x="902" y="1272"/>
                  </a:lnTo>
                  <a:lnTo>
                    <a:pt x="914" y="1308"/>
                  </a:lnTo>
                  <a:lnTo>
                    <a:pt x="1126" y="1438"/>
                  </a:lnTo>
                  <a:lnTo>
                    <a:pt x="1336" y="1568"/>
                  </a:lnTo>
                  <a:lnTo>
                    <a:pt x="1430" y="1338"/>
                  </a:lnTo>
                  <a:lnTo>
                    <a:pt x="1524" y="1110"/>
                  </a:lnTo>
                  <a:close/>
                </a:path>
              </a:pathLst>
            </a:custGeom>
            <a:solidFill>
              <a:schemeClr val="accent3"/>
            </a:solidFill>
            <a:ln w="12700" cmpd="sng">
              <a:solidFill>
                <a:schemeClr val="bg1"/>
              </a:solidFill>
              <a:prstDash val="solid"/>
              <a:round/>
              <a:headEnd/>
              <a:tailEnd/>
            </a:ln>
          </p:spPr>
          <p:txBody>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defTabSz="914400">
                <a:defRPr/>
              </a:pPr>
              <a:endParaRPr lang="en-GB">
                <a:solidFill>
                  <a:srgbClr val="666E71"/>
                </a:solidFill>
              </a:endParaRPr>
            </a:p>
          </p:txBody>
        </p:sp>
        <p:sp>
          <p:nvSpPr>
            <p:cNvPr id="14" name="Freeform 13"/>
            <p:cNvSpPr>
              <a:spLocks/>
            </p:cNvSpPr>
            <p:nvPr/>
          </p:nvSpPr>
          <p:spPr bwMode="auto">
            <a:xfrm>
              <a:off x="7966738" y="4564124"/>
              <a:ext cx="1608084" cy="665077"/>
            </a:xfrm>
            <a:custGeom>
              <a:avLst/>
              <a:gdLst>
                <a:gd name="T0" fmla="*/ 184150 w 2002"/>
                <a:gd name="T1" fmla="*/ 822325 h 828"/>
                <a:gd name="T2" fmla="*/ 352425 w 2002"/>
                <a:gd name="T3" fmla="*/ 936625 h 828"/>
                <a:gd name="T4" fmla="*/ 527050 w 2002"/>
                <a:gd name="T5" fmla="*/ 1031875 h 828"/>
                <a:gd name="T6" fmla="*/ 704850 w 2002"/>
                <a:gd name="T7" fmla="*/ 1117600 h 828"/>
                <a:gd name="T8" fmla="*/ 889000 w 2002"/>
                <a:gd name="T9" fmla="*/ 1184275 h 828"/>
                <a:gd name="T10" fmla="*/ 1079500 w 2002"/>
                <a:gd name="T11" fmla="*/ 1241425 h 828"/>
                <a:gd name="T12" fmla="*/ 1273175 w 2002"/>
                <a:gd name="T13" fmla="*/ 1279525 h 828"/>
                <a:gd name="T14" fmla="*/ 1466850 w 2002"/>
                <a:gd name="T15" fmla="*/ 1304925 h 828"/>
                <a:gd name="T16" fmla="*/ 1663700 w 2002"/>
                <a:gd name="T17" fmla="*/ 1314450 h 828"/>
                <a:gd name="T18" fmla="*/ 1860550 w 2002"/>
                <a:gd name="T19" fmla="*/ 1308100 h 828"/>
                <a:gd name="T20" fmla="*/ 2057400 w 2002"/>
                <a:gd name="T21" fmla="*/ 1285875 h 828"/>
                <a:gd name="T22" fmla="*/ 2254250 w 2002"/>
                <a:gd name="T23" fmla="*/ 1250950 h 828"/>
                <a:gd name="T24" fmla="*/ 2444750 w 2002"/>
                <a:gd name="T25" fmla="*/ 1196975 h 828"/>
                <a:gd name="T26" fmla="*/ 2635250 w 2002"/>
                <a:gd name="T27" fmla="*/ 1130300 h 828"/>
                <a:gd name="T28" fmla="*/ 2822575 w 2002"/>
                <a:gd name="T29" fmla="*/ 1044575 h 828"/>
                <a:gd name="T30" fmla="*/ 3003550 w 2002"/>
                <a:gd name="T31" fmla="*/ 942975 h 828"/>
                <a:gd name="T32" fmla="*/ 3178175 w 2002"/>
                <a:gd name="T33" fmla="*/ 828675 h 828"/>
                <a:gd name="T34" fmla="*/ 2397125 w 2002"/>
                <a:gd name="T35" fmla="*/ 768350 h 828"/>
                <a:gd name="T36" fmla="*/ 2581275 w 2002"/>
                <a:gd name="T37" fmla="*/ 6350 h 828"/>
                <a:gd name="T38" fmla="*/ 2581275 w 2002"/>
                <a:gd name="T39" fmla="*/ 6350 h 828"/>
                <a:gd name="T40" fmla="*/ 2476500 w 2002"/>
                <a:gd name="T41" fmla="*/ 76200 h 828"/>
                <a:gd name="T42" fmla="*/ 2368550 w 2002"/>
                <a:gd name="T43" fmla="*/ 136525 h 828"/>
                <a:gd name="T44" fmla="*/ 2254250 w 2002"/>
                <a:gd name="T45" fmla="*/ 187325 h 828"/>
                <a:gd name="T46" fmla="*/ 2139950 w 2002"/>
                <a:gd name="T47" fmla="*/ 228600 h 828"/>
                <a:gd name="T48" fmla="*/ 2025650 w 2002"/>
                <a:gd name="T49" fmla="*/ 260350 h 828"/>
                <a:gd name="T50" fmla="*/ 1908175 w 2002"/>
                <a:gd name="T51" fmla="*/ 282575 h 828"/>
                <a:gd name="T52" fmla="*/ 1787525 w 2002"/>
                <a:gd name="T53" fmla="*/ 292100 h 828"/>
                <a:gd name="T54" fmla="*/ 1670050 w 2002"/>
                <a:gd name="T55" fmla="*/ 298450 h 828"/>
                <a:gd name="T56" fmla="*/ 1552575 w 2002"/>
                <a:gd name="T57" fmla="*/ 292100 h 828"/>
                <a:gd name="T58" fmla="*/ 1435100 w 2002"/>
                <a:gd name="T59" fmla="*/ 276225 h 828"/>
                <a:gd name="T60" fmla="*/ 1320800 w 2002"/>
                <a:gd name="T61" fmla="*/ 254000 h 828"/>
                <a:gd name="T62" fmla="*/ 1206500 w 2002"/>
                <a:gd name="T63" fmla="*/ 219075 h 828"/>
                <a:gd name="T64" fmla="*/ 1095375 w 2002"/>
                <a:gd name="T65" fmla="*/ 177800 h 828"/>
                <a:gd name="T66" fmla="*/ 987425 w 2002"/>
                <a:gd name="T67" fmla="*/ 127000 h 828"/>
                <a:gd name="T68" fmla="*/ 882650 w 2002"/>
                <a:gd name="T69" fmla="*/ 69850 h 828"/>
                <a:gd name="T70" fmla="*/ 784225 w 2002"/>
                <a:gd name="T71" fmla="*/ 0 h 828"/>
                <a:gd name="T72" fmla="*/ 0 w 2002"/>
                <a:gd name="T73" fmla="*/ 63500 h 828"/>
                <a:gd name="T74" fmla="*/ 184150 w 2002"/>
                <a:gd name="T75" fmla="*/ 822325 h 8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002" h="828">
                  <a:moveTo>
                    <a:pt x="116" y="518"/>
                  </a:moveTo>
                  <a:lnTo>
                    <a:pt x="116" y="518"/>
                  </a:lnTo>
                  <a:lnTo>
                    <a:pt x="168" y="556"/>
                  </a:lnTo>
                  <a:lnTo>
                    <a:pt x="222" y="590"/>
                  </a:lnTo>
                  <a:lnTo>
                    <a:pt x="276" y="622"/>
                  </a:lnTo>
                  <a:lnTo>
                    <a:pt x="332" y="650"/>
                  </a:lnTo>
                  <a:lnTo>
                    <a:pt x="388" y="678"/>
                  </a:lnTo>
                  <a:lnTo>
                    <a:pt x="444" y="704"/>
                  </a:lnTo>
                  <a:lnTo>
                    <a:pt x="502" y="726"/>
                  </a:lnTo>
                  <a:lnTo>
                    <a:pt x="560" y="746"/>
                  </a:lnTo>
                  <a:lnTo>
                    <a:pt x="620" y="766"/>
                  </a:lnTo>
                  <a:lnTo>
                    <a:pt x="680" y="782"/>
                  </a:lnTo>
                  <a:lnTo>
                    <a:pt x="740" y="794"/>
                  </a:lnTo>
                  <a:lnTo>
                    <a:pt x="802" y="806"/>
                  </a:lnTo>
                  <a:lnTo>
                    <a:pt x="862" y="814"/>
                  </a:lnTo>
                  <a:lnTo>
                    <a:pt x="924" y="822"/>
                  </a:lnTo>
                  <a:lnTo>
                    <a:pt x="986" y="826"/>
                  </a:lnTo>
                  <a:lnTo>
                    <a:pt x="1048" y="828"/>
                  </a:lnTo>
                  <a:lnTo>
                    <a:pt x="1110" y="826"/>
                  </a:lnTo>
                  <a:lnTo>
                    <a:pt x="1172" y="824"/>
                  </a:lnTo>
                  <a:lnTo>
                    <a:pt x="1234" y="818"/>
                  </a:lnTo>
                  <a:lnTo>
                    <a:pt x="1296" y="810"/>
                  </a:lnTo>
                  <a:lnTo>
                    <a:pt x="1358" y="800"/>
                  </a:lnTo>
                  <a:lnTo>
                    <a:pt x="1420" y="788"/>
                  </a:lnTo>
                  <a:lnTo>
                    <a:pt x="1480" y="772"/>
                  </a:lnTo>
                  <a:lnTo>
                    <a:pt x="1540" y="754"/>
                  </a:lnTo>
                  <a:lnTo>
                    <a:pt x="1600" y="734"/>
                  </a:lnTo>
                  <a:lnTo>
                    <a:pt x="1660" y="712"/>
                  </a:lnTo>
                  <a:lnTo>
                    <a:pt x="1720" y="686"/>
                  </a:lnTo>
                  <a:lnTo>
                    <a:pt x="1778" y="658"/>
                  </a:lnTo>
                  <a:lnTo>
                    <a:pt x="1836" y="628"/>
                  </a:lnTo>
                  <a:lnTo>
                    <a:pt x="1892" y="594"/>
                  </a:lnTo>
                  <a:lnTo>
                    <a:pt x="1948" y="560"/>
                  </a:lnTo>
                  <a:lnTo>
                    <a:pt x="2002" y="522"/>
                  </a:lnTo>
                  <a:lnTo>
                    <a:pt x="1510" y="484"/>
                  </a:lnTo>
                  <a:lnTo>
                    <a:pt x="1568" y="244"/>
                  </a:lnTo>
                  <a:lnTo>
                    <a:pt x="1626" y="4"/>
                  </a:lnTo>
                  <a:lnTo>
                    <a:pt x="1592" y="26"/>
                  </a:lnTo>
                  <a:lnTo>
                    <a:pt x="1560" y="48"/>
                  </a:lnTo>
                  <a:lnTo>
                    <a:pt x="1526" y="68"/>
                  </a:lnTo>
                  <a:lnTo>
                    <a:pt x="1492" y="86"/>
                  </a:lnTo>
                  <a:lnTo>
                    <a:pt x="1456" y="102"/>
                  </a:lnTo>
                  <a:lnTo>
                    <a:pt x="1420" y="118"/>
                  </a:lnTo>
                  <a:lnTo>
                    <a:pt x="1384" y="132"/>
                  </a:lnTo>
                  <a:lnTo>
                    <a:pt x="1348" y="144"/>
                  </a:lnTo>
                  <a:lnTo>
                    <a:pt x="1312" y="154"/>
                  </a:lnTo>
                  <a:lnTo>
                    <a:pt x="1276" y="164"/>
                  </a:lnTo>
                  <a:lnTo>
                    <a:pt x="1238" y="170"/>
                  </a:lnTo>
                  <a:lnTo>
                    <a:pt x="1202" y="178"/>
                  </a:lnTo>
                  <a:lnTo>
                    <a:pt x="1164" y="182"/>
                  </a:lnTo>
                  <a:lnTo>
                    <a:pt x="1126" y="184"/>
                  </a:lnTo>
                  <a:lnTo>
                    <a:pt x="1090" y="186"/>
                  </a:lnTo>
                  <a:lnTo>
                    <a:pt x="1052" y="188"/>
                  </a:lnTo>
                  <a:lnTo>
                    <a:pt x="1016" y="186"/>
                  </a:lnTo>
                  <a:lnTo>
                    <a:pt x="978" y="184"/>
                  </a:lnTo>
                  <a:lnTo>
                    <a:pt x="940" y="180"/>
                  </a:lnTo>
                  <a:lnTo>
                    <a:pt x="904" y="174"/>
                  </a:lnTo>
                  <a:lnTo>
                    <a:pt x="868" y="168"/>
                  </a:lnTo>
                  <a:lnTo>
                    <a:pt x="832" y="160"/>
                  </a:lnTo>
                  <a:lnTo>
                    <a:pt x="796" y="150"/>
                  </a:lnTo>
                  <a:lnTo>
                    <a:pt x="760" y="138"/>
                  </a:lnTo>
                  <a:lnTo>
                    <a:pt x="724" y="126"/>
                  </a:lnTo>
                  <a:lnTo>
                    <a:pt x="690" y="112"/>
                  </a:lnTo>
                  <a:lnTo>
                    <a:pt x="656" y="98"/>
                  </a:lnTo>
                  <a:lnTo>
                    <a:pt x="622" y="80"/>
                  </a:lnTo>
                  <a:lnTo>
                    <a:pt x="588" y="62"/>
                  </a:lnTo>
                  <a:lnTo>
                    <a:pt x="556" y="44"/>
                  </a:lnTo>
                  <a:lnTo>
                    <a:pt x="524" y="22"/>
                  </a:lnTo>
                  <a:lnTo>
                    <a:pt x="494" y="0"/>
                  </a:lnTo>
                  <a:lnTo>
                    <a:pt x="246" y="20"/>
                  </a:lnTo>
                  <a:lnTo>
                    <a:pt x="0" y="40"/>
                  </a:lnTo>
                  <a:lnTo>
                    <a:pt x="58" y="280"/>
                  </a:lnTo>
                  <a:lnTo>
                    <a:pt x="116" y="518"/>
                  </a:lnTo>
                  <a:close/>
                </a:path>
              </a:pathLst>
            </a:custGeom>
            <a:solidFill>
              <a:schemeClr val="tx2">
                <a:lumMod val="40000"/>
                <a:lumOff val="60000"/>
              </a:schemeClr>
            </a:solidFill>
            <a:ln w="12700" cmpd="sng">
              <a:solidFill>
                <a:schemeClr val="bg1"/>
              </a:solidFill>
              <a:prstDash val="solid"/>
              <a:round/>
              <a:headEnd/>
              <a:tailEnd/>
            </a:ln>
          </p:spPr>
          <p:txBody>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defTabSz="914400">
                <a:defRPr/>
              </a:pPr>
              <a:endParaRPr lang="en-GB">
                <a:solidFill>
                  <a:srgbClr val="666E71"/>
                </a:solidFill>
              </a:endParaRPr>
            </a:p>
          </p:txBody>
        </p:sp>
        <p:sp>
          <p:nvSpPr>
            <p:cNvPr id="15" name="Freeform 14"/>
            <p:cNvSpPr>
              <a:spLocks/>
            </p:cNvSpPr>
            <p:nvPr/>
          </p:nvSpPr>
          <p:spPr bwMode="auto">
            <a:xfrm>
              <a:off x="7543063" y="2452583"/>
              <a:ext cx="1527760" cy="1047416"/>
            </a:xfrm>
            <a:custGeom>
              <a:avLst/>
              <a:gdLst>
                <a:gd name="T0" fmla="*/ 2422525 w 1902"/>
                <a:gd name="T1" fmla="*/ 0 h 1304"/>
                <a:gd name="T2" fmla="*/ 2222500 w 1902"/>
                <a:gd name="T3" fmla="*/ 9525 h 1304"/>
                <a:gd name="T4" fmla="*/ 2025650 w 1902"/>
                <a:gd name="T5" fmla="*/ 31750 h 1304"/>
                <a:gd name="T6" fmla="*/ 1831975 w 1902"/>
                <a:gd name="T7" fmla="*/ 69850 h 1304"/>
                <a:gd name="T8" fmla="*/ 1641475 w 1902"/>
                <a:gd name="T9" fmla="*/ 120650 h 1304"/>
                <a:gd name="T10" fmla="*/ 1457325 w 1902"/>
                <a:gd name="T11" fmla="*/ 190500 h 1304"/>
                <a:gd name="T12" fmla="*/ 1276350 w 1902"/>
                <a:gd name="T13" fmla="*/ 269875 h 1304"/>
                <a:gd name="T14" fmla="*/ 1104900 w 1902"/>
                <a:gd name="T15" fmla="*/ 365125 h 1304"/>
                <a:gd name="T16" fmla="*/ 939800 w 1902"/>
                <a:gd name="T17" fmla="*/ 473075 h 1304"/>
                <a:gd name="T18" fmla="*/ 784225 w 1902"/>
                <a:gd name="T19" fmla="*/ 593725 h 1304"/>
                <a:gd name="T20" fmla="*/ 638175 w 1902"/>
                <a:gd name="T21" fmla="*/ 727075 h 1304"/>
                <a:gd name="T22" fmla="*/ 501650 w 1902"/>
                <a:gd name="T23" fmla="*/ 869950 h 1304"/>
                <a:gd name="T24" fmla="*/ 374650 w 1902"/>
                <a:gd name="T25" fmla="*/ 1028700 h 1304"/>
                <a:gd name="T26" fmla="*/ 260350 w 1902"/>
                <a:gd name="T27" fmla="*/ 1193800 h 1304"/>
                <a:gd name="T28" fmla="*/ 161925 w 1902"/>
                <a:gd name="T29" fmla="*/ 1371600 h 1304"/>
                <a:gd name="T30" fmla="*/ 73025 w 1902"/>
                <a:gd name="T31" fmla="*/ 1558925 h 1304"/>
                <a:gd name="T32" fmla="*/ 0 w 1902"/>
                <a:gd name="T33" fmla="*/ 1755775 h 1304"/>
                <a:gd name="T34" fmla="*/ 666750 w 1902"/>
                <a:gd name="T35" fmla="*/ 1346200 h 1304"/>
                <a:gd name="T36" fmla="*/ 965200 w 1902"/>
                <a:gd name="T37" fmla="*/ 2070100 h 1304"/>
                <a:gd name="T38" fmla="*/ 965200 w 1902"/>
                <a:gd name="T39" fmla="*/ 2070100 h 1304"/>
                <a:gd name="T40" fmla="*/ 1009650 w 1902"/>
                <a:gd name="T41" fmla="*/ 1952625 h 1304"/>
                <a:gd name="T42" fmla="*/ 1063625 w 1902"/>
                <a:gd name="T43" fmla="*/ 1838325 h 1304"/>
                <a:gd name="T44" fmla="*/ 1123950 w 1902"/>
                <a:gd name="T45" fmla="*/ 1733550 h 1304"/>
                <a:gd name="T46" fmla="*/ 1190625 w 1902"/>
                <a:gd name="T47" fmla="*/ 1631950 h 1304"/>
                <a:gd name="T48" fmla="*/ 1266825 w 1902"/>
                <a:gd name="T49" fmla="*/ 1539875 h 1304"/>
                <a:gd name="T50" fmla="*/ 1349375 w 1902"/>
                <a:gd name="T51" fmla="*/ 1450975 h 1304"/>
                <a:gd name="T52" fmla="*/ 1438275 w 1902"/>
                <a:gd name="T53" fmla="*/ 1371600 h 1304"/>
                <a:gd name="T54" fmla="*/ 1530350 w 1902"/>
                <a:gd name="T55" fmla="*/ 1298575 h 1304"/>
                <a:gd name="T56" fmla="*/ 1631950 w 1902"/>
                <a:gd name="T57" fmla="*/ 1235075 h 1304"/>
                <a:gd name="T58" fmla="*/ 1733550 w 1902"/>
                <a:gd name="T59" fmla="*/ 1177925 h 1304"/>
                <a:gd name="T60" fmla="*/ 1841500 w 1902"/>
                <a:gd name="T61" fmla="*/ 1130300 h 1304"/>
                <a:gd name="T62" fmla="*/ 1952625 w 1902"/>
                <a:gd name="T63" fmla="*/ 1089025 h 1304"/>
                <a:gd name="T64" fmla="*/ 2066925 w 1902"/>
                <a:gd name="T65" fmla="*/ 1057275 h 1304"/>
                <a:gd name="T66" fmla="*/ 2184400 w 1902"/>
                <a:gd name="T67" fmla="*/ 1035050 h 1304"/>
                <a:gd name="T68" fmla="*/ 2301875 w 1902"/>
                <a:gd name="T69" fmla="*/ 1022350 h 1304"/>
                <a:gd name="T70" fmla="*/ 2422525 w 1902"/>
                <a:gd name="T71" fmla="*/ 1016000 h 1304"/>
                <a:gd name="T72" fmla="*/ 3019425 w 1902"/>
                <a:gd name="T73" fmla="*/ 508000 h 1304"/>
                <a:gd name="T74" fmla="*/ 2422525 w 1902"/>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02" h="1304">
                  <a:moveTo>
                    <a:pt x="1526" y="0"/>
                  </a:moveTo>
                  <a:lnTo>
                    <a:pt x="1526" y="0"/>
                  </a:lnTo>
                  <a:lnTo>
                    <a:pt x="1464" y="2"/>
                  </a:lnTo>
                  <a:lnTo>
                    <a:pt x="1400" y="6"/>
                  </a:lnTo>
                  <a:lnTo>
                    <a:pt x="1338" y="12"/>
                  </a:lnTo>
                  <a:lnTo>
                    <a:pt x="1276" y="20"/>
                  </a:lnTo>
                  <a:lnTo>
                    <a:pt x="1214" y="30"/>
                  </a:lnTo>
                  <a:lnTo>
                    <a:pt x="1154" y="44"/>
                  </a:lnTo>
                  <a:lnTo>
                    <a:pt x="1094" y="60"/>
                  </a:lnTo>
                  <a:lnTo>
                    <a:pt x="1034" y="76"/>
                  </a:lnTo>
                  <a:lnTo>
                    <a:pt x="974" y="96"/>
                  </a:lnTo>
                  <a:lnTo>
                    <a:pt x="918" y="120"/>
                  </a:lnTo>
                  <a:lnTo>
                    <a:pt x="860" y="144"/>
                  </a:lnTo>
                  <a:lnTo>
                    <a:pt x="804" y="170"/>
                  </a:lnTo>
                  <a:lnTo>
                    <a:pt x="750" y="200"/>
                  </a:lnTo>
                  <a:lnTo>
                    <a:pt x="696" y="230"/>
                  </a:lnTo>
                  <a:lnTo>
                    <a:pt x="644" y="264"/>
                  </a:lnTo>
                  <a:lnTo>
                    <a:pt x="592" y="298"/>
                  </a:lnTo>
                  <a:lnTo>
                    <a:pt x="542" y="336"/>
                  </a:lnTo>
                  <a:lnTo>
                    <a:pt x="494" y="374"/>
                  </a:lnTo>
                  <a:lnTo>
                    <a:pt x="448" y="416"/>
                  </a:lnTo>
                  <a:lnTo>
                    <a:pt x="402" y="458"/>
                  </a:lnTo>
                  <a:lnTo>
                    <a:pt x="358" y="502"/>
                  </a:lnTo>
                  <a:lnTo>
                    <a:pt x="316" y="548"/>
                  </a:lnTo>
                  <a:lnTo>
                    <a:pt x="276" y="598"/>
                  </a:lnTo>
                  <a:lnTo>
                    <a:pt x="236" y="648"/>
                  </a:lnTo>
                  <a:lnTo>
                    <a:pt x="200" y="698"/>
                  </a:lnTo>
                  <a:lnTo>
                    <a:pt x="164" y="752"/>
                  </a:lnTo>
                  <a:lnTo>
                    <a:pt x="132" y="808"/>
                  </a:lnTo>
                  <a:lnTo>
                    <a:pt x="102" y="864"/>
                  </a:lnTo>
                  <a:lnTo>
                    <a:pt x="72" y="922"/>
                  </a:lnTo>
                  <a:lnTo>
                    <a:pt x="46" y="982"/>
                  </a:lnTo>
                  <a:lnTo>
                    <a:pt x="22" y="1044"/>
                  </a:lnTo>
                  <a:lnTo>
                    <a:pt x="0" y="1106"/>
                  </a:lnTo>
                  <a:lnTo>
                    <a:pt x="420" y="848"/>
                  </a:lnTo>
                  <a:lnTo>
                    <a:pt x="514" y="1076"/>
                  </a:lnTo>
                  <a:lnTo>
                    <a:pt x="608" y="1304"/>
                  </a:lnTo>
                  <a:lnTo>
                    <a:pt x="622" y="1266"/>
                  </a:lnTo>
                  <a:lnTo>
                    <a:pt x="636" y="1230"/>
                  </a:lnTo>
                  <a:lnTo>
                    <a:pt x="652" y="1194"/>
                  </a:lnTo>
                  <a:lnTo>
                    <a:pt x="670" y="1158"/>
                  </a:lnTo>
                  <a:lnTo>
                    <a:pt x="688" y="1124"/>
                  </a:lnTo>
                  <a:lnTo>
                    <a:pt x="708" y="1092"/>
                  </a:lnTo>
                  <a:lnTo>
                    <a:pt x="728" y="1060"/>
                  </a:lnTo>
                  <a:lnTo>
                    <a:pt x="750" y="1028"/>
                  </a:lnTo>
                  <a:lnTo>
                    <a:pt x="774" y="998"/>
                  </a:lnTo>
                  <a:lnTo>
                    <a:pt x="798" y="970"/>
                  </a:lnTo>
                  <a:lnTo>
                    <a:pt x="824" y="942"/>
                  </a:lnTo>
                  <a:lnTo>
                    <a:pt x="850" y="914"/>
                  </a:lnTo>
                  <a:lnTo>
                    <a:pt x="878" y="888"/>
                  </a:lnTo>
                  <a:lnTo>
                    <a:pt x="906" y="864"/>
                  </a:lnTo>
                  <a:lnTo>
                    <a:pt x="934" y="840"/>
                  </a:lnTo>
                  <a:lnTo>
                    <a:pt x="964" y="818"/>
                  </a:lnTo>
                  <a:lnTo>
                    <a:pt x="996" y="798"/>
                  </a:lnTo>
                  <a:lnTo>
                    <a:pt x="1028" y="778"/>
                  </a:lnTo>
                  <a:lnTo>
                    <a:pt x="1060" y="760"/>
                  </a:lnTo>
                  <a:lnTo>
                    <a:pt x="1092" y="742"/>
                  </a:lnTo>
                  <a:lnTo>
                    <a:pt x="1126" y="726"/>
                  </a:lnTo>
                  <a:lnTo>
                    <a:pt x="1160" y="712"/>
                  </a:lnTo>
                  <a:lnTo>
                    <a:pt x="1194" y="698"/>
                  </a:lnTo>
                  <a:lnTo>
                    <a:pt x="1230" y="686"/>
                  </a:lnTo>
                  <a:lnTo>
                    <a:pt x="1266" y="676"/>
                  </a:lnTo>
                  <a:lnTo>
                    <a:pt x="1302" y="666"/>
                  </a:lnTo>
                  <a:lnTo>
                    <a:pt x="1338" y="658"/>
                  </a:lnTo>
                  <a:lnTo>
                    <a:pt x="1376" y="652"/>
                  </a:lnTo>
                  <a:lnTo>
                    <a:pt x="1414" y="646"/>
                  </a:lnTo>
                  <a:lnTo>
                    <a:pt x="1450" y="644"/>
                  </a:lnTo>
                  <a:lnTo>
                    <a:pt x="1488" y="642"/>
                  </a:lnTo>
                  <a:lnTo>
                    <a:pt x="1526" y="640"/>
                  </a:lnTo>
                  <a:lnTo>
                    <a:pt x="1714" y="480"/>
                  </a:lnTo>
                  <a:lnTo>
                    <a:pt x="1902" y="320"/>
                  </a:lnTo>
                  <a:lnTo>
                    <a:pt x="1714" y="160"/>
                  </a:lnTo>
                  <a:lnTo>
                    <a:pt x="1526" y="0"/>
                  </a:lnTo>
                  <a:close/>
                </a:path>
              </a:pathLst>
            </a:custGeom>
            <a:solidFill>
              <a:schemeClr val="tx2"/>
            </a:solidFill>
            <a:ln w="12700" cmpd="sng">
              <a:solidFill>
                <a:schemeClr val="bg1"/>
              </a:solidFill>
              <a:prstDash val="solid"/>
              <a:round/>
              <a:headEnd/>
              <a:tailEnd/>
            </a:ln>
          </p:spPr>
          <p:txBody>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defTabSz="914400">
                <a:defRPr/>
              </a:pPr>
              <a:endParaRPr lang="en-GB" dirty="0">
                <a:solidFill>
                  <a:srgbClr val="666E71"/>
                </a:solidFill>
              </a:endParaRPr>
            </a:p>
            <a:p>
              <a:pPr defTabSz="914400">
                <a:defRPr/>
              </a:pPr>
              <a:endParaRPr lang="en-GB" dirty="0">
                <a:solidFill>
                  <a:srgbClr val="666E71"/>
                </a:solidFill>
              </a:endParaRPr>
            </a:p>
          </p:txBody>
        </p:sp>
        <p:sp>
          <p:nvSpPr>
            <p:cNvPr id="16" name="Freeform 15"/>
            <p:cNvSpPr>
              <a:spLocks/>
            </p:cNvSpPr>
            <p:nvPr/>
          </p:nvSpPr>
          <p:spPr bwMode="auto">
            <a:xfrm>
              <a:off x="7445053" y="3248428"/>
              <a:ext cx="832155" cy="1648235"/>
            </a:xfrm>
            <a:custGeom>
              <a:avLst/>
              <a:gdLst>
                <a:gd name="T0" fmla="*/ 127000 w 1036"/>
                <a:gd name="T1" fmla="*/ 412750 h 2052"/>
                <a:gd name="T2" fmla="*/ 73025 w 1036"/>
                <a:gd name="T3" fmla="*/ 603250 h 2052"/>
                <a:gd name="T4" fmla="*/ 34925 w 1036"/>
                <a:gd name="T5" fmla="*/ 800100 h 2052"/>
                <a:gd name="T6" fmla="*/ 9525 w 1036"/>
                <a:gd name="T7" fmla="*/ 996950 h 2052"/>
                <a:gd name="T8" fmla="*/ 0 w 1036"/>
                <a:gd name="T9" fmla="*/ 1193800 h 2052"/>
                <a:gd name="T10" fmla="*/ 9525 w 1036"/>
                <a:gd name="T11" fmla="*/ 1390650 h 2052"/>
                <a:gd name="T12" fmla="*/ 31750 w 1036"/>
                <a:gd name="T13" fmla="*/ 1584325 h 2052"/>
                <a:gd name="T14" fmla="*/ 66675 w 1036"/>
                <a:gd name="T15" fmla="*/ 1778000 h 2052"/>
                <a:gd name="T16" fmla="*/ 117475 w 1036"/>
                <a:gd name="T17" fmla="*/ 1968500 h 2052"/>
                <a:gd name="T18" fmla="*/ 184150 w 1036"/>
                <a:gd name="T19" fmla="*/ 2152650 h 2052"/>
                <a:gd name="T20" fmla="*/ 266700 w 1036"/>
                <a:gd name="T21" fmla="*/ 2333625 h 2052"/>
                <a:gd name="T22" fmla="*/ 361950 w 1036"/>
                <a:gd name="T23" fmla="*/ 2508250 h 2052"/>
                <a:gd name="T24" fmla="*/ 469900 w 1036"/>
                <a:gd name="T25" fmla="*/ 2676525 h 2052"/>
                <a:gd name="T26" fmla="*/ 593725 w 1036"/>
                <a:gd name="T27" fmla="*/ 2835275 h 2052"/>
                <a:gd name="T28" fmla="*/ 733425 w 1036"/>
                <a:gd name="T29" fmla="*/ 2987675 h 2052"/>
                <a:gd name="T30" fmla="*/ 882650 w 1036"/>
                <a:gd name="T31" fmla="*/ 3127375 h 2052"/>
                <a:gd name="T32" fmla="*/ 1047750 w 1036"/>
                <a:gd name="T33" fmla="*/ 3257550 h 2052"/>
                <a:gd name="T34" fmla="*/ 863600 w 1036"/>
                <a:gd name="T35" fmla="*/ 2498725 h 2052"/>
                <a:gd name="T36" fmla="*/ 1644650 w 1036"/>
                <a:gd name="T37" fmla="*/ 2438400 h 2052"/>
                <a:gd name="T38" fmla="*/ 1644650 w 1036"/>
                <a:gd name="T39" fmla="*/ 2438400 h 2052"/>
                <a:gd name="T40" fmla="*/ 1546225 w 1036"/>
                <a:gd name="T41" fmla="*/ 2359025 h 2052"/>
                <a:gd name="T42" fmla="*/ 1457325 w 1036"/>
                <a:gd name="T43" fmla="*/ 2273300 h 2052"/>
                <a:gd name="T44" fmla="*/ 1374775 w 1036"/>
                <a:gd name="T45" fmla="*/ 2184400 h 2052"/>
                <a:gd name="T46" fmla="*/ 1298575 w 1036"/>
                <a:gd name="T47" fmla="*/ 2085975 h 2052"/>
                <a:gd name="T48" fmla="*/ 1231900 w 1036"/>
                <a:gd name="T49" fmla="*/ 1987550 h 2052"/>
                <a:gd name="T50" fmla="*/ 1174750 w 1036"/>
                <a:gd name="T51" fmla="*/ 1882775 h 2052"/>
                <a:gd name="T52" fmla="*/ 1127125 w 1036"/>
                <a:gd name="T53" fmla="*/ 1771650 h 2052"/>
                <a:gd name="T54" fmla="*/ 1089025 w 1036"/>
                <a:gd name="T55" fmla="*/ 1660525 h 2052"/>
                <a:gd name="T56" fmla="*/ 1057275 w 1036"/>
                <a:gd name="T57" fmla="*/ 1546225 h 2052"/>
                <a:gd name="T58" fmla="*/ 1035050 w 1036"/>
                <a:gd name="T59" fmla="*/ 1431925 h 2052"/>
                <a:gd name="T60" fmla="*/ 1022350 w 1036"/>
                <a:gd name="T61" fmla="*/ 1314450 h 2052"/>
                <a:gd name="T62" fmla="*/ 1016000 w 1036"/>
                <a:gd name="T63" fmla="*/ 1196975 h 2052"/>
                <a:gd name="T64" fmla="*/ 1022350 w 1036"/>
                <a:gd name="T65" fmla="*/ 1076325 h 2052"/>
                <a:gd name="T66" fmla="*/ 1038225 w 1036"/>
                <a:gd name="T67" fmla="*/ 958850 h 2052"/>
                <a:gd name="T68" fmla="*/ 1060450 w 1036"/>
                <a:gd name="T69" fmla="*/ 841375 h 2052"/>
                <a:gd name="T70" fmla="*/ 1095375 w 1036"/>
                <a:gd name="T71" fmla="*/ 727075 h 2052"/>
                <a:gd name="T72" fmla="*/ 793750 w 1036"/>
                <a:gd name="T73" fmla="*/ 0 h 2052"/>
                <a:gd name="T74" fmla="*/ 127000 w 1036"/>
                <a:gd name="T75" fmla="*/ 412750 h 205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36" h="2052">
                  <a:moveTo>
                    <a:pt x="80" y="260"/>
                  </a:moveTo>
                  <a:lnTo>
                    <a:pt x="80" y="260"/>
                  </a:lnTo>
                  <a:lnTo>
                    <a:pt x="62" y="320"/>
                  </a:lnTo>
                  <a:lnTo>
                    <a:pt x="46" y="380"/>
                  </a:lnTo>
                  <a:lnTo>
                    <a:pt x="32" y="442"/>
                  </a:lnTo>
                  <a:lnTo>
                    <a:pt x="22" y="504"/>
                  </a:lnTo>
                  <a:lnTo>
                    <a:pt x="12" y="566"/>
                  </a:lnTo>
                  <a:lnTo>
                    <a:pt x="6" y="628"/>
                  </a:lnTo>
                  <a:lnTo>
                    <a:pt x="2" y="690"/>
                  </a:lnTo>
                  <a:lnTo>
                    <a:pt x="0" y="752"/>
                  </a:lnTo>
                  <a:lnTo>
                    <a:pt x="2" y="814"/>
                  </a:lnTo>
                  <a:lnTo>
                    <a:pt x="6" y="876"/>
                  </a:lnTo>
                  <a:lnTo>
                    <a:pt x="10" y="938"/>
                  </a:lnTo>
                  <a:lnTo>
                    <a:pt x="20" y="998"/>
                  </a:lnTo>
                  <a:lnTo>
                    <a:pt x="30" y="1060"/>
                  </a:lnTo>
                  <a:lnTo>
                    <a:pt x="42" y="1120"/>
                  </a:lnTo>
                  <a:lnTo>
                    <a:pt x="58" y="1180"/>
                  </a:lnTo>
                  <a:lnTo>
                    <a:pt x="74" y="1240"/>
                  </a:lnTo>
                  <a:lnTo>
                    <a:pt x="94" y="1298"/>
                  </a:lnTo>
                  <a:lnTo>
                    <a:pt x="116" y="1356"/>
                  </a:lnTo>
                  <a:lnTo>
                    <a:pt x="142" y="1414"/>
                  </a:lnTo>
                  <a:lnTo>
                    <a:pt x="168" y="1470"/>
                  </a:lnTo>
                  <a:lnTo>
                    <a:pt x="196" y="1526"/>
                  </a:lnTo>
                  <a:lnTo>
                    <a:pt x="228" y="1580"/>
                  </a:lnTo>
                  <a:lnTo>
                    <a:pt x="262" y="1634"/>
                  </a:lnTo>
                  <a:lnTo>
                    <a:pt x="296" y="1686"/>
                  </a:lnTo>
                  <a:lnTo>
                    <a:pt x="334" y="1738"/>
                  </a:lnTo>
                  <a:lnTo>
                    <a:pt x="374" y="1786"/>
                  </a:lnTo>
                  <a:lnTo>
                    <a:pt x="418" y="1836"/>
                  </a:lnTo>
                  <a:lnTo>
                    <a:pt x="462" y="1882"/>
                  </a:lnTo>
                  <a:lnTo>
                    <a:pt x="508" y="1928"/>
                  </a:lnTo>
                  <a:lnTo>
                    <a:pt x="556" y="1970"/>
                  </a:lnTo>
                  <a:lnTo>
                    <a:pt x="608" y="2012"/>
                  </a:lnTo>
                  <a:lnTo>
                    <a:pt x="660" y="2052"/>
                  </a:lnTo>
                  <a:lnTo>
                    <a:pt x="544" y="1574"/>
                  </a:lnTo>
                  <a:lnTo>
                    <a:pt x="790" y="1554"/>
                  </a:lnTo>
                  <a:lnTo>
                    <a:pt x="1036" y="1536"/>
                  </a:lnTo>
                  <a:lnTo>
                    <a:pt x="1006" y="1512"/>
                  </a:lnTo>
                  <a:lnTo>
                    <a:pt x="974" y="1486"/>
                  </a:lnTo>
                  <a:lnTo>
                    <a:pt x="946" y="1460"/>
                  </a:lnTo>
                  <a:lnTo>
                    <a:pt x="918" y="1432"/>
                  </a:lnTo>
                  <a:lnTo>
                    <a:pt x="890" y="1404"/>
                  </a:lnTo>
                  <a:lnTo>
                    <a:pt x="866" y="1376"/>
                  </a:lnTo>
                  <a:lnTo>
                    <a:pt x="842" y="1346"/>
                  </a:lnTo>
                  <a:lnTo>
                    <a:pt x="818" y="1314"/>
                  </a:lnTo>
                  <a:lnTo>
                    <a:pt x="796" y="1284"/>
                  </a:lnTo>
                  <a:lnTo>
                    <a:pt x="776" y="1252"/>
                  </a:lnTo>
                  <a:lnTo>
                    <a:pt x="758" y="1218"/>
                  </a:lnTo>
                  <a:lnTo>
                    <a:pt x="740" y="1186"/>
                  </a:lnTo>
                  <a:lnTo>
                    <a:pt x="724" y="1152"/>
                  </a:lnTo>
                  <a:lnTo>
                    <a:pt x="710" y="1116"/>
                  </a:lnTo>
                  <a:lnTo>
                    <a:pt x="698" y="1082"/>
                  </a:lnTo>
                  <a:lnTo>
                    <a:pt x="686" y="1046"/>
                  </a:lnTo>
                  <a:lnTo>
                    <a:pt x="674" y="1010"/>
                  </a:lnTo>
                  <a:lnTo>
                    <a:pt x="666" y="974"/>
                  </a:lnTo>
                  <a:lnTo>
                    <a:pt x="658" y="938"/>
                  </a:lnTo>
                  <a:lnTo>
                    <a:pt x="652" y="902"/>
                  </a:lnTo>
                  <a:lnTo>
                    <a:pt x="646" y="864"/>
                  </a:lnTo>
                  <a:lnTo>
                    <a:pt x="644" y="828"/>
                  </a:lnTo>
                  <a:lnTo>
                    <a:pt x="642" y="790"/>
                  </a:lnTo>
                  <a:lnTo>
                    <a:pt x="640" y="754"/>
                  </a:lnTo>
                  <a:lnTo>
                    <a:pt x="642" y="716"/>
                  </a:lnTo>
                  <a:lnTo>
                    <a:pt x="644" y="678"/>
                  </a:lnTo>
                  <a:lnTo>
                    <a:pt x="648" y="642"/>
                  </a:lnTo>
                  <a:lnTo>
                    <a:pt x="654" y="604"/>
                  </a:lnTo>
                  <a:lnTo>
                    <a:pt x="660" y="568"/>
                  </a:lnTo>
                  <a:lnTo>
                    <a:pt x="668" y="530"/>
                  </a:lnTo>
                  <a:lnTo>
                    <a:pt x="678" y="494"/>
                  </a:lnTo>
                  <a:lnTo>
                    <a:pt x="690" y="458"/>
                  </a:lnTo>
                  <a:lnTo>
                    <a:pt x="594" y="228"/>
                  </a:lnTo>
                  <a:lnTo>
                    <a:pt x="500" y="0"/>
                  </a:lnTo>
                  <a:lnTo>
                    <a:pt x="290" y="130"/>
                  </a:lnTo>
                  <a:lnTo>
                    <a:pt x="80" y="260"/>
                  </a:lnTo>
                  <a:close/>
                </a:path>
              </a:pathLst>
            </a:custGeom>
            <a:solidFill>
              <a:schemeClr val="accent2"/>
            </a:solidFill>
            <a:ln w="12700" cmpd="sng">
              <a:solidFill>
                <a:schemeClr val="bg1"/>
              </a:solidFill>
              <a:prstDash val="solid"/>
              <a:round/>
              <a:headEnd/>
              <a:tailEnd/>
            </a:ln>
          </p:spPr>
          <p:txBody>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defTabSz="914400">
                <a:defRPr/>
              </a:pPr>
              <a:endParaRPr lang="en-GB">
                <a:solidFill>
                  <a:srgbClr val="666E71"/>
                </a:solidFill>
              </a:endParaRPr>
            </a:p>
          </p:txBody>
        </p:sp>
        <p:sp>
          <p:nvSpPr>
            <p:cNvPr id="17" name="Freeform 16"/>
            <p:cNvSpPr>
              <a:spLocks/>
            </p:cNvSpPr>
            <p:nvPr/>
          </p:nvSpPr>
          <p:spPr bwMode="auto">
            <a:xfrm>
              <a:off x="9264352" y="3478124"/>
              <a:ext cx="928544" cy="1439394"/>
            </a:xfrm>
            <a:custGeom>
              <a:avLst/>
              <a:gdLst>
                <a:gd name="T0" fmla="*/ 781050 w 1156"/>
                <a:gd name="T1" fmla="*/ 2844800 h 1792"/>
                <a:gd name="T2" fmla="*/ 939800 w 1156"/>
                <a:gd name="T3" fmla="*/ 2720975 h 1792"/>
                <a:gd name="T4" fmla="*/ 1085850 w 1156"/>
                <a:gd name="T5" fmla="*/ 2587625 h 1792"/>
                <a:gd name="T6" fmla="*/ 1222375 w 1156"/>
                <a:gd name="T7" fmla="*/ 2441575 h 1792"/>
                <a:gd name="T8" fmla="*/ 1343025 w 1156"/>
                <a:gd name="T9" fmla="*/ 2286000 h 1792"/>
                <a:gd name="T10" fmla="*/ 1454150 w 1156"/>
                <a:gd name="T11" fmla="*/ 2124075 h 1792"/>
                <a:gd name="T12" fmla="*/ 1549400 w 1156"/>
                <a:gd name="T13" fmla="*/ 1952625 h 1792"/>
                <a:gd name="T14" fmla="*/ 1635125 w 1156"/>
                <a:gd name="T15" fmla="*/ 1774825 h 1792"/>
                <a:gd name="T16" fmla="*/ 1704975 w 1156"/>
                <a:gd name="T17" fmla="*/ 1590675 h 1792"/>
                <a:gd name="T18" fmla="*/ 1758950 w 1156"/>
                <a:gd name="T19" fmla="*/ 1403350 h 1792"/>
                <a:gd name="T20" fmla="*/ 1800225 w 1156"/>
                <a:gd name="T21" fmla="*/ 1209675 h 1792"/>
                <a:gd name="T22" fmla="*/ 1825625 w 1156"/>
                <a:gd name="T23" fmla="*/ 1009650 h 1792"/>
                <a:gd name="T24" fmla="*/ 1835150 w 1156"/>
                <a:gd name="T25" fmla="*/ 809625 h 1792"/>
                <a:gd name="T26" fmla="*/ 1828800 w 1156"/>
                <a:gd name="T27" fmla="*/ 609600 h 1792"/>
                <a:gd name="T28" fmla="*/ 1806575 w 1156"/>
                <a:gd name="T29" fmla="*/ 406400 h 1792"/>
                <a:gd name="T30" fmla="*/ 1768475 w 1156"/>
                <a:gd name="T31" fmla="*/ 203200 h 1792"/>
                <a:gd name="T32" fmla="*/ 1711325 w 1156"/>
                <a:gd name="T33" fmla="*/ 0 h 1792"/>
                <a:gd name="T34" fmla="*/ 1412875 w 1156"/>
                <a:gd name="T35" fmla="*/ 723900 h 1792"/>
                <a:gd name="T36" fmla="*/ 746125 w 1156"/>
                <a:gd name="T37" fmla="*/ 314325 h 1792"/>
                <a:gd name="T38" fmla="*/ 742950 w 1156"/>
                <a:gd name="T39" fmla="*/ 314325 h 1792"/>
                <a:gd name="T40" fmla="*/ 777875 w 1156"/>
                <a:gd name="T41" fmla="*/ 434975 h 1792"/>
                <a:gd name="T42" fmla="*/ 803275 w 1156"/>
                <a:gd name="T43" fmla="*/ 558800 h 1792"/>
                <a:gd name="T44" fmla="*/ 815975 w 1156"/>
                <a:gd name="T45" fmla="*/ 679450 h 1792"/>
                <a:gd name="T46" fmla="*/ 819150 w 1156"/>
                <a:gd name="T47" fmla="*/ 800100 h 1792"/>
                <a:gd name="T48" fmla="*/ 812800 w 1156"/>
                <a:gd name="T49" fmla="*/ 920750 h 1792"/>
                <a:gd name="T50" fmla="*/ 796925 w 1156"/>
                <a:gd name="T51" fmla="*/ 1041400 h 1792"/>
                <a:gd name="T52" fmla="*/ 774700 w 1156"/>
                <a:gd name="T53" fmla="*/ 1155700 h 1792"/>
                <a:gd name="T54" fmla="*/ 739775 w 1156"/>
                <a:gd name="T55" fmla="*/ 1270000 h 1792"/>
                <a:gd name="T56" fmla="*/ 698500 w 1156"/>
                <a:gd name="T57" fmla="*/ 1381125 h 1792"/>
                <a:gd name="T58" fmla="*/ 647700 w 1156"/>
                <a:gd name="T59" fmla="*/ 1489075 h 1792"/>
                <a:gd name="T60" fmla="*/ 590550 w 1156"/>
                <a:gd name="T61" fmla="*/ 1590675 h 1792"/>
                <a:gd name="T62" fmla="*/ 523875 w 1156"/>
                <a:gd name="T63" fmla="*/ 1689100 h 1792"/>
                <a:gd name="T64" fmla="*/ 447675 w 1156"/>
                <a:gd name="T65" fmla="*/ 1781175 h 1792"/>
                <a:gd name="T66" fmla="*/ 368300 w 1156"/>
                <a:gd name="T67" fmla="*/ 1866900 h 1792"/>
                <a:gd name="T68" fmla="*/ 279400 w 1156"/>
                <a:gd name="T69" fmla="*/ 1949450 h 1792"/>
                <a:gd name="T70" fmla="*/ 184150 w 1156"/>
                <a:gd name="T71" fmla="*/ 2022475 h 1792"/>
                <a:gd name="T72" fmla="*/ 0 w 1156"/>
                <a:gd name="T73" fmla="*/ 2787650 h 1792"/>
                <a:gd name="T74" fmla="*/ 781050 w 1156"/>
                <a:gd name="T75" fmla="*/ 2844800 h 17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156" h="1792">
                  <a:moveTo>
                    <a:pt x="492" y="1792"/>
                  </a:moveTo>
                  <a:lnTo>
                    <a:pt x="492" y="1792"/>
                  </a:lnTo>
                  <a:lnTo>
                    <a:pt x="544" y="1754"/>
                  </a:lnTo>
                  <a:lnTo>
                    <a:pt x="592" y="1714"/>
                  </a:lnTo>
                  <a:lnTo>
                    <a:pt x="640" y="1672"/>
                  </a:lnTo>
                  <a:lnTo>
                    <a:pt x="684" y="1630"/>
                  </a:lnTo>
                  <a:lnTo>
                    <a:pt x="728" y="1584"/>
                  </a:lnTo>
                  <a:lnTo>
                    <a:pt x="770" y="1538"/>
                  </a:lnTo>
                  <a:lnTo>
                    <a:pt x="808" y="1490"/>
                  </a:lnTo>
                  <a:lnTo>
                    <a:pt x="846" y="1440"/>
                  </a:lnTo>
                  <a:lnTo>
                    <a:pt x="882" y="1390"/>
                  </a:lnTo>
                  <a:lnTo>
                    <a:pt x="916" y="1338"/>
                  </a:lnTo>
                  <a:lnTo>
                    <a:pt x="948" y="1284"/>
                  </a:lnTo>
                  <a:lnTo>
                    <a:pt x="976" y="1230"/>
                  </a:lnTo>
                  <a:lnTo>
                    <a:pt x="1004" y="1174"/>
                  </a:lnTo>
                  <a:lnTo>
                    <a:pt x="1030" y="1118"/>
                  </a:lnTo>
                  <a:lnTo>
                    <a:pt x="1052" y="1060"/>
                  </a:lnTo>
                  <a:lnTo>
                    <a:pt x="1074" y="1002"/>
                  </a:lnTo>
                  <a:lnTo>
                    <a:pt x="1092" y="944"/>
                  </a:lnTo>
                  <a:lnTo>
                    <a:pt x="1108" y="884"/>
                  </a:lnTo>
                  <a:lnTo>
                    <a:pt x="1122" y="822"/>
                  </a:lnTo>
                  <a:lnTo>
                    <a:pt x="1134" y="762"/>
                  </a:lnTo>
                  <a:lnTo>
                    <a:pt x="1144" y="700"/>
                  </a:lnTo>
                  <a:lnTo>
                    <a:pt x="1150" y="636"/>
                  </a:lnTo>
                  <a:lnTo>
                    <a:pt x="1154" y="574"/>
                  </a:lnTo>
                  <a:lnTo>
                    <a:pt x="1156" y="510"/>
                  </a:lnTo>
                  <a:lnTo>
                    <a:pt x="1156" y="448"/>
                  </a:lnTo>
                  <a:lnTo>
                    <a:pt x="1152" y="384"/>
                  </a:lnTo>
                  <a:lnTo>
                    <a:pt x="1146" y="320"/>
                  </a:lnTo>
                  <a:lnTo>
                    <a:pt x="1138" y="256"/>
                  </a:lnTo>
                  <a:lnTo>
                    <a:pt x="1126" y="192"/>
                  </a:lnTo>
                  <a:lnTo>
                    <a:pt x="1114" y="128"/>
                  </a:lnTo>
                  <a:lnTo>
                    <a:pt x="1096" y="64"/>
                  </a:lnTo>
                  <a:lnTo>
                    <a:pt x="1078" y="0"/>
                  </a:lnTo>
                  <a:lnTo>
                    <a:pt x="890" y="456"/>
                  </a:lnTo>
                  <a:lnTo>
                    <a:pt x="680" y="328"/>
                  </a:lnTo>
                  <a:lnTo>
                    <a:pt x="470" y="198"/>
                  </a:lnTo>
                  <a:lnTo>
                    <a:pt x="468" y="198"/>
                  </a:lnTo>
                  <a:lnTo>
                    <a:pt x="480" y="236"/>
                  </a:lnTo>
                  <a:lnTo>
                    <a:pt x="490" y="274"/>
                  </a:lnTo>
                  <a:lnTo>
                    <a:pt x="498" y="314"/>
                  </a:lnTo>
                  <a:lnTo>
                    <a:pt x="506" y="352"/>
                  </a:lnTo>
                  <a:lnTo>
                    <a:pt x="510" y="390"/>
                  </a:lnTo>
                  <a:lnTo>
                    <a:pt x="514" y="428"/>
                  </a:lnTo>
                  <a:lnTo>
                    <a:pt x="516" y="466"/>
                  </a:lnTo>
                  <a:lnTo>
                    <a:pt x="516" y="504"/>
                  </a:lnTo>
                  <a:lnTo>
                    <a:pt x="514" y="542"/>
                  </a:lnTo>
                  <a:lnTo>
                    <a:pt x="512" y="580"/>
                  </a:lnTo>
                  <a:lnTo>
                    <a:pt x="508" y="618"/>
                  </a:lnTo>
                  <a:lnTo>
                    <a:pt x="502" y="656"/>
                  </a:lnTo>
                  <a:lnTo>
                    <a:pt x="496" y="692"/>
                  </a:lnTo>
                  <a:lnTo>
                    <a:pt x="488" y="728"/>
                  </a:lnTo>
                  <a:lnTo>
                    <a:pt x="478" y="764"/>
                  </a:lnTo>
                  <a:lnTo>
                    <a:pt x="466" y="800"/>
                  </a:lnTo>
                  <a:lnTo>
                    <a:pt x="454" y="836"/>
                  </a:lnTo>
                  <a:lnTo>
                    <a:pt x="440" y="870"/>
                  </a:lnTo>
                  <a:lnTo>
                    <a:pt x="424" y="904"/>
                  </a:lnTo>
                  <a:lnTo>
                    <a:pt x="408" y="938"/>
                  </a:lnTo>
                  <a:lnTo>
                    <a:pt x="390" y="970"/>
                  </a:lnTo>
                  <a:lnTo>
                    <a:pt x="372" y="1002"/>
                  </a:lnTo>
                  <a:lnTo>
                    <a:pt x="350" y="1032"/>
                  </a:lnTo>
                  <a:lnTo>
                    <a:pt x="330" y="1064"/>
                  </a:lnTo>
                  <a:lnTo>
                    <a:pt x="306" y="1094"/>
                  </a:lnTo>
                  <a:lnTo>
                    <a:pt x="282" y="1122"/>
                  </a:lnTo>
                  <a:lnTo>
                    <a:pt x="258" y="1150"/>
                  </a:lnTo>
                  <a:lnTo>
                    <a:pt x="232" y="1176"/>
                  </a:lnTo>
                  <a:lnTo>
                    <a:pt x="204" y="1202"/>
                  </a:lnTo>
                  <a:lnTo>
                    <a:pt x="176" y="1228"/>
                  </a:lnTo>
                  <a:lnTo>
                    <a:pt x="146" y="1252"/>
                  </a:lnTo>
                  <a:lnTo>
                    <a:pt x="116" y="1274"/>
                  </a:lnTo>
                  <a:lnTo>
                    <a:pt x="58" y="1516"/>
                  </a:lnTo>
                  <a:lnTo>
                    <a:pt x="0" y="1756"/>
                  </a:lnTo>
                  <a:lnTo>
                    <a:pt x="246" y="1774"/>
                  </a:lnTo>
                  <a:lnTo>
                    <a:pt x="492" y="1792"/>
                  </a:lnTo>
                  <a:close/>
                </a:path>
              </a:pathLst>
            </a:custGeom>
            <a:solidFill>
              <a:schemeClr val="accent4"/>
            </a:solidFill>
            <a:ln w="12700" cmpd="sng">
              <a:solidFill>
                <a:schemeClr val="bg1"/>
              </a:solidFill>
              <a:prstDash val="solid"/>
              <a:round/>
              <a:headEnd/>
              <a:tailEnd/>
            </a:ln>
          </p:spPr>
          <p:txBody>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defTabSz="914400">
                <a:defRPr/>
              </a:pPr>
              <a:endParaRPr lang="en-GB">
                <a:solidFill>
                  <a:srgbClr val="666E71"/>
                </a:solidFill>
              </a:endParaRPr>
            </a:p>
          </p:txBody>
        </p:sp>
      </p:grpSp>
    </p:spTree>
    <p:extLst>
      <p:ext uri="{BB962C8B-B14F-4D97-AF65-F5344CB8AC3E}">
        <p14:creationId xmlns:p14="http://schemas.microsoft.com/office/powerpoint/2010/main" val="9670518"/>
      </p:ext>
    </p:extLst>
  </p:cSld>
  <p:clrMapOvr>
    <a:masterClrMapping/>
  </p:clrMapOvr>
  <mc:AlternateContent xmlns:mc="http://schemas.openxmlformats.org/markup-compatibility/2006" xmlns:p14="http://schemas.microsoft.com/office/powerpoint/2010/main">
    <mc:Choice Requires="p14">
      <p:transition spd="slow" p14:dur="1250" advTm="67365">
        <p:fade/>
      </p:transition>
    </mc:Choice>
    <mc:Fallback xmlns="">
      <p:transition spd="slow" advTm="67365">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mtClean="0"/>
              <a:t>On-line information</a:t>
            </a:r>
            <a:endParaRPr lang="en-US" dirty="0"/>
          </a:p>
        </p:txBody>
      </p:sp>
      <p:sp>
        <p:nvSpPr>
          <p:cNvPr id="12" name="Slide Number Placeholder 22"/>
          <p:cNvSpPr>
            <a:spLocks noGrp="1"/>
          </p:cNvSpPr>
          <p:nvPr>
            <p:ph type="sldNum" sz="quarter" idx="12"/>
          </p:nvPr>
        </p:nvSpPr>
        <p:spPr/>
        <p:txBody>
          <a:bodyPr/>
          <a:lstStyle/>
          <a:p>
            <a:fld id="{28ED40A3-BEA1-2645-9E17-452BD130FCD0}" type="slidenum">
              <a:rPr lang="en-US" smtClean="0"/>
              <a:pPr/>
              <a:t>33</a:t>
            </a:fld>
            <a:endParaRPr lang="en-US" dirty="0"/>
          </a:p>
        </p:txBody>
      </p:sp>
      <p:pic>
        <p:nvPicPr>
          <p:cNvPr id="7" name="Picture 6"/>
          <p:cNvPicPr>
            <a:picLocks noChangeAspect="1"/>
          </p:cNvPicPr>
          <p:nvPr/>
        </p:nvPicPr>
        <p:blipFill>
          <a:blip r:embed="rId3"/>
          <a:stretch>
            <a:fillRect/>
          </a:stretch>
        </p:blipFill>
        <p:spPr>
          <a:xfrm>
            <a:off x="6209325" y="1164717"/>
            <a:ext cx="3742054" cy="2832893"/>
          </a:xfrm>
          <a:prstGeom prst="rect">
            <a:avLst/>
          </a:prstGeom>
          <a:ln>
            <a:solidFill>
              <a:srgbClr val="666E71"/>
            </a:solidFill>
          </a:ln>
          <a:effectLst>
            <a:outerShdw blurRad="50800" dist="38100" dir="2700000" algn="tl" rotWithShape="0">
              <a:prstClr val="black">
                <a:alpha val="40000"/>
              </a:prstClr>
            </a:outerShdw>
          </a:effectLst>
        </p:spPr>
      </p:pic>
      <p:pic>
        <p:nvPicPr>
          <p:cNvPr id="2" name="Picture 1">
            <a:extLst>
              <a:ext uri="{FF2B5EF4-FFF2-40B4-BE49-F238E27FC236}">
                <a16:creationId xmlns="" xmlns:a16="http://schemas.microsoft.com/office/drawing/2014/main" id="{01BFD945-4B6C-40B5-B83B-CADF4A9C1C61}"/>
              </a:ext>
            </a:extLst>
          </p:cNvPr>
          <p:cNvPicPr>
            <a:picLocks noChangeAspect="1"/>
          </p:cNvPicPr>
          <p:nvPr/>
        </p:nvPicPr>
        <p:blipFill>
          <a:blip r:embed="rId4"/>
          <a:stretch>
            <a:fillRect/>
          </a:stretch>
        </p:blipFill>
        <p:spPr>
          <a:xfrm>
            <a:off x="1695864" y="3748782"/>
            <a:ext cx="4832185" cy="2676721"/>
          </a:xfrm>
          <a:prstGeom prst="rect">
            <a:avLst/>
          </a:prstGeom>
        </p:spPr>
      </p:pic>
      <p:sp>
        <p:nvSpPr>
          <p:cNvPr id="6" name="Rectangle 5">
            <a:extLst>
              <a:ext uri="{FF2B5EF4-FFF2-40B4-BE49-F238E27FC236}">
                <a16:creationId xmlns="" xmlns:a16="http://schemas.microsoft.com/office/drawing/2014/main" id="{B820411B-7930-4D72-8699-E23911D9AAA6}"/>
              </a:ext>
            </a:extLst>
          </p:cNvPr>
          <p:cNvSpPr/>
          <p:nvPr/>
        </p:nvSpPr>
        <p:spPr>
          <a:xfrm>
            <a:off x="1948602" y="2778062"/>
            <a:ext cx="3751438" cy="738664"/>
          </a:xfrm>
          <a:prstGeom prst="rect">
            <a:avLst/>
          </a:prstGeom>
        </p:spPr>
        <p:txBody>
          <a:bodyPr wrap="square">
            <a:spAutoFit/>
          </a:bodyPr>
          <a:lstStyle/>
          <a:p>
            <a:pPr algn="ctr"/>
            <a:r>
              <a:rPr lang="en-US" dirty="0">
                <a:solidFill>
                  <a:srgbClr val="4C5156"/>
                </a:solidFill>
                <a:hlinkClick r:id="rId5"/>
              </a:rPr>
              <a:t>https://github.com/PistoiaHELM</a:t>
            </a:r>
            <a:endParaRPr lang="en-US" dirty="0">
              <a:solidFill>
                <a:srgbClr val="4C5156"/>
              </a:solidFill>
            </a:endParaRPr>
          </a:p>
          <a:p>
            <a:pPr algn="ctr"/>
            <a:r>
              <a:rPr lang="en-US" sz="2400" b="1" dirty="0">
                <a:solidFill>
                  <a:srgbClr val="4C5156"/>
                </a:solidFill>
              </a:rPr>
              <a:t>Permissive MIT license</a:t>
            </a:r>
          </a:p>
        </p:txBody>
      </p:sp>
      <p:sp>
        <p:nvSpPr>
          <p:cNvPr id="8" name="Content Placeholder 1">
            <a:extLst>
              <a:ext uri="{FF2B5EF4-FFF2-40B4-BE49-F238E27FC236}">
                <a16:creationId xmlns="" xmlns:a16="http://schemas.microsoft.com/office/drawing/2014/main" id="{6AD1B0A7-D913-4584-834F-F3746FFBAAED}"/>
              </a:ext>
            </a:extLst>
          </p:cNvPr>
          <p:cNvSpPr txBox="1">
            <a:spLocks/>
          </p:cNvSpPr>
          <p:nvPr/>
        </p:nvSpPr>
        <p:spPr>
          <a:xfrm>
            <a:off x="1625089" y="6096564"/>
            <a:ext cx="3528392" cy="580018"/>
          </a:xfrm>
          <a:prstGeom prst="rect">
            <a:avLst/>
          </a:prstGeom>
        </p:spPr>
        <p:txBody>
          <a:bodyPr>
            <a:noAutofit/>
          </a:bodyPr>
          <a:lstStyle>
            <a:lvl1pPr marL="342900" indent="-342900" algn="l" rtl="0" eaLnBrk="0" fontAlgn="base" hangingPunct="0">
              <a:spcBef>
                <a:spcPct val="20000"/>
              </a:spcBef>
              <a:spcAft>
                <a:spcPct val="0"/>
              </a:spcAft>
              <a:buChar char="•"/>
              <a:defRPr sz="3200">
                <a:solidFill>
                  <a:srgbClr val="002060"/>
                </a:solidFill>
                <a:latin typeface="+mn-lt"/>
                <a:ea typeface="+mn-ea"/>
                <a:cs typeface="+mn-cs"/>
              </a:defRPr>
            </a:lvl1pPr>
            <a:lvl2pPr marL="742950" indent="-285750" algn="l" rtl="0" eaLnBrk="0" fontAlgn="base" hangingPunct="0">
              <a:spcBef>
                <a:spcPct val="20000"/>
              </a:spcBef>
              <a:spcAft>
                <a:spcPct val="0"/>
              </a:spcAft>
              <a:buChar char="–"/>
              <a:defRPr sz="2800">
                <a:solidFill>
                  <a:srgbClr val="002060"/>
                </a:solidFill>
                <a:latin typeface="+mn-lt"/>
              </a:defRPr>
            </a:lvl2pPr>
            <a:lvl3pPr marL="1143000" indent="-228600" algn="l" rtl="0" eaLnBrk="0" fontAlgn="base" hangingPunct="0">
              <a:spcBef>
                <a:spcPct val="20000"/>
              </a:spcBef>
              <a:spcAft>
                <a:spcPct val="0"/>
              </a:spcAft>
              <a:buChar char="•"/>
              <a:defRPr sz="2400">
                <a:solidFill>
                  <a:srgbClr val="002060"/>
                </a:solidFill>
                <a:latin typeface="+mn-lt"/>
              </a:defRPr>
            </a:lvl3pPr>
            <a:lvl4pPr marL="1600200" indent="-228600" algn="l" rtl="0" eaLnBrk="0" fontAlgn="base" hangingPunct="0">
              <a:spcBef>
                <a:spcPct val="20000"/>
              </a:spcBef>
              <a:spcAft>
                <a:spcPct val="0"/>
              </a:spcAft>
              <a:buChar char="–"/>
              <a:defRPr sz="2000">
                <a:solidFill>
                  <a:srgbClr val="002060"/>
                </a:solidFill>
                <a:latin typeface="+mn-lt"/>
              </a:defRPr>
            </a:lvl4pPr>
            <a:lvl5pPr marL="2057400" indent="-228600" algn="l" rtl="0" eaLnBrk="0" fontAlgn="base" hangingPunct="0">
              <a:spcBef>
                <a:spcPct val="20000"/>
              </a:spcBef>
              <a:spcAft>
                <a:spcPct val="0"/>
              </a:spcAft>
              <a:buChar char="»"/>
              <a:defRPr sz="2000">
                <a:solidFill>
                  <a:srgbClr val="002060"/>
                </a:solidFill>
                <a:latin typeface="+mn-lt"/>
              </a:defRPr>
            </a:lvl5pPr>
            <a:lvl6pPr marL="2514600" indent="-228600" algn="l" rtl="0" eaLnBrk="1" fontAlgn="base" hangingPunct="1">
              <a:spcBef>
                <a:spcPct val="20000"/>
              </a:spcBef>
              <a:spcAft>
                <a:spcPct val="0"/>
              </a:spcAft>
              <a:buChar char="»"/>
              <a:defRPr sz="2000">
                <a:solidFill>
                  <a:srgbClr val="462300"/>
                </a:solidFill>
                <a:latin typeface="+mn-lt"/>
              </a:defRPr>
            </a:lvl6pPr>
            <a:lvl7pPr marL="2971800" indent="-228600" algn="l" rtl="0" eaLnBrk="1" fontAlgn="base" hangingPunct="1">
              <a:spcBef>
                <a:spcPct val="20000"/>
              </a:spcBef>
              <a:spcAft>
                <a:spcPct val="0"/>
              </a:spcAft>
              <a:buChar char="»"/>
              <a:defRPr sz="2000">
                <a:solidFill>
                  <a:srgbClr val="462300"/>
                </a:solidFill>
                <a:latin typeface="+mn-lt"/>
              </a:defRPr>
            </a:lvl7pPr>
            <a:lvl8pPr marL="3429000" indent="-228600" algn="l" rtl="0" eaLnBrk="1" fontAlgn="base" hangingPunct="1">
              <a:spcBef>
                <a:spcPct val="20000"/>
              </a:spcBef>
              <a:spcAft>
                <a:spcPct val="0"/>
              </a:spcAft>
              <a:buChar char="»"/>
              <a:defRPr sz="2000">
                <a:solidFill>
                  <a:srgbClr val="462300"/>
                </a:solidFill>
                <a:latin typeface="+mn-lt"/>
              </a:defRPr>
            </a:lvl8pPr>
            <a:lvl9pPr marL="3886200" indent="-228600" algn="l" rtl="0" eaLnBrk="1" fontAlgn="base" hangingPunct="1">
              <a:spcBef>
                <a:spcPct val="20000"/>
              </a:spcBef>
              <a:spcAft>
                <a:spcPct val="0"/>
              </a:spcAft>
              <a:buChar char="»"/>
              <a:defRPr sz="2000">
                <a:solidFill>
                  <a:srgbClr val="462300"/>
                </a:solidFill>
                <a:latin typeface="+mn-lt"/>
              </a:defRPr>
            </a:lvl9pPr>
          </a:lstStyle>
          <a:p>
            <a:pPr marL="0" indent="0">
              <a:buNone/>
            </a:pPr>
            <a:endParaRPr lang="en-US" sz="2800" b="1" dirty="0">
              <a:solidFill>
                <a:srgbClr val="4C5156"/>
              </a:solidFill>
            </a:endParaRPr>
          </a:p>
        </p:txBody>
      </p:sp>
      <p:grpSp>
        <p:nvGrpSpPr>
          <p:cNvPr id="9" name="Group 8">
            <a:extLst>
              <a:ext uri="{FF2B5EF4-FFF2-40B4-BE49-F238E27FC236}">
                <a16:creationId xmlns="" xmlns:a16="http://schemas.microsoft.com/office/drawing/2014/main" id="{661C1ADF-BF9A-4E5B-9DB3-B1A7C4D0AAA6}"/>
              </a:ext>
            </a:extLst>
          </p:cNvPr>
          <p:cNvGrpSpPr/>
          <p:nvPr/>
        </p:nvGrpSpPr>
        <p:grpSpPr>
          <a:xfrm>
            <a:off x="3105924" y="1509937"/>
            <a:ext cx="1440160" cy="1159982"/>
            <a:chOff x="6398386" y="1484784"/>
            <a:chExt cx="1800898" cy="1478597"/>
          </a:xfrm>
        </p:grpSpPr>
        <p:pic>
          <p:nvPicPr>
            <p:cNvPr id="10" name="Picture 9">
              <a:extLst>
                <a:ext uri="{FF2B5EF4-FFF2-40B4-BE49-F238E27FC236}">
                  <a16:creationId xmlns="" xmlns:a16="http://schemas.microsoft.com/office/drawing/2014/main" id="{75164819-9A45-4454-8FD0-1DBD857CE46B}"/>
                </a:ext>
              </a:extLst>
            </p:cNvPr>
            <p:cNvPicPr>
              <a:picLocks noChangeAspect="1"/>
            </p:cNvPicPr>
            <p:nvPr/>
          </p:nvPicPr>
          <p:blipFill>
            <a:blip r:embed="rId6"/>
            <a:stretch>
              <a:fillRect/>
            </a:stretch>
          </p:blipFill>
          <p:spPr>
            <a:xfrm>
              <a:off x="6804248" y="1484784"/>
              <a:ext cx="980728" cy="980728"/>
            </a:xfrm>
            <a:prstGeom prst="rect">
              <a:avLst/>
            </a:prstGeom>
          </p:spPr>
        </p:pic>
        <p:pic>
          <p:nvPicPr>
            <p:cNvPr id="11" name="Picture 10">
              <a:extLst>
                <a:ext uri="{FF2B5EF4-FFF2-40B4-BE49-F238E27FC236}">
                  <a16:creationId xmlns="" xmlns:a16="http://schemas.microsoft.com/office/drawing/2014/main" id="{3341FFC1-1562-4C49-9572-8C4D02E3CC6D}"/>
                </a:ext>
              </a:extLst>
            </p:cNvPr>
            <p:cNvPicPr>
              <a:picLocks noChangeAspect="1"/>
            </p:cNvPicPr>
            <p:nvPr/>
          </p:nvPicPr>
          <p:blipFill>
            <a:blip r:embed="rId7"/>
            <a:stretch>
              <a:fillRect/>
            </a:stretch>
          </p:blipFill>
          <p:spPr>
            <a:xfrm>
              <a:off x="6398386" y="2492896"/>
              <a:ext cx="1800898" cy="470485"/>
            </a:xfrm>
            <a:prstGeom prst="rect">
              <a:avLst/>
            </a:prstGeom>
          </p:spPr>
        </p:pic>
      </p:grpSp>
      <p:sp>
        <p:nvSpPr>
          <p:cNvPr id="13" name="Content Placeholder 1">
            <a:extLst>
              <a:ext uri="{FF2B5EF4-FFF2-40B4-BE49-F238E27FC236}">
                <a16:creationId xmlns="" xmlns:a16="http://schemas.microsoft.com/office/drawing/2014/main" id="{4C326665-141D-4B59-AB46-F7BD2FD0E5B7}"/>
              </a:ext>
            </a:extLst>
          </p:cNvPr>
          <p:cNvSpPr txBox="1">
            <a:spLocks/>
          </p:cNvSpPr>
          <p:nvPr/>
        </p:nvSpPr>
        <p:spPr>
          <a:xfrm>
            <a:off x="7037895" y="4936412"/>
            <a:ext cx="2044604" cy="1660940"/>
          </a:xfrm>
          <a:prstGeom prst="rect">
            <a:avLst/>
          </a:prstGeom>
          <a:solidFill>
            <a:srgbClr val="FFFFFF"/>
          </a:solidFill>
          <a:ln>
            <a:noFill/>
          </a:ln>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t>Wiki contains</a:t>
            </a:r>
          </a:p>
          <a:p>
            <a:r>
              <a:rPr lang="en-US" sz="1600" dirty="0"/>
              <a:t>Specifications</a:t>
            </a:r>
          </a:p>
          <a:p>
            <a:r>
              <a:rPr lang="en-US" sz="1600" dirty="0"/>
              <a:t>User guides</a:t>
            </a:r>
          </a:p>
          <a:p>
            <a:r>
              <a:rPr lang="en-US" sz="1600" dirty="0"/>
              <a:t>Presentations</a:t>
            </a:r>
          </a:p>
          <a:p>
            <a:r>
              <a:rPr lang="en-US" sz="1600" dirty="0"/>
              <a:t>Links to code</a:t>
            </a:r>
          </a:p>
        </p:txBody>
      </p:sp>
      <p:sp>
        <p:nvSpPr>
          <p:cNvPr id="4" name="Rectangle 3">
            <a:extLst>
              <a:ext uri="{FF2B5EF4-FFF2-40B4-BE49-F238E27FC236}">
                <a16:creationId xmlns="" xmlns:a16="http://schemas.microsoft.com/office/drawing/2014/main" id="{045E7F68-92B1-4BE8-B970-6C6414AC70EC}"/>
              </a:ext>
            </a:extLst>
          </p:cNvPr>
          <p:cNvSpPr/>
          <p:nvPr/>
        </p:nvSpPr>
        <p:spPr>
          <a:xfrm>
            <a:off x="6277867" y="801618"/>
            <a:ext cx="2096087" cy="369332"/>
          </a:xfrm>
          <a:prstGeom prst="rect">
            <a:avLst/>
          </a:prstGeom>
        </p:spPr>
        <p:txBody>
          <a:bodyPr wrap="none">
            <a:spAutoFit/>
          </a:bodyPr>
          <a:lstStyle/>
          <a:p>
            <a:r>
              <a:rPr lang="en-GB" u="sng" dirty="0">
                <a:solidFill>
                  <a:srgbClr val="228B96"/>
                </a:solidFill>
              </a:rPr>
              <a:t>www.OpenHelm.org</a:t>
            </a:r>
          </a:p>
        </p:txBody>
      </p:sp>
      <p:sp>
        <p:nvSpPr>
          <p:cNvPr id="5" name="Oval 4">
            <a:extLst>
              <a:ext uri="{FF2B5EF4-FFF2-40B4-BE49-F238E27FC236}">
                <a16:creationId xmlns="" xmlns:a16="http://schemas.microsoft.com/office/drawing/2014/main" id="{0FC229EC-0911-45FE-ACFB-CA5939C1B8D9}"/>
              </a:ext>
            </a:extLst>
          </p:cNvPr>
          <p:cNvSpPr/>
          <p:nvPr/>
        </p:nvSpPr>
        <p:spPr>
          <a:xfrm>
            <a:off x="9259644" y="1726830"/>
            <a:ext cx="419664" cy="445458"/>
          </a:xfrm>
          <a:prstGeom prst="ellipse">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 xmlns:a16="http://schemas.microsoft.com/office/drawing/2014/main" id="{A5906086-EB12-4399-9F19-BB99F1546886}"/>
              </a:ext>
            </a:extLst>
          </p:cNvPr>
          <p:cNvCxnSpPr>
            <a:cxnSpLocks/>
            <a:endCxn id="5" idx="3"/>
          </p:cNvCxnSpPr>
          <p:nvPr/>
        </p:nvCxnSpPr>
        <p:spPr>
          <a:xfrm flipV="1">
            <a:off x="6192234" y="2107052"/>
            <a:ext cx="3128869" cy="2891496"/>
          </a:xfrm>
          <a:prstGeom prst="line">
            <a:avLst/>
          </a:prstGeom>
          <a:ln>
            <a:solidFill>
              <a:srgbClr val="C000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5136484"/>
      </p:ext>
    </p:extLst>
  </p:cSld>
  <p:clrMapOvr>
    <a:masterClrMapping/>
  </p:clrMapOvr>
  <mc:AlternateContent xmlns:mc="http://schemas.openxmlformats.org/markup-compatibility/2006" xmlns:p14="http://schemas.microsoft.com/office/powerpoint/2010/main">
    <mc:Choice Requires="p14">
      <p:transition spd="slow" p14:dur="1250" advTm="4755">
        <p:fade/>
      </p:transition>
    </mc:Choice>
    <mc:Fallback xmlns="">
      <p:transition spd="slow" advTm="4755">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38400"/>
            <a:ext cx="10668000" cy="2246769"/>
          </a:xfrm>
        </p:spPr>
        <p:txBody>
          <a:bodyPr/>
          <a:lstStyle/>
          <a:p>
            <a:r>
              <a:rPr lang="en-GB" sz="2800" dirty="0" smtClean="0">
                <a:solidFill>
                  <a:schemeClr val="bg1">
                    <a:lumMod val="60000"/>
                    <a:lumOff val="40000"/>
                  </a:schemeClr>
                </a:solidFill>
              </a:rPr>
              <a:t>Current challenges regarding the representation of biomolecules</a:t>
            </a:r>
            <a:r>
              <a:rPr lang="en-GB" sz="2800" dirty="0"/>
              <a:t/>
            </a:r>
            <a:br>
              <a:rPr lang="en-GB" sz="2800" dirty="0"/>
            </a:br>
            <a:r>
              <a:rPr lang="en-GB" sz="2800" dirty="0" smtClean="0">
                <a:solidFill>
                  <a:schemeClr val="bg1">
                    <a:lumMod val="60000"/>
                    <a:lumOff val="40000"/>
                  </a:schemeClr>
                </a:solidFill>
              </a:rPr>
              <a:t>What </a:t>
            </a:r>
            <a:r>
              <a:rPr lang="en-GB" sz="2800" dirty="0">
                <a:solidFill>
                  <a:schemeClr val="bg1">
                    <a:lumMod val="60000"/>
                    <a:lumOff val="40000"/>
                  </a:schemeClr>
                </a:solidFill>
              </a:rPr>
              <a:t>is HELM</a:t>
            </a:r>
            <a:r>
              <a:rPr lang="en-GB" sz="2800" dirty="0" smtClean="0">
                <a:solidFill>
                  <a:schemeClr val="bg1">
                    <a:lumMod val="60000"/>
                    <a:lumOff val="40000"/>
                  </a:schemeClr>
                </a:solidFill>
              </a:rPr>
              <a:t>?</a:t>
            </a:r>
            <a:r>
              <a:rPr lang="en-GB" sz="2800" dirty="0">
                <a:solidFill>
                  <a:schemeClr val="bg1">
                    <a:lumMod val="60000"/>
                    <a:lumOff val="40000"/>
                  </a:schemeClr>
                </a:solidFill>
              </a:rPr>
              <a:t> </a:t>
            </a:r>
            <a:r>
              <a:rPr lang="en-GB" sz="2800" dirty="0">
                <a:solidFill>
                  <a:srgbClr val="228B96"/>
                </a:solidFill>
              </a:rPr>
              <a:t>HELM in practice</a:t>
            </a:r>
            <a:br>
              <a:rPr lang="en-GB" sz="2800" dirty="0">
                <a:solidFill>
                  <a:srgbClr val="228B96"/>
                </a:solidFill>
              </a:rPr>
            </a:br>
            <a:r>
              <a:rPr lang="en-GB" sz="2800" dirty="0">
                <a:solidFill>
                  <a:schemeClr val="tx1">
                    <a:lumMod val="65000"/>
                  </a:schemeClr>
                </a:solidFill>
              </a:rPr>
              <a:t>HELM in practice </a:t>
            </a:r>
            <a:r>
              <a:rPr lang="en-GB" sz="2800" dirty="0" smtClean="0"/>
              <a:t/>
            </a:r>
            <a:br>
              <a:rPr lang="en-GB" sz="2800" dirty="0" smtClean="0"/>
            </a:br>
            <a:r>
              <a:rPr lang="en-GB" sz="2800" dirty="0" smtClean="0">
                <a:solidFill>
                  <a:schemeClr val="tx1">
                    <a:lumMod val="65000"/>
                  </a:schemeClr>
                </a:solidFill>
              </a:rPr>
              <a:t>The </a:t>
            </a:r>
            <a:r>
              <a:rPr lang="en-GB" sz="2800" dirty="0">
                <a:solidFill>
                  <a:schemeClr val="tx1">
                    <a:lumMod val="65000"/>
                  </a:schemeClr>
                </a:solidFill>
              </a:rPr>
              <a:t>HELM ecosystem </a:t>
            </a:r>
            <a:r>
              <a:rPr lang="en-GB" sz="2800" dirty="0"/>
              <a:t/>
            </a:r>
            <a:br>
              <a:rPr lang="en-GB" sz="2800" dirty="0"/>
            </a:br>
            <a:r>
              <a:rPr lang="en-GB" sz="2800" dirty="0" smtClean="0"/>
              <a:t>Current activities</a:t>
            </a:r>
            <a:endParaRPr lang="en-GB" sz="2800" dirty="0"/>
          </a:p>
        </p:txBody>
      </p:sp>
      <p:sp>
        <p:nvSpPr>
          <p:cNvPr id="6" name="Slide Number Placeholder 5"/>
          <p:cNvSpPr>
            <a:spLocks noGrp="1"/>
          </p:cNvSpPr>
          <p:nvPr>
            <p:ph type="sldNum" sz="quarter" idx="4294967295"/>
          </p:nvPr>
        </p:nvSpPr>
        <p:spPr>
          <a:xfrm>
            <a:off x="11506200" y="6376988"/>
            <a:ext cx="685800" cy="344487"/>
          </a:xfrm>
          <a:prstGeom prst="rect">
            <a:avLst/>
          </a:prstGeom>
        </p:spPr>
        <p:txBody>
          <a:bodyPr/>
          <a:lstStyle/>
          <a:p>
            <a:pPr>
              <a:defRPr/>
            </a:pPr>
            <a:fld id="{28ED40A3-BEA1-2645-9E17-452BD130FCD0}" type="slidenum">
              <a:rPr lang="en-US"/>
              <a:pPr>
                <a:defRPr/>
              </a:pPr>
              <a:t>34</a:t>
            </a:fld>
            <a:endParaRPr lang="en-US" dirty="0"/>
          </a:p>
        </p:txBody>
      </p:sp>
    </p:spTree>
    <p:extLst>
      <p:ext uri="{BB962C8B-B14F-4D97-AF65-F5344CB8AC3E}">
        <p14:creationId xmlns:p14="http://schemas.microsoft.com/office/powerpoint/2010/main" val="2188096448"/>
      </p:ext>
    </p:extLst>
  </p:cSld>
  <p:clrMapOvr>
    <a:masterClrMapping/>
  </p:clrMapOvr>
  <mc:AlternateContent xmlns:mc="http://schemas.openxmlformats.org/markup-compatibility/2006" xmlns:p14="http://schemas.microsoft.com/office/powerpoint/2010/main">
    <mc:Choice Requires="p14">
      <p:transition spd="slow" p14:dur="1250" advTm="11624">
        <p:fade/>
      </p:transition>
    </mc:Choice>
    <mc:Fallback xmlns="">
      <p:transition spd="slow" advTm="11624">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Monomer naming</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Monomers are identified by convention. </a:t>
            </a:r>
          </a:p>
          <a:p>
            <a:r>
              <a:rPr lang="en-GB" dirty="0" smtClean="0"/>
              <a:t>Natural monomers are limited in number and observed in plants and animals.</a:t>
            </a:r>
          </a:p>
          <a:p>
            <a:r>
              <a:rPr lang="en-GB" dirty="0" smtClean="0"/>
              <a:t>Unnatural monomers, are whatever is convenient for synthetic biology. </a:t>
            </a:r>
          </a:p>
          <a:p>
            <a:endParaRPr lang="en-GB" dirty="0" smtClean="0"/>
          </a:p>
          <a:p>
            <a:r>
              <a:rPr lang="en-GB" dirty="0" smtClean="0"/>
              <a:t>HELM allows the user to define whatever monomer they like and enables organisations to exchange them, however consistency makes everyone’s life easier. </a:t>
            </a:r>
          </a:p>
          <a:p>
            <a:endParaRPr lang="en-GB" dirty="0" smtClean="0"/>
          </a:p>
          <a:p>
            <a:r>
              <a:rPr lang="en-GB" dirty="0" smtClean="0"/>
              <a:t>Existing nucleotide conventions</a:t>
            </a:r>
          </a:p>
          <a:p>
            <a:pPr lvl="0"/>
            <a:r>
              <a:rPr lang="en-US" dirty="0" smtClean="0"/>
              <a:t>IUPAC rules on biochemical nomenclature, Abbreviations and Symbols for Nucleic Acids, Polynucleotides and their Constituents  </a:t>
            </a:r>
            <a:endParaRPr lang="en-GB" dirty="0"/>
          </a:p>
        </p:txBody>
      </p:sp>
      <p:sp>
        <p:nvSpPr>
          <p:cNvPr id="6" name="Slide Number Placeholder 5"/>
          <p:cNvSpPr>
            <a:spLocks noGrp="1"/>
          </p:cNvSpPr>
          <p:nvPr>
            <p:ph type="sldNum" sz="quarter" idx="12"/>
          </p:nvPr>
        </p:nvSpPr>
        <p:spPr/>
        <p:txBody>
          <a:bodyPr/>
          <a:lstStyle/>
          <a:p>
            <a:fld id="{28ED40A3-BEA1-2645-9E17-452BD130FCD0}" type="slidenum">
              <a:rPr lang="en-US" smtClean="0"/>
              <a:pPr/>
              <a:t>35</a:t>
            </a:fld>
            <a:endParaRPr lang="en-US" dirty="0"/>
          </a:p>
        </p:txBody>
      </p:sp>
    </p:spTree>
    <p:extLst>
      <p:ext uri="{BB962C8B-B14F-4D97-AF65-F5344CB8AC3E}">
        <p14:creationId xmlns:p14="http://schemas.microsoft.com/office/powerpoint/2010/main" val="2584653123"/>
      </p:ext>
    </p:extLst>
  </p:cSld>
  <p:clrMapOvr>
    <a:masterClrMapping/>
  </p:clrMapOvr>
  <mc:AlternateContent xmlns:mc="http://schemas.openxmlformats.org/markup-compatibility/2006" xmlns:p14="http://schemas.microsoft.com/office/powerpoint/2010/main">
    <mc:Choice Requires="p14">
      <p:transition spd="slow" p14:dur="1250" advTm="81536">
        <p:fade/>
      </p:transition>
    </mc:Choice>
    <mc:Fallback xmlns="">
      <p:transition spd="slow" advTm="81536">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Monomer naming</a:t>
            </a:r>
            <a:endParaRPr lang="en-GB" dirty="0"/>
          </a:p>
        </p:txBody>
      </p:sp>
      <p:sp>
        <p:nvSpPr>
          <p:cNvPr id="3" name="Content Placeholder 2"/>
          <p:cNvSpPr>
            <a:spLocks noGrp="1"/>
          </p:cNvSpPr>
          <p:nvPr>
            <p:ph idx="1"/>
          </p:nvPr>
        </p:nvSpPr>
        <p:spPr>
          <a:xfrm>
            <a:off x="598552" y="1209240"/>
            <a:ext cx="5414391" cy="4871567"/>
          </a:xfrm>
        </p:spPr>
        <p:txBody>
          <a:bodyPr>
            <a:normAutofit fontScale="85000" lnSpcReduction="20000"/>
          </a:bodyPr>
          <a:lstStyle/>
          <a:p>
            <a:r>
              <a:rPr lang="en-US" dirty="0" smtClean="0"/>
              <a:t>Peptide monomers</a:t>
            </a:r>
            <a:endParaRPr lang="en-GB" dirty="0" smtClean="0"/>
          </a:p>
          <a:p>
            <a:r>
              <a:rPr lang="en-GB" dirty="0" smtClean="0"/>
              <a:t>IUPAC peptide and amino acid nomenclature </a:t>
            </a:r>
          </a:p>
          <a:p>
            <a:pPr lvl="1"/>
            <a:r>
              <a:rPr lang="en-GB" dirty="0" smtClean="0"/>
              <a:t>Good for D, L amino acids, but does not give much guidance for anything more complex</a:t>
            </a:r>
          </a:p>
          <a:p>
            <a:r>
              <a:rPr lang="en-GB" dirty="0" smtClean="0"/>
              <a:t>INSDC </a:t>
            </a:r>
          </a:p>
          <a:p>
            <a:pPr lvl="1"/>
            <a:r>
              <a:rPr lang="en-GB" dirty="0" smtClean="0"/>
              <a:t>has a nice table of amino acids and modified ones that use </a:t>
            </a:r>
            <a:r>
              <a:rPr lang="en-GB" dirty="0" err="1" smtClean="0"/>
              <a:t>MeGly</a:t>
            </a:r>
            <a:r>
              <a:rPr lang="en-GB" dirty="0" smtClean="0"/>
              <a:t> for N-</a:t>
            </a:r>
            <a:r>
              <a:rPr lang="en-GB" dirty="0" err="1" smtClean="0"/>
              <a:t>methylglycine</a:t>
            </a:r>
            <a:r>
              <a:rPr lang="en-GB" dirty="0" smtClean="0"/>
              <a:t> (consortium includes EMBL and </a:t>
            </a:r>
            <a:r>
              <a:rPr lang="en-GB" dirty="0" err="1" smtClean="0"/>
              <a:t>GenBank</a:t>
            </a:r>
            <a:r>
              <a:rPr lang="en-GB" dirty="0" smtClean="0"/>
              <a:t>) </a:t>
            </a:r>
          </a:p>
          <a:p>
            <a:r>
              <a:rPr lang="en-GB" dirty="0" smtClean="0"/>
              <a:t>Consistent naming conventions are in short supply. </a:t>
            </a:r>
          </a:p>
          <a:p>
            <a:r>
              <a:rPr lang="en-GB" dirty="0" smtClean="0"/>
              <a:t>In the absence of anything else – people will make stuff up.</a:t>
            </a:r>
            <a:endParaRPr lang="en-GB" dirty="0"/>
          </a:p>
        </p:txBody>
      </p:sp>
      <p:sp>
        <p:nvSpPr>
          <p:cNvPr id="6" name="Slide Number Placeholder 5"/>
          <p:cNvSpPr>
            <a:spLocks noGrp="1"/>
          </p:cNvSpPr>
          <p:nvPr>
            <p:ph type="sldNum" sz="quarter" idx="12"/>
          </p:nvPr>
        </p:nvSpPr>
        <p:spPr/>
        <p:txBody>
          <a:bodyPr/>
          <a:lstStyle/>
          <a:p>
            <a:fld id="{28ED40A3-BEA1-2645-9E17-452BD130FCD0}" type="slidenum">
              <a:rPr lang="en-US" smtClean="0"/>
              <a:pPr/>
              <a:t>36</a:t>
            </a:fld>
            <a:endParaRPr lang="en-US" dirty="0"/>
          </a:p>
        </p:txBody>
      </p:sp>
      <p:pic>
        <p:nvPicPr>
          <p:cNvPr id="4" name="Picture 3">
            <a:extLst>
              <a:ext uri="{FF2B5EF4-FFF2-40B4-BE49-F238E27FC236}">
                <a16:creationId xmlns="" xmlns:a16="http://schemas.microsoft.com/office/drawing/2014/main" id="{25DE6BEC-00E0-4EAD-8B16-A14C901D9FFD}"/>
              </a:ext>
            </a:extLst>
          </p:cNvPr>
          <p:cNvPicPr>
            <a:picLocks noChangeAspect="1"/>
          </p:cNvPicPr>
          <p:nvPr/>
        </p:nvPicPr>
        <p:blipFill rotWithShape="1">
          <a:blip r:embed="rId3"/>
          <a:srcRect t="2456"/>
          <a:stretch/>
        </p:blipFill>
        <p:spPr>
          <a:xfrm>
            <a:off x="6373724" y="1609027"/>
            <a:ext cx="5352287" cy="2935352"/>
          </a:xfrm>
          <a:prstGeom prst="rect">
            <a:avLst/>
          </a:prstGeom>
        </p:spPr>
      </p:pic>
      <p:sp>
        <p:nvSpPr>
          <p:cNvPr id="5" name="Rectangle 4">
            <a:extLst>
              <a:ext uri="{FF2B5EF4-FFF2-40B4-BE49-F238E27FC236}">
                <a16:creationId xmlns="" xmlns:a16="http://schemas.microsoft.com/office/drawing/2014/main" id="{F7E5B487-DFAC-4DEC-94EC-493DBA056601}"/>
              </a:ext>
            </a:extLst>
          </p:cNvPr>
          <p:cNvSpPr/>
          <p:nvPr/>
        </p:nvSpPr>
        <p:spPr>
          <a:xfrm>
            <a:off x="7680176" y="5086607"/>
            <a:ext cx="2559214" cy="923330"/>
          </a:xfrm>
          <a:prstGeom prst="rect">
            <a:avLst/>
          </a:prstGeom>
          <a:solidFill>
            <a:schemeClr val="accent1">
              <a:lumMod val="40000"/>
              <a:lumOff val="60000"/>
            </a:schemeClr>
          </a:solidFill>
        </p:spPr>
        <p:txBody>
          <a:bodyPr wrap="square">
            <a:spAutoFit/>
          </a:bodyPr>
          <a:lstStyle/>
          <a:p>
            <a:pPr algn="ctr"/>
            <a:r>
              <a:rPr lang="en-GB" dirty="0">
                <a:solidFill>
                  <a:schemeClr val="tx1">
                    <a:lumMod val="50000"/>
                  </a:schemeClr>
                </a:solidFill>
              </a:rPr>
              <a:t>Guidance from serious academic bodies would be helpful. </a:t>
            </a:r>
          </a:p>
        </p:txBody>
      </p:sp>
    </p:spTree>
    <p:extLst>
      <p:ext uri="{BB962C8B-B14F-4D97-AF65-F5344CB8AC3E}">
        <p14:creationId xmlns:p14="http://schemas.microsoft.com/office/powerpoint/2010/main" val="2170246180"/>
      </p:ext>
    </p:extLst>
  </p:cSld>
  <p:clrMapOvr>
    <a:masterClrMapping/>
  </p:clrMapOvr>
  <mc:AlternateContent xmlns:mc="http://schemas.openxmlformats.org/markup-compatibility/2006" xmlns:p14="http://schemas.microsoft.com/office/powerpoint/2010/main">
    <mc:Choice Requires="p14">
      <p:transition spd="slow" p14:dur="1250" advTm="9659">
        <p:fade/>
      </p:transition>
    </mc:Choice>
    <mc:Fallback xmlns="">
      <p:transition spd="slow" advTm="9659">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Ambiguity – a challenge </a:t>
            </a:r>
            <a:endParaRPr lang="en-GB" dirty="0"/>
          </a:p>
        </p:txBody>
      </p:sp>
      <p:sp>
        <p:nvSpPr>
          <p:cNvPr id="3" name="Content Placeholder 2"/>
          <p:cNvSpPr>
            <a:spLocks noGrp="1"/>
          </p:cNvSpPr>
          <p:nvPr>
            <p:ph idx="1"/>
          </p:nvPr>
        </p:nvSpPr>
        <p:spPr/>
        <p:txBody>
          <a:bodyPr>
            <a:normAutofit/>
          </a:bodyPr>
          <a:lstStyle/>
          <a:p>
            <a:pPr marL="0" indent="0">
              <a:buNone/>
            </a:pPr>
            <a:r>
              <a:rPr lang="en-GB" dirty="0" smtClean="0"/>
              <a:t>HELM has made a start, but we are only now building tools to use in ‘real-life’ and may find further areas to work on. </a:t>
            </a:r>
          </a:p>
          <a:p>
            <a:pPr marL="0" indent="0">
              <a:buNone/>
            </a:pPr>
            <a:endParaRPr lang="en-GB" dirty="0" smtClean="0"/>
          </a:p>
          <a:p>
            <a:pPr marL="0" indent="0">
              <a:buNone/>
            </a:pPr>
            <a:r>
              <a:rPr lang="en-GB" dirty="0" smtClean="0"/>
              <a:t>HELM2 can’t be converted into small molecule formats such as </a:t>
            </a:r>
            <a:r>
              <a:rPr lang="en-GB" dirty="0" err="1" smtClean="0"/>
              <a:t>molfiles</a:t>
            </a:r>
            <a:r>
              <a:rPr lang="en-GB" dirty="0" smtClean="0"/>
              <a:t>, SMILES and </a:t>
            </a:r>
            <a:r>
              <a:rPr lang="en-GB" dirty="0" err="1" smtClean="0"/>
              <a:t>InChI</a:t>
            </a:r>
            <a:r>
              <a:rPr lang="en-GB" dirty="0" smtClean="0"/>
              <a:t> as they can’t handle ambiguity.</a:t>
            </a:r>
          </a:p>
          <a:p>
            <a:pPr marL="0" indent="0">
              <a:buNone/>
            </a:pPr>
            <a:endParaRPr lang="en-GB" dirty="0" smtClean="0"/>
          </a:p>
          <a:p>
            <a:pPr marL="0" indent="0">
              <a:buNone/>
            </a:pPr>
            <a:r>
              <a:rPr lang="en-GB" dirty="0" err="1" smtClean="0"/>
              <a:t>InChI</a:t>
            </a:r>
            <a:r>
              <a:rPr lang="en-GB" dirty="0" smtClean="0"/>
              <a:t> are interested in looking at ambiguity and the </a:t>
            </a:r>
            <a:r>
              <a:rPr lang="en-GB" dirty="0" err="1" smtClean="0"/>
              <a:t>InChI</a:t>
            </a:r>
            <a:r>
              <a:rPr lang="en-GB" dirty="0" smtClean="0"/>
              <a:t> positional isomers group could be a key enabler</a:t>
            </a:r>
          </a:p>
          <a:p>
            <a:pPr marL="0" indent="0">
              <a:buNone/>
            </a:pPr>
            <a:endParaRPr lang="en-GB" dirty="0" smtClean="0"/>
          </a:p>
          <a:p>
            <a:pPr marL="0" indent="0">
              <a:buNone/>
            </a:pPr>
            <a:endParaRPr lang="en-GB" dirty="0" smtClean="0"/>
          </a:p>
          <a:p>
            <a:pPr marL="0" indent="0">
              <a:buNone/>
            </a:pPr>
            <a:endParaRPr lang="en-GB" dirty="0"/>
          </a:p>
        </p:txBody>
      </p:sp>
      <p:sp>
        <p:nvSpPr>
          <p:cNvPr id="6" name="Slide Number Placeholder 5"/>
          <p:cNvSpPr>
            <a:spLocks noGrp="1"/>
          </p:cNvSpPr>
          <p:nvPr>
            <p:ph type="sldNum" sz="quarter" idx="12"/>
          </p:nvPr>
        </p:nvSpPr>
        <p:spPr/>
        <p:txBody>
          <a:bodyPr/>
          <a:lstStyle/>
          <a:p>
            <a:fld id="{28ED40A3-BEA1-2645-9E17-452BD130FCD0}" type="slidenum">
              <a:rPr lang="en-US" smtClean="0"/>
              <a:pPr/>
              <a:t>37</a:t>
            </a:fld>
            <a:endParaRPr lang="en-US" dirty="0"/>
          </a:p>
        </p:txBody>
      </p:sp>
    </p:spTree>
    <p:extLst>
      <p:ext uri="{BB962C8B-B14F-4D97-AF65-F5344CB8AC3E}">
        <p14:creationId xmlns:p14="http://schemas.microsoft.com/office/powerpoint/2010/main" val="1920712294"/>
      </p:ext>
    </p:extLst>
  </p:cSld>
  <p:clrMapOvr>
    <a:masterClrMapping/>
  </p:clrMapOvr>
  <mc:AlternateContent xmlns:mc="http://schemas.openxmlformats.org/markup-compatibility/2006" xmlns:p14="http://schemas.microsoft.com/office/powerpoint/2010/main">
    <mc:Choice Requires="p14">
      <p:transition spd="slow" p14:dur="1250" advTm="62567">
        <p:fade/>
      </p:transition>
    </mc:Choice>
    <mc:Fallback xmlns="">
      <p:transition spd="slow" advTm="62567">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Acknowledgements</a:t>
            </a:r>
            <a:endParaRPr lang="en-US" dirty="0"/>
          </a:p>
        </p:txBody>
      </p:sp>
      <p:sp>
        <p:nvSpPr>
          <p:cNvPr id="7" name="Content Placeholder 3"/>
          <p:cNvSpPr>
            <a:spLocks noGrp="1"/>
          </p:cNvSpPr>
          <p:nvPr>
            <p:ph idx="1"/>
          </p:nvPr>
        </p:nvSpPr>
        <p:spPr>
          <a:xfrm>
            <a:off x="609601" y="1484785"/>
            <a:ext cx="4046239" cy="4871567"/>
          </a:xfrm>
        </p:spPr>
        <p:txBody>
          <a:bodyPr>
            <a:normAutofit/>
          </a:bodyPr>
          <a:lstStyle/>
          <a:p>
            <a:pPr marL="0" indent="0">
              <a:buNone/>
            </a:pPr>
            <a:r>
              <a:rPr lang="en-US" sz="1400" b="1" dirty="0">
                <a:solidFill>
                  <a:schemeClr val="tx1">
                    <a:lumMod val="50000"/>
                  </a:schemeClr>
                </a:solidFill>
              </a:rPr>
              <a:t>Leadership</a:t>
            </a:r>
            <a:endParaRPr lang="en-US" sz="1400" dirty="0">
              <a:solidFill>
                <a:schemeClr val="tx1">
                  <a:lumMod val="50000"/>
                </a:schemeClr>
              </a:solidFill>
            </a:endParaRPr>
          </a:p>
          <a:p>
            <a:pPr marL="400050" lvl="1" indent="0">
              <a:buNone/>
            </a:pPr>
            <a:r>
              <a:rPr lang="en-US" sz="1200" dirty="0">
                <a:solidFill>
                  <a:schemeClr val="tx1">
                    <a:lumMod val="50000"/>
                  </a:schemeClr>
                </a:solidFill>
              </a:rPr>
              <a:t>Sergio </a:t>
            </a:r>
            <a:r>
              <a:rPr lang="en-US" sz="1200" dirty="0" err="1">
                <a:solidFill>
                  <a:schemeClr val="tx1">
                    <a:lumMod val="50000"/>
                  </a:schemeClr>
                </a:solidFill>
              </a:rPr>
              <a:t>Rotstein</a:t>
            </a:r>
            <a:r>
              <a:rPr lang="en-US" sz="1200" dirty="0">
                <a:solidFill>
                  <a:schemeClr val="tx1">
                    <a:lumMod val="50000"/>
                  </a:schemeClr>
                </a:solidFill>
              </a:rPr>
              <a:t> (Pfizer) –  Project Lead</a:t>
            </a:r>
          </a:p>
          <a:p>
            <a:pPr marL="400050" lvl="1" indent="0">
              <a:buNone/>
            </a:pPr>
            <a:r>
              <a:rPr lang="en-US" sz="1200" dirty="0">
                <a:solidFill>
                  <a:schemeClr val="tx1">
                    <a:lumMod val="50000"/>
                  </a:schemeClr>
                </a:solidFill>
              </a:rPr>
              <a:t>Claire Bellamy (Pistoia Alliance) – Project </a:t>
            </a:r>
            <a:r>
              <a:rPr lang="en-US" sz="1200" dirty="0" smtClean="0">
                <a:solidFill>
                  <a:schemeClr val="tx1">
                    <a:lumMod val="50000"/>
                  </a:schemeClr>
                </a:solidFill>
              </a:rPr>
              <a:t>Manager</a:t>
            </a:r>
          </a:p>
          <a:p>
            <a:pPr marL="0" indent="0">
              <a:buNone/>
            </a:pPr>
            <a:endParaRPr lang="en-US" sz="1400" dirty="0">
              <a:solidFill>
                <a:schemeClr val="tx1">
                  <a:lumMod val="50000"/>
                </a:schemeClr>
              </a:solidFill>
            </a:endParaRPr>
          </a:p>
          <a:p>
            <a:pPr marL="0" indent="0">
              <a:buNone/>
            </a:pPr>
            <a:r>
              <a:rPr lang="en-US" sz="1400" b="1" dirty="0">
                <a:solidFill>
                  <a:schemeClr val="tx1">
                    <a:lumMod val="50000"/>
                  </a:schemeClr>
                </a:solidFill>
              </a:rPr>
              <a:t>Active Team</a:t>
            </a:r>
          </a:p>
          <a:p>
            <a:pPr marL="400050" lvl="1" indent="0">
              <a:buNone/>
            </a:pPr>
            <a:r>
              <a:rPr lang="en-US" sz="1200" dirty="0">
                <a:solidFill>
                  <a:schemeClr val="tx1">
                    <a:lumMod val="50000"/>
                  </a:schemeClr>
                </a:solidFill>
              </a:rPr>
              <a:t>Jan Holst Jensen (</a:t>
            </a:r>
            <a:r>
              <a:rPr lang="en-US" sz="1200" dirty="0" err="1">
                <a:solidFill>
                  <a:schemeClr val="tx1">
                    <a:lumMod val="50000"/>
                  </a:schemeClr>
                </a:solidFill>
              </a:rPr>
              <a:t>Chembiofusion</a:t>
            </a:r>
            <a:r>
              <a:rPr lang="en-US" sz="1200" dirty="0">
                <a:solidFill>
                  <a:schemeClr val="tx1">
                    <a:lumMod val="50000"/>
                  </a:schemeClr>
                </a:solidFill>
              </a:rPr>
              <a:t>)</a:t>
            </a:r>
          </a:p>
          <a:p>
            <a:pPr marL="400050" lvl="1" indent="0">
              <a:buNone/>
            </a:pPr>
            <a:r>
              <a:rPr lang="en-US" sz="1200" dirty="0">
                <a:solidFill>
                  <a:schemeClr val="tx1">
                    <a:lumMod val="50000"/>
                  </a:schemeClr>
                </a:solidFill>
              </a:rPr>
              <a:t>Stefan </a:t>
            </a:r>
            <a:r>
              <a:rPr lang="en-US" sz="1200" dirty="0" err="1">
                <a:solidFill>
                  <a:schemeClr val="tx1">
                    <a:lumMod val="50000"/>
                  </a:schemeClr>
                </a:solidFill>
              </a:rPr>
              <a:t>Klostermann</a:t>
            </a:r>
            <a:r>
              <a:rPr lang="en-US" sz="1200" dirty="0">
                <a:solidFill>
                  <a:schemeClr val="tx1">
                    <a:lumMod val="50000"/>
                  </a:schemeClr>
                </a:solidFill>
              </a:rPr>
              <a:t> (Roche)</a:t>
            </a:r>
          </a:p>
          <a:p>
            <a:pPr marL="400050" lvl="1" indent="0">
              <a:buNone/>
            </a:pPr>
            <a:r>
              <a:rPr lang="en-US" sz="1200" dirty="0">
                <a:solidFill>
                  <a:schemeClr val="tx1">
                    <a:lumMod val="50000"/>
                  </a:schemeClr>
                </a:solidFill>
              </a:rPr>
              <a:t>Roland </a:t>
            </a:r>
            <a:r>
              <a:rPr lang="en-US" sz="1200" dirty="0" err="1">
                <a:solidFill>
                  <a:schemeClr val="tx1">
                    <a:lumMod val="50000"/>
                  </a:schemeClr>
                </a:solidFill>
              </a:rPr>
              <a:t>Knispel</a:t>
            </a:r>
            <a:r>
              <a:rPr lang="en-US" sz="1200" dirty="0">
                <a:solidFill>
                  <a:schemeClr val="tx1">
                    <a:lumMod val="50000"/>
                  </a:schemeClr>
                </a:solidFill>
              </a:rPr>
              <a:t> (ChemAxon)</a:t>
            </a:r>
          </a:p>
          <a:p>
            <a:pPr marL="400050" lvl="1" indent="0">
              <a:buNone/>
            </a:pPr>
            <a:r>
              <a:rPr lang="en-US" sz="1200" dirty="0">
                <a:solidFill>
                  <a:schemeClr val="tx1">
                    <a:lumMod val="50000"/>
                  </a:schemeClr>
                </a:solidFill>
              </a:rPr>
              <a:t>Jeff Milton (</a:t>
            </a:r>
            <a:r>
              <a:rPr lang="en-US" sz="1200" dirty="0" err="1">
                <a:solidFill>
                  <a:schemeClr val="tx1">
                    <a:lumMod val="50000"/>
                  </a:schemeClr>
                </a:solidFill>
              </a:rPr>
              <a:t>Ionis</a:t>
            </a:r>
            <a:r>
              <a:rPr lang="en-US" sz="1200" dirty="0">
                <a:solidFill>
                  <a:schemeClr val="tx1">
                    <a:lumMod val="50000"/>
                  </a:schemeClr>
                </a:solidFill>
              </a:rPr>
              <a:t>)</a:t>
            </a:r>
          </a:p>
          <a:p>
            <a:pPr marL="400050" lvl="1" indent="0">
              <a:buNone/>
            </a:pPr>
            <a:r>
              <a:rPr lang="en-US" sz="1200" dirty="0">
                <a:solidFill>
                  <a:schemeClr val="tx1">
                    <a:lumMod val="50000"/>
                  </a:schemeClr>
                </a:solidFill>
              </a:rPr>
              <a:t>Sven Neumeyer (Novartis)</a:t>
            </a:r>
          </a:p>
          <a:p>
            <a:pPr marL="400050" lvl="1" indent="0">
              <a:buNone/>
            </a:pPr>
            <a:r>
              <a:rPr lang="en-US" sz="1200" dirty="0">
                <a:solidFill>
                  <a:schemeClr val="tx1">
                    <a:lumMod val="50000"/>
                  </a:schemeClr>
                </a:solidFill>
              </a:rPr>
              <a:t>Matthias Nolte (BMS)</a:t>
            </a:r>
          </a:p>
          <a:p>
            <a:pPr marL="400050" lvl="1" indent="0">
              <a:buNone/>
            </a:pPr>
            <a:r>
              <a:rPr lang="en-US" sz="1200" dirty="0">
                <a:solidFill>
                  <a:schemeClr val="tx1">
                    <a:lumMod val="50000"/>
                  </a:schemeClr>
                </a:solidFill>
              </a:rPr>
              <a:t>Yohann Potier (Novartis)</a:t>
            </a:r>
          </a:p>
          <a:p>
            <a:pPr marL="400050" lvl="1" indent="0">
              <a:buNone/>
            </a:pPr>
            <a:r>
              <a:rPr lang="en-US" sz="1200" dirty="0">
                <a:solidFill>
                  <a:schemeClr val="tx1">
                    <a:lumMod val="50000"/>
                  </a:schemeClr>
                </a:solidFill>
              </a:rPr>
              <a:t>Joann </a:t>
            </a:r>
            <a:r>
              <a:rPr lang="en-US" sz="1200" dirty="0" err="1">
                <a:solidFill>
                  <a:schemeClr val="tx1">
                    <a:lumMod val="50000"/>
                  </a:schemeClr>
                </a:solidFill>
              </a:rPr>
              <a:t>Precott</a:t>
            </a:r>
            <a:r>
              <a:rPr lang="en-US" sz="1200" dirty="0">
                <a:solidFill>
                  <a:schemeClr val="tx1">
                    <a:lumMod val="50000"/>
                  </a:schemeClr>
                </a:solidFill>
              </a:rPr>
              <a:t>-Roy (Novartis)</a:t>
            </a:r>
          </a:p>
          <a:p>
            <a:pPr marL="400050" lvl="1" indent="0">
              <a:buNone/>
            </a:pPr>
            <a:r>
              <a:rPr lang="en-US" sz="1200" dirty="0">
                <a:solidFill>
                  <a:schemeClr val="tx1">
                    <a:lumMod val="50000"/>
                  </a:schemeClr>
                </a:solidFill>
              </a:rPr>
              <a:t>Eric Swayze (</a:t>
            </a:r>
            <a:r>
              <a:rPr lang="en-US" sz="1200" dirty="0" err="1">
                <a:solidFill>
                  <a:schemeClr val="tx1">
                    <a:lumMod val="50000"/>
                  </a:schemeClr>
                </a:solidFill>
              </a:rPr>
              <a:t>Ionis</a:t>
            </a:r>
            <a:r>
              <a:rPr lang="en-US" sz="1200" dirty="0">
                <a:solidFill>
                  <a:schemeClr val="tx1">
                    <a:lumMod val="50000"/>
                  </a:schemeClr>
                </a:solidFill>
              </a:rPr>
              <a:t>)</a:t>
            </a:r>
          </a:p>
          <a:p>
            <a:pPr marL="400050" lvl="1" indent="0">
              <a:buNone/>
            </a:pPr>
            <a:r>
              <a:rPr lang="en-US" sz="1200" dirty="0">
                <a:solidFill>
                  <a:schemeClr val="tx1">
                    <a:lumMod val="50000"/>
                  </a:schemeClr>
                </a:solidFill>
              </a:rPr>
              <a:t>Markus Weisser (</a:t>
            </a:r>
            <a:r>
              <a:rPr lang="en-US" sz="1200" dirty="0" err="1">
                <a:solidFill>
                  <a:schemeClr val="tx1">
                    <a:lumMod val="50000"/>
                  </a:schemeClr>
                </a:solidFill>
              </a:rPr>
              <a:t>quattro</a:t>
            </a:r>
            <a:r>
              <a:rPr lang="en-US" sz="1200" dirty="0">
                <a:solidFill>
                  <a:schemeClr val="tx1">
                    <a:lumMod val="50000"/>
                  </a:schemeClr>
                </a:solidFill>
              </a:rPr>
              <a:t>)</a:t>
            </a:r>
          </a:p>
          <a:p>
            <a:pPr marL="400050" lvl="1" indent="0">
              <a:buNone/>
            </a:pPr>
            <a:r>
              <a:rPr lang="en-US" sz="1200" dirty="0">
                <a:solidFill>
                  <a:schemeClr val="tx1">
                    <a:lumMod val="50000"/>
                  </a:schemeClr>
                </a:solidFill>
              </a:rPr>
              <a:t>Tianhong Zhang (Pfizer)</a:t>
            </a:r>
          </a:p>
          <a:p>
            <a:pPr marL="0" indent="0">
              <a:buNone/>
            </a:pPr>
            <a:endParaRPr lang="en-US" sz="1600" b="1" dirty="0" smtClean="0">
              <a:solidFill>
                <a:schemeClr val="tx1">
                  <a:lumMod val="50000"/>
                </a:schemeClr>
              </a:solidFill>
            </a:endParaRPr>
          </a:p>
        </p:txBody>
      </p:sp>
      <p:sp>
        <p:nvSpPr>
          <p:cNvPr id="5" name="Slide Number Placeholder 22"/>
          <p:cNvSpPr>
            <a:spLocks noGrp="1"/>
          </p:cNvSpPr>
          <p:nvPr>
            <p:ph type="sldNum" sz="quarter" idx="12"/>
          </p:nvPr>
        </p:nvSpPr>
        <p:spPr/>
        <p:txBody>
          <a:bodyPr/>
          <a:lstStyle/>
          <a:p>
            <a:fld id="{28ED40A3-BEA1-2645-9E17-452BD130FCD0}" type="slidenum">
              <a:rPr lang="en-US" smtClean="0"/>
              <a:pPr/>
              <a:t>38</a:t>
            </a:fld>
            <a:endParaRPr lang="en-US" dirty="0"/>
          </a:p>
        </p:txBody>
      </p:sp>
      <p:sp>
        <p:nvSpPr>
          <p:cNvPr id="8" name="TextBox 7"/>
          <p:cNvSpPr txBox="1"/>
          <p:nvPr/>
        </p:nvSpPr>
        <p:spPr>
          <a:xfrm>
            <a:off x="6816080" y="-1225109"/>
            <a:ext cx="5184576" cy="307777"/>
          </a:xfrm>
          <a:prstGeom prst="rect">
            <a:avLst/>
          </a:prstGeom>
          <a:noFill/>
          <a:ln>
            <a:solidFill>
              <a:srgbClr val="3366FF"/>
            </a:solidFill>
          </a:ln>
        </p:spPr>
        <p:txBody>
          <a:bodyPr wrap="square" rtlCol="0">
            <a:spAutoFit/>
          </a:bodyPr>
          <a:lstStyle/>
          <a:p>
            <a:endParaRPr lang="en-US" sz="1400" dirty="0">
              <a:solidFill>
                <a:schemeClr val="tx1">
                  <a:lumMod val="50000"/>
                </a:schemeClr>
              </a:solidFill>
            </a:endParaRPr>
          </a:p>
        </p:txBody>
      </p:sp>
      <p:sp>
        <p:nvSpPr>
          <p:cNvPr id="9" name="Content Placeholder 3"/>
          <p:cNvSpPr txBox="1">
            <a:spLocks/>
          </p:cNvSpPr>
          <p:nvPr/>
        </p:nvSpPr>
        <p:spPr>
          <a:xfrm>
            <a:off x="5879976" y="1484785"/>
            <a:ext cx="4248472" cy="487156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b="0" i="0" kern="1200">
                <a:solidFill>
                  <a:srgbClr val="4C5156"/>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4C5156"/>
                </a:solidFill>
                <a:latin typeface="Arial"/>
                <a:ea typeface="+mn-ea"/>
                <a:cs typeface="Arial"/>
              </a:defRPr>
            </a:lvl2pPr>
            <a:lvl3pPr marL="1143000" indent="-228600" algn="l" defTabSz="457200" rtl="0" eaLnBrk="1" latinLnBrk="0" hangingPunct="1">
              <a:spcBef>
                <a:spcPct val="20000"/>
              </a:spcBef>
              <a:buFont typeface="Arial"/>
              <a:buChar char="•"/>
              <a:defRPr sz="2000" b="0" i="0" kern="1200">
                <a:solidFill>
                  <a:srgbClr val="4C5156"/>
                </a:solidFill>
                <a:latin typeface="Arial"/>
                <a:ea typeface="+mn-ea"/>
                <a:cs typeface="Arial"/>
              </a:defRPr>
            </a:lvl3pPr>
            <a:lvl4pPr marL="16002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4pPr>
            <a:lvl5pPr marL="2057400" indent="-228600" algn="l" defTabSz="457200" rtl="0" eaLnBrk="1" latinLnBrk="0" hangingPunct="1">
              <a:spcBef>
                <a:spcPct val="20000"/>
              </a:spcBef>
              <a:buFont typeface="Arial"/>
              <a:buChar char="»"/>
              <a:defRPr sz="1800" b="0" i="0" kern="1200">
                <a:solidFill>
                  <a:srgbClr val="4C5156"/>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400" b="1" dirty="0">
                <a:solidFill>
                  <a:schemeClr val="tx1">
                    <a:lumMod val="50000"/>
                  </a:schemeClr>
                </a:solidFill>
              </a:rPr>
              <a:t>Steering Committee</a:t>
            </a:r>
          </a:p>
          <a:p>
            <a:pPr marL="400050" lvl="1" indent="0">
              <a:buNone/>
            </a:pPr>
            <a:r>
              <a:rPr lang="en-US" sz="1200" dirty="0">
                <a:solidFill>
                  <a:schemeClr val="tx1">
                    <a:lumMod val="50000"/>
                  </a:schemeClr>
                </a:solidFill>
              </a:rPr>
              <a:t>Margret </a:t>
            </a:r>
            <a:r>
              <a:rPr lang="en-US" sz="1200" dirty="0" err="1">
                <a:solidFill>
                  <a:schemeClr val="tx1">
                    <a:lumMod val="50000"/>
                  </a:schemeClr>
                </a:solidFill>
              </a:rPr>
              <a:t>Assfalg</a:t>
            </a:r>
            <a:r>
              <a:rPr lang="en-US" sz="1200" dirty="0">
                <a:solidFill>
                  <a:schemeClr val="tx1">
                    <a:lumMod val="50000"/>
                  </a:schemeClr>
                </a:solidFill>
              </a:rPr>
              <a:t> (Roche)</a:t>
            </a:r>
          </a:p>
          <a:p>
            <a:pPr marL="400050" lvl="1" indent="0">
              <a:buNone/>
            </a:pPr>
            <a:r>
              <a:rPr lang="en-US" sz="1200" dirty="0">
                <a:solidFill>
                  <a:schemeClr val="tx1">
                    <a:lumMod val="50000"/>
                  </a:schemeClr>
                </a:solidFill>
              </a:rPr>
              <a:t>David Nirschl (BMS)</a:t>
            </a:r>
          </a:p>
          <a:p>
            <a:pPr marL="400050" lvl="1" indent="0">
              <a:buNone/>
            </a:pPr>
            <a:r>
              <a:rPr lang="en-US" sz="1200" dirty="0" err="1">
                <a:solidFill>
                  <a:schemeClr val="tx1">
                    <a:lumMod val="50000"/>
                  </a:schemeClr>
                </a:solidFill>
              </a:rPr>
              <a:t>Ranjeeva</a:t>
            </a:r>
            <a:r>
              <a:rPr lang="en-US" sz="1200" dirty="0">
                <a:solidFill>
                  <a:schemeClr val="tx1">
                    <a:lumMod val="50000"/>
                  </a:schemeClr>
                </a:solidFill>
              </a:rPr>
              <a:t> </a:t>
            </a:r>
            <a:r>
              <a:rPr lang="en-US" sz="1200" dirty="0" err="1">
                <a:solidFill>
                  <a:schemeClr val="tx1">
                    <a:lumMod val="50000"/>
                  </a:schemeClr>
                </a:solidFill>
              </a:rPr>
              <a:t>Ramasinghe</a:t>
            </a:r>
            <a:r>
              <a:rPr lang="en-US" sz="1200" dirty="0">
                <a:solidFill>
                  <a:schemeClr val="tx1">
                    <a:lumMod val="50000"/>
                  </a:schemeClr>
                </a:solidFill>
              </a:rPr>
              <a:t> (GSK)  </a:t>
            </a:r>
          </a:p>
          <a:p>
            <a:pPr marL="400050" lvl="1" indent="0">
              <a:buNone/>
            </a:pPr>
            <a:r>
              <a:rPr lang="en-US" sz="1200" dirty="0">
                <a:solidFill>
                  <a:schemeClr val="tx1">
                    <a:lumMod val="50000"/>
                  </a:schemeClr>
                </a:solidFill>
              </a:rPr>
              <a:t>Sergio </a:t>
            </a:r>
            <a:r>
              <a:rPr lang="en-US" sz="1200" dirty="0" err="1">
                <a:solidFill>
                  <a:schemeClr val="tx1">
                    <a:lumMod val="50000"/>
                  </a:schemeClr>
                </a:solidFill>
              </a:rPr>
              <a:t>Rotstein</a:t>
            </a:r>
            <a:r>
              <a:rPr lang="en-US" sz="1200" dirty="0">
                <a:solidFill>
                  <a:schemeClr val="tx1">
                    <a:lumMod val="50000"/>
                  </a:schemeClr>
                </a:solidFill>
              </a:rPr>
              <a:t> (Pfizer) </a:t>
            </a:r>
          </a:p>
          <a:p>
            <a:pPr marL="400050" lvl="1" indent="0">
              <a:buNone/>
            </a:pPr>
            <a:r>
              <a:rPr lang="en-US" sz="1200" dirty="0">
                <a:solidFill>
                  <a:schemeClr val="tx1">
                    <a:lumMod val="50000"/>
                  </a:schemeClr>
                </a:solidFill>
              </a:rPr>
              <a:t>Eric Swayze (</a:t>
            </a:r>
            <a:r>
              <a:rPr lang="en-US" sz="1200" dirty="0" err="1">
                <a:solidFill>
                  <a:schemeClr val="tx1">
                    <a:lumMod val="50000"/>
                  </a:schemeClr>
                </a:solidFill>
              </a:rPr>
              <a:t>Ionis</a:t>
            </a:r>
            <a:r>
              <a:rPr lang="en-US" sz="1200" dirty="0">
                <a:solidFill>
                  <a:schemeClr val="tx1">
                    <a:lumMod val="50000"/>
                  </a:schemeClr>
                </a:solidFill>
              </a:rPr>
              <a:t>)</a:t>
            </a:r>
          </a:p>
          <a:p>
            <a:pPr marL="400050" lvl="1" indent="0">
              <a:buNone/>
            </a:pPr>
            <a:r>
              <a:rPr lang="en-US" sz="1200" dirty="0">
                <a:solidFill>
                  <a:schemeClr val="tx1">
                    <a:lumMod val="50000"/>
                  </a:schemeClr>
                </a:solidFill>
              </a:rPr>
              <a:t>John Wise (Pistoia Alliance)</a:t>
            </a:r>
          </a:p>
          <a:p>
            <a:pPr marL="400050" lvl="1" indent="0">
              <a:buNone/>
            </a:pPr>
            <a:r>
              <a:rPr lang="en-US" sz="1200" dirty="0" err="1">
                <a:solidFill>
                  <a:schemeClr val="tx1">
                    <a:lumMod val="50000"/>
                  </a:schemeClr>
                </a:solidFill>
              </a:rPr>
              <a:t>Quan</a:t>
            </a:r>
            <a:r>
              <a:rPr lang="en-US" sz="1200" dirty="0">
                <a:solidFill>
                  <a:schemeClr val="tx1">
                    <a:lumMod val="50000"/>
                  </a:schemeClr>
                </a:solidFill>
              </a:rPr>
              <a:t> Yang (Novartis)</a:t>
            </a:r>
          </a:p>
          <a:p>
            <a:pPr marL="0" indent="0">
              <a:buNone/>
            </a:pPr>
            <a:endParaRPr lang="en-US" sz="1400" b="1" dirty="0" smtClean="0"/>
          </a:p>
          <a:p>
            <a:pPr marL="0" indent="0">
              <a:buNone/>
            </a:pPr>
            <a:r>
              <a:rPr lang="en-US" sz="1400" b="1" dirty="0" smtClean="0"/>
              <a:t>Pfizer Team</a:t>
            </a:r>
          </a:p>
          <a:p>
            <a:pPr marL="400050" lvl="1" indent="0">
              <a:buNone/>
            </a:pPr>
            <a:r>
              <a:rPr lang="en-US" sz="1200" dirty="0" smtClean="0"/>
              <a:t>Peter </a:t>
            </a:r>
            <a:r>
              <a:rPr lang="en-US" sz="1200" dirty="0" err="1" smtClean="0"/>
              <a:t>Henstock</a:t>
            </a:r>
            <a:endParaRPr lang="en-US" sz="1200" dirty="0" smtClean="0"/>
          </a:p>
          <a:p>
            <a:pPr marL="400050" lvl="1" indent="0">
              <a:buNone/>
            </a:pPr>
            <a:r>
              <a:rPr lang="en-US" sz="1200" dirty="0" smtClean="0"/>
              <a:t>David </a:t>
            </a:r>
            <a:r>
              <a:rPr lang="en-US" sz="1200" dirty="0" err="1" smtClean="0"/>
              <a:t>Klatte</a:t>
            </a:r>
            <a:endParaRPr lang="en-US" sz="1200" dirty="0" smtClean="0"/>
          </a:p>
          <a:p>
            <a:pPr marL="400050" lvl="1" indent="0">
              <a:buNone/>
            </a:pPr>
            <a:r>
              <a:rPr lang="en-US" sz="1200" dirty="0" smtClean="0"/>
              <a:t>Christine Lawrence</a:t>
            </a:r>
          </a:p>
          <a:p>
            <a:pPr marL="400050" lvl="1" indent="0">
              <a:buNone/>
            </a:pPr>
            <a:r>
              <a:rPr lang="en-US" sz="1200" dirty="0" smtClean="0"/>
              <a:t>Frank </a:t>
            </a:r>
            <a:r>
              <a:rPr lang="en-US" sz="1200" dirty="0" err="1" smtClean="0"/>
              <a:t>Loganzo</a:t>
            </a:r>
            <a:endParaRPr lang="en-US" sz="1200" dirty="0" smtClean="0"/>
          </a:p>
          <a:p>
            <a:pPr marL="400050" lvl="1" indent="0">
              <a:buNone/>
            </a:pPr>
            <a:r>
              <a:rPr lang="en-US" sz="1200" dirty="0" err="1" smtClean="0"/>
              <a:t>Hongli</a:t>
            </a:r>
            <a:r>
              <a:rPr lang="en-US" sz="1200" dirty="0" smtClean="0"/>
              <a:t> Li</a:t>
            </a:r>
          </a:p>
          <a:p>
            <a:pPr marL="400050" lvl="1" indent="0">
              <a:buNone/>
            </a:pPr>
            <a:r>
              <a:rPr lang="en-US" sz="1200" dirty="0" smtClean="0"/>
              <a:t>Sergio </a:t>
            </a:r>
            <a:r>
              <a:rPr lang="en-US" sz="1200" dirty="0" err="1" smtClean="0"/>
              <a:t>Rotstein</a:t>
            </a:r>
            <a:endParaRPr lang="en-US" sz="1200" dirty="0" smtClean="0"/>
          </a:p>
          <a:p>
            <a:pPr marL="400050" lvl="1" indent="0">
              <a:buNone/>
            </a:pPr>
            <a:r>
              <a:rPr lang="en-US" sz="1200" dirty="0" smtClean="0"/>
              <a:t>Simone </a:t>
            </a:r>
            <a:r>
              <a:rPr lang="en-US" sz="1200" dirty="0" err="1" smtClean="0"/>
              <a:t>Sciabola</a:t>
            </a:r>
            <a:endParaRPr lang="en-US" sz="1200" dirty="0" smtClean="0"/>
          </a:p>
          <a:p>
            <a:pPr marL="400050" lvl="1" indent="0">
              <a:buNone/>
            </a:pPr>
            <a:r>
              <a:rPr lang="en-US" sz="1200" dirty="0" smtClean="0"/>
              <a:t>Rob Stanton</a:t>
            </a:r>
          </a:p>
          <a:p>
            <a:pPr marL="400050" lvl="1" indent="0">
              <a:buNone/>
            </a:pPr>
            <a:r>
              <a:rPr lang="en-US" sz="1200" dirty="0" smtClean="0"/>
              <a:t>Nathan </a:t>
            </a:r>
            <a:r>
              <a:rPr lang="en-US" sz="1200" dirty="0" err="1" smtClean="0"/>
              <a:t>Tumey</a:t>
            </a:r>
            <a:endParaRPr lang="en-US" sz="1200" dirty="0" smtClean="0"/>
          </a:p>
          <a:p>
            <a:pPr marL="400050" lvl="1" indent="0">
              <a:buNone/>
            </a:pPr>
            <a:r>
              <a:rPr lang="en-US" sz="1200" dirty="0" smtClean="0"/>
              <a:t>Simon Xi</a:t>
            </a:r>
          </a:p>
          <a:p>
            <a:pPr marL="400050" lvl="1" indent="0">
              <a:buNone/>
            </a:pPr>
            <a:r>
              <a:rPr lang="en-US" sz="1200" dirty="0" smtClean="0"/>
              <a:t>Tianhong Zhang</a:t>
            </a:r>
            <a:endParaRPr lang="en-US" sz="1200" dirty="0"/>
          </a:p>
        </p:txBody>
      </p:sp>
    </p:spTree>
    <p:extLst>
      <p:ext uri="{BB962C8B-B14F-4D97-AF65-F5344CB8AC3E}">
        <p14:creationId xmlns:p14="http://schemas.microsoft.com/office/powerpoint/2010/main" val="1702091863"/>
      </p:ext>
    </p:extLst>
  </p:cSld>
  <p:clrMapOvr>
    <a:masterClrMapping/>
  </p:clrMapOvr>
  <mc:AlternateContent xmlns:mc="http://schemas.openxmlformats.org/markup-compatibility/2006" xmlns:p14="http://schemas.microsoft.com/office/powerpoint/2010/main">
    <mc:Choice Requires="p14">
      <p:transition spd="slow" p14:dur="1250" advTm="45371">
        <p:fade/>
      </p:transition>
    </mc:Choice>
    <mc:Fallback xmlns="">
      <p:transition spd="slow" advTm="45371">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a:spLocks noGrp="1"/>
          </p:cNvSpPr>
          <p:nvPr/>
        </p:nvSpPr>
        <p:spPr>
          <a:xfrm>
            <a:off x="8252421" y="5119486"/>
            <a:ext cx="3221604" cy="685800"/>
          </a:xfrm>
          <a:prstGeom prst="rect">
            <a:avLst/>
          </a:prstGeom>
        </p:spPr>
        <p:txBody>
          <a:bodyPr vert="horz" lIns="91440" tIns="45720" rIns="91440" bIns="45720" rtlCol="0" anchor="ctr" anchorCtr="0">
            <a:noAutofit/>
          </a:bodyPr>
          <a:lstStyle>
            <a:defPPr>
              <a:defRPr lang="en-US"/>
            </a:defPPr>
            <a:lvl1pPr marL="0" algn="l" defTabSz="457200" rtl="0" eaLnBrk="1" latinLnBrk="0" hangingPunct="1">
              <a:defRPr sz="1000" kern="1200">
                <a:solidFill>
                  <a:srgbClr val="4C5156"/>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1400" b="1" dirty="0" smtClean="0">
                <a:solidFill>
                  <a:schemeClr val="bg2">
                    <a:lumMod val="10000"/>
                  </a:schemeClr>
                </a:solidFill>
              </a:rPr>
              <a:t>Pistoia HELM contact:</a:t>
            </a:r>
          </a:p>
          <a:p>
            <a:r>
              <a:rPr lang="en-GB" sz="1400" b="1" dirty="0" smtClean="0">
                <a:solidFill>
                  <a:schemeClr val="bg2">
                    <a:lumMod val="10000"/>
                  </a:schemeClr>
                </a:solidFill>
              </a:rPr>
              <a:t>Claire.Bellamy@pistoiaalliance.org</a:t>
            </a:r>
            <a:endParaRPr lang="en-GB" sz="1400" b="1" dirty="0">
              <a:solidFill>
                <a:schemeClr val="bg2">
                  <a:lumMod val="10000"/>
                </a:schemeClr>
              </a:solidFill>
            </a:endParaRPr>
          </a:p>
        </p:txBody>
      </p:sp>
      <p:pic>
        <p:nvPicPr>
          <p:cNvPr id="9" name="Picture 8" descr="HELM_logo_full_rgb.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56240" y="4005064"/>
            <a:ext cx="3217785" cy="1055704"/>
          </a:xfrm>
          <a:prstGeom prst="rect">
            <a:avLst/>
          </a:prstGeom>
        </p:spPr>
      </p:pic>
      <p:sp>
        <p:nvSpPr>
          <p:cNvPr id="10" name="Rectangle 9"/>
          <p:cNvSpPr/>
          <p:nvPr/>
        </p:nvSpPr>
        <p:spPr>
          <a:xfrm>
            <a:off x="8252421" y="5805286"/>
            <a:ext cx="3221604" cy="523220"/>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solidFill>
                  <a:schemeClr val="bg2">
                    <a:lumMod val="10000"/>
                  </a:schemeClr>
                </a:solidFill>
                <a:latin typeface="Arial" panose="020B0604020202020204" pitchFamily="34" charset="0"/>
                <a:cs typeface="Arial" panose="020B0604020202020204" pitchFamily="34" charset="0"/>
              </a:rPr>
              <a:t>www.OpenHelm.org</a:t>
            </a:r>
            <a:br>
              <a:rPr lang="en-US" sz="1400" b="1" dirty="0">
                <a:solidFill>
                  <a:schemeClr val="bg2">
                    <a:lumMod val="10000"/>
                  </a:schemeClr>
                </a:solidFill>
                <a:latin typeface="Arial" panose="020B0604020202020204" pitchFamily="34" charset="0"/>
                <a:cs typeface="Arial" panose="020B0604020202020204" pitchFamily="34" charset="0"/>
              </a:rPr>
            </a:br>
            <a:r>
              <a:rPr lang="en-US" sz="1400" b="1" dirty="0">
                <a:solidFill>
                  <a:schemeClr val="bg2">
                    <a:lumMod val="10000"/>
                  </a:schemeClr>
                </a:solidFill>
                <a:latin typeface="Arial" panose="020B0604020202020204" pitchFamily="34" charset="0"/>
                <a:cs typeface="Arial" panose="020B0604020202020204" pitchFamily="34" charset="0"/>
              </a:rPr>
              <a:t>info@openhelm.org</a:t>
            </a:r>
          </a:p>
        </p:txBody>
      </p:sp>
      <p:sp>
        <p:nvSpPr>
          <p:cNvPr id="2" name="TextBox 1"/>
          <p:cNvSpPr txBox="1"/>
          <p:nvPr/>
        </p:nvSpPr>
        <p:spPr>
          <a:xfrm>
            <a:off x="767408" y="1844824"/>
            <a:ext cx="1847942" cy="523220"/>
          </a:xfrm>
          <a:prstGeom prst="rect">
            <a:avLst/>
          </a:prstGeom>
          <a:noFill/>
        </p:spPr>
        <p:txBody>
          <a:bodyPr wrap="none" rtlCol="0">
            <a:spAutoFit/>
          </a:bodyPr>
          <a:lstStyle/>
          <a:p>
            <a:r>
              <a:rPr lang="en-US" sz="2800" b="1" dirty="0" smtClean="0"/>
              <a:t>Thank you!</a:t>
            </a:r>
            <a:endParaRPr lang="en-US" sz="2800" b="1" dirty="0"/>
          </a:p>
        </p:txBody>
      </p:sp>
    </p:spTree>
    <p:extLst>
      <p:ext uri="{BB962C8B-B14F-4D97-AF65-F5344CB8AC3E}">
        <p14:creationId xmlns:p14="http://schemas.microsoft.com/office/powerpoint/2010/main" val="1201340582"/>
      </p:ext>
    </p:extLst>
  </p:cSld>
  <p:clrMapOvr>
    <a:masterClrMapping/>
  </p:clrMapOvr>
  <mc:AlternateContent xmlns:mc="http://schemas.openxmlformats.org/markup-compatibility/2006" xmlns:p14="http://schemas.microsoft.com/office/powerpoint/2010/main">
    <mc:Choice Requires="p14">
      <p:transition spd="slow" p14:dur="1250" advTm="8352">
        <p:fade/>
      </p:transition>
    </mc:Choice>
    <mc:Fallback xmlns="">
      <p:transition spd="slow" advTm="8352">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GB" dirty="0"/>
              <a:t>Claire.Bellamy@pistoiaalliance.org</a:t>
            </a:r>
          </a:p>
        </p:txBody>
      </p:sp>
      <p:sp>
        <p:nvSpPr>
          <p:cNvPr id="3" name="Content Placeholder 2"/>
          <p:cNvSpPr>
            <a:spLocks noGrp="1"/>
          </p:cNvSpPr>
          <p:nvPr>
            <p:ph sz="quarter" idx="11"/>
          </p:nvPr>
        </p:nvSpPr>
        <p:spPr/>
        <p:txBody>
          <a:bodyPr/>
          <a:lstStyle/>
          <a:p>
            <a:r>
              <a:rPr lang="en-GB" dirty="0" smtClean="0"/>
              <a:t>@</a:t>
            </a:r>
            <a:r>
              <a:rPr lang="en-GB" dirty="0" err="1" smtClean="0"/>
              <a:t>pistoiaalliance</a:t>
            </a:r>
            <a:endParaRPr lang="en-GB" dirty="0"/>
          </a:p>
        </p:txBody>
      </p:sp>
      <p:sp>
        <p:nvSpPr>
          <p:cNvPr id="4" name="Content Placeholder 3"/>
          <p:cNvSpPr>
            <a:spLocks noGrp="1"/>
          </p:cNvSpPr>
          <p:nvPr>
            <p:ph sz="quarter" idx="12"/>
          </p:nvPr>
        </p:nvSpPr>
        <p:spPr/>
        <p:txBody>
          <a:bodyPr/>
          <a:lstStyle/>
          <a:p>
            <a:r>
              <a:rPr lang="en-GB" dirty="0" smtClean="0"/>
              <a:t>www.pistoiaalliance.org</a:t>
            </a:r>
            <a:endParaRPr lang="en-GB" dirty="0"/>
          </a:p>
        </p:txBody>
      </p:sp>
      <p:sp>
        <p:nvSpPr>
          <p:cNvPr id="5" name="Text Placeholder 4"/>
          <p:cNvSpPr>
            <a:spLocks noGrp="1"/>
          </p:cNvSpPr>
          <p:nvPr>
            <p:ph type="body" sz="quarter" idx="13"/>
          </p:nvPr>
        </p:nvSpPr>
        <p:spPr>
          <a:xfrm>
            <a:off x="3496816" y="4916016"/>
            <a:ext cx="5198368" cy="457200"/>
          </a:xfrm>
        </p:spPr>
        <p:txBody>
          <a:bodyPr/>
          <a:lstStyle/>
          <a:p>
            <a:r>
              <a:rPr lang="en-GB" dirty="0"/>
              <a:t>Thank you</a:t>
            </a:r>
          </a:p>
        </p:txBody>
      </p:sp>
    </p:spTree>
    <p:extLst>
      <p:ext uri="{BB962C8B-B14F-4D97-AF65-F5344CB8AC3E}">
        <p14:creationId xmlns:p14="http://schemas.microsoft.com/office/powerpoint/2010/main" val="2887119880"/>
      </p:ext>
    </p:extLst>
  </p:cSld>
  <p:clrMapOvr>
    <a:masterClrMapping/>
  </p:clrMapOvr>
  <mc:AlternateContent xmlns:mc="http://schemas.openxmlformats.org/markup-compatibility/2006" xmlns:p14="http://schemas.microsoft.com/office/powerpoint/2010/main">
    <mc:Choice Requires="p14">
      <p:transition spd="slow" p14:dur="1250" advTm="455">
        <p:fade/>
      </p:transition>
    </mc:Choice>
    <mc:Fallback xmlns="">
      <p:transition spd="slow" advTm="455">
        <p:fade/>
      </p:transition>
    </mc:Fallback>
  </mc:AlternateContent>
  <p:timing>
    <p:tnLst>
      <p:par>
        <p:cTn id="1" dur="indefinite" restart="never" nodeType="tmRoot"/>
      </p:par>
    </p:tnLst>
  </p:timing>
</p:sld>
</file>

<file path=ppt/theme/theme1.xml><?xml version="1.0" encoding="utf-8"?>
<a:theme xmlns:a="http://schemas.openxmlformats.org/drawingml/2006/main" name="Pistoia Content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28575">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theme>
</file>

<file path=ppt/theme/theme2.xml><?xml version="1.0" encoding="utf-8"?>
<a:theme xmlns:a="http://schemas.openxmlformats.org/drawingml/2006/main" name="Pistoia Alliance Theme">
  <a:themeElements>
    <a:clrScheme name="Pistoia">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Pistoia Alliance">
      <a:dk1>
        <a:srgbClr val="666E71"/>
      </a:dk1>
      <a:lt1>
        <a:sysClr val="window" lastClr="FFFFFF"/>
      </a:lt1>
      <a:dk2>
        <a:srgbClr val="258B95"/>
      </a:dk2>
      <a:lt2>
        <a:srgbClr val="FFFFFE"/>
      </a:lt2>
      <a:accent1>
        <a:srgbClr val="FDDC70"/>
      </a:accent1>
      <a:accent2>
        <a:srgbClr val="B1AE82"/>
      </a:accent2>
      <a:accent3>
        <a:srgbClr val="C3DC8F"/>
      </a:accent3>
      <a:accent4>
        <a:srgbClr val="95CCB2"/>
      </a:accent4>
      <a:accent5>
        <a:srgbClr val="E5826E"/>
      </a:accent5>
      <a:accent6>
        <a:srgbClr val="FFFFFE"/>
      </a:accent6>
      <a:hlink>
        <a:srgbClr val="258B95"/>
      </a:hlink>
      <a:folHlink>
        <a:srgbClr val="95CC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2016_11_08 HELM Project Team Meeting</Template>
  <TotalTime>14702</TotalTime>
  <Words>2254</Words>
  <Application>Microsoft Office PowerPoint</Application>
  <PresentationFormat>Widescreen</PresentationFormat>
  <Paragraphs>545</Paragraphs>
  <Slides>40</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40</vt:i4>
      </vt:variant>
    </vt:vector>
  </HeadingPairs>
  <TitlesOfParts>
    <vt:vector size="50" baseType="lpstr">
      <vt:lpstr>MS PGothic</vt:lpstr>
      <vt:lpstr>MS PGothic</vt:lpstr>
      <vt:lpstr>Arial</vt:lpstr>
      <vt:lpstr>Calibri</vt:lpstr>
      <vt:lpstr>Consolas</vt:lpstr>
      <vt:lpstr>Courier New</vt:lpstr>
      <vt:lpstr>Open Sans Light</vt:lpstr>
      <vt:lpstr>Trebuchet MS</vt:lpstr>
      <vt:lpstr>Pistoia Content Theme</vt:lpstr>
      <vt:lpstr>Pistoia Alliance Theme</vt:lpstr>
      <vt:lpstr>Abstract</vt:lpstr>
      <vt:lpstr>HELM: an Open Standard for Biomolecule Structure Representation and Exchange</vt:lpstr>
      <vt:lpstr>Current challenges regarding the representation of biomolecules What is HELM? HELM in practice HELM in practice HELM in practice The HELM ecosystem  Current activities</vt:lpstr>
      <vt:lpstr>Current challenges regarding the representation of biomolecules What is HELM? HELM in practice HELM in practice HELM in practice The HELM ecosystem  Current activities</vt:lpstr>
      <vt:lpstr>Why Now?</vt:lpstr>
      <vt:lpstr>Why Now?</vt:lpstr>
      <vt:lpstr>So what is the problem?</vt:lpstr>
      <vt:lpstr>Biomolecules - Stuck in the middle…</vt:lpstr>
      <vt:lpstr>Mipomersen – As a Chemical Structure A homozygous familial hypercholesterolemia drug (IONIS)</vt:lpstr>
      <vt:lpstr>Mipomersen – As An Annotated Sequence </vt:lpstr>
      <vt:lpstr>Mipomersen – As A HELM Representation</vt:lpstr>
      <vt:lpstr>Mipomersen – As A HELM Representation</vt:lpstr>
      <vt:lpstr>Mipomersen – As A HELM Representation</vt:lpstr>
      <vt:lpstr>Current challenges regarding the representation of biomolecules What is HELM? HELM in practice HELM in practice HELM in practice The HELM ecosystem  Current activities</vt:lpstr>
      <vt:lpstr>Hierarchical Editing Language for Macromolecules</vt:lpstr>
      <vt:lpstr>Hierarchical Editing Language for Macromolecules</vt:lpstr>
      <vt:lpstr>Hierarchical Editing Language for Macromolecules</vt:lpstr>
      <vt:lpstr>Hierarchical Editing Language for Macromolecules</vt:lpstr>
      <vt:lpstr>Notation Format</vt:lpstr>
      <vt:lpstr>Notation Format</vt:lpstr>
      <vt:lpstr>HELM…</vt:lpstr>
      <vt:lpstr>So… mission completed?</vt:lpstr>
      <vt:lpstr>Monomer Ambiguity</vt:lpstr>
      <vt:lpstr>Other Ambiguity Types</vt:lpstr>
      <vt:lpstr>Ambiguity - Kadcyla</vt:lpstr>
      <vt:lpstr>HELM notation - Kadcyla</vt:lpstr>
      <vt:lpstr>Current challenges regarding the representation of biomolecules What is HELM? HELM in practice HELM in practice  The HELM ecosystem  Current activities</vt:lpstr>
      <vt:lpstr>HELM Project</vt:lpstr>
      <vt:lpstr>HELM Open Source Tools</vt:lpstr>
      <vt:lpstr>HELM Antibody Editor (HAbE)</vt:lpstr>
      <vt:lpstr>Current challenges regarding the representation of biomolecules What is HELM? HELM in practice HELM in practice  The HELM ecosystem  Current activities</vt:lpstr>
      <vt:lpstr>The HELM Ecosystem</vt:lpstr>
      <vt:lpstr>On-line information</vt:lpstr>
      <vt:lpstr>Current challenges regarding the representation of biomolecules What is HELM? HELM in practice HELM in practice  The HELM ecosystem  Current activities</vt:lpstr>
      <vt:lpstr>Monomer naming</vt:lpstr>
      <vt:lpstr>Monomer naming</vt:lpstr>
      <vt:lpstr>Ambiguity – a challenge </vt:lpstr>
      <vt:lpstr>Acknowledgements</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Pistoia Alliance HELM Project</dc:title>
  <dc:creator>Claire Bellamy</dc:creator>
  <cp:lastModifiedBy>Nolte, Matthias</cp:lastModifiedBy>
  <cp:revision>437</cp:revision>
  <cp:lastPrinted>2017-03-19T21:10:56Z</cp:lastPrinted>
  <dcterms:created xsi:type="dcterms:W3CDTF">2016-11-21T10:54:48Z</dcterms:created>
  <dcterms:modified xsi:type="dcterms:W3CDTF">2017-09-18T15:25:15Z</dcterms:modified>
</cp:coreProperties>
</file>