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4"/>
    <p:sldMasterId id="2147483776" r:id="rId5"/>
  </p:sldMasterIdLst>
  <p:notesMasterIdLst>
    <p:notesMasterId r:id="rId29"/>
  </p:notesMasterIdLst>
  <p:handoutMasterIdLst>
    <p:handoutMasterId r:id="rId30"/>
  </p:handoutMasterIdLst>
  <p:sldIdLst>
    <p:sldId id="363" r:id="rId6"/>
    <p:sldId id="310" r:id="rId7"/>
    <p:sldId id="332" r:id="rId8"/>
    <p:sldId id="331" r:id="rId9"/>
    <p:sldId id="356" r:id="rId10"/>
    <p:sldId id="346" r:id="rId11"/>
    <p:sldId id="287" r:id="rId12"/>
    <p:sldId id="350" r:id="rId13"/>
    <p:sldId id="351" r:id="rId14"/>
    <p:sldId id="352" r:id="rId15"/>
    <p:sldId id="357" r:id="rId16"/>
    <p:sldId id="365" r:id="rId17"/>
    <p:sldId id="364" r:id="rId18"/>
    <p:sldId id="359" r:id="rId19"/>
    <p:sldId id="318" r:id="rId20"/>
    <p:sldId id="340" r:id="rId21"/>
    <p:sldId id="358" r:id="rId22"/>
    <p:sldId id="345" r:id="rId23"/>
    <p:sldId id="362" r:id="rId24"/>
    <p:sldId id="361" r:id="rId25"/>
    <p:sldId id="366" r:id="rId26"/>
    <p:sldId id="343" r:id="rId27"/>
    <p:sldId id="355" r:id="rId28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5B"/>
    <a:srgbClr val="2B5CA3"/>
    <a:srgbClr val="4C5156"/>
    <a:srgbClr val="000000"/>
    <a:srgbClr val="6C6ACF"/>
    <a:srgbClr val="9C9CDE"/>
    <a:srgbClr val="202166"/>
    <a:srgbClr val="002060"/>
    <a:srgbClr val="C00000"/>
    <a:srgbClr val="213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7" autoAdjust="0"/>
    <p:restoredTop sz="94660"/>
  </p:normalViewPr>
  <p:slideViewPr>
    <p:cSldViewPr>
      <p:cViewPr varScale="1">
        <p:scale>
          <a:sx n="74" d="100"/>
          <a:sy n="74" d="100"/>
        </p:scale>
        <p:origin x="-1640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30" Type="http://schemas.openxmlformats.org/officeDocument/2006/relationships/handoutMaster" Target="handoutMasters/handoutMaster1.xml"/><Relationship Id="rId31" Type="http://schemas.openxmlformats.org/officeDocument/2006/relationships/printerSettings" Target="printerSettings/printerSettings1.bin"/><Relationship Id="rId32" Type="http://schemas.openxmlformats.org/officeDocument/2006/relationships/presProps" Target="presProps.xml"/><Relationship Id="rId9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436A6-4774-6D43-AE78-FBAE16B8DD8F}" type="datetimeFigureOut">
              <a:rPr lang="en-US" smtClean="0"/>
              <a:t>2/23/15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297AC-7BEE-6743-AEF2-89A2F22A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0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9AE17-F4F6-4742-A6F5-590E324539FA}" type="datetimeFigureOut">
              <a:rPr lang="en-US" smtClean="0"/>
              <a:t>2/23/15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Ignoring the small molecule</a:t>
            </a:r>
            <a:r>
              <a:rPr lang="en-US" baseline="0" dirty="0" smtClean="0"/>
              <a:t> part, HELM is the technology that lets you gracefully deal with all of these entities, unnatural derivatives of these entities and even *combinations* of these 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4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BEB4732-FA58-CB41-8D7F-63B5CE8B636C}" type="datetime3">
              <a:rPr lang="en-US" smtClean="0"/>
              <a:pPr/>
              <a:t>23 February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8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15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47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>
    <p:fade thruBlk="1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smtClean="0"/>
              <a:t>@</a:t>
            </a:r>
            <a:r>
              <a:rPr lang="en-GB" dirty="0" err="1" smtClean="0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thank you message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</a:rPr>
              <a:t>http://</a:t>
            </a:r>
            <a:r>
              <a:rPr lang="en-GB" sz="1400" b="1" dirty="0" err="1">
                <a:solidFill>
                  <a:srgbClr val="002060"/>
                </a:solidFill>
                <a:latin typeface="Trebuchet MS" pitchFamily="34" charset="0"/>
              </a:rPr>
              <a:t>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88179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February 2015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 smtClean="0">
                <a:solidFill>
                  <a:srgbClr val="4C5156"/>
                </a:solidFill>
              </a:rPr>
              <a:t>HELM Steering Committee 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Picture</a:t>
            </a:r>
            <a:endParaRPr lang="en-US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273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theme" Target="../theme/theme2.xml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</p:sldLayoutIdLst>
  <p:transition xmlns:p14="http://schemas.microsoft.com/office/powerpoint/2010/main" spd="med">
    <p:fade thruBlk="1"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6" r:id="rId9"/>
    <p:sldLayoutId id="2147483787" r:id="rId10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20" Type="http://schemas.openxmlformats.org/officeDocument/2006/relationships/image" Target="../media/image13.png"/><Relationship Id="rId21" Type="http://schemas.openxmlformats.org/officeDocument/2006/relationships/image" Target="../media/image14.png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slideLayout" Target="../slideLayouts/slideLayout15.xml"/><Relationship Id="rId16" Type="http://schemas.openxmlformats.org/officeDocument/2006/relationships/image" Target="../media/image9.jpeg"/><Relationship Id="rId17" Type="http://schemas.openxmlformats.org/officeDocument/2006/relationships/image" Target="../media/image10.png"/><Relationship Id="rId18" Type="http://schemas.openxmlformats.org/officeDocument/2006/relationships/image" Target="../media/image11.jpeg"/><Relationship Id="rId19" Type="http://schemas.openxmlformats.org/officeDocument/2006/relationships/image" Target="../media/image12.jpeg"/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5.wmf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oleObject" Target="../embeddings/oleObject1.bin"/><Relationship Id="rId9" Type="http://schemas.openxmlformats.org/officeDocument/2006/relationships/image" Target="../media/image19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jpe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jpg"/><Relationship Id="rId14" Type="http://schemas.openxmlformats.org/officeDocument/2006/relationships/image" Target="../media/image45.jpg"/><Relationship Id="rId15" Type="http://schemas.openxmlformats.org/officeDocument/2006/relationships/image" Target="../media/image46.png"/><Relationship Id="rId16" Type="http://schemas.openxmlformats.org/officeDocument/2006/relationships/image" Target="../media/image47.jpg"/><Relationship Id="rId17" Type="http://schemas.openxmlformats.org/officeDocument/2006/relationships/image" Target="../media/image48.jpg"/><Relationship Id="rId18" Type="http://schemas.openxmlformats.org/officeDocument/2006/relationships/image" Target="../media/image49.png"/><Relationship Id="rId19" Type="http://schemas.openxmlformats.org/officeDocument/2006/relationships/image" Target="../media/image50.jpg"/><Relationship Id="rId63" Type="http://schemas.openxmlformats.org/officeDocument/2006/relationships/image" Target="../media/image94.jpg"/><Relationship Id="rId64" Type="http://schemas.openxmlformats.org/officeDocument/2006/relationships/image" Target="../media/image95.png"/><Relationship Id="rId65" Type="http://schemas.openxmlformats.org/officeDocument/2006/relationships/image" Target="../media/image96.jpg"/><Relationship Id="rId66" Type="http://schemas.openxmlformats.org/officeDocument/2006/relationships/image" Target="../media/image97.png"/><Relationship Id="rId67" Type="http://schemas.openxmlformats.org/officeDocument/2006/relationships/image" Target="../media/image98.png"/><Relationship Id="rId68" Type="http://schemas.openxmlformats.org/officeDocument/2006/relationships/image" Target="../media/image99.png"/><Relationship Id="rId69" Type="http://schemas.openxmlformats.org/officeDocument/2006/relationships/image" Target="../media/image100.jp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jpg"/><Relationship Id="rId53" Type="http://schemas.openxmlformats.org/officeDocument/2006/relationships/image" Target="../media/image84.jpg"/><Relationship Id="rId54" Type="http://schemas.openxmlformats.org/officeDocument/2006/relationships/image" Target="../media/image85.png"/><Relationship Id="rId55" Type="http://schemas.openxmlformats.org/officeDocument/2006/relationships/image" Target="../media/image86.jpg"/><Relationship Id="rId56" Type="http://schemas.openxmlformats.org/officeDocument/2006/relationships/image" Target="../media/image87.jpg"/><Relationship Id="rId57" Type="http://schemas.openxmlformats.org/officeDocument/2006/relationships/image" Target="../media/image88.png"/><Relationship Id="rId58" Type="http://schemas.openxmlformats.org/officeDocument/2006/relationships/image" Target="../media/image89.png"/><Relationship Id="rId59" Type="http://schemas.openxmlformats.org/officeDocument/2006/relationships/image" Target="../media/image90.png"/><Relationship Id="rId40" Type="http://schemas.openxmlformats.org/officeDocument/2006/relationships/image" Target="../media/image71.jpg"/><Relationship Id="rId41" Type="http://schemas.openxmlformats.org/officeDocument/2006/relationships/image" Target="../media/image72.jpg"/><Relationship Id="rId42" Type="http://schemas.openxmlformats.org/officeDocument/2006/relationships/image" Target="../media/image73.jpg"/><Relationship Id="rId43" Type="http://schemas.openxmlformats.org/officeDocument/2006/relationships/image" Target="../media/image74.jpg"/><Relationship Id="rId44" Type="http://schemas.openxmlformats.org/officeDocument/2006/relationships/image" Target="../media/image75.jpg"/><Relationship Id="rId45" Type="http://schemas.openxmlformats.org/officeDocument/2006/relationships/image" Target="../media/image76.jpg"/><Relationship Id="rId46" Type="http://schemas.openxmlformats.org/officeDocument/2006/relationships/image" Target="../media/image77.jpg"/><Relationship Id="rId47" Type="http://schemas.openxmlformats.org/officeDocument/2006/relationships/image" Target="../media/image78.jpg"/><Relationship Id="rId48" Type="http://schemas.openxmlformats.org/officeDocument/2006/relationships/image" Target="../media/image79.png"/><Relationship Id="rId49" Type="http://schemas.openxmlformats.org/officeDocument/2006/relationships/image" Target="../media/image80.jp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jpg"/><Relationship Id="rId30" Type="http://schemas.openxmlformats.org/officeDocument/2006/relationships/image" Target="../media/image61.jpg"/><Relationship Id="rId31" Type="http://schemas.openxmlformats.org/officeDocument/2006/relationships/image" Target="../media/image62.gif"/><Relationship Id="rId32" Type="http://schemas.openxmlformats.org/officeDocument/2006/relationships/image" Target="../media/image63.png"/><Relationship Id="rId33" Type="http://schemas.openxmlformats.org/officeDocument/2006/relationships/image" Target="../media/image64.png"/><Relationship Id="rId34" Type="http://schemas.openxmlformats.org/officeDocument/2006/relationships/image" Target="../media/image65.png"/><Relationship Id="rId35" Type="http://schemas.openxmlformats.org/officeDocument/2006/relationships/image" Target="../media/image66.jpg"/><Relationship Id="rId36" Type="http://schemas.openxmlformats.org/officeDocument/2006/relationships/image" Target="../media/image67.jpg"/><Relationship Id="rId37" Type="http://schemas.openxmlformats.org/officeDocument/2006/relationships/image" Target="../media/image68.jpg"/><Relationship Id="rId38" Type="http://schemas.openxmlformats.org/officeDocument/2006/relationships/image" Target="../media/image69.jpg"/><Relationship Id="rId39" Type="http://schemas.openxmlformats.org/officeDocument/2006/relationships/image" Target="../media/image70.jpg"/><Relationship Id="rId70" Type="http://schemas.openxmlformats.org/officeDocument/2006/relationships/image" Target="../media/image101.png"/><Relationship Id="rId20" Type="http://schemas.openxmlformats.org/officeDocument/2006/relationships/image" Target="../media/image51.png"/><Relationship Id="rId21" Type="http://schemas.openxmlformats.org/officeDocument/2006/relationships/image" Target="../media/image52.jpg"/><Relationship Id="rId22" Type="http://schemas.openxmlformats.org/officeDocument/2006/relationships/image" Target="../media/image53.jpg"/><Relationship Id="rId23" Type="http://schemas.openxmlformats.org/officeDocument/2006/relationships/image" Target="../media/image54.jpg"/><Relationship Id="rId24" Type="http://schemas.openxmlformats.org/officeDocument/2006/relationships/image" Target="../media/image55.jpg"/><Relationship Id="rId25" Type="http://schemas.openxmlformats.org/officeDocument/2006/relationships/image" Target="../media/image56.png"/><Relationship Id="rId26" Type="http://schemas.openxmlformats.org/officeDocument/2006/relationships/image" Target="../media/image57.png"/><Relationship Id="rId27" Type="http://schemas.openxmlformats.org/officeDocument/2006/relationships/image" Target="../media/image58.jpg"/><Relationship Id="rId28" Type="http://schemas.openxmlformats.org/officeDocument/2006/relationships/image" Target="../media/image59.png"/><Relationship Id="rId29" Type="http://schemas.openxmlformats.org/officeDocument/2006/relationships/image" Target="../media/image60.jpg"/><Relationship Id="rId60" Type="http://schemas.openxmlformats.org/officeDocument/2006/relationships/image" Target="../media/image91.png"/><Relationship Id="rId61" Type="http://schemas.openxmlformats.org/officeDocument/2006/relationships/image" Target="../media/image92.jpeg"/><Relationship Id="rId62" Type="http://schemas.openxmlformats.org/officeDocument/2006/relationships/image" Target="../media/image93.jpeg"/><Relationship Id="rId10" Type="http://schemas.openxmlformats.org/officeDocument/2006/relationships/image" Target="../media/image41.jpg"/><Relationship Id="rId11" Type="http://schemas.openxmlformats.org/officeDocument/2006/relationships/image" Target="../media/image42.jpg"/><Relationship Id="rId12" Type="http://schemas.openxmlformats.org/officeDocument/2006/relationships/image" Target="../media/image43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0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4" Type="http://schemas.openxmlformats.org/officeDocument/2006/relationships/image" Target="../media/image112.jpeg"/><Relationship Id="rId5" Type="http://schemas.openxmlformats.org/officeDocument/2006/relationships/image" Target="../media/image113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Pistoia Alliance HELM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62664" cy="400110"/>
          </a:xfrm>
        </p:spPr>
        <p:txBody>
          <a:bodyPr/>
          <a:lstStyle/>
          <a:p>
            <a:r>
              <a:rPr lang="en-US" sz="2000" dirty="0"/>
              <a:t>An Open Standard for the Representation of Complex </a:t>
            </a:r>
            <a:r>
              <a:rPr lang="en-US" sz="2000" dirty="0" smtClean="0"/>
              <a:t>Biomolecules</a:t>
            </a:r>
            <a:endParaRPr lang="en-US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85800" y="4343400"/>
            <a:ext cx="8001000" cy="701731"/>
          </a:xfrm>
        </p:spPr>
        <p:txBody>
          <a:bodyPr/>
          <a:lstStyle/>
          <a:p>
            <a:r>
              <a:rPr lang="en-US" dirty="0" smtClean="0"/>
              <a:t>Best </a:t>
            </a:r>
            <a:r>
              <a:rPr lang="en-US" dirty="0"/>
              <a:t>Practices in Personalized And </a:t>
            </a:r>
            <a:r>
              <a:rPr lang="en-US" dirty="0" smtClean="0"/>
              <a:t>Translational Medicine</a:t>
            </a:r>
          </a:p>
          <a:p>
            <a:r>
              <a:rPr lang="en-US" dirty="0"/>
              <a:t>Molecular Med Tri-</a:t>
            </a:r>
            <a:r>
              <a:rPr lang="en-US" dirty="0" smtClean="0"/>
              <a:t>Conference 2015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February 16, 2015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" y="5147900"/>
            <a:ext cx="8001000" cy="369332"/>
          </a:xfrm>
        </p:spPr>
        <p:txBody>
          <a:bodyPr/>
          <a:lstStyle/>
          <a:p>
            <a:r>
              <a:rPr lang="en-US" dirty="0" smtClean="0"/>
              <a:t>Sergio H. Rotstein, Ph.D.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3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Pfizer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Top-tier </a:t>
            </a:r>
            <a:r>
              <a:rPr lang="en-US" dirty="0" err="1"/>
              <a:t>biotherapeutics</a:t>
            </a:r>
            <a:r>
              <a:rPr lang="en-US" dirty="0"/>
              <a:t> </a:t>
            </a:r>
            <a:r>
              <a:rPr lang="en-US" dirty="0" smtClean="0"/>
              <a:t>company”</a:t>
            </a:r>
            <a:endParaRPr lang="en-US" dirty="0"/>
          </a:p>
          <a:p>
            <a:pPr lvl="2"/>
            <a:r>
              <a:rPr lang="en-US" dirty="0"/>
              <a:t>But </a:t>
            </a:r>
            <a:r>
              <a:rPr lang="en-US" dirty="0" smtClean="0"/>
              <a:t>supporting informatics </a:t>
            </a:r>
            <a:r>
              <a:rPr lang="en-US" dirty="0"/>
              <a:t>infrastructure </a:t>
            </a:r>
            <a:r>
              <a:rPr lang="en-US" dirty="0" smtClean="0"/>
              <a:t>lacking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Biomolecules </a:t>
            </a:r>
            <a:r>
              <a:rPr lang="en-US" dirty="0"/>
              <a:t>Team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Working on therapeutic oligonucleotides since 2008</a:t>
            </a:r>
          </a:p>
          <a:p>
            <a:pPr lvl="1"/>
            <a:r>
              <a:rPr lang="en-US" dirty="0" smtClean="0"/>
              <a:t>Build on this work to support additional entities for</a:t>
            </a:r>
            <a:endParaRPr lang="en-US" dirty="0"/>
          </a:p>
          <a:p>
            <a:pPr lvl="2"/>
            <a:r>
              <a:rPr lang="en-US" dirty="0"/>
              <a:t>Registration</a:t>
            </a:r>
          </a:p>
          <a:p>
            <a:pPr lvl="2"/>
            <a:r>
              <a:rPr lang="en-US" dirty="0" smtClean="0"/>
              <a:t>Visualization</a:t>
            </a:r>
            <a:endParaRPr lang="en-US" dirty="0"/>
          </a:p>
          <a:p>
            <a:pPr lvl="2"/>
            <a:r>
              <a:rPr lang="en-US" dirty="0"/>
              <a:t>Analysis and design</a:t>
            </a:r>
          </a:p>
          <a:p>
            <a:pPr lvl="2"/>
            <a:r>
              <a:rPr lang="en-US" dirty="0"/>
              <a:t>Workflows</a:t>
            </a:r>
          </a:p>
          <a:p>
            <a:pPr lvl="1"/>
            <a:r>
              <a:rPr lang="en-US" dirty="0" smtClean="0"/>
              <a:t>Make biomolecules “first-class citizens” of the informatics tool portfolio</a:t>
            </a:r>
          </a:p>
          <a:p>
            <a:endParaRPr lang="en-US" dirty="0" smtClean="0"/>
          </a:p>
          <a:p>
            <a:r>
              <a:rPr lang="en-US" dirty="0" smtClean="0"/>
              <a:t>HELM is one result of this initiative</a:t>
            </a:r>
          </a:p>
        </p:txBody>
      </p:sp>
    </p:spTree>
    <p:extLst>
      <p:ext uri="{BB962C8B-B14F-4D97-AF65-F5344CB8AC3E}">
        <p14:creationId xmlns:p14="http://schemas.microsoft.com/office/powerpoint/2010/main" val="908027257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What is a “Biomolecule”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521152" y="1583334"/>
            <a:ext cx="1876508" cy="1828800"/>
            <a:chOff x="3521152" y="1583334"/>
            <a:chExt cx="1876508" cy="1828800"/>
          </a:xfrm>
        </p:grpSpPr>
        <p:sp>
          <p:nvSpPr>
            <p:cNvPr id="6" name="AutoShape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521152" y="1586101"/>
              <a:ext cx="1876508" cy="182603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Peptides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7" name="Picture 7" descr="t4-3-single-peptide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16" cstate="print">
              <a:clrChange>
                <a:clrFrom>
                  <a:srgbClr val="220000"/>
                </a:clrFrom>
                <a:clrTo>
                  <a:srgbClr val="22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0954" y="1583334"/>
              <a:ext cx="1239934" cy="1433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8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5861412" y="1583335"/>
            <a:ext cx="1876508" cy="1828800"/>
            <a:chOff x="660" y="1992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AutoShape 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60" y="1992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Therapeutic Proteins</a:t>
              </a:r>
            </a:p>
          </p:txBody>
        </p:sp>
        <p:pic>
          <p:nvPicPr>
            <p:cNvPr id="10" name="Picture 10" descr="250px-BMP2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17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" y="1997"/>
              <a:ext cx="529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oup 11"/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auto">
          <a:xfrm>
            <a:off x="3521152" y="4509120"/>
            <a:ext cx="1878940" cy="1828800"/>
            <a:chOff x="1086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AutoShape 1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86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ADCs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grpSp>
          <p:nvGrpSpPr>
            <p:cNvPr id="13" name="Group 13"/>
            <p:cNvGrpSpPr>
              <a:grpSpLocks/>
            </p:cNvGrpSpPr>
            <p:nvPr>
              <p:custDataLst>
                <p:tags r:id="rId9"/>
              </p:custDataLst>
            </p:nvPr>
          </p:nvGrpSpPr>
          <p:grpSpPr bwMode="auto">
            <a:xfrm>
              <a:off x="1226" y="1171"/>
              <a:ext cx="403" cy="415"/>
              <a:chOff x="1276" y="1233"/>
              <a:chExt cx="296" cy="304"/>
            </a:xfrm>
          </p:grpSpPr>
          <p:pic>
            <p:nvPicPr>
              <p:cNvPr id="14" name="Picture 14" descr="Ab"/>
              <p:cNvPicPr preferRelativeResize="0">
                <a:picLocks noChangeArrowheads="1"/>
              </p:cNvPicPr>
              <p:nvPr>
                <p:custDataLst>
                  <p:tags r:id="rId10"/>
                </p:custDataLst>
              </p:nvPr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6" y="1233"/>
                <a:ext cx="296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453" y="1445"/>
                <a:ext cx="78" cy="66"/>
              </a:xfrm>
              <a:prstGeom prst="ellipse">
                <a:avLst/>
              </a:prstGeom>
              <a:solidFill>
                <a:srgbClr val="C41300"/>
              </a:solidFill>
              <a:ln w="9525">
                <a:solidFill>
                  <a:srgbClr val="C41300"/>
                </a:solidFill>
                <a:round/>
                <a:headEnd type="none" w="lg" len="lg"/>
                <a:tailEnd type="none" w="lg" len="lg"/>
              </a:ln>
            </p:spPr>
            <p:txBody>
              <a:bodyPr wrap="none" tIns="91440" bIns="9144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" name="Group 20"/>
          <p:cNvGrpSpPr>
            <a:grpSpLocks noChangeAspect="1"/>
          </p:cNvGrpSpPr>
          <p:nvPr>
            <p:custDataLst>
              <p:tags r:id="rId3"/>
            </p:custDataLst>
          </p:nvPr>
        </p:nvGrpSpPr>
        <p:grpSpPr bwMode="auto">
          <a:xfrm>
            <a:off x="1180892" y="4509120"/>
            <a:ext cx="1878940" cy="1828800"/>
            <a:chOff x="234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AutoShape 2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4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Antibodies</a:t>
              </a:r>
              <a:endParaRPr lang="en-US" sz="1400" dirty="0">
                <a:solidFill>
                  <a:srgbClr val="003366"/>
                </a:solidFill>
              </a:endParaRPr>
            </a:p>
          </p:txBody>
        </p:sp>
        <p:pic>
          <p:nvPicPr>
            <p:cNvPr id="18" name="Picture 22" descr="Ab"/>
            <p:cNvPicPr preferRelativeResize="0">
              <a:picLocks noChangeArrowheads="1"/>
            </p:cNvPicPr>
            <p:nvPr>
              <p:custDataLst>
                <p:tags r:id="rId7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" y="1168"/>
              <a:ext cx="403" cy="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70"/>
          <p:cNvGrpSpPr>
            <a:grpSpLocks noChangeAspect="1"/>
          </p:cNvGrpSpPr>
          <p:nvPr/>
        </p:nvGrpSpPr>
        <p:grpSpPr bwMode="auto">
          <a:xfrm>
            <a:off x="5861412" y="4509120"/>
            <a:ext cx="1878940" cy="1828800"/>
            <a:chOff x="729" y="2140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AutoShape 7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9" y="2140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Vaccines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21" name="Picture 72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" y="2199"/>
              <a:ext cx="53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1180892" y="1556792"/>
            <a:ext cx="1878939" cy="1828800"/>
            <a:chOff x="3790952" y="3062502"/>
            <a:chExt cx="1076476" cy="10477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AutoShape 7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90952" y="3062502"/>
              <a:ext cx="1076476" cy="104775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 smtClean="0">
                  <a:solidFill>
                    <a:srgbClr val="003366"/>
                  </a:solidFill>
                </a:rPr>
                <a:t>ASOs </a:t>
              </a:r>
            </a:p>
            <a:p>
              <a:pPr algn="ctr">
                <a:spcBef>
                  <a:spcPct val="20000"/>
                </a:spcBef>
              </a:pPr>
              <a:r>
                <a:rPr lang="en-US" sz="1600" dirty="0" err="1" smtClean="0">
                  <a:solidFill>
                    <a:srgbClr val="003366"/>
                  </a:solidFill>
                </a:rPr>
                <a:t>siRNAs</a:t>
              </a:r>
              <a:endParaRPr lang="en-US" sz="1600" dirty="0">
                <a:solidFill>
                  <a:srgbClr val="003366"/>
                </a:solidFill>
              </a:endParaRPr>
            </a:p>
          </p:txBody>
        </p:sp>
        <p:pic>
          <p:nvPicPr>
            <p:cNvPr id="24" name="Picture 18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3943589" y="3187634"/>
              <a:ext cx="857250" cy="390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6" name="TextBox 25"/>
          <p:cNvSpPr txBox="1"/>
          <p:nvPr/>
        </p:nvSpPr>
        <p:spPr>
          <a:xfrm>
            <a:off x="1619672" y="3748970"/>
            <a:ext cx="5760640" cy="400110"/>
          </a:xfrm>
          <a:prstGeom prst="rect">
            <a:avLst/>
          </a:prstGeom>
          <a:solidFill>
            <a:schemeClr val="bg1"/>
          </a:solidFill>
          <a:ln>
            <a:solidFill>
              <a:srgbClr val="2B5CA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4C5156"/>
                </a:solidFill>
              </a:rPr>
              <a:t>Biomolecule: </a:t>
            </a:r>
            <a:r>
              <a:rPr lang="en-US" sz="2000" i="1" dirty="0" smtClean="0">
                <a:solidFill>
                  <a:srgbClr val="4C5156"/>
                </a:solidFill>
              </a:rPr>
              <a:t>Anything that is not a small molecule</a:t>
            </a:r>
            <a:endParaRPr lang="en-US" sz="2000" i="1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6701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 smtClean="0"/>
              <a:t>GAP</a:t>
            </a:r>
            <a:endParaRPr lang="en-US" sz="1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Stuck in the middle…</a:t>
            </a:r>
            <a:endParaRPr lang="en-US" sz="3200" dirty="0"/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solidFill>
                  <a:srgbClr val="4C5156"/>
                </a:solidFill>
              </a:rPr>
              <a:t>Small 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7668" y="4263583"/>
            <a:ext cx="1187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Sequences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Biomolecules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Small Molecule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Sequence-Based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>
              <a:solidFill>
                <a:srgbClr val="4C5156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“Fit-for-Purpose” Structure Representation</a:t>
            </a:r>
            <a:endParaRPr lang="en-US" sz="2800" dirty="0" smtClean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1628800"/>
            <a:ext cx="1691268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/>
          <p:cNvGrpSpPr/>
          <p:nvPr/>
        </p:nvGrpSpPr>
        <p:grpSpPr>
          <a:xfrm>
            <a:off x="179512" y="1196752"/>
            <a:ext cx="8712968" cy="5544616"/>
            <a:chOff x="179512" y="1196752"/>
            <a:chExt cx="8712968" cy="5544616"/>
          </a:xfrm>
        </p:grpSpPr>
        <p:grpSp>
          <p:nvGrpSpPr>
            <p:cNvPr id="3" name="Group 2"/>
            <p:cNvGrpSpPr/>
            <p:nvPr/>
          </p:nvGrpSpPr>
          <p:grpSpPr>
            <a:xfrm>
              <a:off x="179512" y="1196752"/>
              <a:ext cx="8712968" cy="5472608"/>
              <a:chOff x="179512" y="1196752"/>
              <a:chExt cx="8712968" cy="5472608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79512" y="2924944"/>
                <a:ext cx="8712968" cy="3744416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076056" y="1196752"/>
                <a:ext cx="3816424" cy="1728192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800" y="5353496"/>
              <a:ext cx="1387872" cy="1387872"/>
            </a:xfrm>
            <a:prstGeom prst="rect">
              <a:avLst/>
            </a:prstGeom>
          </p:spPr>
        </p:pic>
      </p:grpSp>
      <p:sp>
        <p:nvSpPr>
          <p:cNvPr id="9" name="Bent Arrow 8"/>
          <p:cNvSpPr/>
          <p:nvPr/>
        </p:nvSpPr>
        <p:spPr>
          <a:xfrm rot="10800000">
            <a:off x="7218294" y="3086962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Bent Arrow 26"/>
          <p:cNvSpPr/>
          <p:nvPr/>
        </p:nvSpPr>
        <p:spPr>
          <a:xfrm rot="10800000" flipH="1">
            <a:off x="467545" y="4293096"/>
            <a:ext cx="720080" cy="1008112"/>
          </a:xfrm>
          <a:prstGeom prst="bentArrow">
            <a:avLst>
              <a:gd name="adj1" fmla="val 29308"/>
              <a:gd name="adj2" fmla="val 25000"/>
              <a:gd name="adj3" fmla="val 25000"/>
              <a:gd name="adj4" fmla="val 46928"/>
            </a:avLst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779912" y="1959656"/>
            <a:ext cx="720080" cy="411424"/>
          </a:xfrm>
          <a:prstGeom prst="righ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451" y="4293096"/>
            <a:ext cx="4879749" cy="209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5318911" y="1196752"/>
            <a:ext cx="3285537" cy="173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660233" y="5229201"/>
            <a:ext cx="2232247" cy="1296143"/>
            <a:chOff x="523448" y="4869161"/>
            <a:chExt cx="2232247" cy="1296143"/>
          </a:xfrm>
        </p:grpSpPr>
        <p:graphicFrame>
          <p:nvGraphicFramePr>
            <p:cNvPr id="2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398846"/>
                </p:ext>
              </p:extLst>
            </p:nvPr>
          </p:nvGraphicFramePr>
          <p:xfrm>
            <a:off x="755576" y="5085184"/>
            <a:ext cx="2000119" cy="108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0" name="MarvinOLE" r:id="rId8" imgW="3426781" imgH="1855433" progId="">
                    <p:embed/>
                  </p:oleObj>
                </mc:Choice>
                <mc:Fallback>
                  <p:oleObj name="MarvinOLE" r:id="rId8" imgW="3426781" imgH="1855433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5085184"/>
                          <a:ext cx="2000119" cy="1080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25"/>
            <p:cNvSpPr/>
            <p:nvPr/>
          </p:nvSpPr>
          <p:spPr bwMode="auto">
            <a:xfrm>
              <a:off x="523448" y="4869161"/>
              <a:ext cx="444138" cy="43204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28" charset="-128"/>
                </a:rPr>
                <a:t>Ab</a:t>
              </a:r>
              <a:endPara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28" charset="-128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23528" y="3068960"/>
            <a:ext cx="6624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 smtClean="0"/>
              <a:t>MTTSASSHLNKGIKQVYMSLPQGEKVQAMYIWIDGTGEGLRCKTRTLDSEPKCVEELPEWNFDGSSTLQSEGSNSDMYLVPAAMFRDPFRKDPNKLVLCEVFKYNRRPAETNLRHTCKRIMDMVSNQHPWFGMEQEYTLMGTDGHPFGWPSNGFPGPQGPYYCGVGADRAYGRDIVEAHYRACLYAGVKIAGTNAEVMPAQWEFQIGPCEGISMGDHLWVARFILHRVCEDFGVIATFDPKPIPGNWNGAGCHTNFSTKAMREENGLKYIEEAIEKLSKRHQYHIRAYDPKGGLDNARRLTGFHETSNINDFSAGVANRSASIRIPRTVGQEKKGYFEDRRPSANCDPFSVTEALIRTCLLNETGDEPFQYKN</a:t>
            </a:r>
            <a:endParaRPr lang="en-US" sz="1200" dirty="0"/>
          </a:p>
        </p:txBody>
      </p:sp>
      <p:sp>
        <p:nvSpPr>
          <p:cNvPr id="19" name="Bent Arrow 18"/>
          <p:cNvSpPr/>
          <p:nvPr/>
        </p:nvSpPr>
        <p:spPr>
          <a:xfrm rot="5400000">
            <a:off x="7218294" y="4509120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88226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Atom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  <a:p>
            <a:r>
              <a:rPr lang="en-US" dirty="0" smtClean="0"/>
              <a:t>Able to handle entity complexity</a:t>
            </a:r>
          </a:p>
          <a:p>
            <a:pPr lvl="2"/>
            <a:r>
              <a:rPr lang="en-US" dirty="0" smtClean="0"/>
              <a:t>Oligonucleotide hybridization</a:t>
            </a:r>
          </a:p>
          <a:p>
            <a:pPr lvl="2"/>
            <a:r>
              <a:rPr lang="en-US" dirty="0" smtClean="0"/>
              <a:t>Chemically modified Biologics</a:t>
            </a:r>
          </a:p>
          <a:p>
            <a:pPr lvl="3"/>
            <a:r>
              <a:rPr lang="en-US" dirty="0" smtClean="0"/>
              <a:t>Unnatural amino acids</a:t>
            </a:r>
          </a:p>
          <a:p>
            <a:pPr lvl="3"/>
            <a:r>
              <a:rPr lang="en-US" dirty="0" err="1" smtClean="0"/>
              <a:t>Bioconjugates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3549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GB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5205412"/>
            <a:ext cx="8280920" cy="14639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u="sng" dirty="0" smtClean="0">
                <a:solidFill>
                  <a:srgbClr val="4C5156"/>
                </a:solidFill>
                <a:latin typeface="Calibri"/>
                <a:cs typeface="Calibri"/>
              </a:rPr>
              <a:t>HELM notation</a:t>
            </a:r>
            <a:endParaRPr lang="en-US" sz="1800" u="sng" dirty="0">
              <a:solidFill>
                <a:srgbClr val="4C5156"/>
              </a:solidFill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4C5156"/>
                </a:solidFill>
                <a:latin typeface="Calibri"/>
                <a:cs typeface="Calibri"/>
              </a:rPr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2555776" y="2866400"/>
            <a:ext cx="4896544" cy="257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043608" y="1412776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7544" y="22048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  <a:defRPr/>
            </a:pPr>
            <a:r>
              <a:rPr lang="en-US" u="sng" dirty="0">
                <a:solidFill>
                  <a:srgbClr val="4C5156"/>
                </a:solidFill>
              </a:rPr>
              <a:t>HELM </a:t>
            </a:r>
            <a:r>
              <a:rPr lang="en-US" u="sng" dirty="0" smtClean="0">
                <a:solidFill>
                  <a:srgbClr val="4C5156"/>
                </a:solidFill>
              </a:rPr>
              <a:t>notation</a:t>
            </a:r>
            <a:endParaRPr lang="en-US" u="sng" dirty="0">
              <a:solidFill>
                <a:srgbClr val="4C5156"/>
              </a:solidFill>
            </a:endParaRPr>
          </a:p>
          <a:p>
            <a:pPr marL="0" indent="0">
              <a:buNone/>
              <a:defRPr/>
            </a:pPr>
            <a:r>
              <a:rPr lang="en-US" dirty="0" smtClean="0">
                <a:solidFill>
                  <a:srgbClr val="4C5156"/>
                </a:solidFill>
              </a:rPr>
              <a:t>PEPTIDE1{A.R.G.[</a:t>
            </a:r>
            <a:r>
              <a:rPr lang="en-US" dirty="0" err="1" smtClean="0">
                <a:solidFill>
                  <a:srgbClr val="4C5156"/>
                </a:solidFill>
              </a:rPr>
              <a:t>dF</a:t>
            </a:r>
            <a:r>
              <a:rPr lang="en-US" dirty="0" smtClean="0">
                <a:solidFill>
                  <a:srgbClr val="4C5156"/>
                </a:solidFill>
              </a:rPr>
              <a:t>].C.K.[</a:t>
            </a:r>
            <a:r>
              <a:rPr lang="en-US" dirty="0" err="1" smtClean="0">
                <a:solidFill>
                  <a:srgbClr val="4C5156"/>
                </a:solidFill>
              </a:rPr>
              <a:t>meA</a:t>
            </a:r>
            <a:r>
              <a:rPr lang="en-US" dirty="0" smtClean="0">
                <a:solidFill>
                  <a:srgbClr val="4C5156"/>
                </a:solidFill>
              </a:rPr>
              <a:t>].E.D.A}$$$$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24980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Pfizer: Drawing</a:t>
            </a:r>
            <a:endParaRPr lang="en-US" dirty="0"/>
          </a:p>
        </p:txBody>
      </p:sp>
      <p:pic>
        <p:nvPicPr>
          <p:cNvPr id="5" name="Picture 4" descr="figure 3 PME Content Pan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1960" y="1412776"/>
            <a:ext cx="4724400" cy="34924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0192" y="5013176"/>
            <a:ext cx="751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Editor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068960"/>
            <a:ext cx="3662343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71600" y="5949280"/>
            <a:ext cx="25592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4C5156"/>
                </a:solidFill>
              </a:rPr>
              <a:t>Centralized Monomer DB </a:t>
            </a:r>
          </a:p>
          <a:p>
            <a:pPr algn="ctr"/>
            <a:r>
              <a:rPr lang="en-US" dirty="0" smtClean="0">
                <a:solidFill>
                  <a:srgbClr val="4C5156"/>
                </a:solidFill>
              </a:rPr>
              <a:t>(smiles, </a:t>
            </a:r>
            <a:r>
              <a:rPr lang="en-US" dirty="0" err="1" smtClean="0">
                <a:solidFill>
                  <a:srgbClr val="4C5156"/>
                </a:solidFill>
              </a:rPr>
              <a:t>InChI</a:t>
            </a:r>
            <a:r>
              <a:rPr lang="en-US" dirty="0" smtClean="0">
                <a:solidFill>
                  <a:srgbClr val="4C5156"/>
                </a:solidFill>
              </a:rPr>
              <a:t>, </a:t>
            </a:r>
            <a:r>
              <a:rPr lang="en-US" dirty="0" err="1" smtClean="0">
                <a:solidFill>
                  <a:srgbClr val="4C5156"/>
                </a:solidFill>
              </a:rPr>
              <a:t>mol</a:t>
            </a:r>
            <a:r>
              <a:rPr lang="en-US" dirty="0" smtClean="0">
                <a:solidFill>
                  <a:srgbClr val="4C5156"/>
                </a:solidFill>
              </a:rPr>
              <a:t>)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74998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Registration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03648" y="5219908"/>
            <a:ext cx="2404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Compound Registration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9098"/>
            <a:ext cx="473075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4304" y="2949298"/>
            <a:ext cx="3900886" cy="31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132856"/>
            <a:ext cx="1080120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53482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93"/>
          <a:stretch>
            <a:fillRect/>
          </a:stretch>
        </p:blipFill>
        <p:spPr bwMode="auto">
          <a:xfrm>
            <a:off x="5531296" y="5157936"/>
            <a:ext cx="348615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HELM at Pfizer: </a:t>
            </a:r>
            <a:r>
              <a:rPr lang="en-US" sz="3200" dirty="0" smtClean="0"/>
              <a:t>Analysis &amp; Design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92896" y="5538936"/>
            <a:ext cx="79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PFRED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" y="1652736"/>
            <a:ext cx="5138351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7504" y="6304002"/>
            <a:ext cx="5638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4C5156"/>
                </a:solidFill>
              </a:rPr>
              <a:t>PFRED: A computational tool for </a:t>
            </a:r>
            <a:r>
              <a:rPr lang="en-US" sz="1000" i="1" dirty="0" err="1">
                <a:solidFill>
                  <a:srgbClr val="4C5156"/>
                </a:solidFill>
              </a:rPr>
              <a:t>siRNA</a:t>
            </a:r>
            <a:r>
              <a:rPr lang="en-US" sz="1000" i="1" dirty="0">
                <a:solidFill>
                  <a:srgbClr val="4C5156"/>
                </a:solidFill>
              </a:rPr>
              <a:t> and antisense design</a:t>
            </a:r>
            <a:r>
              <a:rPr lang="en-US" sz="1000" dirty="0">
                <a:solidFill>
                  <a:srgbClr val="4C5156"/>
                </a:solidFill>
              </a:rPr>
              <a:t>. Simon </a:t>
            </a:r>
            <a:r>
              <a:rPr lang="en-US" sz="1000" dirty="0" smtClean="0">
                <a:solidFill>
                  <a:srgbClr val="4C5156"/>
                </a:solidFill>
              </a:rPr>
              <a:t>Xi, </a:t>
            </a:r>
            <a:r>
              <a:rPr lang="en-US" sz="1000" dirty="0">
                <a:solidFill>
                  <a:srgbClr val="4C5156"/>
                </a:solidFill>
              </a:rPr>
              <a:t>Qing </a:t>
            </a:r>
            <a:r>
              <a:rPr lang="en-US" sz="1000" dirty="0" smtClean="0">
                <a:solidFill>
                  <a:srgbClr val="4C5156"/>
                </a:solidFill>
              </a:rPr>
              <a:t>Cao, </a:t>
            </a:r>
            <a:r>
              <a:rPr lang="en-US" sz="1000" dirty="0">
                <a:solidFill>
                  <a:srgbClr val="4C5156"/>
                </a:solidFill>
              </a:rPr>
              <a:t>Christine </a:t>
            </a:r>
            <a:r>
              <a:rPr lang="en-US" sz="1000" dirty="0" smtClean="0">
                <a:solidFill>
                  <a:srgbClr val="4C5156"/>
                </a:solidFill>
              </a:rPr>
              <a:t>Lawrence, </a:t>
            </a:r>
            <a:r>
              <a:rPr lang="en-US" sz="1000" dirty="0" err="1">
                <a:solidFill>
                  <a:srgbClr val="4C5156"/>
                </a:solidFill>
              </a:rPr>
              <a:t>Tianhong</a:t>
            </a:r>
            <a:r>
              <a:rPr lang="en-US" sz="1000" dirty="0">
                <a:solidFill>
                  <a:srgbClr val="4C5156"/>
                </a:solidFill>
              </a:rPr>
              <a:t> </a:t>
            </a:r>
            <a:r>
              <a:rPr lang="en-US" sz="1000" dirty="0" smtClean="0">
                <a:solidFill>
                  <a:srgbClr val="4C5156"/>
                </a:solidFill>
              </a:rPr>
              <a:t>Zhang, </a:t>
            </a:r>
            <a:r>
              <a:rPr lang="en-US" sz="1000" dirty="0">
                <a:solidFill>
                  <a:srgbClr val="4C5156"/>
                </a:solidFill>
              </a:rPr>
              <a:t>Simone </a:t>
            </a:r>
            <a:r>
              <a:rPr lang="en-US" sz="1000" dirty="0" err="1" smtClean="0">
                <a:solidFill>
                  <a:srgbClr val="4C5156"/>
                </a:solidFill>
              </a:rPr>
              <a:t>Sciabola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Sergio </a:t>
            </a:r>
            <a:r>
              <a:rPr lang="en-US" sz="1000" dirty="0" smtClean="0">
                <a:solidFill>
                  <a:srgbClr val="4C5156"/>
                </a:solidFill>
              </a:rPr>
              <a:t>Rotstein, </a:t>
            </a:r>
            <a:r>
              <a:rPr lang="en-US" sz="1000" dirty="0">
                <a:solidFill>
                  <a:srgbClr val="4C5156"/>
                </a:solidFill>
              </a:rPr>
              <a:t>Jason </a:t>
            </a:r>
            <a:r>
              <a:rPr lang="en-US" sz="1000" dirty="0" smtClean="0">
                <a:solidFill>
                  <a:srgbClr val="4C5156"/>
                </a:solidFill>
              </a:rPr>
              <a:t>Hughes, </a:t>
            </a:r>
            <a:r>
              <a:rPr lang="en-US" sz="1000" dirty="0">
                <a:solidFill>
                  <a:srgbClr val="4C5156"/>
                </a:solidFill>
              </a:rPr>
              <a:t>Daniel </a:t>
            </a:r>
            <a:r>
              <a:rPr lang="en-US" sz="1000" dirty="0" err="1" smtClean="0">
                <a:solidFill>
                  <a:srgbClr val="4C5156"/>
                </a:solidFill>
              </a:rPr>
              <a:t>Caffrey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and Robert </a:t>
            </a:r>
            <a:r>
              <a:rPr lang="en-US" sz="1000" dirty="0" smtClean="0">
                <a:solidFill>
                  <a:srgbClr val="4C5156"/>
                </a:solidFill>
              </a:rPr>
              <a:t>Stanton, PLOS ONE, </a:t>
            </a:r>
            <a:r>
              <a:rPr lang="en-US" sz="1000" i="1" dirty="0" smtClean="0">
                <a:solidFill>
                  <a:srgbClr val="4C5156"/>
                </a:solidFill>
              </a:rPr>
              <a:t>Submitted</a:t>
            </a:r>
            <a:endParaRPr lang="en-US" sz="1000" i="1" dirty="0">
              <a:solidFill>
                <a:srgbClr val="4C5156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96" y="1195536"/>
            <a:ext cx="36576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96" y="2186136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urved Connector 9"/>
          <p:cNvCxnSpPr/>
          <p:nvPr/>
        </p:nvCxnSpPr>
        <p:spPr bwMode="auto">
          <a:xfrm rot="5400000">
            <a:off x="6864796" y="1843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urved Connector 16"/>
          <p:cNvCxnSpPr/>
          <p:nvPr/>
        </p:nvCxnSpPr>
        <p:spPr bwMode="auto">
          <a:xfrm rot="5400000">
            <a:off x="7093396" y="4891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8" name="Picture 2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441" y="1477246"/>
            <a:ext cx="4972053" cy="425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788" y="2204864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30262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4.07407E-6 L -0.26667 4.07407E-6 " pathEditMode="relative" ptsTypes="AA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</a:t>
            </a:r>
            <a:r>
              <a:rPr lang="en-US" smtClean="0"/>
              <a:t>: Workflow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23232"/>
              </p:ext>
            </p:extLst>
          </p:nvPr>
        </p:nvGraphicFramePr>
        <p:xfrm>
          <a:off x="549728" y="5871552"/>
          <a:ext cx="8044544" cy="365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11136"/>
                <a:gridCol w="2011136"/>
                <a:gridCol w="2011136"/>
                <a:gridCol w="2011136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Antibody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Linker Payload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ADC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Workflow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3" y="1268760"/>
            <a:ext cx="6829054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4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Pistoia Alliance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2060848"/>
            <a:ext cx="6912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200" dirty="0"/>
              <a:t>The Pistoia Alliance is a global, </a:t>
            </a:r>
            <a:r>
              <a:rPr lang="en-GB" sz="3200" dirty="0" smtClean="0"/>
              <a:t>non-</a:t>
            </a:r>
            <a:r>
              <a:rPr lang="en-GB" sz="3200" dirty="0"/>
              <a:t>profit alliance of life science companies, vendors, publishers, and academic groups that work together to </a:t>
            </a:r>
            <a:r>
              <a:rPr lang="en-GB" sz="3200" dirty="0" smtClean="0"/>
              <a:t>solve common problems and lower </a:t>
            </a:r>
            <a:r>
              <a:rPr lang="en-GB" sz="3200" dirty="0"/>
              <a:t>barriers to innovation in R&amp;D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6375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-AC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11" y="66770"/>
            <a:ext cx="637617" cy="490475"/>
          </a:xfrm>
          <a:prstGeom prst="rect">
            <a:avLst/>
          </a:prstGeom>
        </p:spPr>
      </p:pic>
      <p:pic>
        <p:nvPicPr>
          <p:cNvPr id="11" name="Picture 10" descr="logo-AstraZeneca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700569"/>
            <a:ext cx="1471424" cy="372761"/>
          </a:xfrm>
          <a:prstGeom prst="rect">
            <a:avLst/>
          </a:prstGeom>
        </p:spPr>
      </p:pic>
      <p:pic>
        <p:nvPicPr>
          <p:cNvPr id="12" name="Picture 11" descr="logo-Bayer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620" y="4148845"/>
            <a:ext cx="490475" cy="490475"/>
          </a:xfrm>
          <a:prstGeom prst="rect">
            <a:avLst/>
          </a:prstGeom>
        </p:spPr>
      </p:pic>
      <p:pic>
        <p:nvPicPr>
          <p:cNvPr id="13" name="Picture 12" descr="logo-BI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470" y="700569"/>
            <a:ext cx="1422377" cy="490475"/>
          </a:xfrm>
          <a:prstGeom prst="rect">
            <a:avLst/>
          </a:prstGeom>
        </p:spPr>
      </p:pic>
      <p:pic>
        <p:nvPicPr>
          <p:cNvPr id="15" name="Picture 14" descr="logo-BiochemFusi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5460703"/>
            <a:ext cx="1471424" cy="264856"/>
          </a:xfrm>
          <a:prstGeom prst="rect">
            <a:avLst/>
          </a:prstGeom>
        </p:spPr>
      </p:pic>
      <p:pic>
        <p:nvPicPr>
          <p:cNvPr id="16" name="Picture 15" descr="logo-BioIT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413492"/>
            <a:ext cx="980949" cy="470856"/>
          </a:xfrm>
          <a:prstGeom prst="rect">
            <a:avLst/>
          </a:prstGeom>
        </p:spPr>
      </p:pic>
      <p:pic>
        <p:nvPicPr>
          <p:cNvPr id="17" name="Picture 16" descr="logo-Biovariance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5877272"/>
            <a:ext cx="1373329" cy="490475"/>
          </a:xfrm>
          <a:prstGeom prst="rect">
            <a:avLst/>
          </a:prstGeom>
        </p:spPr>
      </p:pic>
      <p:pic>
        <p:nvPicPr>
          <p:cNvPr id="18" name="Picture 17" descr="logo-biovia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807" y="2770609"/>
            <a:ext cx="1029997" cy="279571"/>
          </a:xfrm>
          <a:prstGeom prst="rect">
            <a:avLst/>
          </a:prstGeom>
        </p:spPr>
      </p:pic>
      <p:pic>
        <p:nvPicPr>
          <p:cNvPr id="19" name="Picture 18" descr="logo-BMS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128" y="5877273"/>
            <a:ext cx="843616" cy="490474"/>
          </a:xfrm>
          <a:prstGeom prst="rect">
            <a:avLst/>
          </a:prstGeom>
        </p:spPr>
      </p:pic>
      <p:pic>
        <p:nvPicPr>
          <p:cNvPr id="20" name="Picture 19" descr="logo-CCDC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792" y="6001317"/>
            <a:ext cx="1008112" cy="235226"/>
          </a:xfrm>
          <a:prstGeom prst="rect">
            <a:avLst/>
          </a:prstGeom>
        </p:spPr>
      </p:pic>
      <p:pic>
        <p:nvPicPr>
          <p:cNvPr id="21" name="Picture 20" descr="logo-Certara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325" y="4774453"/>
            <a:ext cx="1471424" cy="431618"/>
          </a:xfrm>
          <a:prstGeom prst="rect">
            <a:avLst/>
          </a:prstGeom>
        </p:spPr>
      </p:pic>
      <p:pic>
        <p:nvPicPr>
          <p:cNvPr id="22" name="Picture 21" descr="logo-Chemaxon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101" y="5877273"/>
            <a:ext cx="559141" cy="490475"/>
          </a:xfrm>
          <a:prstGeom prst="rect">
            <a:avLst/>
          </a:prstGeom>
        </p:spPr>
      </p:pic>
      <p:pic>
        <p:nvPicPr>
          <p:cNvPr id="24" name="Picture 23" descr="logo-ConnDiscov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70" y="5460703"/>
            <a:ext cx="1471424" cy="255047"/>
          </a:xfrm>
          <a:prstGeom prst="rect">
            <a:avLst/>
          </a:prstGeom>
        </p:spPr>
      </p:pic>
      <p:pic>
        <p:nvPicPr>
          <p:cNvPr id="25" name="Picture 24" descr="logo-DataBio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13" y="4138426"/>
            <a:ext cx="1471424" cy="392380"/>
          </a:xfrm>
          <a:prstGeom prst="rect">
            <a:avLst/>
          </a:prstGeom>
        </p:spPr>
      </p:pic>
      <p:pic>
        <p:nvPicPr>
          <p:cNvPr id="26" name="Picture 25" descr="logo-Deloitte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163" y="5333180"/>
            <a:ext cx="1353710" cy="490475"/>
          </a:xfrm>
          <a:prstGeom prst="rect">
            <a:avLst/>
          </a:prstGeom>
        </p:spPr>
      </p:pic>
      <p:pic>
        <p:nvPicPr>
          <p:cNvPr id="28" name="Picture 27" descr="logo-Eagle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" y="5425552"/>
            <a:ext cx="1177139" cy="490475"/>
          </a:xfrm>
          <a:prstGeom prst="rect">
            <a:avLst/>
          </a:prstGeom>
        </p:spPr>
      </p:pic>
      <p:pic>
        <p:nvPicPr>
          <p:cNvPr id="29" name="Picture 28" descr="logo-EBI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05" y="4836595"/>
            <a:ext cx="1471424" cy="451237"/>
          </a:xfrm>
          <a:prstGeom prst="rect">
            <a:avLst/>
          </a:prstGeom>
        </p:spPr>
      </p:pic>
      <p:pic>
        <p:nvPicPr>
          <p:cNvPr id="31" name="Picture 30" descr="logo-EdiPCC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7" y="3426790"/>
            <a:ext cx="1451805" cy="411999"/>
          </a:xfrm>
          <a:prstGeom prst="rect">
            <a:avLst/>
          </a:prstGeom>
        </p:spPr>
      </p:pic>
      <p:pic>
        <p:nvPicPr>
          <p:cNvPr id="32" name="Picture 31" descr="logo-EPAM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94" y="1354521"/>
            <a:ext cx="935041" cy="274279"/>
          </a:xfrm>
          <a:prstGeom prst="rect">
            <a:avLst/>
          </a:prstGeom>
        </p:spPr>
      </p:pic>
      <p:pic>
        <p:nvPicPr>
          <p:cNvPr id="33" name="Picture 32" descr="logo-Fulcrum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32" y="1434990"/>
            <a:ext cx="1049616" cy="490475"/>
          </a:xfrm>
          <a:prstGeom prst="rect">
            <a:avLst/>
          </a:prstGeom>
        </p:spPr>
      </p:pic>
      <p:pic>
        <p:nvPicPr>
          <p:cNvPr id="34" name="Picture 33" descr="logo-GeneStack.jp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80951"/>
            <a:ext cx="1471424" cy="323713"/>
          </a:xfrm>
          <a:prstGeom prst="rect">
            <a:avLst/>
          </a:prstGeom>
        </p:spPr>
      </p:pic>
      <p:pic>
        <p:nvPicPr>
          <p:cNvPr id="35" name="Picture 34" descr="logo-GSK.jpg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726570"/>
            <a:ext cx="1353710" cy="490475"/>
          </a:xfrm>
          <a:prstGeom prst="rect">
            <a:avLst/>
          </a:prstGeom>
        </p:spPr>
      </p:pic>
      <p:pic>
        <p:nvPicPr>
          <p:cNvPr id="36" name="Picture 35" descr="logo-hp.png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780" y="1406049"/>
            <a:ext cx="490475" cy="490475"/>
          </a:xfrm>
          <a:prstGeom prst="rect">
            <a:avLst/>
          </a:prstGeom>
        </p:spPr>
      </p:pic>
      <p:pic>
        <p:nvPicPr>
          <p:cNvPr id="37" name="Picture 36" descr="logo-Hyve.pn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66770"/>
            <a:ext cx="1471424" cy="411999"/>
          </a:xfrm>
          <a:prstGeom prst="rect">
            <a:avLst/>
          </a:prstGeom>
        </p:spPr>
      </p:pic>
      <p:pic>
        <p:nvPicPr>
          <p:cNvPr id="38" name="Picture 37" descr="logo-IanHarrow.jpg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5" y="2078030"/>
            <a:ext cx="1471424" cy="264856"/>
          </a:xfrm>
          <a:prstGeom prst="rect">
            <a:avLst/>
          </a:prstGeom>
        </p:spPr>
      </p:pic>
      <p:pic>
        <p:nvPicPr>
          <p:cNvPr id="39" name="Picture 38" descr="logo-INCHI.png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73" y="66770"/>
            <a:ext cx="931902" cy="490475"/>
          </a:xfrm>
          <a:prstGeom prst="rect">
            <a:avLst/>
          </a:prstGeom>
        </p:spPr>
      </p:pic>
      <p:pic>
        <p:nvPicPr>
          <p:cNvPr id="41" name="Picture 40" descr="logo-Instem.jp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758781"/>
            <a:ext cx="1471424" cy="382570"/>
          </a:xfrm>
          <a:prstGeom prst="rect">
            <a:avLst/>
          </a:prstGeom>
        </p:spPr>
      </p:pic>
      <p:pic>
        <p:nvPicPr>
          <p:cNvPr id="42" name="Picture 41" descr="logo-IO.jpg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335" y="5877273"/>
            <a:ext cx="510094" cy="490475"/>
          </a:xfrm>
          <a:prstGeom prst="rect">
            <a:avLst/>
          </a:prstGeom>
        </p:spPr>
      </p:pic>
      <p:pic>
        <p:nvPicPr>
          <p:cNvPr id="43" name="Picture 42" descr="logo-Ipsen.gif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399" y="2708291"/>
            <a:ext cx="1471424" cy="480665"/>
          </a:xfrm>
          <a:prstGeom prst="rect">
            <a:avLst/>
          </a:prstGeom>
        </p:spPr>
      </p:pic>
      <p:pic>
        <p:nvPicPr>
          <p:cNvPr id="45" name="Picture 44" descr="logo-jax.png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44" y="2674030"/>
            <a:ext cx="1206568" cy="490475"/>
          </a:xfrm>
          <a:prstGeom prst="rect">
            <a:avLst/>
          </a:prstGeom>
        </p:spPr>
      </p:pic>
      <p:pic>
        <p:nvPicPr>
          <p:cNvPr id="46" name="Picture 45" descr="logo-JnJ.png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356" y="2078030"/>
            <a:ext cx="1471424" cy="304094"/>
          </a:xfrm>
          <a:prstGeom prst="rect">
            <a:avLst/>
          </a:prstGeom>
        </p:spPr>
      </p:pic>
      <p:pic>
        <p:nvPicPr>
          <p:cNvPr id="48" name="Picture 47" descr="logo-MerckCo.png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758" y="3359404"/>
            <a:ext cx="1471424" cy="490475"/>
          </a:xfrm>
          <a:prstGeom prst="rect">
            <a:avLst/>
          </a:prstGeom>
        </p:spPr>
      </p:pic>
      <p:pic>
        <p:nvPicPr>
          <p:cNvPr id="49" name="Picture 48" descr="logo-MerckKgAA.jpg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192" y="5333180"/>
            <a:ext cx="696474" cy="490475"/>
          </a:xfrm>
          <a:prstGeom prst="rect">
            <a:avLst/>
          </a:prstGeom>
        </p:spPr>
      </p:pic>
      <p:pic>
        <p:nvPicPr>
          <p:cNvPr id="50" name="Picture 49" descr="logo-MolConns.jpg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972" y="4148845"/>
            <a:ext cx="1324282" cy="490475"/>
          </a:xfrm>
          <a:prstGeom prst="rect">
            <a:avLst/>
          </a:prstGeom>
        </p:spPr>
      </p:pic>
      <p:pic>
        <p:nvPicPr>
          <p:cNvPr id="51" name="Picture 50" descr="logo-Novartis.jpg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90" y="3426790"/>
            <a:ext cx="1471424" cy="353142"/>
          </a:xfrm>
          <a:prstGeom prst="rect">
            <a:avLst/>
          </a:prstGeom>
        </p:spPr>
      </p:pic>
      <p:pic>
        <p:nvPicPr>
          <p:cNvPr id="52" name="Picture 51" descr="logo-Omixon.jpg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109" y="4148845"/>
            <a:ext cx="1471424" cy="451237"/>
          </a:xfrm>
          <a:prstGeom prst="rect">
            <a:avLst/>
          </a:prstGeom>
        </p:spPr>
      </p:pic>
      <p:pic>
        <p:nvPicPr>
          <p:cNvPr id="53" name="Picture 52" descr="logo-Oracle.jpg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456" y="1380254"/>
            <a:ext cx="1471424" cy="304094"/>
          </a:xfrm>
          <a:prstGeom prst="rect">
            <a:avLst/>
          </a:prstGeom>
        </p:spPr>
      </p:pic>
      <p:pic>
        <p:nvPicPr>
          <p:cNvPr id="54" name="Picture 53" descr="logo-Osthus.jpg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60" y="4077072"/>
            <a:ext cx="1392948" cy="490475"/>
          </a:xfrm>
          <a:prstGeom prst="rect">
            <a:avLst/>
          </a:prstGeom>
        </p:spPr>
      </p:pic>
      <p:pic>
        <p:nvPicPr>
          <p:cNvPr id="55" name="Picture 54" descr="logo-PerkinElmer.jpg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507" y="3403245"/>
            <a:ext cx="931902" cy="490475"/>
          </a:xfrm>
          <a:prstGeom prst="rect">
            <a:avLst/>
          </a:prstGeom>
        </p:spPr>
      </p:pic>
      <p:pic>
        <p:nvPicPr>
          <p:cNvPr id="56" name="Picture 55" descr="logo-Pfizer.jpg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2" y="4077072"/>
            <a:ext cx="843616" cy="490474"/>
          </a:xfrm>
          <a:prstGeom prst="rect">
            <a:avLst/>
          </a:prstGeom>
        </p:spPr>
      </p:pic>
      <p:pic>
        <p:nvPicPr>
          <p:cNvPr id="58" name="Picture 57" descr="logo-Promeditec.jpg"/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485" y="4934739"/>
            <a:ext cx="1471424" cy="186380"/>
          </a:xfrm>
          <a:prstGeom prst="rect">
            <a:avLst/>
          </a:prstGeom>
        </p:spPr>
      </p:pic>
      <p:pic>
        <p:nvPicPr>
          <p:cNvPr id="59" name="Picture 58" descr="logo-QFAB.jpg"/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573" y="1411203"/>
            <a:ext cx="382570" cy="490474"/>
          </a:xfrm>
          <a:prstGeom prst="rect">
            <a:avLst/>
          </a:prstGeom>
        </p:spPr>
      </p:pic>
      <p:pic>
        <p:nvPicPr>
          <p:cNvPr id="60" name="Picture 59" descr="logo-Roche.jpg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778" y="736300"/>
            <a:ext cx="922092" cy="490474"/>
          </a:xfrm>
          <a:prstGeom prst="rect">
            <a:avLst/>
          </a:prstGeom>
        </p:spPr>
      </p:pic>
      <p:pic>
        <p:nvPicPr>
          <p:cNvPr id="61" name="Picture 60" descr="logo-RSC.jpg"/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2078030"/>
            <a:ext cx="686665" cy="490475"/>
          </a:xfrm>
          <a:prstGeom prst="rect">
            <a:avLst/>
          </a:prstGeom>
        </p:spPr>
      </p:pic>
      <p:pic>
        <p:nvPicPr>
          <p:cNvPr id="62" name="Picture 61" descr="logo-Sanofi.jpg"/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23" y="66770"/>
            <a:ext cx="617998" cy="490475"/>
          </a:xfrm>
          <a:prstGeom prst="rect">
            <a:avLst/>
          </a:prstGeom>
        </p:spPr>
      </p:pic>
      <p:pic>
        <p:nvPicPr>
          <p:cNvPr id="63" name="Picture 62" descr="logo-Schrod.png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2192012"/>
            <a:ext cx="1471424" cy="205999"/>
          </a:xfrm>
          <a:prstGeom prst="rect">
            <a:avLst/>
          </a:prstGeom>
        </p:spPr>
      </p:pic>
      <p:pic>
        <p:nvPicPr>
          <p:cNvPr id="65" name="Picture 64" descr="logo-Scitegrity.jpg"/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719544"/>
            <a:ext cx="1471424" cy="421808"/>
          </a:xfrm>
          <a:prstGeom prst="rect">
            <a:avLst/>
          </a:prstGeom>
        </p:spPr>
      </p:pic>
      <p:pic>
        <p:nvPicPr>
          <p:cNvPr id="66" name="Picture 65" descr="logo-Semtific.png"/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429" y="2078030"/>
            <a:ext cx="1383139" cy="490475"/>
          </a:xfrm>
          <a:prstGeom prst="rect">
            <a:avLst/>
          </a:prstGeom>
        </p:spPr>
      </p:pic>
      <p:pic>
        <p:nvPicPr>
          <p:cNvPr id="68" name="Picture 67" descr="logo-Syapse.png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78" y="1411203"/>
            <a:ext cx="1059425" cy="490475"/>
          </a:xfrm>
          <a:prstGeom prst="rect">
            <a:avLst/>
          </a:prstGeom>
        </p:spPr>
      </p:pic>
      <p:pic>
        <p:nvPicPr>
          <p:cNvPr id="69" name="Picture 68" descr="logo-TheEdge.jpg"/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3359404"/>
            <a:ext cx="735712" cy="490475"/>
          </a:xfrm>
          <a:prstGeom prst="rect">
            <a:avLst/>
          </a:prstGeom>
        </p:spPr>
      </p:pic>
      <p:pic>
        <p:nvPicPr>
          <p:cNvPr id="70" name="Picture 69" descr="logo-Titian.jpg"/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873" y="4138957"/>
            <a:ext cx="676855" cy="490475"/>
          </a:xfrm>
          <a:prstGeom prst="rect">
            <a:avLst/>
          </a:prstGeom>
        </p:spPr>
      </p:pic>
      <p:pic>
        <p:nvPicPr>
          <p:cNvPr id="71" name="Picture 70" descr="logo-TR.png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383" y="3534695"/>
            <a:ext cx="1471424" cy="245237"/>
          </a:xfrm>
          <a:prstGeom prst="rect">
            <a:avLst/>
          </a:prstGeom>
        </p:spPr>
      </p:pic>
      <p:pic>
        <p:nvPicPr>
          <p:cNvPr id="72" name="Picture 71" descr="logo-UCB.jpg"/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3401849"/>
            <a:ext cx="490475" cy="490475"/>
          </a:xfrm>
          <a:prstGeom prst="rect">
            <a:avLst/>
          </a:prstGeom>
        </p:spPr>
      </p:pic>
      <p:pic>
        <p:nvPicPr>
          <p:cNvPr id="73" name="Picture 72" descr="logo-UCL.jpg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37" y="701770"/>
            <a:ext cx="1471424" cy="431618"/>
          </a:xfrm>
          <a:prstGeom prst="rect">
            <a:avLst/>
          </a:prstGeom>
        </p:spPr>
      </p:pic>
      <p:pic>
        <p:nvPicPr>
          <p:cNvPr id="2" name="Picture 1" descr="logo-amgen.png"/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0" y="4697360"/>
            <a:ext cx="1117600" cy="635000"/>
          </a:xfrm>
          <a:prstGeom prst="rect">
            <a:avLst/>
          </a:prstGeom>
        </p:spPr>
      </p:pic>
      <p:pic>
        <p:nvPicPr>
          <p:cNvPr id="4" name="Picture 3" descr="logo-cambridgene.png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780" y="1795179"/>
            <a:ext cx="1503294" cy="260571"/>
          </a:xfrm>
          <a:prstGeom prst="rect">
            <a:avLst/>
          </a:prstGeom>
        </p:spPr>
      </p:pic>
      <p:pic>
        <p:nvPicPr>
          <p:cNvPr id="5" name="Picture 4" descr="logo-patcore.png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8" y="6001317"/>
            <a:ext cx="1221432" cy="366430"/>
          </a:xfrm>
          <a:prstGeom prst="rect">
            <a:avLst/>
          </a:prstGeom>
        </p:spPr>
      </p:pic>
      <p:pic>
        <p:nvPicPr>
          <p:cNvPr id="6" name="Picture 5" descr="logo-dotmatics.png"/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491" y="4934739"/>
            <a:ext cx="1020471" cy="258519"/>
          </a:xfrm>
          <a:prstGeom prst="rect">
            <a:avLst/>
          </a:prstGeom>
        </p:spPr>
      </p:pic>
      <p:pic>
        <p:nvPicPr>
          <p:cNvPr id="7" name="Picture 6" descr="logo-quattro.jpeg"/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400" y="5916027"/>
            <a:ext cx="1310928" cy="410757"/>
          </a:xfrm>
          <a:prstGeom prst="rect">
            <a:avLst/>
          </a:prstGeom>
        </p:spPr>
      </p:pic>
      <p:pic>
        <p:nvPicPr>
          <p:cNvPr id="8" name="Picture 7" descr="logo-reading.jpeg"/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519" y="5935216"/>
            <a:ext cx="1069937" cy="374104"/>
          </a:xfrm>
          <a:prstGeom prst="rect">
            <a:avLst/>
          </a:prstGeom>
        </p:spPr>
      </p:pic>
      <p:pic>
        <p:nvPicPr>
          <p:cNvPr id="30" name="Picture 29" descr="Lundbeck_logo_LibraryView.jpg"/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32"/>
            <a:ext cx="1196923" cy="478769"/>
          </a:xfrm>
          <a:prstGeom prst="rect">
            <a:avLst/>
          </a:prstGeom>
        </p:spPr>
      </p:pic>
      <p:pic>
        <p:nvPicPr>
          <p:cNvPr id="3" name="Picture 2" descr="Jeeva Logo - Justified.png"/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4" y="2642578"/>
            <a:ext cx="721590" cy="580534"/>
          </a:xfrm>
          <a:prstGeom prst="rect">
            <a:avLst/>
          </a:prstGeom>
        </p:spPr>
      </p:pic>
      <p:pic>
        <p:nvPicPr>
          <p:cNvPr id="10" name="Picture 9" descr="Logo Industrial Lab Automation 1000x750 px.jpg"/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713" y="4697360"/>
            <a:ext cx="1084541" cy="813406"/>
          </a:xfrm>
          <a:prstGeom prst="rect">
            <a:avLst/>
          </a:prstGeom>
        </p:spPr>
      </p:pic>
      <p:pic>
        <p:nvPicPr>
          <p:cNvPr id="40" name="Picture 39" descr="logo-SciencePoint.png"/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1690256"/>
            <a:ext cx="853440" cy="304800"/>
          </a:xfrm>
          <a:prstGeom prst="rect">
            <a:avLst/>
          </a:prstGeom>
        </p:spPr>
      </p:pic>
      <p:pic>
        <p:nvPicPr>
          <p:cNvPr id="57" name="Picture 56" descr="logo-delta.png"/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264073"/>
            <a:ext cx="1069195" cy="156815"/>
          </a:xfrm>
          <a:prstGeom prst="rect">
            <a:avLst/>
          </a:prstGeom>
        </p:spPr>
      </p:pic>
      <p:pic>
        <p:nvPicPr>
          <p:cNvPr id="27" name="Picture 26" descr="logo-knime.png"/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758781"/>
            <a:ext cx="1120763" cy="291399"/>
          </a:xfrm>
          <a:prstGeom prst="rect">
            <a:avLst/>
          </a:prstGeom>
        </p:spPr>
      </p:pic>
      <p:pic>
        <p:nvPicPr>
          <p:cNvPr id="64" name="Picture 63" descr="logo-binocular.jpg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574" y="5395359"/>
            <a:ext cx="1905000" cy="330200"/>
          </a:xfrm>
          <a:prstGeom prst="rect">
            <a:avLst/>
          </a:prstGeom>
        </p:spPr>
      </p:pic>
      <p:pic>
        <p:nvPicPr>
          <p:cNvPr id="47" name="Picture 46" descr="logo-sib.png"/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929" y="2078030"/>
            <a:ext cx="833887" cy="4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87462"/>
      </p:ext>
    </p:extLst>
  </p:cSld>
  <p:clrMapOvr>
    <a:masterClrMapping/>
  </p:clrMapOvr>
  <p:transition xmlns:p14="http://schemas.microsoft.com/office/powerpoint/2010/main">
    <p:fade thruBlk="1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Pistoia HELM </a:t>
            </a:r>
            <a:r>
              <a:rPr lang="en-US" dirty="0"/>
              <a:t>Project </a:t>
            </a:r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Transition HELM technology from Pfizer proprietary to Open Source</a:t>
            </a:r>
          </a:p>
          <a:p>
            <a:pPr lvl="1"/>
            <a:r>
              <a:rPr lang="en-US" dirty="0" smtClean="0"/>
              <a:t>Provide an industry-wide standard for </a:t>
            </a:r>
            <a:r>
              <a:rPr lang="en-US" dirty="0"/>
              <a:t>data exchange </a:t>
            </a:r>
            <a:r>
              <a:rPr lang="en-US" dirty="0" smtClean="0"/>
              <a:t>within and between organizations</a:t>
            </a:r>
            <a:endParaRPr lang="en-US" dirty="0"/>
          </a:p>
          <a:p>
            <a:pPr lvl="1"/>
            <a:r>
              <a:rPr lang="en-US" dirty="0"/>
              <a:t>Reduce software development costs by minimizing the need for companies to develop similar </a:t>
            </a:r>
            <a:r>
              <a:rPr lang="en-US" dirty="0" smtClean="0"/>
              <a:t>functionality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69165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OpenHelm.Org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5517232"/>
            <a:ext cx="3754760" cy="1218457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Specification</a:t>
            </a:r>
          </a:p>
          <a:p>
            <a:r>
              <a:rPr lang="en-US" dirty="0" smtClean="0"/>
              <a:t>Documentation</a:t>
            </a:r>
          </a:p>
          <a:p>
            <a:r>
              <a:rPr lang="en-US" dirty="0" smtClean="0"/>
              <a:t>Tutorials</a:t>
            </a:r>
          </a:p>
          <a:p>
            <a:r>
              <a:rPr lang="en-US" dirty="0" smtClean="0"/>
              <a:t>Link to source code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368152"/>
            <a:ext cx="4533913" cy="4005064"/>
          </a:xfrm>
          <a:prstGeom prst="rect">
            <a:avLst/>
          </a:prstGeom>
          <a:effectLst>
            <a:outerShdw blurRad="292100" dist="139700" dir="2700000" algn="tl" rotWithShape="0">
              <a:prstClr val="black">
                <a:alpha val="65000"/>
              </a:prstClr>
            </a:outerShdw>
          </a:effec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0" t="20089" r="60185" b="27704"/>
          <a:stretch/>
        </p:blipFill>
        <p:spPr bwMode="auto">
          <a:xfrm>
            <a:off x="4654614" y="2420888"/>
            <a:ext cx="4237866" cy="2774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/>
          <p:cNvSpPr/>
          <p:nvPr/>
        </p:nvSpPr>
        <p:spPr>
          <a:xfrm>
            <a:off x="539552" y="4941168"/>
            <a:ext cx="3456384" cy="4320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>
            <a:stCxn id="8" idx="5"/>
          </p:cNvCxnSpPr>
          <p:nvPr/>
        </p:nvCxnSpPr>
        <p:spPr>
          <a:xfrm>
            <a:off x="3489760" y="5309944"/>
            <a:ext cx="1154248" cy="56732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0" y="5661248"/>
            <a:ext cx="2703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Please join our mailing list!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>
                <a:latin typeface="Calibri" pitchFamily="34" charset="0"/>
              </a:rPr>
              <a:t>GitHub</a:t>
            </a:r>
            <a:endParaRPr lang="en-US" dirty="0" smtClean="0">
              <a:latin typeface="Calibri" pitchFamily="34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179512" y="2497432"/>
            <a:ext cx="3286921" cy="2155704"/>
          </a:xfrm>
          <a:prstGeom prst="rect">
            <a:avLst/>
          </a:prstGeom>
          <a:solidFill>
            <a:srgbClr val="2021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755304" y="3085351"/>
            <a:ext cx="2286112" cy="1437136"/>
          </a:xfrm>
          <a:prstGeom prst="rect">
            <a:avLst/>
          </a:prstGeom>
          <a:solidFill>
            <a:srgbClr val="6C6A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819172" y="4147157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298082" y="2628081"/>
            <a:ext cx="2286112" cy="1437136"/>
          </a:xfrm>
          <a:prstGeom prst="roundRect">
            <a:avLst/>
          </a:prstGeom>
          <a:solidFill>
            <a:srgbClr val="9C9CD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7946" y="6371377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https://github.com/PistoiaHELM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253765"/>
            <a:ext cx="4632002" cy="29345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92" b="42554"/>
          <a:stretch/>
        </p:blipFill>
        <p:spPr bwMode="auto">
          <a:xfrm>
            <a:off x="4067944" y="2996952"/>
            <a:ext cx="4924045" cy="2963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"/>
          <p:cNvSpPr txBox="1">
            <a:spLocks/>
          </p:cNvSpPr>
          <p:nvPr/>
        </p:nvSpPr>
        <p:spPr>
          <a:xfrm>
            <a:off x="323528" y="5085185"/>
            <a:ext cx="2808312" cy="64807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r>
              <a:rPr lang="en-US" sz="1800" dirty="0" smtClean="0">
                <a:solidFill>
                  <a:srgbClr val="4C5156"/>
                </a:solidFill>
              </a:rPr>
              <a:t>Source Code</a:t>
            </a:r>
          </a:p>
          <a:p>
            <a:r>
              <a:rPr lang="en-US" sz="1800" dirty="0" smtClean="0">
                <a:solidFill>
                  <a:srgbClr val="4C5156"/>
                </a:solidFill>
              </a:rPr>
              <a:t>HELM Drawing Applet</a:t>
            </a:r>
            <a:endParaRPr lang="en-US" sz="1800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641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HELM For You: Different strokes…</a:t>
            </a:r>
            <a:endParaRPr lang="en-GB" sz="320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Right Triangle 3"/>
          <p:cNvSpPr/>
          <p:nvPr/>
        </p:nvSpPr>
        <p:spPr>
          <a:xfrm flipH="1">
            <a:off x="228600" y="1752600"/>
            <a:ext cx="8686800" cy="3886200"/>
          </a:xfrm>
          <a:prstGeom prst="rtTriangle">
            <a:avLst/>
          </a:prstGeom>
          <a:gradFill flip="none" rotWithShape="1">
            <a:gsLst>
              <a:gs pos="61000">
                <a:srgbClr val="FFFF00"/>
              </a:gs>
              <a:gs pos="0">
                <a:srgbClr val="008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985" y="5029200"/>
            <a:ext cx="2214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Biomolecule Data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Exchange Mechanism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10200" y="3933056"/>
            <a:ext cx="3582471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Foundation for your </a:t>
            </a:r>
            <a:r>
              <a:rPr lang="en-US" dirty="0">
                <a:solidFill>
                  <a:srgbClr val="4C5156"/>
                </a:solidFill>
              </a:rPr>
              <a:t>biomolecule informatics infrastructure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Registration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Visualization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Analysis and design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Workflows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" y="5791200"/>
            <a:ext cx="8686800" cy="457200"/>
          </a:xfrm>
          <a:prstGeom prst="rightArrow">
            <a:avLst/>
          </a:prstGeom>
          <a:solidFill>
            <a:srgbClr val="000090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Level of Adoption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1874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HELM Ecosystem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5194920" cy="504056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 smtClean="0"/>
              <a:t>Pharma</a:t>
            </a:r>
            <a:r>
              <a:rPr lang="en-US" sz="2400" dirty="0" smtClean="0"/>
              <a:t> / Biotech / Institutes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BMS, GSK, </a:t>
            </a:r>
            <a:r>
              <a:rPr lang="en-US" sz="2000" dirty="0" err="1" smtClean="0"/>
              <a:t>Lundbeck</a:t>
            </a:r>
            <a:r>
              <a:rPr lang="en-US" sz="2000" dirty="0" smtClean="0"/>
              <a:t>, Merck, Novartis, Pfizer, Roche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Software vendors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ACD/Labs, </a:t>
            </a:r>
            <a:r>
              <a:rPr lang="en-US" sz="2000" dirty="0" err="1" smtClean="0"/>
              <a:t>Arxspan</a:t>
            </a:r>
            <a:r>
              <a:rPr lang="en-US" sz="2000" dirty="0" smtClean="0"/>
              <a:t>, </a:t>
            </a:r>
            <a:r>
              <a:rPr lang="en-US" sz="2000" dirty="0" err="1" smtClean="0"/>
              <a:t>Biochemfusion</a:t>
            </a:r>
            <a:r>
              <a:rPr lang="en-US" sz="2000" dirty="0" smtClean="0"/>
              <a:t>, </a:t>
            </a:r>
            <a:r>
              <a:rPr lang="en-US" sz="2000" dirty="0" err="1" smtClean="0"/>
              <a:t>BioMax</a:t>
            </a:r>
            <a:r>
              <a:rPr lang="en-US" sz="2000" dirty="0" smtClean="0"/>
              <a:t>, </a:t>
            </a:r>
            <a:r>
              <a:rPr lang="en-US" sz="2000" dirty="0" err="1" smtClean="0"/>
              <a:t>Biovia</a:t>
            </a:r>
            <a:r>
              <a:rPr lang="en-US" sz="2000" dirty="0" smtClean="0"/>
              <a:t>, </a:t>
            </a:r>
            <a:r>
              <a:rPr lang="en-US" sz="2000" dirty="0" err="1" smtClean="0"/>
              <a:t>ChemAxon</a:t>
            </a:r>
            <a:r>
              <a:rPr lang="en-US" sz="2000" dirty="0" smtClean="0"/>
              <a:t>, </a:t>
            </a:r>
            <a:r>
              <a:rPr lang="en-US" sz="2000" dirty="0" err="1" smtClean="0"/>
              <a:t>NextMove</a:t>
            </a:r>
            <a:r>
              <a:rPr lang="en-US" sz="2000" dirty="0" smtClean="0"/>
              <a:t>, </a:t>
            </a:r>
            <a:r>
              <a:rPr lang="en-US" sz="2000" dirty="0" err="1" smtClean="0"/>
              <a:t>Scilligence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Content / Service Providers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EBI (</a:t>
            </a:r>
            <a:r>
              <a:rPr lang="en-US" sz="2000" dirty="0" err="1" smtClean="0"/>
              <a:t>ChEMBL</a:t>
            </a:r>
            <a:r>
              <a:rPr lang="en-US" sz="2000" dirty="0" smtClean="0"/>
              <a:t>), </a:t>
            </a:r>
            <a:r>
              <a:rPr lang="en-US" sz="2000" dirty="0" err="1" smtClean="0"/>
              <a:t>eMolecules</a:t>
            </a:r>
            <a:r>
              <a:rPr lang="en-US" sz="2000" dirty="0" smtClean="0"/>
              <a:t>, </a:t>
            </a:r>
            <a:r>
              <a:rPr lang="en-US" sz="2000" dirty="0" err="1" smtClean="0"/>
              <a:t>quattro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Active discussions on-going with others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600" dirty="0" smtClean="0"/>
              <a:t>e.g. FDA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790"/>
          <a:stretch/>
        </p:blipFill>
        <p:spPr>
          <a:xfrm>
            <a:off x="5724128" y="1185332"/>
            <a:ext cx="3384376" cy="33237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29268" r="31098"/>
          <a:stretch/>
        </p:blipFill>
        <p:spPr>
          <a:xfrm>
            <a:off x="6732240" y="4869160"/>
            <a:ext cx="1146944" cy="1358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742" y="2132856"/>
            <a:ext cx="1387872" cy="138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22948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857" y="2492896"/>
            <a:ext cx="2745883" cy="2448462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0609"/>
            <a:ext cx="8507288" cy="46409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Recent Developments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1560" y="1988840"/>
            <a:ext cx="5112568" cy="208823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In-Line HELM Notation</a:t>
            </a:r>
          </a:p>
          <a:p>
            <a:r>
              <a:rPr lang="en-US" dirty="0" smtClean="0"/>
              <a:t>Exchangeable HELM</a:t>
            </a:r>
          </a:p>
          <a:p>
            <a:r>
              <a:rPr lang="en-US" dirty="0" smtClean="0"/>
              <a:t>Roche Antibody Editor</a:t>
            </a:r>
            <a:endParaRPr lang="en-US" dirty="0"/>
          </a:p>
          <a:p>
            <a:r>
              <a:rPr lang="en-US" dirty="0" smtClean="0"/>
              <a:t>Search POC</a:t>
            </a:r>
          </a:p>
          <a:p>
            <a:r>
              <a:rPr lang="en-US" dirty="0" err="1" smtClean="0"/>
              <a:t>ChEMBL</a:t>
            </a:r>
            <a:r>
              <a:rPr lang="en-US" dirty="0" smtClean="0"/>
              <a:t> v20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1840" y="1268760"/>
            <a:ext cx="5832648" cy="338554"/>
          </a:xfrm>
          <a:prstGeom prst="rect">
            <a:avLst/>
          </a:prstGeom>
          <a:solidFill>
            <a:schemeClr val="bg1"/>
          </a:solidFill>
          <a:ln>
            <a:solidFill>
              <a:srgbClr val="3366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rgbClr val="4C5156"/>
                </a:solidFill>
              </a:rPr>
              <a:t>PEPTIDE1{G.</a:t>
            </a:r>
            <a:r>
              <a:rPr lang="pt-BR" sz="1600" b="1" dirty="0">
                <a:solidFill>
                  <a:srgbClr val="4C5156"/>
                </a:solidFill>
              </a:rPr>
              <a:t>[[*]N[C@@H](C=O)C([*])=O |$_R1;;;;;;_R2;$|]</a:t>
            </a:r>
            <a:r>
              <a:rPr lang="pt-BR" sz="1600" dirty="0">
                <a:solidFill>
                  <a:srgbClr val="4C5156"/>
                </a:solidFill>
              </a:rPr>
              <a:t>.C}$$$$ </a:t>
            </a:r>
            <a:endParaRPr lang="en-US" sz="1600" dirty="0">
              <a:solidFill>
                <a:srgbClr val="4C5156"/>
              </a:solidFill>
            </a:endParaRPr>
          </a:p>
        </p:txBody>
      </p:sp>
      <p:pic>
        <p:nvPicPr>
          <p:cNvPr id="11" name="Picture 32" descr="Logo_RGB_k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1751945"/>
            <a:ext cx="2462014" cy="696327"/>
          </a:xfrm>
          <a:prstGeom prst="rect">
            <a:avLst/>
          </a:prstGeom>
          <a:noFill/>
        </p:spPr>
      </p:pic>
      <p:grpSp>
        <p:nvGrpSpPr>
          <p:cNvPr id="19" name="Group 18"/>
          <p:cNvGrpSpPr/>
          <p:nvPr/>
        </p:nvGrpSpPr>
        <p:grpSpPr>
          <a:xfrm>
            <a:off x="395536" y="5805264"/>
            <a:ext cx="2403222" cy="936104"/>
            <a:chOff x="2411760" y="5819375"/>
            <a:chExt cx="2403222" cy="936104"/>
          </a:xfrm>
        </p:grpSpPr>
        <p:sp>
          <p:nvSpPr>
            <p:cNvPr id="14" name="Rectangle 13"/>
            <p:cNvSpPr/>
            <p:nvPr/>
          </p:nvSpPr>
          <p:spPr>
            <a:xfrm>
              <a:off x="2414513" y="5819375"/>
              <a:ext cx="2386169" cy="936104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4"/>
            <a:srcRect l="21570" r="20975"/>
            <a:stretch/>
          </p:blipFill>
          <p:spPr>
            <a:xfrm>
              <a:off x="2488494" y="5896396"/>
              <a:ext cx="576793" cy="61778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2411760" y="6381328"/>
              <a:ext cx="2403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latin typeface="Adobe Caslon Pro"/>
                  <a:cs typeface="Adobe Caslon Pro"/>
                </a:rPr>
                <a:t>Andreas Bender Group</a:t>
              </a:r>
              <a:endParaRPr lang="en-US" b="1" dirty="0">
                <a:latin typeface="Adobe Caslon Pro"/>
                <a:cs typeface="Adobe Caslon Pro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87824" y="5867980"/>
              <a:ext cx="17940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Times New Roman"/>
                  <a:cs typeface="Times New Roman"/>
                </a:rPr>
                <a:t>UNIVERSITY OF</a:t>
              </a:r>
              <a:endParaRPr lang="en-US" sz="1600" b="1" dirty="0">
                <a:latin typeface="Times New Roman"/>
                <a:cs typeface="Times New Roman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87824" y="6093296"/>
              <a:ext cx="18090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latin typeface="Times New Roman"/>
                  <a:cs typeface="Times New Roman"/>
                </a:rPr>
                <a:t>CAMBRIDGE</a:t>
              </a:r>
              <a:endParaRPr lang="en-US" sz="2000" dirty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843808" y="6381328"/>
            <a:ext cx="3723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Peter </a:t>
            </a:r>
            <a:r>
              <a:rPr lang="en-US" dirty="0" err="1" smtClean="0">
                <a:solidFill>
                  <a:srgbClr val="4C5156"/>
                </a:solidFill>
              </a:rPr>
              <a:t>MacCallum</a:t>
            </a:r>
            <a:r>
              <a:rPr lang="en-US" dirty="0" smtClean="0">
                <a:solidFill>
                  <a:srgbClr val="4C5156"/>
                </a:solidFill>
              </a:rPr>
              <a:t>, Andrea </a:t>
            </a:r>
            <a:r>
              <a:rPr lang="en-US" dirty="0" err="1" smtClean="0">
                <a:solidFill>
                  <a:srgbClr val="4C5156"/>
                </a:solidFill>
              </a:rPr>
              <a:t>Chlebikova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509120"/>
            <a:ext cx="3871637" cy="16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979497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Phase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91264" cy="4871567"/>
          </a:xfrm>
        </p:spPr>
        <p:txBody>
          <a:bodyPr>
            <a:normAutofit/>
          </a:bodyPr>
          <a:lstStyle/>
          <a:p>
            <a:r>
              <a:rPr lang="en-US" dirty="0" smtClean="0"/>
              <a:t>Started in November</a:t>
            </a:r>
          </a:p>
          <a:p>
            <a:r>
              <a:rPr lang="en-US" dirty="0" smtClean="0"/>
              <a:t>Areas of focus (prioritized by steering committee)</a:t>
            </a:r>
          </a:p>
          <a:p>
            <a:pPr lvl="1"/>
            <a:r>
              <a:rPr lang="en-US" dirty="0" smtClean="0"/>
              <a:t>Continued dissemination and adoption</a:t>
            </a:r>
          </a:p>
          <a:p>
            <a:pPr lvl="1"/>
            <a:r>
              <a:rPr lang="en-US" dirty="0" smtClean="0"/>
              <a:t>Technical work to maximize utility and adoptability</a:t>
            </a:r>
          </a:p>
          <a:p>
            <a:pPr lvl="2"/>
            <a:r>
              <a:rPr lang="en-US" dirty="0" smtClean="0"/>
              <a:t>Management of ambiguity</a:t>
            </a:r>
          </a:p>
          <a:p>
            <a:pPr lvl="2"/>
            <a:r>
              <a:rPr lang="en-US" dirty="0" smtClean="0"/>
              <a:t>Mitigate dependencies on commercial libraries</a:t>
            </a:r>
          </a:p>
          <a:p>
            <a:pPr lvl="3"/>
            <a:r>
              <a:rPr lang="en-US" dirty="0" smtClean="0"/>
              <a:t>Graphing</a:t>
            </a:r>
          </a:p>
          <a:p>
            <a:pPr lvl="3"/>
            <a:r>
              <a:rPr lang="en-US" dirty="0" smtClean="0"/>
              <a:t>Chemical toolkit</a:t>
            </a:r>
          </a:p>
          <a:p>
            <a:pPr lvl="2"/>
            <a:r>
              <a:rPr lang="en-US" dirty="0" smtClean="0"/>
              <a:t>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8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5"/>
            <a:ext cx="8363271" cy="4464495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Share the wealth</a:t>
            </a:r>
          </a:p>
          <a:p>
            <a:pPr lvl="1"/>
            <a:r>
              <a:rPr lang="en-US" dirty="0" smtClean="0"/>
              <a:t>Does your organization have “shareable” assets that others could benefit from?</a:t>
            </a:r>
          </a:p>
          <a:p>
            <a:r>
              <a:rPr lang="en-US" dirty="0" smtClean="0"/>
              <a:t>Don’t go it alone</a:t>
            </a:r>
          </a:p>
          <a:p>
            <a:pPr lvl="1"/>
            <a:r>
              <a:rPr lang="en-US" dirty="0" smtClean="0"/>
              <a:t>“NIH Syndrome” is a luxury none of us can afford</a:t>
            </a:r>
          </a:p>
          <a:p>
            <a:r>
              <a:rPr lang="en-US" dirty="0" smtClean="0"/>
              <a:t>Volunteer army, paid sergeant(s)</a:t>
            </a:r>
          </a:p>
          <a:p>
            <a:pPr lvl="1"/>
            <a:r>
              <a:rPr lang="en-US" dirty="0" smtClean="0"/>
              <a:t>It has to be someone’s </a:t>
            </a:r>
            <a:r>
              <a:rPr lang="en-US" u="sng" dirty="0" smtClean="0"/>
              <a:t>job</a:t>
            </a:r>
            <a:r>
              <a:rPr lang="en-US" dirty="0" smtClean="0"/>
              <a:t> to keep things moving</a:t>
            </a:r>
          </a:p>
          <a:p>
            <a:r>
              <a:rPr lang="en-US" dirty="0" smtClean="0"/>
              <a:t>Time’s fun when you’re having flies -- Kermit the Frog</a:t>
            </a:r>
          </a:p>
          <a:p>
            <a:pPr lvl="1"/>
            <a:r>
              <a:rPr lang="en-US" dirty="0" smtClean="0"/>
              <a:t>Everything works much better when the atmosphere is kept light and friendly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245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Team Members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365745"/>
            <a:ext cx="8229599" cy="48715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smtClean="0"/>
              <a:t>Our team Members (</a:t>
            </a:r>
            <a:r>
              <a:rPr lang="en-US" sz="1400" b="1" i="1" u="sng" dirty="0" smtClean="0"/>
              <a:t>Subteam leads</a:t>
            </a:r>
            <a:r>
              <a:rPr lang="en-US" sz="1400" b="1" dirty="0" smtClean="0"/>
              <a:t>)</a:t>
            </a:r>
          </a:p>
          <a:p>
            <a:r>
              <a:rPr lang="en-US" sz="1200" b="1" i="1" u="sng" dirty="0" err="1" smtClean="0"/>
              <a:t>Akos</a:t>
            </a:r>
            <a:r>
              <a:rPr lang="en-US" sz="1200" b="1" i="1" u="sng" dirty="0" smtClean="0"/>
              <a:t> </a:t>
            </a:r>
            <a:r>
              <a:rPr lang="en-US" sz="1200" b="1" i="1" u="sng" dirty="0"/>
              <a:t>Papp (</a:t>
            </a:r>
            <a:r>
              <a:rPr lang="en-US" sz="1200" b="1" i="1" u="sng" dirty="0" err="1"/>
              <a:t>ChemAxon</a:t>
            </a:r>
            <a:r>
              <a:rPr lang="en-US" sz="1200" b="1" i="1" u="sng" dirty="0"/>
              <a:t>)</a:t>
            </a:r>
          </a:p>
          <a:p>
            <a:r>
              <a:rPr lang="en-US" sz="1200" dirty="0"/>
              <a:t>Alex </a:t>
            </a:r>
            <a:r>
              <a:rPr lang="en-US" sz="1200" dirty="0" err="1"/>
              <a:t>Allardyce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/>
              <a:t>Alex </a:t>
            </a:r>
            <a:r>
              <a:rPr lang="en-US" sz="1200" dirty="0" err="1"/>
              <a:t>Drijver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Andrey</a:t>
            </a:r>
            <a:r>
              <a:rPr lang="en-US" sz="1200" dirty="0"/>
              <a:t> </a:t>
            </a:r>
            <a:r>
              <a:rPr lang="en-US" sz="1200" dirty="0" err="1"/>
              <a:t>Yerin</a:t>
            </a:r>
            <a:r>
              <a:rPr lang="en-US" sz="1200" dirty="0"/>
              <a:t> (ACD labs)</a:t>
            </a:r>
          </a:p>
          <a:p>
            <a:r>
              <a:rPr lang="en-US" sz="1200" dirty="0"/>
              <a:t>Dana </a:t>
            </a:r>
            <a:r>
              <a:rPr lang="en-US" sz="1200" dirty="0" err="1"/>
              <a:t>Vanderwall</a:t>
            </a:r>
            <a:r>
              <a:rPr lang="en-US" sz="1200" dirty="0"/>
              <a:t> (BMS)</a:t>
            </a:r>
          </a:p>
          <a:p>
            <a:r>
              <a:rPr lang="en-US" sz="1200" dirty="0"/>
              <a:t>Ed Currie (</a:t>
            </a:r>
            <a:r>
              <a:rPr lang="en-US" sz="1200" dirty="0" err="1"/>
              <a:t>InfoSys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Edvard</a:t>
            </a:r>
            <a:r>
              <a:rPr lang="en-US" sz="1200" dirty="0"/>
              <a:t> </a:t>
            </a:r>
            <a:r>
              <a:rPr lang="en-US" sz="1200" dirty="0" err="1"/>
              <a:t>Buki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/>
              <a:t>Hans de </a:t>
            </a:r>
            <a:r>
              <a:rPr lang="en-US" sz="1200" dirty="0" err="1"/>
              <a:t>Bie</a:t>
            </a:r>
            <a:r>
              <a:rPr lang="en-US" sz="1200" dirty="0"/>
              <a:t> (</a:t>
            </a:r>
            <a:r>
              <a:rPr lang="en-US" sz="1200" dirty="0" err="1"/>
              <a:t>ACDLabs</a:t>
            </a:r>
            <a:r>
              <a:rPr lang="en-US" sz="1200" dirty="0"/>
              <a:t>)</a:t>
            </a:r>
          </a:p>
          <a:p>
            <a:r>
              <a:rPr lang="en-US" sz="1200" dirty="0"/>
              <a:t>Ian Stott (Unilever)</a:t>
            </a:r>
          </a:p>
          <a:p>
            <a:r>
              <a:rPr lang="en-US" sz="1200" dirty="0"/>
              <a:t>Jerry Winter (Unilever)</a:t>
            </a:r>
          </a:p>
          <a:p>
            <a:r>
              <a:rPr lang="en-US" sz="1200" dirty="0" err="1"/>
              <a:t>Jinbo</a:t>
            </a:r>
            <a:r>
              <a:rPr lang="en-US" sz="1200" dirty="0"/>
              <a:t> Lee (</a:t>
            </a:r>
            <a:r>
              <a:rPr lang="en-US" sz="1200" dirty="0" err="1"/>
              <a:t>Scilligence</a:t>
            </a:r>
            <a:r>
              <a:rPr lang="en-US" sz="1200" dirty="0"/>
              <a:t>)</a:t>
            </a:r>
          </a:p>
          <a:p>
            <a:r>
              <a:rPr lang="en-US" sz="1200" dirty="0"/>
              <a:t>John Smith (GSK)</a:t>
            </a:r>
          </a:p>
          <a:p>
            <a:r>
              <a:rPr lang="en-US" sz="1200" b="1" i="1" u="sng" dirty="0"/>
              <a:t>John Wise (Pistoia)</a:t>
            </a:r>
          </a:p>
          <a:p>
            <a:r>
              <a:rPr lang="en-US" sz="1200" dirty="0"/>
              <a:t>Keith Taylor </a:t>
            </a:r>
            <a:r>
              <a:rPr lang="en-US" sz="1200" dirty="0" smtClean="0"/>
              <a:t>(</a:t>
            </a:r>
            <a:r>
              <a:rPr lang="en-US" sz="1200" dirty="0" err="1" smtClean="0"/>
              <a:t>Ladera</a:t>
            </a:r>
            <a:r>
              <a:rPr lang="en-US" sz="1200" dirty="0" smtClean="0"/>
              <a:t>)</a:t>
            </a:r>
            <a:endParaRPr lang="en-US" sz="1200" dirty="0"/>
          </a:p>
          <a:p>
            <a:r>
              <a:rPr lang="en-US" sz="1200" b="1" dirty="0" err="1"/>
              <a:t>Kirti</a:t>
            </a:r>
            <a:r>
              <a:rPr lang="en-US" sz="1200" b="1" dirty="0"/>
              <a:t> Jindal (</a:t>
            </a:r>
            <a:r>
              <a:rPr lang="en-US" sz="1200" b="1" dirty="0" err="1"/>
              <a:t>InfoSys</a:t>
            </a:r>
            <a:r>
              <a:rPr lang="en-US" sz="1200" b="1" dirty="0"/>
              <a:t>)</a:t>
            </a:r>
          </a:p>
          <a:p>
            <a:r>
              <a:rPr lang="en-US" sz="1200" b="1" i="1" u="sng" dirty="0"/>
              <a:t>Matthias Nolte (BMS)</a:t>
            </a:r>
          </a:p>
          <a:p>
            <a:r>
              <a:rPr lang="en-US" sz="1200" dirty="0"/>
              <a:t>Michael Cui (GSK)</a:t>
            </a:r>
          </a:p>
          <a:p>
            <a:r>
              <a:rPr lang="en-US" sz="1200" dirty="0"/>
              <a:t>Mike Travers (CDD)</a:t>
            </a:r>
          </a:p>
          <a:p>
            <a:r>
              <a:rPr lang="en-US" sz="1200" dirty="0"/>
              <a:t>Rama </a:t>
            </a:r>
            <a:r>
              <a:rPr lang="en-US" sz="1200" dirty="0" err="1"/>
              <a:t>Bhamidpati</a:t>
            </a:r>
            <a:r>
              <a:rPr lang="en-US" sz="1200" dirty="0"/>
              <a:t> (GSK</a:t>
            </a:r>
            <a:r>
              <a:rPr lang="en-US" sz="1200" dirty="0" smtClean="0"/>
              <a:t>)</a:t>
            </a:r>
            <a:endParaRPr lang="en-US" sz="12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105400" y="1500335"/>
            <a:ext cx="3499048" cy="4678363"/>
          </a:xfrm>
        </p:spPr>
        <p:txBody>
          <a:bodyPr>
            <a:noAutofit/>
          </a:bodyPr>
          <a:lstStyle/>
          <a:p>
            <a:r>
              <a:rPr lang="en-US" sz="1200" dirty="0"/>
              <a:t>Roland </a:t>
            </a:r>
            <a:r>
              <a:rPr lang="en-US" sz="1200" dirty="0" err="1"/>
              <a:t>Knispel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/>
              <a:t>)</a:t>
            </a:r>
          </a:p>
          <a:p>
            <a:r>
              <a:rPr lang="en-US" sz="1200" dirty="0"/>
              <a:t>Roland Molnar </a:t>
            </a:r>
            <a:r>
              <a:rPr lang="en-US" sz="1200" dirty="0" smtClean="0"/>
              <a:t>(</a:t>
            </a:r>
            <a:r>
              <a:rPr lang="en-US" sz="1200" dirty="0" err="1" smtClean="0"/>
              <a:t>ChemAxon</a:t>
            </a:r>
            <a:r>
              <a:rPr lang="en-US" sz="1200" dirty="0" smtClean="0"/>
              <a:t>)</a:t>
            </a:r>
            <a:endParaRPr lang="en-US" sz="1200" dirty="0"/>
          </a:p>
          <a:p>
            <a:r>
              <a:rPr lang="en-US" sz="1200" b="1" i="1" u="sng" dirty="0"/>
              <a:t>Sergio Rotstein (Pfizer)</a:t>
            </a:r>
          </a:p>
          <a:p>
            <a:r>
              <a:rPr lang="en-US" sz="1200" dirty="0"/>
              <a:t>Stefan </a:t>
            </a:r>
            <a:r>
              <a:rPr lang="en-US" sz="1200" dirty="0" err="1"/>
              <a:t>Klostermann</a:t>
            </a:r>
            <a:r>
              <a:rPr lang="en-US" sz="1200" dirty="0"/>
              <a:t> (Roche)</a:t>
            </a:r>
          </a:p>
          <a:p>
            <a:r>
              <a:rPr lang="en-US" sz="1200" dirty="0"/>
              <a:t>Ted Slater (</a:t>
            </a:r>
            <a:r>
              <a:rPr lang="en-US" sz="1200" dirty="0" err="1"/>
              <a:t>OpenBEL</a:t>
            </a:r>
            <a:r>
              <a:rPr lang="en-US" sz="1200" dirty="0"/>
              <a:t>)</a:t>
            </a:r>
          </a:p>
          <a:p>
            <a:r>
              <a:rPr lang="en-US" sz="1200" b="1" i="1" u="sng" dirty="0" err="1"/>
              <a:t>Tianhong</a:t>
            </a:r>
            <a:r>
              <a:rPr lang="en-US" sz="1200" b="1" i="1" u="sng" dirty="0"/>
              <a:t> Zhang (Pfizer)</a:t>
            </a:r>
          </a:p>
          <a:p>
            <a:r>
              <a:rPr lang="en-US" sz="1200" dirty="0"/>
              <a:t>Tony Yuan (</a:t>
            </a:r>
            <a:r>
              <a:rPr lang="en-US" sz="1200" dirty="0" err="1"/>
              <a:t>Scilligence</a:t>
            </a:r>
            <a:r>
              <a:rPr lang="en-US" sz="1200" dirty="0"/>
              <a:t>)</a:t>
            </a:r>
            <a:endParaRPr lang="en-US" sz="1200" dirty="0" smtClean="0"/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400" b="1" dirty="0" smtClean="0"/>
              <a:t>Our Steering Committee</a:t>
            </a:r>
          </a:p>
          <a:p>
            <a:r>
              <a:rPr lang="en-US" sz="1200" dirty="0" smtClean="0"/>
              <a:t>John </a:t>
            </a:r>
            <a:r>
              <a:rPr lang="en-US" sz="1200" dirty="0"/>
              <a:t>Wise (Pistoia Alliance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Margret </a:t>
            </a:r>
            <a:r>
              <a:rPr lang="en-US" sz="1200" dirty="0" err="1"/>
              <a:t>Assfalg</a:t>
            </a:r>
            <a:r>
              <a:rPr lang="en-US" sz="1200" dirty="0"/>
              <a:t> (Roche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Leah </a:t>
            </a:r>
            <a:r>
              <a:rPr lang="en-US" sz="1200" dirty="0"/>
              <a:t>O'Brien (GSK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Ramesh </a:t>
            </a:r>
            <a:r>
              <a:rPr lang="en-US" sz="1200" dirty="0" err="1" smtClean="0"/>
              <a:t>Durvasula</a:t>
            </a:r>
            <a:r>
              <a:rPr lang="en-US" sz="1200" dirty="0" smtClean="0"/>
              <a:t> </a:t>
            </a:r>
            <a:r>
              <a:rPr lang="en-US" sz="1200" dirty="0"/>
              <a:t>(BMS)  </a:t>
            </a:r>
            <a:endParaRPr lang="en-US" sz="1200" dirty="0" smtClean="0"/>
          </a:p>
          <a:p>
            <a:r>
              <a:rPr lang="en-US" sz="1200" dirty="0" smtClean="0"/>
              <a:t>Sergio Rotstein (</a:t>
            </a:r>
            <a:r>
              <a:rPr lang="en-US" sz="1200" dirty="0"/>
              <a:t>Pfizer) </a:t>
            </a:r>
            <a:endParaRPr lang="en-US" sz="1200" dirty="0" smtClean="0"/>
          </a:p>
          <a:p>
            <a:r>
              <a:rPr lang="en-US" sz="1200" dirty="0" smtClean="0"/>
              <a:t>Alex </a:t>
            </a:r>
            <a:r>
              <a:rPr lang="en-US" sz="1200" dirty="0" err="1"/>
              <a:t>Drijver</a:t>
            </a:r>
            <a:r>
              <a:rPr lang="en-US" sz="1200" dirty="0"/>
              <a:t> (</a:t>
            </a:r>
            <a:r>
              <a:rPr lang="en-US" sz="1200" dirty="0" err="1"/>
              <a:t>ChemAxon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Chris Waller (Merck)</a:t>
            </a:r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400" b="1" dirty="0" smtClean="0"/>
              <a:t>Our </a:t>
            </a:r>
            <a:r>
              <a:rPr lang="en-US" sz="1400" b="1" u="sng" dirty="0" smtClean="0"/>
              <a:t>Excellent</a:t>
            </a:r>
            <a:r>
              <a:rPr lang="en-US" sz="1400" b="1" dirty="0" smtClean="0"/>
              <a:t> Project Manager</a:t>
            </a:r>
          </a:p>
          <a:p>
            <a:r>
              <a:rPr lang="en-US" sz="1200" dirty="0" smtClean="0"/>
              <a:t>Claire Bellamy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6021288"/>
            <a:ext cx="7439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4C5156"/>
                </a:solidFill>
              </a:rPr>
              <a:t>Special thanks to </a:t>
            </a:r>
            <a:r>
              <a:rPr lang="en-US" sz="1400" dirty="0" err="1" smtClean="0">
                <a:solidFill>
                  <a:srgbClr val="4C5156"/>
                </a:solidFill>
              </a:rPr>
              <a:t>ChemAxon</a:t>
            </a:r>
            <a:r>
              <a:rPr lang="en-US" sz="1400" dirty="0" smtClean="0">
                <a:solidFill>
                  <a:srgbClr val="4C5156"/>
                </a:solidFill>
              </a:rPr>
              <a:t> for their generous contribution of software development resources!!</a:t>
            </a:r>
          </a:p>
          <a:p>
            <a:r>
              <a:rPr lang="en-US" sz="1400" dirty="0" smtClean="0">
                <a:solidFill>
                  <a:srgbClr val="4C5156"/>
                </a:solidFill>
              </a:rPr>
              <a:t>Special thanks to Pfizer for their unwavering support and contribution of in-kind project resources!!</a:t>
            </a:r>
            <a:endParaRPr lang="en-US" sz="1400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09186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77171"/>
            <a:ext cx="3657600" cy="3375965"/>
          </a:xfrm>
          <a:prstGeom prst="rect">
            <a:avLst/>
          </a:prstGeom>
        </p:spPr>
      </p:pic>
      <p:pic>
        <p:nvPicPr>
          <p:cNvPr id="6146" name="Picture 2" descr="https://encrypted-tbn1.gstatic.com/images?q=tbn:ANd9GcQWDFTNiPX4wvSnXqU9UhM4Vke6fndUt18HhU2hbypOFTe9sN5b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25" y="1238163"/>
            <a:ext cx="2338535" cy="23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74010" y="3717032"/>
            <a:ext cx="2756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>
                <a:solidFill>
                  <a:srgbClr val="4C5156"/>
                </a:solidFill>
              </a:rPr>
              <a:t>www.OpenHelm.org</a:t>
            </a:r>
            <a:r>
              <a:rPr lang="en-US" sz="2400" dirty="0">
                <a:solidFill>
                  <a:srgbClr val="4C5156"/>
                </a:solidFill>
              </a:rPr>
              <a:t/>
            </a:r>
            <a:br>
              <a:rPr lang="en-US" sz="2400" dirty="0">
                <a:solidFill>
                  <a:srgbClr val="4C5156"/>
                </a:solidFill>
              </a:rPr>
            </a:br>
            <a:r>
              <a:rPr lang="en-US" sz="2400" dirty="0" err="1" smtClean="0">
                <a:solidFill>
                  <a:srgbClr val="4C5156"/>
                </a:solidFill>
              </a:rPr>
              <a:t>info@openhelm.org</a:t>
            </a:r>
            <a:endParaRPr lang="en-US" sz="24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6" y="5126242"/>
            <a:ext cx="4703420" cy="15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8SjqKDXCkyuyAtIIp11m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4XRRJEPxE.tW.yHgwWaA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Agp.jZFokOOggcVPez7i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SMNv4lqUmP1Y2zkRlVc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5rApjO8E2iX2.V3R.kL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zKM2bZydUSfRu7gaFm8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EZPjALjrEyt2aNa_W2cM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3NrksexuU6CLx7WOC7bo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SLev7rnxECrToqfYDgP.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7GlnjJj0.hR._N4CCzE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_Aaswfcr0CSUfAjDK45Lw"/>
</p:tagLst>
</file>

<file path=ppt/theme/theme1.xml><?xml version="1.0" encoding="utf-8"?>
<a:theme xmlns:a="http://schemas.openxmlformats.org/drawingml/2006/main" name="Pistoia Alliance Them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d813433c3743a571253c4b1ba9d83e6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f95f639f373cbb55f09436e78c8dbc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35EAD9-C5DA-44F0-8DD2-086E90530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E98A8BA-6417-415C-A6BE-5669C01C0F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90D5E0-5BE7-4B9D-B7B6-BEA320FB97A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Pistoia Alliance Theme.thmx</Template>
  <TotalTime>19444</TotalTime>
  <Words>1086</Words>
  <Application>Microsoft Macintosh PowerPoint</Application>
  <PresentationFormat>On-screen Show (4:3)</PresentationFormat>
  <Paragraphs>203</Paragraphs>
  <Slides>23</Slides>
  <Notes>10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Pistoia Alliance Theme</vt:lpstr>
      <vt:lpstr>Pistoia Content Theme</vt:lpstr>
      <vt:lpstr>MarvinOLE</vt:lpstr>
      <vt:lpstr>Pistoia Alliance HELM Project</vt:lpstr>
      <vt:lpstr>Background</vt:lpstr>
      <vt:lpstr>What is a “Biomolecule”</vt:lpstr>
      <vt:lpstr>Stuck in the middle…</vt:lpstr>
      <vt:lpstr>“Fit-for-Purpose” Structure Representation</vt:lpstr>
      <vt:lpstr>Hierarchical Editing Language for Macromolecules</vt:lpstr>
      <vt:lpstr>Examples</vt:lpstr>
      <vt:lpstr>HELM at Pfizer: Drawing</vt:lpstr>
      <vt:lpstr>HELM at Pfizer: Registration</vt:lpstr>
      <vt:lpstr>HELM at Pfizer: Analysis &amp; Design</vt:lpstr>
      <vt:lpstr>HELM at Pfizer: Workflow</vt:lpstr>
      <vt:lpstr>The Pistoia Alliance</vt:lpstr>
      <vt:lpstr>PowerPoint Presentation</vt:lpstr>
      <vt:lpstr>Pistoia HELM Project Goal</vt:lpstr>
      <vt:lpstr>OpenHelm.Org</vt:lpstr>
      <vt:lpstr>GitHub</vt:lpstr>
      <vt:lpstr>HELM For You: Different strokes…</vt:lpstr>
      <vt:lpstr>The HELM Ecosystem</vt:lpstr>
      <vt:lpstr>Recent Developments</vt:lpstr>
      <vt:lpstr>HELM Phase 2</vt:lpstr>
      <vt:lpstr>Best Practices</vt:lpstr>
      <vt:lpstr>HELM Team Members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BLAST/FASTA</dc:title>
  <dc:creator>john_joseph_smith@hotmail.com</dc:creator>
  <cp:lastModifiedBy>Sergio Rotstein</cp:lastModifiedBy>
  <cp:revision>301</cp:revision>
  <cp:lastPrinted>2013-09-20T15:04:55Z</cp:lastPrinted>
  <dcterms:created xsi:type="dcterms:W3CDTF">2013-02-18T10:26:54Z</dcterms:created>
  <dcterms:modified xsi:type="dcterms:W3CDTF">2015-02-23T15:30:33Z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