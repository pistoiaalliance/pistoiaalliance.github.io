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5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8" r:id="rId2"/>
    <p:sldMasterId id="2147483668" r:id="rId3"/>
    <p:sldMasterId id="2147483676" r:id="rId4"/>
    <p:sldMasterId id="2147483685" r:id="rId5"/>
    <p:sldMasterId id="2147483697" r:id="rId6"/>
  </p:sldMasterIdLst>
  <p:notesMasterIdLst>
    <p:notesMasterId r:id="rId40"/>
  </p:notesMasterIdLst>
  <p:handoutMasterIdLst>
    <p:handoutMasterId r:id="rId41"/>
  </p:handoutMasterIdLst>
  <p:sldIdLst>
    <p:sldId id="256" r:id="rId7"/>
    <p:sldId id="394" r:id="rId8"/>
    <p:sldId id="457" r:id="rId9"/>
    <p:sldId id="455" r:id="rId10"/>
    <p:sldId id="396" r:id="rId11"/>
    <p:sldId id="405" r:id="rId12"/>
    <p:sldId id="422" r:id="rId13"/>
    <p:sldId id="460" r:id="rId14"/>
    <p:sldId id="461" r:id="rId15"/>
    <p:sldId id="462" r:id="rId16"/>
    <p:sldId id="463" r:id="rId17"/>
    <p:sldId id="502" r:id="rId18"/>
    <p:sldId id="477" r:id="rId19"/>
    <p:sldId id="486" r:id="rId20"/>
    <p:sldId id="501" r:id="rId21"/>
    <p:sldId id="479" r:id="rId22"/>
    <p:sldId id="480" r:id="rId23"/>
    <p:sldId id="419" r:id="rId24"/>
    <p:sldId id="487" r:id="rId25"/>
    <p:sldId id="465" r:id="rId26"/>
    <p:sldId id="488" r:id="rId27"/>
    <p:sldId id="489" r:id="rId28"/>
    <p:sldId id="485" r:id="rId29"/>
    <p:sldId id="466" r:id="rId30"/>
    <p:sldId id="490" r:id="rId31"/>
    <p:sldId id="496" r:id="rId32"/>
    <p:sldId id="499" r:id="rId33"/>
    <p:sldId id="500" r:id="rId34"/>
    <p:sldId id="498" r:id="rId35"/>
    <p:sldId id="494" r:id="rId36"/>
    <p:sldId id="495" r:id="rId37"/>
    <p:sldId id="385" r:id="rId38"/>
    <p:sldId id="416" r:id="rId39"/>
  </p:sldIdLst>
  <p:sldSz cx="9144000" cy="6858000" type="screen4x3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7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C1E"/>
    <a:srgbClr val="2103D5"/>
    <a:srgbClr val="FFFFFF"/>
    <a:srgbClr val="228B96"/>
    <a:srgbClr val="4C5156"/>
    <a:srgbClr val="249797"/>
    <a:srgbClr val="259958"/>
    <a:srgbClr val="818991"/>
    <a:srgbClr val="666E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20" autoAdjust="0"/>
    <p:restoredTop sz="95468" autoAdjust="0"/>
  </p:normalViewPr>
  <p:slideViewPr>
    <p:cSldViewPr snapToObjects="1" showGuides="1">
      <p:cViewPr varScale="1">
        <p:scale>
          <a:sx n="89" d="100"/>
          <a:sy n="89" d="100"/>
        </p:scale>
        <p:origin x="432" y="90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>
      <p:cViewPr varScale="1">
        <p:scale>
          <a:sx n="118" d="100"/>
          <a:sy n="118" d="100"/>
        </p:scale>
        <p:origin x="-2080" y="-104"/>
      </p:cViewPr>
      <p:guideLst>
        <p:guide orient="horz" pos="3157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29658" y="250547"/>
            <a:ext cx="4899378" cy="501094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en-US" dirty="0">
              <a:latin typeface="Open Sans Light"/>
              <a:cs typeface="Open Sans Ligh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58694" y="250547"/>
            <a:ext cx="1312115" cy="501094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8AAC2EC1-B70D-4CB4-BC58-2E1D99067EF3}" type="datetime3">
              <a:rPr lang="en-US" smtClean="0">
                <a:latin typeface="Open Sans Light"/>
              </a:rPr>
              <a:t>22 June 2017</a:t>
            </a:fld>
            <a:endParaRPr lang="en-US">
              <a:latin typeface="Open Sans Light"/>
              <a:cs typeface="Open Sans Ligh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29658" y="9262661"/>
            <a:ext cx="4899378" cy="50109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en-US" dirty="0">
              <a:latin typeface="Open Sans Light"/>
              <a:cs typeface="Open Sans Ligh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58694" y="9274353"/>
            <a:ext cx="842081" cy="50109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D5DDAA28-FB28-3D4F-ABDC-2F79D633598F}" type="slidenum">
              <a:rPr lang="en-US" smtClean="0">
                <a:latin typeface="Open Sans Light"/>
                <a:cs typeface="Open Sans Light"/>
              </a:rPr>
              <a:pPr/>
              <a:t>‹#›</a:t>
            </a:fld>
            <a:endParaRPr lang="en-US">
              <a:latin typeface="Open Sans Light"/>
              <a:cs typeface="Open Sans Light"/>
            </a:endParaRPr>
          </a:p>
        </p:txBody>
      </p:sp>
      <p:pic>
        <p:nvPicPr>
          <p:cNvPr id="6" name="Picture 5" descr="PistoiaAlliance_compact_box_grey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775" y="9262661"/>
            <a:ext cx="470034" cy="51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60759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29658" y="250547"/>
            <a:ext cx="2755900" cy="501094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>
                <a:latin typeface="Open Sans Light"/>
                <a:cs typeface="Open Sans Light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7" y="250547"/>
            <a:ext cx="2985558" cy="501094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>
                <a:latin typeface="Open Sans Light"/>
                <a:cs typeface="Open Sans Light"/>
              </a:defRPr>
            </a:lvl1pPr>
          </a:lstStyle>
          <a:p>
            <a:fld id="{4C1CEAC1-DD32-42DA-A5A2-1FFBC5A2CB4B}" type="datetime3">
              <a:rPr lang="en-US" smtClean="0"/>
              <a:t>22 June 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10150" cy="3759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29658" y="4760397"/>
            <a:ext cx="6441151" cy="4509850"/>
          </a:xfrm>
          <a:prstGeom prst="rect">
            <a:avLst/>
          </a:prstGeom>
        </p:spPr>
        <p:txBody>
          <a:bodyPr vert="horz" lIns="96634" tIns="48317" rIns="96634" bIns="48317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29658" y="9274353"/>
            <a:ext cx="2755900" cy="50109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>
                <a:latin typeface="Open Sans Light"/>
                <a:cs typeface="Open Sans Ligh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262661"/>
            <a:ext cx="2298178" cy="512787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>
                <a:latin typeface="Open Sans Light"/>
                <a:cs typeface="Open Sans Light"/>
              </a:defRPr>
            </a:lvl1pPr>
          </a:lstStyle>
          <a:p>
            <a:fld id="{9719C4BD-C343-8542-86CF-082388D36B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PistoiaAlliance_compact_box_grey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775" y="9262661"/>
            <a:ext cx="470034" cy="51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209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Opening 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A67F374-4BD1-4147-8FE3-891F82F3A867}" type="datetime3">
              <a:rPr lang="en-US" smtClean="0"/>
              <a:t>22 June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05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More than twice as much revenue from the biologics as the small molecules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C1CEAC1-DD32-42DA-A5A2-1FFBC5A2CB4B}" type="datetime3">
              <a:rPr lang="en-US" smtClean="0"/>
              <a:t>22 June 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598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EFB472-3EC6-4E96-A4A3-921658005A0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MS PGothic" pitchFamily="34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888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EFB472-3EC6-4E96-A4A3-921658005A0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MS PGothic" pitchFamily="34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52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1D190F-39F0-44EC-A144-2BD7C7941C9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723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25</a:t>
            </a:fld>
            <a:endParaRPr lang="fi-FI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7E9A1274-1FC4-2F40-B950-C772A3749DAD}" type="datetime1">
              <a:rPr lang="en-US" smtClean="0"/>
              <a:t>6/22/2017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19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89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19800" y="304800"/>
            <a:ext cx="2667000" cy="1553201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venue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676900"/>
            <a:ext cx="2819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buNone/>
              <a:defRPr sz="1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fld id="{7C324731-B2AA-714B-A8FD-B25E71C667AC}" type="datetime4">
              <a:rPr lang="en-US" smtClean="0"/>
              <a:pPr lvl="0"/>
              <a:t>January 16, 2015</a:t>
            </a:fld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006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presenter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rgbClr val="666E7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6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229100"/>
            <a:ext cx="8229600" cy="1143000"/>
          </a:xfrm>
          <a:prstGeom prst="rect">
            <a:avLst/>
          </a:prstGeom>
        </p:spPr>
        <p:txBody>
          <a:bodyPr/>
          <a:lstStyle>
            <a:lvl1pPr algn="ctr">
              <a:buFont typeface="Arial"/>
              <a:buNone/>
              <a:defRPr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webinar recording message</a:t>
            </a:r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3276600" y="1447800"/>
            <a:ext cx="2590800" cy="259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10000" y="2362200"/>
            <a:ext cx="1524000" cy="843498"/>
          </a:xfrm>
          <a:prstGeom prst="rect">
            <a:avLst/>
          </a:prstGeom>
        </p:spPr>
      </p:pic>
      <p:pic>
        <p:nvPicPr>
          <p:cNvPr id="9" name="Picture 8" descr="PistoiaAlliance_main_white_RGB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1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33400" y="5924550"/>
            <a:ext cx="38862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/>
              <a:t>presenter@pistoiaalliance.org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953000" y="5924550"/>
            <a:ext cx="1524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@</a:t>
            </a:r>
            <a:r>
              <a:rPr lang="en-GB" dirty="0" err="1"/>
              <a:t>pistoiaalliance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477000" y="5924550"/>
            <a:ext cx="2209800" cy="457200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/>
              <a:t>www.pistoiaalliance.org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4400" y="6019800"/>
            <a:ext cx="228600" cy="190500"/>
          </a:xfrm>
          <a:prstGeom prst="rect">
            <a:avLst/>
          </a:prstGeom>
        </p:spPr>
      </p:pic>
      <p:sp>
        <p:nvSpPr>
          <p:cNvPr id="1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57800"/>
            <a:ext cx="8153400" cy="457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sz="2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thank you message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86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Text or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8AEABF-7EFC-C542-BC91-5F53F601ED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D61CEE0-8A0E-574A-8FC2-CE7BA89F0253}" type="datetime3">
              <a:rPr lang="en-GB" smtClean="0"/>
              <a:pPr/>
              <a:t>22 June, 2017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57200" y="1053554"/>
            <a:ext cx="8229600" cy="5111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667628" y="266700"/>
            <a:ext cx="1368425" cy="49847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/>
              <a:t>Partner logo if required</a:t>
            </a:r>
          </a:p>
        </p:txBody>
      </p:sp>
    </p:spTree>
    <p:extLst>
      <p:ext uri="{BB962C8B-B14F-4D97-AF65-F5344CB8AC3E}">
        <p14:creationId xmlns:p14="http://schemas.microsoft.com/office/powerpoint/2010/main" val="18328683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F65372-B929-454B-AC40-6926AEC9B88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516359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957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910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5431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1227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879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5392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13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6815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9939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491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274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5561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657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5768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815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9167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6338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2670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021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882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6255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7235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70028"/>
      </p:ext>
    </p:extLst>
  </p:cSld>
  <p:clrMapOvr>
    <a:masterClrMapping/>
  </p:clrMapOvr>
  <p:transition spd="med">
    <p:fade thruBlk="1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60777"/>
      </p:ext>
    </p:extLst>
  </p:cSld>
  <p:clrMapOvr>
    <a:masterClrMapping/>
  </p:clrMapOvr>
  <p:transition spd="med">
    <p:fade thruBlk="1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04800"/>
            <a:ext cx="2667000" cy="1553201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venue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676900"/>
            <a:ext cx="2819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buNone/>
              <a:defRPr sz="1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fld id="{7C324731-B2AA-714B-A8FD-B25E71C667AC}" type="datetime4">
              <a:rPr lang="en-US" smtClean="0"/>
              <a:pPr lvl="0"/>
              <a:t>January 16, 2015</a:t>
            </a:fld>
            <a:endParaRPr lang="en-GB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006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presenter</a:t>
            </a:r>
            <a:endParaRPr lang="en-US" dirty="0"/>
          </a:p>
        </p:txBody>
      </p:sp>
      <p:pic>
        <p:nvPicPr>
          <p:cNvPr id="15" name="Picture Placeholder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" b="1547"/>
          <a:stretch>
            <a:fillRect/>
          </a:stretch>
        </p:blipFill>
        <p:spPr>
          <a:xfrm>
            <a:off x="179511" y="188640"/>
            <a:ext cx="3527093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84542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088602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555745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023530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rgbClr val="666E7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413178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440359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6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558206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229100"/>
            <a:ext cx="8229600" cy="1143000"/>
          </a:xfrm>
          <a:prstGeom prst="rect">
            <a:avLst/>
          </a:prstGeom>
        </p:spPr>
        <p:txBody>
          <a:bodyPr/>
          <a:lstStyle>
            <a:lvl1pPr algn="ctr">
              <a:buFont typeface="Arial"/>
              <a:buNone/>
              <a:defRPr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webinar recording message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276600" y="1447800"/>
            <a:ext cx="2590800" cy="259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10000" y="2362200"/>
            <a:ext cx="1524000" cy="843498"/>
          </a:xfrm>
          <a:prstGeom prst="rect">
            <a:avLst/>
          </a:prstGeom>
        </p:spPr>
      </p:pic>
      <p:pic>
        <p:nvPicPr>
          <p:cNvPr id="9" name="Picture 8" descr="PistoiaAlliance_main_white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1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394044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57692"/>
      </p:ext>
    </p:extLst>
  </p:cSld>
  <p:clrMapOvr>
    <a:masterClrMapping/>
  </p:clrMapOvr>
  <p:transition spd="med">
    <p:fade thruBlk="1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33400" y="5924550"/>
            <a:ext cx="38862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/>
              <a:t>presenter@pistoiaalliance.org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953000" y="5924550"/>
            <a:ext cx="1524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/>
              <a:t>@</a:t>
            </a:r>
            <a:r>
              <a:rPr lang="en-GB" dirty="0" err="1"/>
              <a:t>pistoiaalliance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477000" y="5924550"/>
            <a:ext cx="2209800" cy="457200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/>
              <a:t>www.pistoiaalliance.org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6019800"/>
            <a:ext cx="228600" cy="190500"/>
          </a:xfrm>
          <a:prstGeom prst="rect">
            <a:avLst/>
          </a:prstGeom>
        </p:spPr>
      </p:pic>
      <p:sp>
        <p:nvSpPr>
          <p:cNvPr id="1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57800"/>
            <a:ext cx="8153400" cy="457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sz="2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thank you message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55967"/>
      </p:ext>
    </p:extLst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Pr>
        <a:blipFill dpi="0" rotWithShape="1">
          <a:blip r:embed="rId2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553200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 dirty="0">
                <a:solidFill>
                  <a:srgbClr val="002060"/>
                </a:solidFill>
                <a:latin typeface="Trebuchet MS" pitchFamily="34" charset="0"/>
              </a:rPr>
              <a:t>http://</a:t>
            </a:r>
            <a:r>
              <a:rPr lang="en-GB" sz="1400" b="1" dirty="0" err="1">
                <a:solidFill>
                  <a:srgbClr val="002060"/>
                </a:solidFill>
                <a:latin typeface="Trebuchet MS" pitchFamily="34" charset="0"/>
              </a:rPr>
              <a:t>pistoiaalliance.org</a:t>
            </a:r>
            <a:endParaRPr lang="en-US" sz="1400" b="1" dirty="0">
              <a:solidFill>
                <a:srgbClr val="002060"/>
              </a:solidFill>
              <a:latin typeface="Trebuchet MS" pitchFamily="34" charset="0"/>
            </a:endParaRPr>
          </a:p>
        </p:txBody>
      </p:sp>
      <p:pic>
        <p:nvPicPr>
          <p:cNvPr id="6" name="Picture 5" descr="clock tower full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"/>
            <a:ext cx="1676400" cy="167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429000" y="6529388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>
                <a:solidFill>
                  <a:srgbClr val="002060"/>
                </a:solidFill>
                <a:latin typeface="Trebuchet MS" pitchFamily="34" charset="0"/>
              </a:rPr>
              <a:t>@PistoiaAlliance</a:t>
            </a:r>
            <a:endParaRPr lang="en-US" sz="1400" b="1">
              <a:solidFill>
                <a:srgbClr val="002060"/>
              </a:solidFill>
              <a:latin typeface="Trebuchet MS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1600200" y="2133600"/>
            <a:ext cx="6096000" cy="1524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4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1600200" y="3810000"/>
            <a:ext cx="6172200" cy="6858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381000" y="5410200"/>
            <a:ext cx="5486400" cy="838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0" indent="0">
              <a:buNone/>
              <a:defRPr sz="1800" b="1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83092586"/>
      </p:ext>
    </p:extLst>
  </p:cSld>
  <p:clrMapOvr>
    <a:masterClrMapping/>
  </p:clrMapOvr>
  <p:transition spd="med">
    <p:fade thruBlk="1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05346"/>
      </p:ext>
    </p:extLst>
  </p:cSld>
  <p:clrMapOvr>
    <a:masterClrMapping/>
  </p:clrMapOvr>
  <p:transition spd="med">
    <p:fade thruBlk="1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40724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9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6" r:id="rId1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FFFFFF"/>
          </a:solidFill>
          <a:latin typeface="Open Sans Light"/>
          <a:ea typeface="+mj-ea"/>
          <a:cs typeface="Open Sans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FFFFFF"/>
          </a:solidFill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FFFFFF"/>
          </a:solidFill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FFFFFF"/>
          </a:solidFill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7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84" r:id="rId8"/>
    <p:sldLayoutId id="2147483696" r:id="rId9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800" dirty="0">
                <a:solidFill>
                  <a:srgbClr val="666E71">
                    <a:tint val="75000"/>
                  </a:srgbClr>
                </a:solidFill>
                <a:latin typeface="Arial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9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800" dirty="0">
                <a:solidFill>
                  <a:srgbClr val="666E71">
                    <a:tint val="75000"/>
                  </a:srgbClr>
                </a:solidFill>
                <a:latin typeface="Arial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11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13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462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</p:sldLayoutIdLst>
  <p:transition spd="med">
    <p:fade thruBlk="1"/>
  </p:transition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FFFFFF"/>
          </a:solidFill>
          <a:latin typeface="Open Sans Light"/>
          <a:ea typeface="+mj-ea"/>
          <a:cs typeface="Open Sans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FFFFFF"/>
          </a:solidFill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FFFFFF"/>
          </a:solidFill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FFFFFF"/>
          </a:solidFill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Gilead_Sciences" TargetMode="External"/><Relationship Id="rId13" Type="http://schemas.openxmlformats.org/officeDocument/2006/relationships/hyperlink" Target="https://en.wikipedia.org/wiki/Gastroesophageal_reflux_disease" TargetMode="External"/><Relationship Id="rId18" Type="http://schemas.openxmlformats.org/officeDocument/2006/relationships/hyperlink" Target="https://en.wikipedia.org/wiki/Autoimmune_disease" TargetMode="External"/><Relationship Id="rId26" Type="http://schemas.openxmlformats.org/officeDocument/2006/relationships/hyperlink" Target="https://en.wikipedia.org/wiki/Breast_cancer" TargetMode="External"/><Relationship Id="rId3" Type="http://schemas.openxmlformats.org/officeDocument/2006/relationships/hyperlink" Target="https://en.wikipedia.org/wiki/Adalimumab" TargetMode="External"/><Relationship Id="rId21" Type="http://schemas.openxmlformats.org/officeDocument/2006/relationships/hyperlink" Target="https://en.wikipedia.org/wiki/Diabetes_mellitus" TargetMode="External"/><Relationship Id="rId7" Type="http://schemas.openxmlformats.org/officeDocument/2006/relationships/hyperlink" Target="https://en.wikipedia.org/wiki/Hepatitis_C" TargetMode="External"/><Relationship Id="rId12" Type="http://schemas.openxmlformats.org/officeDocument/2006/relationships/hyperlink" Target="https://en.wikipedia.org/wiki/Infliximab" TargetMode="External"/><Relationship Id="rId17" Type="http://schemas.openxmlformats.org/officeDocument/2006/relationships/hyperlink" Target="https://en.wikipedia.org/wiki/Leukemia" TargetMode="External"/><Relationship Id="rId25" Type="http://schemas.openxmlformats.org/officeDocument/2006/relationships/hyperlink" Target="https://en.wikipedia.org/wiki/Trastuzumab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en.wikipedia.org/wiki/Lymphoma" TargetMode="External"/><Relationship Id="rId20" Type="http://schemas.openxmlformats.org/officeDocument/2006/relationships/hyperlink" Target="https://en.wikipedia.org/wiki/Insulin_glargine" TargetMode="External"/><Relationship Id="rId29" Type="http://schemas.openxmlformats.org/officeDocument/2006/relationships/hyperlink" Target="https://en.wikipedia.org/wiki/Myelodysplastic_syndrome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en.wikipedia.org/wiki/Ledipasvir/sofosbuvir" TargetMode="External"/><Relationship Id="rId11" Type="http://schemas.openxmlformats.org/officeDocument/2006/relationships/hyperlink" Target="https://en.wikipedia.org/wiki/Pfizer" TargetMode="External"/><Relationship Id="rId24" Type="http://schemas.openxmlformats.org/officeDocument/2006/relationships/hyperlink" Target="https://en.wikipedia.org/wiki/Cancer" TargetMode="External"/><Relationship Id="rId32" Type="http://schemas.openxmlformats.org/officeDocument/2006/relationships/hyperlink" Target="https://en.wikipedia.org/wiki/List_of_largest_selling_pharmaceutical_products" TargetMode="External"/><Relationship Id="rId5" Type="http://schemas.openxmlformats.org/officeDocument/2006/relationships/hyperlink" Target="https://en.wikipedia.org/wiki/AbbVie_Inc." TargetMode="External"/><Relationship Id="rId15" Type="http://schemas.openxmlformats.org/officeDocument/2006/relationships/hyperlink" Target="https://en.wikipedia.org/wiki/Rituximab" TargetMode="External"/><Relationship Id="rId23" Type="http://schemas.openxmlformats.org/officeDocument/2006/relationships/hyperlink" Target="https://en.wikipedia.org/wiki/Bevacizumab" TargetMode="External"/><Relationship Id="rId28" Type="http://schemas.openxmlformats.org/officeDocument/2006/relationships/hyperlink" Target="https://en.wikipedia.org/wiki/Multiple_myeloma" TargetMode="External"/><Relationship Id="rId10" Type="http://schemas.openxmlformats.org/officeDocument/2006/relationships/hyperlink" Target="https://en.wikipedia.org/wiki/Amgen" TargetMode="External"/><Relationship Id="rId19" Type="http://schemas.openxmlformats.org/officeDocument/2006/relationships/hyperlink" Target="https://en.wikipedia.org/wiki/Hoffmann-La_Roche" TargetMode="External"/><Relationship Id="rId31" Type="http://schemas.openxmlformats.org/officeDocument/2006/relationships/hyperlink" Target="https://en.wikipedia.org/wiki/Sofosbuvir" TargetMode="External"/><Relationship Id="rId4" Type="http://schemas.openxmlformats.org/officeDocument/2006/relationships/hyperlink" Target="https://en.wikipedia.org/wiki/Rheumatoid_arthritis" TargetMode="External"/><Relationship Id="rId9" Type="http://schemas.openxmlformats.org/officeDocument/2006/relationships/hyperlink" Target="https://en.wikipedia.org/wiki/Etanercept" TargetMode="External"/><Relationship Id="rId14" Type="http://schemas.openxmlformats.org/officeDocument/2006/relationships/hyperlink" Target="https://en.wikipedia.org/wiki/Johnson_&amp;_Johnson" TargetMode="External"/><Relationship Id="rId22" Type="http://schemas.openxmlformats.org/officeDocument/2006/relationships/hyperlink" Target="https://en.wikipedia.org/wiki/Sanofi" TargetMode="External"/><Relationship Id="rId27" Type="http://schemas.openxmlformats.org/officeDocument/2006/relationships/hyperlink" Target="https://en.wikipedia.org/wiki/Lenalidomide" TargetMode="External"/><Relationship Id="rId30" Type="http://schemas.openxmlformats.org/officeDocument/2006/relationships/hyperlink" Target="https://en.wikipedia.org/wiki/Celgene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33.png"/><Relationship Id="rId5" Type="http://schemas.openxmlformats.org/officeDocument/2006/relationships/hyperlink" Target="https://github.com/PistoiaHELM" TargetMode="Externa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2311132"/>
            <a:ext cx="8001000" cy="1261884"/>
          </a:xfrm>
        </p:spPr>
        <p:txBody>
          <a:bodyPr/>
          <a:lstStyle/>
          <a:p>
            <a:r>
              <a:rPr lang="en-GB" dirty="0"/>
              <a:t>HELM: </a:t>
            </a:r>
            <a:r>
              <a:rPr lang="en-GB" sz="3600" dirty="0"/>
              <a:t>Setting the standard for biomolecular information exchange</a:t>
            </a:r>
            <a:endParaRPr 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685800" y="4005064"/>
            <a:ext cx="8001000" cy="461665"/>
          </a:xfrm>
        </p:spPr>
        <p:txBody>
          <a:bodyPr/>
          <a:lstStyle/>
          <a:p>
            <a:r>
              <a:rPr lang="en-GB" dirty="0"/>
              <a:t>CICAG – What would Dalton do now?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85800" y="5991944"/>
            <a:ext cx="2819400" cy="5334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22</a:t>
            </a:r>
            <a:r>
              <a:rPr lang="en-US" baseline="30000" dirty="0">
                <a:solidFill>
                  <a:schemeClr val="tx1"/>
                </a:solidFill>
              </a:rPr>
              <a:t>nd</a:t>
            </a:r>
            <a:r>
              <a:rPr lang="en-US" dirty="0">
                <a:solidFill>
                  <a:schemeClr val="tx1"/>
                </a:solidFill>
              </a:rPr>
              <a:t> June 2017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85800" y="5115644"/>
            <a:ext cx="8001000" cy="369332"/>
          </a:xfrm>
        </p:spPr>
        <p:txBody>
          <a:bodyPr/>
          <a:lstStyle/>
          <a:p>
            <a:r>
              <a:rPr lang="en-US" dirty="0"/>
              <a:t>Claire Bellamy – HELM project manager</a:t>
            </a:r>
          </a:p>
        </p:txBody>
      </p:sp>
    </p:spTree>
  </p:cSld>
  <p:clrMapOvr>
    <a:masterClrMapping/>
  </p:clrMapOvr>
  <p:transition advTm="21775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974679"/>
            <a:ext cx="6912768" cy="4387404"/>
          </a:xfrm>
        </p:spPr>
        <p:txBody>
          <a:bodyPr>
            <a:normAutofit/>
          </a:bodyPr>
          <a:lstStyle/>
          <a:p>
            <a:r>
              <a:rPr lang="en-GB" sz="2400" dirty="0"/>
              <a:t>Why is biomolecular representation an issue?</a:t>
            </a:r>
          </a:p>
          <a:p>
            <a:endParaRPr lang="en-GB" sz="2400" dirty="0"/>
          </a:p>
          <a:p>
            <a:r>
              <a:rPr lang="en-GB" sz="2400" dirty="0"/>
              <a:t>What is HELM?</a:t>
            </a:r>
          </a:p>
          <a:p>
            <a:endParaRPr lang="en-GB" sz="2400" dirty="0"/>
          </a:p>
          <a:p>
            <a:r>
              <a:rPr lang="en-GB" sz="2400" dirty="0"/>
              <a:t>The HELM ecosystem </a:t>
            </a:r>
          </a:p>
          <a:p>
            <a:endParaRPr lang="en-GB" sz="2400" dirty="0"/>
          </a:p>
          <a:p>
            <a:r>
              <a:rPr lang="en-GB" sz="2400" dirty="0"/>
              <a:t>Key areas still to do 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6709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4"/>
    </mc:Choice>
    <mc:Fallback xmlns="">
      <p:transition spd="slow" advTm="1162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3DD8-5433-416A-A4EC-3D5C531D4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1938992"/>
          </a:xfrm>
        </p:spPr>
        <p:txBody>
          <a:bodyPr/>
          <a:lstStyle/>
          <a:p>
            <a:r>
              <a:rPr lang="en-GB" dirty="0"/>
              <a:t>Why is biomolecular representation an issue?</a:t>
            </a:r>
            <a:br>
              <a:rPr lang="en-GB" dirty="0"/>
            </a:b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109A7-E5ED-44B0-BC66-8F6D9CBD00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And why talk about it here?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69F352-4658-44D7-9F7E-9B43DEA54C7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47882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60"/>
    </mc:Choice>
    <mc:Fallback xmlns="">
      <p:transition spd="slow" advTm="496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301" y="129987"/>
            <a:ext cx="8365088" cy="1138773"/>
          </a:xfrm>
        </p:spPr>
        <p:txBody>
          <a:bodyPr/>
          <a:lstStyle/>
          <a:p>
            <a:r>
              <a:rPr lang="en-GB" dirty="0"/>
              <a:t>Why Now?</a:t>
            </a:r>
            <a:br>
              <a:rPr lang="en-GB" dirty="0"/>
            </a:br>
            <a:r>
              <a:rPr lang="en-GB" sz="2800" dirty="0">
                <a:solidFill>
                  <a:schemeClr val="tx1"/>
                </a:solidFill>
              </a:rPr>
              <a:t>Best selling pharmaceuticals 2015</a:t>
            </a:r>
            <a:endParaRPr lang="en-GB" dirty="0">
              <a:solidFill>
                <a:schemeClr val="tx1"/>
              </a:solidFill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/>
          </p:nvPr>
        </p:nvGraphicFramePr>
        <p:xfrm>
          <a:off x="152538" y="1260719"/>
          <a:ext cx="8857985" cy="5480649"/>
        </p:xfrm>
        <a:graphic>
          <a:graphicData uri="http://schemas.openxmlformats.org/drawingml/2006/table">
            <a:tbl>
              <a:tblPr/>
              <a:tblGrid>
                <a:gridCol w="458172">
                  <a:extLst>
                    <a:ext uri="{9D8B030D-6E8A-4147-A177-3AD203B41FA5}">
                      <a16:colId xmlns:a16="http://schemas.microsoft.com/office/drawing/2014/main" val="1066438260"/>
                    </a:ext>
                  </a:extLst>
                </a:gridCol>
                <a:gridCol w="1415038">
                  <a:extLst>
                    <a:ext uri="{9D8B030D-6E8A-4147-A177-3AD203B41FA5}">
                      <a16:colId xmlns:a16="http://schemas.microsoft.com/office/drawing/2014/main" val="612401462"/>
                    </a:ext>
                  </a:extLst>
                </a:gridCol>
                <a:gridCol w="1028544">
                  <a:extLst>
                    <a:ext uri="{9D8B030D-6E8A-4147-A177-3AD203B41FA5}">
                      <a16:colId xmlns:a16="http://schemas.microsoft.com/office/drawing/2014/main" val="3078685772"/>
                    </a:ext>
                  </a:extLst>
                </a:gridCol>
                <a:gridCol w="1145429">
                  <a:extLst>
                    <a:ext uri="{9D8B030D-6E8A-4147-A177-3AD203B41FA5}">
                      <a16:colId xmlns:a16="http://schemas.microsoft.com/office/drawing/2014/main" val="2143587007"/>
                    </a:ext>
                  </a:extLst>
                </a:gridCol>
                <a:gridCol w="1489058">
                  <a:extLst>
                    <a:ext uri="{9D8B030D-6E8A-4147-A177-3AD203B41FA5}">
                      <a16:colId xmlns:a16="http://schemas.microsoft.com/office/drawing/2014/main" val="2566725094"/>
                    </a:ext>
                  </a:extLst>
                </a:gridCol>
                <a:gridCol w="1107248">
                  <a:extLst>
                    <a:ext uri="{9D8B030D-6E8A-4147-A177-3AD203B41FA5}">
                      <a16:colId xmlns:a16="http://schemas.microsoft.com/office/drawing/2014/main" val="4070168154"/>
                    </a:ext>
                  </a:extLst>
                </a:gridCol>
                <a:gridCol w="1107248">
                  <a:extLst>
                    <a:ext uri="{9D8B030D-6E8A-4147-A177-3AD203B41FA5}">
                      <a16:colId xmlns:a16="http://schemas.microsoft.com/office/drawing/2014/main" val="700750916"/>
                    </a:ext>
                  </a:extLst>
                </a:gridCol>
                <a:gridCol w="1107248">
                  <a:extLst>
                    <a:ext uri="{9D8B030D-6E8A-4147-A177-3AD203B41FA5}">
                      <a16:colId xmlns:a16="http://schemas.microsoft.com/office/drawing/2014/main" val="2371989020"/>
                    </a:ext>
                  </a:extLst>
                </a:gridCol>
              </a:tblGrid>
              <a:tr h="452403">
                <a:tc>
                  <a:txBody>
                    <a:bodyPr/>
                    <a:lstStyle/>
                    <a:p>
                      <a:r>
                        <a:rPr lang="en-GB" sz="1400"/>
                        <a:t>Rank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Drug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Trade name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Type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Main indications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Company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Sales</a:t>
                      </a:r>
                      <a:r>
                        <a:rPr lang="en-GB" sz="1400"/>
                        <a:t> (USD millions/year)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∆ vs 2014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978990"/>
                  </a:ext>
                </a:extLst>
              </a:tr>
              <a:tr h="348003">
                <a:tc>
                  <a:txBody>
                    <a:bodyPr/>
                    <a:lstStyle/>
                    <a:p>
                      <a:r>
                        <a:rPr lang="en-GB" sz="1400"/>
                        <a:t>1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3" tooltip="Adalimumab"/>
                        </a:rPr>
                        <a:t>Adalimumab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Humira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Biologic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4" tooltip="Rheumatoid arthritis"/>
                        </a:rPr>
                        <a:t>Rheumatoid arthritis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5" tooltip="AbbVie Inc."/>
                        </a:rPr>
                        <a:t>AbbVie Inc.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14,012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1,469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555789"/>
                  </a:ext>
                </a:extLst>
              </a:tr>
              <a:tr h="348003">
                <a:tc>
                  <a:txBody>
                    <a:bodyPr/>
                    <a:lstStyle/>
                    <a:p>
                      <a:r>
                        <a:rPr lang="en-GB" sz="1400"/>
                        <a:t>2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6" tooltip="Ledipasvir/sofosbuvir"/>
                        </a:rPr>
                        <a:t>Ledipasvir/sofosbuvir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Harvoni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Small molecule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7" tooltip="Hepatitis C"/>
                        </a:rPr>
                        <a:t>Hepatitis C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8" tooltip="Gilead Sciences"/>
                        </a:rPr>
                        <a:t>Gilead Sciences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13,864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11,737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4469952"/>
                  </a:ext>
                </a:extLst>
              </a:tr>
              <a:tr h="348003">
                <a:tc>
                  <a:txBody>
                    <a:bodyPr/>
                    <a:lstStyle/>
                    <a:p>
                      <a:r>
                        <a:rPr lang="en-GB" sz="1400"/>
                        <a:t>3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9" tooltip="Etanercept"/>
                        </a:rPr>
                        <a:t>Etanercept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Enbrel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Biologic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4" tooltip="Rheumatoid arthritis"/>
                        </a:rPr>
                        <a:t>Rheumatoid arthritis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10" tooltip="Amgen"/>
                        </a:rPr>
                        <a:t>Amgen</a:t>
                      </a:r>
                      <a:r>
                        <a:rPr lang="en-GB" sz="1400"/>
                        <a:t> </a:t>
                      </a:r>
                      <a:r>
                        <a:rPr lang="en-GB" sz="1400">
                          <a:hlinkClick r:id="rId11" tooltip="Pfizer"/>
                        </a:rPr>
                        <a:t>Pfizer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8,697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4,009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902885"/>
                  </a:ext>
                </a:extLst>
              </a:tr>
              <a:tr h="556804">
                <a:tc>
                  <a:txBody>
                    <a:bodyPr/>
                    <a:lstStyle/>
                    <a:p>
                      <a:r>
                        <a:rPr lang="en-GB" sz="1400"/>
                        <a:t>4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12" tooltip="Infliximab"/>
                        </a:rPr>
                        <a:t>Infliximab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/>
                        <a:t>Remicade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Biologic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13" tooltip="Gastroesophageal reflux disease"/>
                        </a:rPr>
                        <a:t>Crohn's Disease</a:t>
                      </a:r>
                      <a:br>
                        <a:rPr lang="en-GB" sz="1400" dirty="0"/>
                      </a:br>
                      <a:r>
                        <a:rPr lang="en-GB" sz="1400" dirty="0">
                          <a:hlinkClick r:id="rId13" tooltip="Gastroesophageal reflux disease"/>
                        </a:rPr>
                        <a:t>Rheumatoid Arthritis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14" tooltip="Johnson &amp; Johnson"/>
                        </a:rPr>
                        <a:t>Johnson &amp; Johnson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8,355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1,487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7613468"/>
                  </a:ext>
                </a:extLst>
              </a:tr>
              <a:tr h="870007">
                <a:tc>
                  <a:txBody>
                    <a:bodyPr/>
                    <a:lstStyle/>
                    <a:p>
                      <a:r>
                        <a:rPr lang="en-GB" sz="1400"/>
                        <a:t>5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15" tooltip="Rituximab"/>
                        </a:rPr>
                        <a:t>Rituximab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/>
                        <a:t>Mabthera</a:t>
                      </a:r>
                      <a:r>
                        <a:rPr lang="en-GB" sz="1400" dirty="0"/>
                        <a:t> </a:t>
                      </a:r>
                      <a:r>
                        <a:rPr lang="en-GB" sz="1400" dirty="0" err="1"/>
                        <a:t>Rituxan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Biologic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16" tooltip="Lymphoma"/>
                        </a:rPr>
                        <a:t>Lymphoma</a:t>
                      </a:r>
                      <a:r>
                        <a:rPr lang="en-GB" sz="1400" dirty="0"/>
                        <a:t> </a:t>
                      </a:r>
                      <a:r>
                        <a:rPr lang="en-GB" sz="1400" dirty="0" err="1">
                          <a:hlinkClick r:id="rId17" tooltip="Leukemia"/>
                        </a:rPr>
                        <a:t>Leukemia</a:t>
                      </a:r>
                      <a:endParaRPr lang="en-GB" sz="1400" dirty="0"/>
                    </a:p>
                    <a:p>
                      <a:r>
                        <a:rPr lang="en-GB" sz="1400" dirty="0">
                          <a:hlinkClick r:id="rId18" tooltip="Autoimmune disease"/>
                        </a:rPr>
                        <a:t>Autoimmune disorders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19" tooltip="Hoffmann-La Roche"/>
                        </a:rPr>
                        <a:t>Roche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7,115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1,456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700228"/>
                  </a:ext>
                </a:extLst>
              </a:tr>
              <a:tr h="243602">
                <a:tc>
                  <a:txBody>
                    <a:bodyPr/>
                    <a:lstStyle/>
                    <a:p>
                      <a:r>
                        <a:rPr lang="en-GB" sz="1400"/>
                        <a:t>6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20" tooltip="Insulin glargine"/>
                        </a:rPr>
                        <a:t>Insulin glargine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Lantus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Biologic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21" tooltip="Diabetes mellitus"/>
                        </a:rPr>
                        <a:t>Diabetes mellitus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22" tooltip="Sanofi"/>
                        </a:rPr>
                        <a:t>Sanofi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7,029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51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7046960"/>
                  </a:ext>
                </a:extLst>
              </a:tr>
              <a:tr h="348003">
                <a:tc>
                  <a:txBody>
                    <a:bodyPr/>
                    <a:lstStyle/>
                    <a:p>
                      <a:r>
                        <a:rPr lang="en-GB" sz="1400"/>
                        <a:t>7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23" tooltip="Bevacizumab"/>
                        </a:rPr>
                        <a:t>Bevacizumab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Avastin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Biologic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24" tooltip="Cancer"/>
                        </a:rPr>
                        <a:t>Metastatic cancers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19" tooltip="Hoffmann-La Roche"/>
                        </a:rPr>
                        <a:t>Roche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6,751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270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603403"/>
                  </a:ext>
                </a:extLst>
              </a:tr>
              <a:tr h="243602">
                <a:tc>
                  <a:txBody>
                    <a:bodyPr/>
                    <a:lstStyle/>
                    <a:p>
                      <a:r>
                        <a:rPr lang="en-GB" sz="1400"/>
                        <a:t>8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25" tooltip="Trastuzumab"/>
                        </a:rPr>
                        <a:t>Trastuzumab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Herceptin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Biologic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26" tooltip="Breast cancer"/>
                        </a:rPr>
                        <a:t>Breast cancer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19" tooltip="Hoffmann-La Roche"/>
                        </a:rPr>
                        <a:t>Roche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6,603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265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581352"/>
                  </a:ext>
                </a:extLst>
              </a:tr>
              <a:tr h="765606">
                <a:tc>
                  <a:txBody>
                    <a:bodyPr/>
                    <a:lstStyle/>
                    <a:p>
                      <a:r>
                        <a:rPr lang="en-GB" sz="1400"/>
                        <a:t>9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27" tooltip="Lenalidomide"/>
                        </a:rPr>
                        <a:t>Lenalidomide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Revlimid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Small molecule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28" tooltip="Multiple myeloma"/>
                        </a:rPr>
                        <a:t>Multiple myeloma</a:t>
                      </a:r>
                      <a:r>
                        <a:rPr lang="en-GB" sz="1400" dirty="0"/>
                        <a:t> </a:t>
                      </a:r>
                      <a:r>
                        <a:rPr lang="en-GB" sz="1400" dirty="0">
                          <a:hlinkClick r:id="rId29" tooltip="Myelodysplastic syndrome"/>
                        </a:rPr>
                        <a:t>Myelodysplastic syndromes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hlinkClick r:id="rId30" tooltip="Celgene"/>
                        </a:rPr>
                        <a:t>Celgene</a:t>
                      </a:r>
                      <a:endParaRPr lang="en-GB" sz="140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5,801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821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583372"/>
                  </a:ext>
                </a:extLst>
              </a:tr>
              <a:tr h="348003">
                <a:tc>
                  <a:txBody>
                    <a:bodyPr/>
                    <a:lstStyle/>
                    <a:p>
                      <a:r>
                        <a:rPr lang="en-GB" sz="1400" dirty="0"/>
                        <a:t>10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31" tooltip="Sofosbuvir"/>
                        </a:rPr>
                        <a:t>Sofosbuvir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 err="1"/>
                        <a:t>Sovaldi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Small molecule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7" tooltip="Hepatitis C"/>
                        </a:rPr>
                        <a:t>Hepatitis C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hlinkClick r:id="rId8" tooltip="Gilead Sciences"/>
                        </a:rPr>
                        <a:t>Gilead Sciences</a:t>
                      </a:r>
                      <a:endParaRPr lang="en-GB" sz="1400" dirty="0"/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5,276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(5,007</a:t>
                      </a:r>
                    </a:p>
                  </a:txBody>
                  <a:tcPr marL="34800" marR="34800" marT="17400" marB="17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508703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722170" y="6548860"/>
            <a:ext cx="2280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Source </a:t>
            </a:r>
            <a:r>
              <a:rPr lang="en-GB" sz="1200" dirty="0">
                <a:hlinkClick r:id="rId32"/>
              </a:rPr>
              <a:t>Wikipedia</a:t>
            </a:r>
            <a:endParaRPr lang="en-GB" sz="1200" dirty="0"/>
          </a:p>
        </p:txBody>
      </p:sp>
      <p:sp>
        <p:nvSpPr>
          <p:cNvPr id="3" name="Rectangle: Rounded Corners 2"/>
          <p:cNvSpPr/>
          <p:nvPr/>
        </p:nvSpPr>
        <p:spPr>
          <a:xfrm>
            <a:off x="2915816" y="1738516"/>
            <a:ext cx="986408" cy="504056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002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561"/>
    </mc:Choice>
    <mc:Fallback xmlns="">
      <p:transition spd="slow" advTm="7756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7067128" cy="707886"/>
          </a:xfrm>
        </p:spPr>
        <p:txBody>
          <a:bodyPr>
            <a:noAutofit/>
          </a:bodyPr>
          <a:lstStyle/>
          <a:p>
            <a:r>
              <a:rPr lang="en-GB" sz="4000" dirty="0"/>
              <a:t>So what is the problem?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482983" y="1068176"/>
            <a:ext cx="8226092" cy="2460590"/>
          </a:xfrm>
        </p:spPr>
        <p:txBody>
          <a:bodyPr>
            <a:noAutofit/>
          </a:bodyPr>
          <a:lstStyle/>
          <a:p>
            <a:r>
              <a:rPr lang="en-GB" sz="2000" dirty="0"/>
              <a:t>Small molecule representation is well understood and has been used for many years.</a:t>
            </a:r>
          </a:p>
          <a:p>
            <a:r>
              <a:rPr lang="en-GB" sz="2000" dirty="0"/>
              <a:t>Although there are still areas to talk about the fundamentals are established.</a:t>
            </a:r>
          </a:p>
          <a:p>
            <a:pPr lvl="1"/>
            <a:r>
              <a:rPr lang="en-GB" sz="1800" dirty="0"/>
              <a:t>Most compounds pharma can generally be handled</a:t>
            </a:r>
          </a:p>
          <a:p>
            <a:r>
              <a:rPr lang="en-GB" sz="2000" dirty="0"/>
              <a:t>Biologics is a long way behind.</a:t>
            </a:r>
          </a:p>
          <a:p>
            <a:pPr lvl="1"/>
            <a:r>
              <a:rPr lang="en-GB" sz="1800" dirty="0"/>
              <a:t>Many important substances cannot be represented fully with current tools</a:t>
            </a:r>
          </a:p>
          <a:p>
            <a:pPr marL="0" indent="0">
              <a:buNone/>
            </a:pPr>
            <a:endParaRPr lang="en-GB" sz="1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28214" r="38800"/>
          <a:stretch/>
        </p:blipFill>
        <p:spPr>
          <a:xfrm>
            <a:off x="3275856" y="3643804"/>
            <a:ext cx="3206849" cy="24171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387197" y="4852386"/>
            <a:ext cx="1888659" cy="33855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GB" sz="1600" dirty="0"/>
              <a:t>O=C(O)[C@@H](N)C</a:t>
            </a:r>
          </a:p>
        </p:txBody>
      </p:sp>
      <p:sp>
        <p:nvSpPr>
          <p:cNvPr id="8" name="Rectangle 7"/>
          <p:cNvSpPr/>
          <p:nvPr/>
        </p:nvSpPr>
        <p:spPr>
          <a:xfrm>
            <a:off x="2310016" y="6021288"/>
            <a:ext cx="6582463" cy="58477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1600" dirty="0"/>
              <a:t>InChI=1S/C3H7NO2/c1-2(4)3(5)6/h2H,4H2,1H3,(H,5,6)/t2-/m1/s1 </a:t>
            </a:r>
          </a:p>
          <a:p>
            <a:r>
              <a:rPr lang="pt-BR" sz="1600" dirty="0"/>
              <a:t>Key: QNAYBMKLOCPYGJ-UWTATZPHSA-N 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92607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060"/>
    </mc:Choice>
    <mc:Fallback xmlns="">
      <p:transition spd="slow" advTm="4706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831658" y="1556792"/>
            <a:ext cx="400110" cy="949498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GAP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7067128" cy="707886"/>
          </a:xfrm>
        </p:spPr>
        <p:txBody>
          <a:bodyPr>
            <a:normAutofit/>
          </a:bodyPr>
          <a:lstStyle/>
          <a:p>
            <a:r>
              <a:rPr lang="en-US" sz="3200" dirty="0"/>
              <a:t>Biomolecules - Stuck in the middle…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2391113" y="2704291"/>
            <a:ext cx="3487917" cy="3487917"/>
          </a:xfrm>
          <a:prstGeom prst="ellipse">
            <a:avLst/>
          </a:prstGeom>
          <a:solidFill>
            <a:srgbClr val="E8F4D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Arial" charset="0"/>
              <a:ea typeface="ＭＳ Ｐゴシック" pitchFamily="28" charset="-128"/>
              <a:cs typeface="Arial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201196" y="2705866"/>
            <a:ext cx="3487917" cy="3487917"/>
          </a:xfrm>
          <a:prstGeom prst="ellipse">
            <a:avLst/>
          </a:prstGeom>
          <a:solidFill>
            <a:srgbClr val="4AC9FF">
              <a:alpha val="5019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Arial" charset="0"/>
              <a:ea typeface="ＭＳ Ｐゴシック" pitchFamily="28" charset="-128"/>
              <a:cs typeface="Arial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7340" y="4082633"/>
            <a:ext cx="1149906" cy="734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Connector 8"/>
          <p:cNvCxnSpPr/>
          <p:nvPr/>
        </p:nvCxnSpPr>
        <p:spPr bwMode="auto">
          <a:xfrm>
            <a:off x="4887914" y="4901442"/>
            <a:ext cx="75500" cy="37751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54" y="3533849"/>
            <a:ext cx="137319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856" y="3416417"/>
            <a:ext cx="1203313" cy="1602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4758" y="4868146"/>
            <a:ext cx="843439" cy="53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/>
          <p:cNvSpPr/>
          <p:nvPr/>
        </p:nvSpPr>
        <p:spPr>
          <a:xfrm>
            <a:off x="1168852" y="4135567"/>
            <a:ext cx="1212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Small Molecules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4879" y="4263583"/>
            <a:ext cx="14391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Sequence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4C5156"/>
                </a:solidFill>
                <a:latin typeface="Calibri" pitchFamily="34" charset="0"/>
                <a:cs typeface="Arial" charset="0"/>
              </a:rPr>
              <a:t>information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69412" y="6211255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Biomolecules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4118" y="2198513"/>
            <a:ext cx="2140953" cy="307777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Small Molecule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030" y="2198512"/>
            <a:ext cx="2140953" cy="307777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Sequence-Based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2976" y="1556792"/>
            <a:ext cx="400110" cy="949498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>
            <a:off x="5040745" y="2570298"/>
            <a:ext cx="0" cy="2915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27386" r="26866"/>
          <a:stretch/>
        </p:blipFill>
        <p:spPr>
          <a:xfrm>
            <a:off x="179512" y="1484784"/>
            <a:ext cx="1619734" cy="225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4499"/>
      </p:ext>
    </p:extLst>
  </p:cSld>
  <p:clrMapOvr>
    <a:masterClrMapping/>
  </p:clrMapOvr>
  <p:transition advTm="119622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7200800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dirty="0" err="1"/>
              <a:t>Mipomersen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395537" y="1151414"/>
            <a:ext cx="8064896" cy="5416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Ionis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product used to treat homozygous familial hypercholesterolemia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structure can be described as: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G*-C*-C*-U*-C*-dA-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-dT-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-dT-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dmC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-dT-dT-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dmC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-G*-C*-A*-C*-C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 = 2'-deoxy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* = 2'-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-(2-methoxyethyl)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phosphorothioate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linkages.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is easy to read</a:t>
            </a:r>
            <a:endParaRPr lang="en-US" altLang="en-US" sz="24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 relies on a secondary explanation to capture all the information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simple sequence is too limited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54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879"/>
    </mc:Choice>
    <mc:Fallback xmlns="">
      <p:transition spd="slow" advTm="7287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67544" y="3645024"/>
            <a:ext cx="8064896" cy="2520280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Complex Polymer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Simple Polymer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Monomer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Atom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54" y="3645024"/>
            <a:ext cx="798757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161854"/>
      </p:ext>
    </p:extLst>
  </p:cSld>
  <p:clrMapOvr>
    <a:masterClrMapping/>
  </p:clrMapOvr>
  <p:transition advTm="26343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1259632" y="5445224"/>
            <a:ext cx="4824536" cy="792088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7544" y="3645024"/>
            <a:ext cx="7992888" cy="1224136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Complex Polymer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Simple Polymer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Monomer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Atom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54" y="3645024"/>
            <a:ext cx="798757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30871"/>
      </p:ext>
    </p:extLst>
  </p:cSld>
  <p:clrMapOvr>
    <a:masterClrMapping/>
  </p:clrMapOvr>
  <p:transition advTm="15876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1789874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725978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635896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0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95011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1802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54126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959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Complex Polymer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Simple Polymer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Monomer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Atom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3429000"/>
            <a:ext cx="7568163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05184"/>
      </p:ext>
    </p:extLst>
  </p:cSld>
  <p:clrMapOvr>
    <a:masterClrMapping/>
  </p:clrMapOvr>
  <p:transition advTm="27478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89959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acromolecules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720079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dirty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Complex Polymer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Simple Polymer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Monomer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Atom</a:t>
            </a:r>
            <a:endParaRPr kumimoji="0" lang="en-US" sz="1800" b="0" i="0" u="none" strike="noStrike" kern="1200" cap="none" spc="0" normalizeH="0" baseline="0" noProof="0" dirty="0">
              <a:ln w="28575" cmpd="sng">
                <a:solidFill>
                  <a:srgbClr val="C00000"/>
                </a:solidFill>
              </a:ln>
              <a:solidFill>
                <a:srgbClr val="666E7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15816" y="3501008"/>
            <a:ext cx="3588607" cy="3145989"/>
          </a:xfrm>
          <a:prstGeom prst="rect">
            <a:avLst/>
          </a:prstGeom>
          <a:noFill/>
          <a:ln>
            <a:noFill/>
          </a:ln>
          <a:effectLst>
            <a:outerShdw blurRad="190500" algn="ctr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temp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64" y="3839310"/>
            <a:ext cx="576064" cy="597802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1763688" y="4149080"/>
            <a:ext cx="936104" cy="0"/>
          </a:xfrm>
          <a:prstGeom prst="straightConnector1">
            <a:avLst/>
          </a:prstGeom>
          <a:ln w="38100" cmpd="sng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028480"/>
      </p:ext>
    </p:extLst>
  </p:cSld>
  <p:clrMapOvr>
    <a:masterClrMapping/>
  </p:clrMapOvr>
  <p:transition advTm="19238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 format</a:t>
            </a:r>
            <a:endParaRPr lang="en-GB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" b="57389"/>
          <a:stretch/>
        </p:blipFill>
        <p:spPr bwMode="auto">
          <a:xfrm>
            <a:off x="1001888" y="1963721"/>
            <a:ext cx="6923452" cy="689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79166" y="2716549"/>
            <a:ext cx="77100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HELM notation: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PEPTIDE1{A.R.G.[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dF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].C.K.[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meA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].E.D.A}$$$$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FAD4A5-69AD-42C5-B9DA-9636A6CFE7FC}"/>
              </a:ext>
            </a:extLst>
          </p:cNvPr>
          <p:cNvSpPr/>
          <p:nvPr/>
        </p:nvSpPr>
        <p:spPr>
          <a:xfrm>
            <a:off x="357908" y="1184935"/>
            <a:ext cx="856895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C5156"/>
                </a:solidFill>
                <a:ea typeface="MS PGothic" pitchFamily="34" charset="-128"/>
                <a:cs typeface="Calibri"/>
              </a:rPr>
              <a:t>ListOfSimplePolymers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MS PGothic" pitchFamily="34" charset="-128"/>
                <a:cs typeface="Calibri"/>
              </a:rPr>
              <a:t>$</a:t>
            </a:r>
            <a:r>
              <a:rPr lang="en-US" dirty="0">
                <a:solidFill>
                  <a:srgbClr val="4C5156"/>
                </a:solidFill>
                <a:ea typeface="MS PGothic" pitchFamily="34" charset="-128"/>
                <a:cs typeface="Calibri"/>
              </a:rPr>
              <a:t>ListOfConnections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MS PGothic" pitchFamily="34" charset="-128"/>
                <a:cs typeface="Calibri"/>
              </a:rPr>
              <a:t>$</a:t>
            </a:r>
            <a:r>
              <a:rPr lang="en-US" dirty="0">
                <a:solidFill>
                  <a:srgbClr val="4C5156"/>
                </a:solidFill>
                <a:ea typeface="MS PGothic" pitchFamily="34" charset="-128"/>
                <a:cs typeface="Calibri"/>
              </a:rPr>
              <a:t>ListOfPolymerGroups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MS PGothic" pitchFamily="34" charset="-128"/>
                <a:cs typeface="Calibri"/>
              </a:rPr>
              <a:t>$</a:t>
            </a:r>
            <a:r>
              <a:rPr lang="en-US" dirty="0">
                <a:solidFill>
                  <a:srgbClr val="4C5156"/>
                </a:solidFill>
                <a:ea typeface="MS PGothic" pitchFamily="34" charset="-128"/>
                <a:cs typeface="Calibri"/>
              </a:rPr>
              <a:t>ExtendedAnnotation</a:t>
            </a:r>
            <a:r>
              <a:rPr lang="en-US" dirty="0">
                <a:solidFill>
                  <a:srgbClr val="FF0000"/>
                </a:solidFill>
                <a:ea typeface="MS PGothic" pitchFamily="34" charset="-128"/>
                <a:cs typeface="Calibri"/>
              </a:rPr>
              <a:t>$</a:t>
            </a:r>
            <a:endParaRPr lang="en-US" dirty="0">
              <a:solidFill>
                <a:srgbClr val="FF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8FD3897-F9D5-49E1-8539-6E3D8F9C7C62}"/>
              </a:ext>
            </a:extLst>
          </p:cNvPr>
          <p:cNvSpPr txBox="1"/>
          <p:nvPr/>
        </p:nvSpPr>
        <p:spPr>
          <a:xfrm>
            <a:off x="735529" y="5984413"/>
            <a:ext cx="7451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de-DE" b="1" dirty="0">
                <a:solidFill>
                  <a:srgbClr val="173B64"/>
                </a:solidFill>
                <a:latin typeface="Arial" charset="0"/>
              </a:rPr>
              <a:t>PEPTIDE1</a:t>
            </a:r>
            <a:r>
              <a:rPr lang="de-DE" b="1" dirty="0">
                <a:solidFill>
                  <a:srgbClr val="FF0000"/>
                </a:solidFill>
                <a:latin typeface="Arial" charset="0"/>
              </a:rPr>
              <a:t>{</a:t>
            </a:r>
            <a:r>
              <a:rPr lang="de-DE" dirty="0">
                <a:solidFill>
                  <a:srgbClr val="173B64"/>
                </a:solidFill>
                <a:latin typeface="Arial" charset="0"/>
              </a:rPr>
              <a:t>W.N.D.[T-</a:t>
            </a:r>
            <a:r>
              <a:rPr lang="de-DE" dirty="0" err="1">
                <a:solidFill>
                  <a:srgbClr val="173B64"/>
                </a:solidFill>
                <a:latin typeface="Arial" charset="0"/>
              </a:rPr>
              <a:t>est</a:t>
            </a:r>
            <a:r>
              <a:rPr lang="de-DE" dirty="0">
                <a:solidFill>
                  <a:srgbClr val="173B64"/>
                </a:solidFill>
                <a:latin typeface="Arial" charset="0"/>
              </a:rPr>
              <a:t>].G.[OR].D.A.D.G.S.[LM].[KYN]</a:t>
            </a:r>
            <a:r>
              <a:rPr lang="de-DE" b="1" dirty="0">
                <a:solidFill>
                  <a:srgbClr val="FF0000"/>
                </a:solidFill>
                <a:latin typeface="Arial" charset="0"/>
              </a:rPr>
              <a:t>}</a:t>
            </a:r>
            <a:r>
              <a:rPr lang="de-DE" dirty="0">
                <a:solidFill>
                  <a:srgbClr val="2E8C5D"/>
                </a:solidFill>
                <a:latin typeface="Arial" charset="0"/>
              </a:rPr>
              <a:t>|</a:t>
            </a:r>
            <a:r>
              <a:rPr lang="de-DE" b="1" dirty="0">
                <a:solidFill>
                  <a:srgbClr val="173B64"/>
                </a:solidFill>
                <a:latin typeface="Arial" charset="0"/>
              </a:rPr>
              <a:t>CHEM1</a:t>
            </a:r>
            <a:r>
              <a:rPr lang="de-DE" b="1" dirty="0">
                <a:solidFill>
                  <a:srgbClr val="FF0000"/>
                </a:solidFill>
                <a:latin typeface="Arial" charset="0"/>
              </a:rPr>
              <a:t>{</a:t>
            </a:r>
            <a:r>
              <a:rPr lang="de-DE" dirty="0">
                <a:solidFill>
                  <a:srgbClr val="173B64"/>
                </a:solidFill>
                <a:latin typeface="Arial" charset="0"/>
              </a:rPr>
              <a:t>DA</a:t>
            </a:r>
            <a:r>
              <a:rPr lang="de-DE" b="1" dirty="0">
                <a:solidFill>
                  <a:srgbClr val="FF0000"/>
                </a:solidFill>
                <a:latin typeface="Arial" charset="0"/>
              </a:rPr>
              <a:t>}</a:t>
            </a:r>
            <a:r>
              <a:rPr lang="de-DE" b="1" dirty="0">
                <a:solidFill>
                  <a:srgbClr val="2E8C5D"/>
                </a:solidFill>
                <a:latin typeface="Arial" charset="0"/>
              </a:rPr>
              <a:t>$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de-DE" dirty="0">
                <a:solidFill>
                  <a:schemeClr val="tx2"/>
                </a:solidFill>
                <a:latin typeface="Arial" charset="0"/>
              </a:rPr>
              <a:t>PEPTIDE1,PEPTIDE1,</a:t>
            </a:r>
            <a:r>
              <a:rPr lang="de-DE" dirty="0">
                <a:solidFill>
                  <a:schemeClr val="accent2">
                    <a:lumMod val="50000"/>
                  </a:schemeClr>
                </a:solidFill>
                <a:latin typeface="Arial" charset="0"/>
              </a:rPr>
              <a:t>13:R2</a:t>
            </a:r>
            <a:r>
              <a:rPr lang="de-DE" dirty="0">
                <a:solidFill>
                  <a:schemeClr val="tx2"/>
                </a:solidFill>
                <a:latin typeface="Arial" charset="0"/>
              </a:rPr>
              <a:t>-</a:t>
            </a:r>
            <a:r>
              <a:rPr lang="de-DE" dirty="0">
                <a:solidFill>
                  <a:schemeClr val="accent5">
                    <a:lumMod val="75000"/>
                  </a:schemeClr>
                </a:solidFill>
                <a:latin typeface="Arial" charset="0"/>
              </a:rPr>
              <a:t>4:R3</a:t>
            </a:r>
            <a:r>
              <a:rPr lang="de-DE" b="1" dirty="0">
                <a:solidFill>
                  <a:srgbClr val="2E8C5D"/>
                </a:solidFill>
                <a:latin typeface="Arial" charset="0"/>
              </a:rPr>
              <a:t>|</a:t>
            </a:r>
            <a:r>
              <a:rPr lang="de-DE" dirty="0">
                <a:solidFill>
                  <a:srgbClr val="2103D5"/>
                </a:solidFill>
                <a:latin typeface="Arial" charset="0"/>
              </a:rPr>
              <a:t>PEPTIDE1,CHEM1,1:R1-1:R1</a:t>
            </a:r>
            <a:r>
              <a:rPr lang="de-DE" b="1" dirty="0">
                <a:solidFill>
                  <a:srgbClr val="2E8C5D"/>
                </a:solidFill>
                <a:latin typeface="Arial" charset="0"/>
              </a:rPr>
              <a:t>$$$</a:t>
            </a:r>
          </a:p>
        </p:txBody>
      </p:sp>
      <p:pic>
        <p:nvPicPr>
          <p:cNvPr id="9" name="Grafik 6">
            <a:extLst>
              <a:ext uri="{FF2B5EF4-FFF2-40B4-BE49-F238E27FC236}">
                <a16:creationId xmlns:a16="http://schemas.microsoft.com/office/drawing/2014/main" id="{8C975267-7818-47C0-9C01-A39058A263B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18"/>
          <a:stretch/>
        </p:blipFill>
        <p:spPr>
          <a:xfrm>
            <a:off x="3476757" y="3140968"/>
            <a:ext cx="5113221" cy="274536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7F3CDE-70E3-496E-95BB-ED66DAB7AAC6}"/>
              </a:ext>
            </a:extLst>
          </p:cNvPr>
          <p:cNvSpPr/>
          <p:nvPr/>
        </p:nvSpPr>
        <p:spPr>
          <a:xfrm>
            <a:off x="4004474" y="4672582"/>
            <a:ext cx="16807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itchFamily="34" charset="0"/>
                <a:cs typeface="Arial" charset="0"/>
              </a:rPr>
              <a:t>Daptomycin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4410405"/>
      </p:ext>
    </p:extLst>
  </p:cSld>
  <p:clrMapOvr>
    <a:masterClrMapping/>
  </p:clrMapOvr>
  <p:transition advTm="72629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88B1FA-7291-43F6-91C2-C8FDC919E058}"/>
              </a:ext>
            </a:extLst>
          </p:cNvPr>
          <p:cNvSpPr txBox="1">
            <a:spLocks/>
          </p:cNvSpPr>
          <p:nvPr/>
        </p:nvSpPr>
        <p:spPr>
          <a:xfrm>
            <a:off x="323528" y="5301208"/>
            <a:ext cx="8280920" cy="137297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 defTabSz="914400" eaLnBrk="1" hangingPunct="1">
              <a:spcBef>
                <a:spcPct val="0"/>
              </a:spcBef>
              <a:buNone/>
              <a:defRPr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+mn-ea"/>
                <a:cs typeface="Arial" charset="0"/>
              </a:rPr>
              <a:t>HELM notation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MS PGothic" pitchFamily="34" charset="-128"/>
                <a:cs typeface="Calibri"/>
              </a:rPr>
              <a:t>RNA1{R(G)P.R(G)P.R(C)P.R(A)P.R(C)P.R(U)P.R(U)P.R(C)P.R(G)P.R(G)P.R(U)P.R(G)P.R(C)P.R(C)}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alibri"/>
                <a:ea typeface="MS PGothic" pitchFamily="34" charset="-128"/>
                <a:cs typeface="Calibri"/>
              </a:rPr>
              <a:t>$$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/>
                <a:ea typeface="MS PGothic" pitchFamily="34" charset="-128"/>
                <a:cs typeface="Calibri"/>
              </a:rPr>
              <a:t>RNA1,RNA1,11:pair-32:pair|RNA1,RNA1,5:pair-38:pair|RNA1,RNA1,14:pair-29:pair|RNA1,RNA1,8:pair-35:pair|RNA1,RNA1,2:pair-41:pair$$</a:t>
            </a: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2594551C-0757-4164-86B5-99E016EC63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1254460" y="2060848"/>
            <a:ext cx="6419056" cy="3380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A6250FF-6941-4C35-B13E-2090457F8F7B}"/>
              </a:ext>
            </a:extLst>
          </p:cNvPr>
          <p:cNvSpPr/>
          <p:nvPr/>
        </p:nvSpPr>
        <p:spPr>
          <a:xfrm>
            <a:off x="357908" y="1184935"/>
            <a:ext cx="8568952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C5156"/>
                </a:solidFill>
                <a:ea typeface="MS PGothic" pitchFamily="34" charset="-128"/>
                <a:cs typeface="Calibri"/>
              </a:rPr>
              <a:t>ListOfSimplePolymers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MS PGothic" pitchFamily="34" charset="-128"/>
                <a:cs typeface="Calibri"/>
              </a:rPr>
              <a:t>$</a:t>
            </a:r>
            <a:r>
              <a:rPr lang="en-US" dirty="0">
                <a:solidFill>
                  <a:srgbClr val="4C5156"/>
                </a:solidFill>
                <a:ea typeface="MS PGothic" pitchFamily="34" charset="-128"/>
                <a:cs typeface="Calibri"/>
              </a:rPr>
              <a:t>ListOfConnections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MS PGothic" pitchFamily="34" charset="-128"/>
                <a:cs typeface="Calibri"/>
              </a:rPr>
              <a:t>$</a:t>
            </a:r>
            <a:r>
              <a:rPr lang="en-US" dirty="0">
                <a:solidFill>
                  <a:srgbClr val="4C5156"/>
                </a:solidFill>
                <a:ea typeface="MS PGothic" pitchFamily="34" charset="-128"/>
                <a:cs typeface="Calibri"/>
              </a:rPr>
              <a:t>ListOfPolymerGroups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MS PGothic" pitchFamily="34" charset="-128"/>
                <a:cs typeface="Calibri"/>
              </a:rPr>
              <a:t>$</a:t>
            </a:r>
            <a:r>
              <a:rPr lang="en-US" dirty="0">
                <a:solidFill>
                  <a:srgbClr val="4C5156"/>
                </a:solidFill>
                <a:ea typeface="MS PGothic" pitchFamily="34" charset="-128"/>
                <a:cs typeface="Calibri"/>
              </a:rPr>
              <a:t>ExtendedAnnotation</a:t>
            </a:r>
            <a:r>
              <a:rPr lang="en-US" dirty="0">
                <a:solidFill>
                  <a:srgbClr val="FF0000"/>
                </a:solidFill>
                <a:ea typeface="MS PGothic" pitchFamily="34" charset="-128"/>
                <a:cs typeface="Calibri"/>
              </a:rPr>
              <a:t>$</a:t>
            </a:r>
            <a:endParaRPr lang="en-US" dirty="0">
              <a:solidFill>
                <a:srgbClr val="FF0000"/>
              </a:solidFill>
              <a:latin typeface="Calibri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484456"/>
      </p:ext>
    </p:extLst>
  </p:cSld>
  <p:clrMapOvr>
    <a:masterClrMapping/>
  </p:clrMapOvr>
  <p:transition advTm="1620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365" y="1484784"/>
            <a:ext cx="2811020" cy="129209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499176" cy="707886"/>
          </a:xfrm>
        </p:spPr>
        <p:txBody>
          <a:bodyPr/>
          <a:lstStyle/>
          <a:p>
            <a:r>
              <a:rPr lang="en-GB" dirty="0"/>
              <a:t>HELM…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560" y="1504158"/>
            <a:ext cx="7921252" cy="4896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tx2"/>
                </a:solidFill>
              </a:rPr>
              <a:t>…and very large molecules</a:t>
            </a:r>
            <a:endParaRPr lang="de-DE" sz="2000" dirty="0">
              <a:solidFill>
                <a:schemeClr val="tx2"/>
              </a:solidFill>
            </a:endParaRPr>
          </a:p>
          <a:p>
            <a:r>
              <a:rPr lang="de-DE" sz="1800" dirty="0"/>
              <a:t>Example: Connectin (Titin)</a:t>
            </a:r>
          </a:p>
          <a:p>
            <a:r>
              <a:rPr lang="de-DE" sz="1800" dirty="0"/>
              <a:t>Human muscle protein out of 34,350 amino acids</a:t>
            </a:r>
          </a:p>
          <a:p>
            <a:r>
              <a:rPr lang="de-DE" sz="1800" dirty="0"/>
              <a:t>=&gt; 540,000 atoms</a:t>
            </a:r>
          </a:p>
          <a:p>
            <a:r>
              <a:rPr lang="de-DE" sz="1800" dirty="0"/>
              <a:t>Creation and validation of HELM notation from FASTA in &lt; 1 s</a:t>
            </a:r>
          </a:p>
          <a:p>
            <a:endParaRPr lang="de-DE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…and exchanging information</a:t>
            </a:r>
          </a:p>
          <a:p>
            <a:r>
              <a:rPr lang="en-US" sz="1800" dirty="0"/>
              <a:t>HELM relies on the monomer definitions</a:t>
            </a:r>
          </a:p>
          <a:p>
            <a:r>
              <a:rPr lang="en-US" sz="1800" dirty="0"/>
              <a:t>Monomer information can be exchanged using </a:t>
            </a:r>
            <a:r>
              <a:rPr lang="en-US" sz="1800" dirty="0" err="1"/>
              <a:t>xHELM</a:t>
            </a:r>
            <a:r>
              <a:rPr lang="en-US" sz="1800" dirty="0"/>
              <a:t>, an XML file format that includes the monomers for the molecules in the file.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… and monomer bloat</a:t>
            </a:r>
          </a:p>
          <a:p>
            <a:r>
              <a:rPr lang="en-US" sz="1800" dirty="0"/>
              <a:t>In-line HELM allows the definition of ‘temporary’ monomers when you with only use a monomer once.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9231898"/>
      </p:ext>
    </p:extLst>
  </p:cSld>
  <p:clrMapOvr>
    <a:masterClrMapping/>
  </p:clrMapOvr>
  <p:transition advTm="7596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So… mission completed?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3347864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2051720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752460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24" name="Picture 2" descr="http://cdn4.pistoiaalliance.org/wp-content/uploads/2015/05/Slide6b.png?7bc65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73" y="2236586"/>
            <a:ext cx="7794855" cy="112040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Inhaltsplatzhalter 2"/>
          <p:cNvSpPr>
            <a:spLocks noGrp="1"/>
          </p:cNvSpPr>
          <p:nvPr>
            <p:ph idx="1"/>
          </p:nvPr>
        </p:nvSpPr>
        <p:spPr>
          <a:xfrm>
            <a:off x="337848" y="3855964"/>
            <a:ext cx="6985148" cy="2520280"/>
          </a:xfrm>
        </p:spPr>
        <p:txBody>
          <a:bodyPr>
            <a:noAutofit/>
          </a:bodyPr>
          <a:lstStyle/>
          <a:p>
            <a:r>
              <a:rPr lang="de-DE" sz="2000" dirty="0" err="1"/>
              <a:t>Unknown</a:t>
            </a:r>
            <a:r>
              <a:rPr lang="de-DE" sz="2000" dirty="0"/>
              <a:t> </a:t>
            </a:r>
            <a:r>
              <a:rPr lang="de-DE" sz="2000" dirty="0" err="1"/>
              <a:t>numbers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repeating</a:t>
            </a:r>
            <a:r>
              <a:rPr lang="de-DE" sz="2000" dirty="0"/>
              <a:t> </a:t>
            </a:r>
            <a:r>
              <a:rPr lang="de-DE" sz="2000" dirty="0" err="1"/>
              <a:t>elements</a:t>
            </a:r>
            <a:endParaRPr lang="de-DE" sz="2000" dirty="0"/>
          </a:p>
          <a:p>
            <a:r>
              <a:rPr lang="de-DE" sz="2000" dirty="0"/>
              <a:t>Various connection points of ADCs</a:t>
            </a:r>
          </a:p>
          <a:p>
            <a:r>
              <a:rPr lang="de-DE" sz="2000" dirty="0" err="1"/>
              <a:t>Unknown</a:t>
            </a:r>
            <a:r>
              <a:rPr lang="de-DE" sz="2000" dirty="0"/>
              <a:t> </a:t>
            </a:r>
            <a:r>
              <a:rPr lang="de-DE" sz="2000" dirty="0" err="1"/>
              <a:t>elements</a:t>
            </a:r>
            <a:r>
              <a:rPr lang="de-DE" sz="2000" dirty="0"/>
              <a:t> in </a:t>
            </a:r>
            <a:r>
              <a:rPr lang="de-DE" sz="2000" dirty="0" err="1"/>
              <a:t>sequences</a:t>
            </a:r>
            <a:endParaRPr lang="de-DE" sz="2000" dirty="0"/>
          </a:p>
          <a:p>
            <a:r>
              <a:rPr lang="de-DE" sz="2000" dirty="0" err="1"/>
              <a:t>Unknown</a:t>
            </a:r>
            <a:r>
              <a:rPr lang="de-DE" sz="2000" dirty="0"/>
              <a:t> </a:t>
            </a:r>
            <a:r>
              <a:rPr lang="de-DE" sz="2000" dirty="0" err="1"/>
              <a:t>connections</a:t>
            </a:r>
            <a:r>
              <a:rPr lang="de-DE" sz="2000" dirty="0"/>
              <a:t> </a:t>
            </a:r>
            <a:r>
              <a:rPr lang="de-DE" sz="2000" dirty="0" err="1"/>
              <a:t>between</a:t>
            </a:r>
            <a:r>
              <a:rPr lang="de-DE" sz="2000" dirty="0"/>
              <a:t> </a:t>
            </a:r>
            <a:r>
              <a:rPr lang="de-DE" sz="2000" dirty="0" err="1"/>
              <a:t>polymers</a:t>
            </a:r>
            <a:endParaRPr lang="de-DE" sz="2000" dirty="0"/>
          </a:p>
          <a:p>
            <a:r>
              <a:rPr lang="de-DE" sz="2000" dirty="0"/>
              <a:t>Undefined polymers</a:t>
            </a:r>
          </a:p>
          <a:p>
            <a:r>
              <a:rPr lang="de-DE" sz="2000" dirty="0"/>
              <a:t>...</a:t>
            </a:r>
          </a:p>
        </p:txBody>
      </p:sp>
      <p:sp>
        <p:nvSpPr>
          <p:cNvPr id="27" name="Textfeld 26"/>
          <p:cNvSpPr txBox="1"/>
          <p:nvPr/>
        </p:nvSpPr>
        <p:spPr>
          <a:xfrm>
            <a:off x="7322996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8" name="Textfeld 27"/>
          <p:cNvSpPr txBox="1"/>
          <p:nvPr/>
        </p:nvSpPr>
        <p:spPr>
          <a:xfrm>
            <a:off x="6026852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4727592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DCA642F4-E167-4096-A2EC-2D97432A77EE}"/>
              </a:ext>
            </a:extLst>
          </p:cNvPr>
          <p:cNvSpPr/>
          <p:nvPr/>
        </p:nvSpPr>
        <p:spPr>
          <a:xfrm>
            <a:off x="5580112" y="4380093"/>
            <a:ext cx="3315366" cy="1746665"/>
          </a:xfrm>
          <a:prstGeom prst="foldedCorner">
            <a:avLst/>
          </a:prstGeom>
          <a:solidFill>
            <a:schemeClr val="accent6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>
                    <a:lumMod val="50000"/>
                  </a:schemeClr>
                </a:solidFill>
              </a:rPr>
              <a:t>Ambiguity is not something we handle well in either small or large molecule representation. </a:t>
            </a:r>
          </a:p>
        </p:txBody>
      </p:sp>
    </p:spTree>
    <p:extLst>
      <p:ext uri="{BB962C8B-B14F-4D97-AF65-F5344CB8AC3E}">
        <p14:creationId xmlns:p14="http://schemas.microsoft.com/office/powerpoint/2010/main" val="2237739792"/>
      </p:ext>
    </p:extLst>
  </p:cSld>
  <p:clrMapOvr>
    <a:masterClrMapping/>
  </p:clrMapOvr>
  <p:transition advTm="54838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Monomer Ambiguity</a:t>
            </a:r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0140772"/>
              </p:ext>
            </p:extLst>
          </p:nvPr>
        </p:nvGraphicFramePr>
        <p:xfrm>
          <a:off x="467544" y="1484784"/>
          <a:ext cx="8022405" cy="27432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695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6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99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 dirty="0"/>
                        <a:t>0..n unknown</a:t>
                      </a:r>
                      <a:r>
                        <a:rPr lang="de-DE" sz="1400" b="0" baseline="0" dirty="0"/>
                        <a:t> monomers</a:t>
                      </a:r>
                      <a:endParaRPr lang="de-DE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Single unknown amino acid</a:t>
                      </a:r>
                      <a:r>
                        <a:rPr lang="de-DE" sz="1400" baseline="0" dirty="0"/>
                        <a:t> in a PEPTIDE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Single unknown</a:t>
                      </a:r>
                      <a:r>
                        <a:rPr lang="de-DE" sz="1400" baseline="0" dirty="0"/>
                        <a:t> base in a RNA</a:t>
                      </a:r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RNA1{R(A)P.R(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)P.R(C)P.R(C)P.R(C)}$$$$V2.0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( ,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One of a list of monomer is possible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(A:10,G:90)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( +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Mixture of monomers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(A+G+C)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Deleted or</a:t>
                      </a:r>
                      <a:r>
                        <a:rPr lang="de-DE" sz="1400" baseline="0"/>
                        <a:t> missing single monomer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(A,_)</a:t>
                      </a:r>
                      <a:r>
                        <a:rPr lang="de-DE" sz="1400" b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/>
                        <a:t>´</a:t>
                      </a:r>
                      <a:r>
                        <a:rPr lang="de-DE" sz="1400" baseline="0"/>
                        <a:t> ´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/>
                        <a:t>Repeating monomers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PEPTIDE1{A.G.A.C.A</a:t>
                      </a:r>
                      <a:r>
                        <a:rPr lang="de-DE" sz="1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‘5-30‘</a:t>
                      </a:r>
                      <a:r>
                        <a:rPr lang="de-DE" sz="14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}$$$$V2.0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16</a:t>
            </a:fld>
            <a:endParaRPr lang="de-DE"/>
          </a:p>
        </p:txBody>
      </p:sp>
      <p:sp>
        <p:nvSpPr>
          <p:cNvPr id="3" name="Raute 2"/>
          <p:cNvSpPr/>
          <p:nvPr/>
        </p:nvSpPr>
        <p:spPr bwMode="auto">
          <a:xfrm>
            <a:off x="3059832" y="5229200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A</a:t>
            </a:r>
          </a:p>
        </p:txBody>
      </p:sp>
      <p:sp>
        <p:nvSpPr>
          <p:cNvPr id="7" name="Raute 6"/>
          <p:cNvSpPr/>
          <p:nvPr/>
        </p:nvSpPr>
        <p:spPr bwMode="auto">
          <a:xfrm>
            <a:off x="3851920" y="5229200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cxnSp>
        <p:nvCxnSpPr>
          <p:cNvPr id="9" name="Gerader Verbinder 8"/>
          <p:cNvCxnSpPr>
            <a:stCxn id="3" idx="3"/>
            <a:endCxn id="7" idx="1"/>
          </p:cNvCxnSpPr>
          <p:nvPr/>
        </p:nvCxnSpPr>
        <p:spPr bwMode="auto">
          <a:xfrm>
            <a:off x="3563888" y="5481228"/>
            <a:ext cx="288032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aute 9"/>
          <p:cNvSpPr/>
          <p:nvPr/>
        </p:nvSpPr>
        <p:spPr bwMode="auto">
          <a:xfrm>
            <a:off x="4644300" y="5229200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/>
              <a:t>G</a:t>
            </a: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1" name="Raute 10"/>
          <p:cNvSpPr/>
          <p:nvPr/>
        </p:nvSpPr>
        <p:spPr bwMode="auto">
          <a:xfrm>
            <a:off x="5436388" y="5229200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/>
              <a:t>C</a:t>
            </a: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cxnSp>
        <p:nvCxnSpPr>
          <p:cNvPr id="12" name="Gerader Verbinder 11"/>
          <p:cNvCxnSpPr>
            <a:stCxn id="10" idx="3"/>
            <a:endCxn id="11" idx="1"/>
          </p:cNvCxnSpPr>
          <p:nvPr/>
        </p:nvCxnSpPr>
        <p:spPr bwMode="auto">
          <a:xfrm>
            <a:off x="5148356" y="5481228"/>
            <a:ext cx="288032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Gerader Verbinder 13"/>
          <p:cNvCxnSpPr>
            <a:stCxn id="7" idx="3"/>
            <a:endCxn id="10" idx="1"/>
          </p:cNvCxnSpPr>
          <p:nvPr/>
        </p:nvCxnSpPr>
        <p:spPr bwMode="auto">
          <a:xfrm>
            <a:off x="4355976" y="5481228"/>
            <a:ext cx="288324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feld 14"/>
          <p:cNvSpPr txBox="1"/>
          <p:nvPr/>
        </p:nvSpPr>
        <p:spPr>
          <a:xfrm>
            <a:off x="3701365" y="4813628"/>
            <a:ext cx="8114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0" b="1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0118246"/>
      </p:ext>
    </p:extLst>
  </p:cSld>
  <p:clrMapOvr>
    <a:masterClrMapping/>
  </p:clrMapOvr>
  <p:transition advTm="48012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Other Ambiguity Types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86280" y="1279149"/>
            <a:ext cx="6481092" cy="604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dirty="0"/>
              <a:t>Sequence or polymer type is unknown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17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2699792" y="1911496"/>
            <a:ext cx="580667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800" b="1" dirty="0">
                <a:solidFill>
                  <a:srgbClr val="FF0000"/>
                </a:solidFill>
              </a:rPr>
              <a:t>BLOB1{Bead}”Aminated Polystyrene”</a:t>
            </a:r>
            <a:r>
              <a:rPr lang="de-DE" sz="1800" dirty="0"/>
              <a:t>|PEPTIDE1{A.G.T}$$$$</a:t>
            </a:r>
          </a:p>
        </p:txBody>
      </p:sp>
      <p:sp>
        <p:nvSpPr>
          <p:cNvPr id="6" name="Ellipse 5"/>
          <p:cNvSpPr/>
          <p:nvPr/>
        </p:nvSpPr>
        <p:spPr bwMode="auto">
          <a:xfrm>
            <a:off x="3635896" y="2526828"/>
            <a:ext cx="1152128" cy="115212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7" name="Raute 6"/>
          <p:cNvSpPr/>
          <p:nvPr/>
        </p:nvSpPr>
        <p:spPr bwMode="auto">
          <a:xfrm>
            <a:off x="5292080" y="2850864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A</a:t>
            </a:r>
          </a:p>
        </p:txBody>
      </p:sp>
      <p:sp>
        <p:nvSpPr>
          <p:cNvPr id="8" name="Raute 7"/>
          <p:cNvSpPr/>
          <p:nvPr/>
        </p:nvSpPr>
        <p:spPr bwMode="auto">
          <a:xfrm>
            <a:off x="6084168" y="2850864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G</a:t>
            </a:r>
          </a:p>
        </p:txBody>
      </p:sp>
      <p:cxnSp>
        <p:nvCxnSpPr>
          <p:cNvPr id="9" name="Gerader Verbinder 8"/>
          <p:cNvCxnSpPr/>
          <p:nvPr/>
        </p:nvCxnSpPr>
        <p:spPr bwMode="auto">
          <a:xfrm>
            <a:off x="5796136" y="3102892"/>
            <a:ext cx="288032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aute 9"/>
          <p:cNvSpPr/>
          <p:nvPr/>
        </p:nvSpPr>
        <p:spPr bwMode="auto">
          <a:xfrm>
            <a:off x="6876548" y="2850864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/>
              <a:t>T</a:t>
            </a: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cxnSp>
        <p:nvCxnSpPr>
          <p:cNvPr id="13" name="Gerader Verbinder 12"/>
          <p:cNvCxnSpPr/>
          <p:nvPr/>
        </p:nvCxnSpPr>
        <p:spPr bwMode="auto">
          <a:xfrm>
            <a:off x="6588224" y="3102892"/>
            <a:ext cx="288324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Gerader Verbinder 14"/>
          <p:cNvCxnSpPr/>
          <p:nvPr/>
        </p:nvCxnSpPr>
        <p:spPr bwMode="auto">
          <a:xfrm>
            <a:off x="4788024" y="3102892"/>
            <a:ext cx="504056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A6B9A6DF-5BB7-4904-8F4F-CD16E077F07F}"/>
              </a:ext>
            </a:extLst>
          </p:cNvPr>
          <p:cNvSpPr txBox="1">
            <a:spLocks/>
          </p:cNvSpPr>
          <p:nvPr/>
        </p:nvSpPr>
        <p:spPr>
          <a:xfrm>
            <a:off x="611374" y="4093744"/>
            <a:ext cx="6481092" cy="487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de-DE" sz="2000" dirty="0"/>
              <a:t>Connections are unknown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EB1F25-0FDF-4C81-8470-80165254F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273" y="4813372"/>
            <a:ext cx="2021558" cy="173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025298"/>
      </p:ext>
    </p:extLst>
  </p:cSld>
  <p:clrMapOvr>
    <a:masterClrMapping/>
  </p:clrMapOvr>
  <p:transition advTm="36788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51624"/>
            <a:ext cx="7416824" cy="707886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GB" dirty="0"/>
              <a:t>Ambiguity - </a:t>
            </a:r>
            <a:r>
              <a:rPr lang="en-GB" dirty="0" err="1"/>
              <a:t>Kadcyla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8AEABF-7EFC-C542-BC91-5F53F601ED7B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666E71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E71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396157" y="5154808"/>
            <a:ext cx="8313539" cy="1566668"/>
          </a:xfrm>
        </p:spPr>
        <p:txBody>
          <a:bodyPr>
            <a:noAutofit/>
          </a:bodyPr>
          <a:lstStyle/>
          <a:p>
            <a:r>
              <a:rPr lang="en-GB" sz="1800" dirty="0"/>
              <a:t>The connection between the drug and antibody is not well understood </a:t>
            </a: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(Marcoux et al. 2015).</a:t>
            </a:r>
            <a:r>
              <a:rPr lang="en-GB" sz="1800" dirty="0">
                <a:solidFill>
                  <a:schemeClr val="tx1"/>
                </a:solidFill>
              </a:rPr>
              <a:t> Lysine-linked, but where? </a:t>
            </a:r>
          </a:p>
          <a:p>
            <a:r>
              <a:rPr lang="en-GB" sz="1800" dirty="0"/>
              <a:t>Each </a:t>
            </a:r>
            <a:r>
              <a:rPr lang="en-GB" sz="1800" dirty="0" err="1"/>
              <a:t>trastuzumab</a:t>
            </a:r>
            <a:r>
              <a:rPr lang="en-GB" sz="1800" dirty="0"/>
              <a:t> molecule may be linked to zero to eight DM1 molecules (3.5 on average) </a:t>
            </a:r>
          </a:p>
          <a:p>
            <a:r>
              <a:rPr lang="en-GB" sz="1800" dirty="0"/>
              <a:t>Glycosylation is present and not well understood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636" y="1163430"/>
            <a:ext cx="4818580" cy="368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5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029"/>
    </mc:Choice>
    <mc:Fallback xmlns="">
      <p:transition spd="slow" advTm="47029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211144" cy="707886"/>
          </a:xfrm>
        </p:spPr>
        <p:txBody>
          <a:bodyPr/>
          <a:lstStyle/>
          <a:p>
            <a:r>
              <a:rPr lang="de-DE" dirty="0"/>
              <a:t>HELM notation - Kadcyla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12653" y="1628800"/>
            <a:ext cx="8424936" cy="3672408"/>
          </a:xfrm>
        </p:spPr>
        <p:txBody>
          <a:bodyPr/>
          <a:lstStyle/>
          <a:p>
            <a:pPr marL="0" indent="0">
              <a:buNone/>
            </a:pPr>
            <a:r>
              <a:rPr lang="en-US" sz="800" b="1" dirty="0">
                <a:highlight>
                  <a:srgbClr val="FFFF00"/>
                </a:highlight>
                <a:latin typeface="Consolas" panose="020B0609020204030204" pitchFamily="49" charset="0"/>
              </a:rPr>
              <a:t>PEPTIDE1</a:t>
            </a:r>
            <a:r>
              <a:rPr lang="en-US" sz="800" dirty="0">
                <a:latin typeface="Consolas" panose="020B0609020204030204" pitchFamily="49" charset="0"/>
              </a:rPr>
              <a:t>{D.I.Q.M.T.Q.S.P.S.S.L.S.A.S.V.G.D.R.V.T.I.T.C.R.A.S.Q.D.V.N.T.A.V.A.W.Y.Q.Q.K.P.G.K.A.P.K.L.L.I.Y.S.A.S.F.L.Y.S.G.V.P.S.R.F.S.G.S.R.S.G.T.D.F.T.L.T.I.S.S.L.Q.P.E.D.F.A.T.Y.Y.C.Q.Q.H.Y.T.T.P.P.T.F.G.Q.G.T.K.V.E.I.K.R.T.V.A.A.P.S.V.F.I.F.P.P.S.D.E.Q.L.K.S.G.T.A.S.V.V.C.L.L.N.N.F.Y.P.R.E.A.K.V.Q.W.K.V.D.N.A.L.Q.S.G.N.S.Q.E.S.V.T.E.Q.D.S.K.D.S.T.Y.S.L.S.S.T.L.T.L.S.K.A.D.Y.E.K.H.K.V.Y.A.C.E.V.T.H.Q.G.L.S.S.P.V.T.K.S.F.N.R.G.E.C}|</a:t>
            </a:r>
            <a:r>
              <a:rPr lang="en-US" sz="800" b="1" dirty="0">
                <a:highlight>
                  <a:srgbClr val="FFFF00"/>
                </a:highlight>
                <a:latin typeface="Consolas" panose="020B0609020204030204" pitchFamily="49" charset="0"/>
              </a:rPr>
              <a:t>PEPTIDE2</a:t>
            </a:r>
            <a:r>
              <a:rPr lang="en-US" sz="800" dirty="0">
                <a:latin typeface="Consolas" panose="020B0609020204030204" pitchFamily="49" charset="0"/>
              </a:rPr>
              <a:t>{E.V.Q.L.V.E.S.G.G.G.L.V.Q.P.G.G.S.L.R.L.S.C.A.A.S.G.F.N.I.K.D.T.Y.I.H.W.V.R.Q.A.P.G.K.G.L.E.W.V.A.R.I.Y.P.T.N.G.Y.T.R.Y.A.D.S.V.K.G.R.F.T.I.S.A.D.T.S.K.N.T.A.Y.L.Q.M.N.S.L.R.A.E.D.T.A.V.Y.Y.C.S.R.W.G.G.D.G.F.Y.A.M.D.Y.W.G.Q.G.T.L.V.T.V.S.S.A.S.T.K.G.P.S.V.F.P.L.A.P.S.S.K.S.T.S.G.G.T.A.A.L.G.C.L.V.K.D.Y.F.P.E.P.V.T.V.S.W.N.S.G.A.L.T.S.G.V.H.T.F.P.A.V.L.Q.S.S.G.L.Y.S.L.S.S.V.V.T.V.P.S.S.S.L.G.T.Q.T.Y.I.C.N.V.N.H.K.P.S.N.T.K.V.D.K.K.V.E.P.P.K.S.C.D.K.T.H.T.C.P.P.C.P.A.P.E.L.L.G.G.P.S.V.F.L.F.P.P.K.P.K.D.T.L.M.I.S.R.T.P.E.V.T.C.V.V.V.D.V.S.H.E.D.P.E.V.K.F.N.W.Y.V.D.G.V.E.V.H.N.A.K.T.K.P.R.E.E.Q.Y.N.S.T.Y.R.V.V.S.V.L.T.V.L.H.Q.D.W.L.N.G.K.E.Y.K.C.K.V.S.N.K.A.L.P.A.P.I.E.K.T.I.S.K.A.K.G.Q.P.R.E.P.Q.V.Y.T.L.P.P.S.R.D.E.L.T.K.N.Q.V.S.L.T.C.L.V.K.G.F.Y.P.S.D.I.A.V.E.W.E.S.N.G.Q.P.E.N.N.Y.K.T.T.P.P.V.L.D.S.D.G.S.F.F.L.Y.S.K.L.T.V.D.K.S.R.W.Q.Q.G.N.V.F.S.C.S.V.M.H.E.A.L.H.N.H.Y.T.Q.K.S.L.S.L.S.P.G.K}|</a:t>
            </a:r>
            <a:r>
              <a:rPr lang="en-US" sz="800" b="1" dirty="0">
                <a:highlight>
                  <a:srgbClr val="FFFF00"/>
                </a:highlight>
                <a:latin typeface="Consolas" panose="020B0609020204030204" pitchFamily="49" charset="0"/>
              </a:rPr>
              <a:t>PEPTIDE3</a:t>
            </a:r>
            <a:r>
              <a:rPr lang="en-US" sz="800" dirty="0">
                <a:latin typeface="Consolas" panose="020B0609020204030204" pitchFamily="49" charset="0"/>
              </a:rPr>
              <a:t>{E.V.Q.L.V.E.S.G.G.G.L.V.Q.P.G.G.S.L.R.L.S.C.A.A.S.G.F.N.I.K.D.T.Y.I.H.W.V.R.Q.A.P.G.K.G.L.E.W.V.A.R.I.Y.P.T.N.G.Y.T.R.Y.A.D.S.V.K.G.R.F.T.I.S.A.D.T.S.K.N.T.A.Y.L.Q.M.N.S.L.R.A.E.D.T.A.V.Y.Y.C.S.R.W.G.G.D.G.F.Y.A.M.D.Y.W.G.Q.G.T.L.V.T.V.S.S.A.S.T.K.G.P.S.V.F.P.L.A.P.S.S.K.S.T.S.G.G.T.A.A.L.G.C.L.V.K.D.Y.F.P.E.P.V.T.V.S.W.N.S.G.A.L.T.S.G.V.H.T.F.P.A.V.L.Q.S.S.G.L.Y.S.L.S.S.V.V.T.V.P.S.S.S.L.G.T.Q.T.Y.I.C.N.V.N.H.K.P.S.N.T.K.V.D.K.K.V.E.P.P.K.S.C.D.K.T.H.T.C.P.P.C.P.A.P.E.L.L.G.G.P.S.V.F.L.F.P.P.K.P.K.D.T.L.M.I.S.R.T.P.E.V.T.C.V.V.V.D.V.S.H.E.D.P.E.V.K.F.N.W.Y.V.D.G.V.E.V.H.N.A.K.T.K.P.R.E.E.Q.Y.N.S.T.Y.R.V.V.S.V.L.T.V.L.H.Q.D.W.L.N.G.K.E.Y.K.C.K.V.S.N.K.A.L.P.A.P.I.E.K.T.I.S.K.A.K.G.Q.P.R.E.P.Q.V.Y.T.L.P.P.S.R.D.E.L.T.K.N.Q.V.S.L.T.C.L.V.K.G.F.Y.P.S.D.I.A.V.E.W.E.S.N.G.Q.P.E.N.N.Y.K.T.T.P.P.V.L.D.S.D.G.S.F.F.L.Y.S.K.L.T.V.D.K.S.R.W.Q.Q.G.N.V.F.S.C.S.V.M.H.E.A.L.H.N.H.Y.T.Q.K.S.L.S.L.S.P.G.K}|</a:t>
            </a:r>
            <a:r>
              <a:rPr lang="en-US" sz="800" b="1" dirty="0">
                <a:highlight>
                  <a:srgbClr val="FFFF00"/>
                </a:highlight>
                <a:latin typeface="Consolas" panose="020B0609020204030204" pitchFamily="49" charset="0"/>
              </a:rPr>
              <a:t>PEPTIDE4</a:t>
            </a:r>
            <a:r>
              <a:rPr lang="en-US" sz="800" dirty="0">
                <a:latin typeface="Consolas" panose="020B0609020204030204" pitchFamily="49" charset="0"/>
              </a:rPr>
              <a:t>{D.I.Q.M.T.Q.S.P.S.S.L.S.A.S.V.G.D.R.V.T.I.T.C.R.A.S.Q.D.V.N.T.A.V.A.W.Y.Q.Q.K.P.G.K.A.P.K.L.L.I.Y.S.A.S.F.L.Y.S.G.V.P.S.R.F.S.G.S.R.S.G.T.D.F.T.L.T.I.S.S.L.Q.P.E.D.F.A.T.Y.Y.C.Q.Q.H.Y.T.T.P.P.T.F.G.Q.G.T.K.V.E.I.K.R.T.V.A.A.P.S.V.F.I.F.P.P.S.D.E.Q.L.K.S.G.T.A.S.V.V.C.L.L.N.N.F.Y.P.R.E.A.K.V.Q.W.K.V.D.N.A.L.Q.S.G.N.S.Q.E.S.V.T.E.Q.D.S.K.D.S.T.Y.S.L.S.S.T.L.T.L.S.K.A.D.Y.E.K.H.K.V.Y.A.C.E.V.T.H.Q.G.L.S.S.P.V.T.K.S.F.N.R.G.E.C}|</a:t>
            </a:r>
            <a:r>
              <a:rPr lang="en-US" sz="1000" b="1" dirty="0">
                <a:solidFill>
                  <a:schemeClr val="bg2">
                    <a:lumMod val="1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CHEM1</a:t>
            </a: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</a:rPr>
              <a:t>{[SMCC]}|</a:t>
            </a:r>
            <a:r>
              <a:rPr lang="en-US" sz="1000" b="1" dirty="0">
                <a:solidFill>
                  <a:schemeClr val="bg2">
                    <a:lumMod val="1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CHEM2</a:t>
            </a: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</a:rPr>
              <a:t>{[DM1]}</a:t>
            </a:r>
            <a:r>
              <a:rPr lang="en-US" sz="1000" dirty="0">
                <a:solidFill>
                  <a:schemeClr val="tx1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$</a:t>
            </a:r>
            <a:r>
              <a:rPr lang="en-US" sz="1000" dirty="0">
                <a:latin typeface="Consolas" panose="020B0609020204030204" pitchFamily="49" charset="0"/>
              </a:rPr>
              <a:t>CHEM1,CHEM2,1:R2-1:R1|PEPTIDE1,PEPTIDE1,23:R3-88:R3|PEPTIDE2,PEPTIDE2,371:R3-429:R3|PEPTIDE4,PEPTIDE4,134:R3-194:R3|PEPTIDE1,PEPTIDE1,134:R3-194:R3|PEPTIDE3,PEPTIDE3,265:R3-325:R3|PEPTIDE3,PEPTIDE4,224:R3-214:R3|PEPTIDE2,PEPTIDE3,233:R3-233:R3|PEPTIDE2,PEPTIDE2,265:R3-325:R3|PEPTIDE2,PEPTIDE2,147:R3-203:R3|PEPTIDE2,PEPTIDE3,230:R3-230:R3|PEPTIDE2,PEPTIDE1,224:R3-214:R3|PEPTIDE3,PEPTIDE3,147:R3-203:R3|PEPTIDE2,PEPTIDE2,22:R3-96:R3|PEPTIDE3,PEPTIDE3,22:R3-96:R3|PEPTIDE3,PEPTIDE3,371:R3-429:R3|PEPTIDE4,PEPTIDE4,23:R3-88:R3|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2103D5"/>
                </a:solidFill>
                <a:latin typeface="Consolas" panose="020B0609020204030204" pitchFamily="49" charset="0"/>
              </a:rPr>
              <a:t>G1,CHEM1,K:R3-1:R1</a:t>
            </a:r>
            <a:r>
              <a:rPr lang="en-US" sz="1400" b="1" dirty="0">
                <a:solidFill>
                  <a:srgbClr val="00B050"/>
                </a:solidFill>
                <a:latin typeface="Consolas" panose="020B0609020204030204" pitchFamily="49" charset="0"/>
              </a:rPr>
              <a:t>$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G1(PEPTIDE1+PEPTIDE2+PEPTIDE3+PEPTIDE4)|G2(CHEM1:3.5+G1:1)</a:t>
            </a:r>
            <a:r>
              <a:rPr lang="en-US" sz="1400" b="1" dirty="0">
                <a:solidFill>
                  <a:srgbClr val="00B050"/>
                </a:solidFill>
                <a:latin typeface="Consolas" panose="020B0609020204030204" pitchFamily="49" charset="0"/>
              </a:rPr>
              <a:t>$$</a:t>
            </a:r>
            <a:r>
              <a:rPr lang="en-US" sz="1400" dirty="0">
                <a:latin typeface="Consolas" panose="020B0609020204030204" pitchFamily="49" charset="0"/>
              </a:rPr>
              <a:t>V2.0</a:t>
            </a:r>
            <a:endParaRPr lang="en-US" sz="14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19</a:t>
            </a:fld>
            <a:endParaRPr lang="de-DE"/>
          </a:p>
        </p:txBody>
      </p:sp>
      <p:sp>
        <p:nvSpPr>
          <p:cNvPr id="5" name="Pfeil: nach oben 4"/>
          <p:cNvSpPr/>
          <p:nvPr/>
        </p:nvSpPr>
        <p:spPr bwMode="auto">
          <a:xfrm>
            <a:off x="7150013" y="5163036"/>
            <a:ext cx="288032" cy="709151"/>
          </a:xfrm>
          <a:prstGeom prst="upArrow">
            <a:avLst/>
          </a:prstGeom>
          <a:solidFill>
            <a:srgbClr val="C0000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6" name="Pfeil: nach oben 5"/>
          <p:cNvSpPr/>
          <p:nvPr/>
        </p:nvSpPr>
        <p:spPr bwMode="auto">
          <a:xfrm>
            <a:off x="1173349" y="5163036"/>
            <a:ext cx="288032" cy="709151"/>
          </a:xfrm>
          <a:prstGeom prst="upArrow">
            <a:avLst/>
          </a:prstGeom>
          <a:solidFill>
            <a:srgbClr val="C00000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85A1DE-512B-49AB-B34C-56A04D94F6E6}"/>
              </a:ext>
            </a:extLst>
          </p:cNvPr>
          <p:cNvSpPr txBox="1"/>
          <p:nvPr/>
        </p:nvSpPr>
        <p:spPr>
          <a:xfrm>
            <a:off x="1471627" y="5301208"/>
            <a:ext cx="2088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Connected to a lysine, but could be any in the group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24165B-FAF5-4E93-8530-93A84A528CB4}"/>
              </a:ext>
            </a:extLst>
          </p:cNvPr>
          <p:cNvSpPr txBox="1"/>
          <p:nvPr/>
        </p:nvSpPr>
        <p:spPr>
          <a:xfrm>
            <a:off x="5061781" y="5424319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3.5:1 ratio of SMCC to antibody</a:t>
            </a:r>
          </a:p>
        </p:txBody>
      </p:sp>
    </p:spTree>
    <p:extLst>
      <p:ext uri="{BB962C8B-B14F-4D97-AF65-F5344CB8AC3E}">
        <p14:creationId xmlns:p14="http://schemas.microsoft.com/office/powerpoint/2010/main" val="3233650975"/>
      </p:ext>
    </p:extLst>
  </p:cSld>
  <p:clrMapOvr>
    <a:masterClrMapping/>
  </p:clrMapOvr>
  <p:transition advTm="114693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HELM in practice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754081227"/>
      </p:ext>
    </p:extLst>
  </p:cSld>
  <p:clrMapOvr>
    <a:masterClrMapping/>
  </p:clrMapOvr>
  <p:transition spd="med" advTm="735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96981"/>
            <a:ext cx="7067128" cy="707886"/>
          </a:xfrm>
        </p:spPr>
        <p:txBody>
          <a:bodyPr/>
          <a:lstStyle/>
          <a:p>
            <a:r>
              <a:rPr lang="en-US" dirty="0"/>
              <a:t>HELM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742ACE-A054-417F-A69E-C05C595CB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0808"/>
            <a:ext cx="9144000" cy="414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09159"/>
      </p:ext>
    </p:extLst>
  </p:cSld>
  <p:clrMapOvr>
    <a:masterClrMapping/>
  </p:clrMapOvr>
  <p:transition advTm="16134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96981"/>
            <a:ext cx="7067128" cy="707886"/>
          </a:xfrm>
        </p:spPr>
        <p:txBody>
          <a:bodyPr/>
          <a:lstStyle/>
          <a:p>
            <a:r>
              <a:rPr lang="en-US" dirty="0"/>
              <a:t>HELM Open Source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1415" y="1772816"/>
            <a:ext cx="381283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Web-based editor – currently HELM1.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4C5156"/>
                </a:solidFill>
                <a:latin typeface="Calibri" pitchFamily="34" charset="0"/>
                <a:cs typeface="Arial" charset="0"/>
              </a:rPr>
              <a:t>We are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working on HELM2 and expect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to publish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later this year.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582A6A-EBE3-4A26-9762-D9D90F7F39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76"/>
          <a:stretch/>
        </p:blipFill>
        <p:spPr>
          <a:xfrm>
            <a:off x="4067944" y="984463"/>
            <a:ext cx="4705517" cy="32366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295CFC1-B022-4C90-B8CE-CAEFBCFCC718}"/>
              </a:ext>
            </a:extLst>
          </p:cNvPr>
          <p:cNvSpPr/>
          <p:nvPr/>
        </p:nvSpPr>
        <p:spPr>
          <a:xfrm>
            <a:off x="5148064" y="4776229"/>
            <a:ext cx="361304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HELM2 is implemented in the toolkit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4C5156"/>
                </a:solidFill>
                <a:latin typeface="Calibri" pitchFamily="34" charset="0"/>
                <a:cs typeface="Arial" charset="0"/>
              </a:rPr>
              <a:t>And can be accessed via RESTFUL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4C5156"/>
                </a:solidFill>
                <a:latin typeface="Calibri" pitchFamily="34" charset="0"/>
                <a:cs typeface="Arial" charset="0"/>
              </a:rPr>
              <a:t>w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eb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-services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0BA581-0D6A-4D6C-807A-37A26F3501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44" b="5381"/>
          <a:stretch/>
        </p:blipFill>
        <p:spPr>
          <a:xfrm>
            <a:off x="179512" y="4396649"/>
            <a:ext cx="4706535" cy="235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131322"/>
      </p:ext>
    </p:extLst>
  </p:cSld>
  <p:clrMapOvr>
    <a:masterClrMapping/>
  </p:clrMapOvr>
  <p:transition advTm="30741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</p:spPr>
        <p:txBody>
          <a:bodyPr/>
          <a:lstStyle/>
          <a:p>
            <a:r>
              <a:rPr lang="de-DE" dirty="0"/>
              <a:t>HELM Antibody Editor (HAbE)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23</a:t>
            </a:fld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671049"/>
            <a:ext cx="6651192" cy="394054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937ABF1-BCDD-4E23-8596-C558FFA67F03}"/>
              </a:ext>
            </a:extLst>
          </p:cNvPr>
          <p:cNvSpPr/>
          <p:nvPr/>
        </p:nvSpPr>
        <p:spPr>
          <a:xfrm>
            <a:off x="332366" y="1268760"/>
            <a:ext cx="80950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HAbE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 (developed by Roche), will take in an antibody sequence, run a BLAST search and identify and display domains.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The initial domain assignment can be </a:t>
            </a:r>
            <a:r>
              <a:rPr lang="en-US" dirty="0">
                <a:solidFill>
                  <a:srgbClr val="4C5156"/>
                </a:solidFill>
                <a:latin typeface="Calibri" pitchFamily="34" charset="0"/>
                <a:cs typeface="Arial" charset="0"/>
              </a:rPr>
              <a:t>edited if the scientist believes it is incorrect and the editor can be used to adjust </a:t>
            </a:r>
            <a:r>
              <a:rPr lang="en-US" dirty="0" err="1">
                <a:solidFill>
                  <a:srgbClr val="4C5156"/>
                </a:solidFill>
                <a:latin typeface="Calibri" pitchFamily="34" charset="0"/>
                <a:cs typeface="Arial" charset="0"/>
              </a:rPr>
              <a:t>Cys-cys</a:t>
            </a:r>
            <a:r>
              <a:rPr lang="en-US" dirty="0">
                <a:solidFill>
                  <a:srgbClr val="4C5156"/>
                </a:solidFill>
                <a:latin typeface="Calibri" pitchFamily="34" charset="0"/>
                <a:cs typeface="Arial" charset="0"/>
              </a:rPr>
              <a:t> bonds and any other structural element.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900438"/>
      </p:ext>
    </p:extLst>
  </p:cSld>
  <p:clrMapOvr>
    <a:masterClrMapping/>
  </p:clrMapOvr>
  <p:transition advTm="79048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HELM Ecosystem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241" y="1700808"/>
            <a:ext cx="5194920" cy="4608512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Pharma / Biotech 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800" dirty="0"/>
              <a:t>BMS, GSK, </a:t>
            </a:r>
            <a:r>
              <a:rPr lang="en-US" sz="1800" dirty="0" err="1"/>
              <a:t>Ionis</a:t>
            </a:r>
            <a:r>
              <a:rPr lang="en-US" sz="1800"/>
              <a:t>, Merck</a:t>
            </a:r>
            <a:r>
              <a:rPr lang="en-US" sz="1800" dirty="0"/>
              <a:t>, Novartis, Pfizer, Roche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Software vendors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800" dirty="0"/>
              <a:t>ACD/Labs, </a:t>
            </a:r>
            <a:r>
              <a:rPr lang="en-US" sz="1800" dirty="0" err="1"/>
              <a:t>BioMax</a:t>
            </a:r>
            <a:r>
              <a:rPr lang="en-US" sz="1800" dirty="0"/>
              <a:t>, BIOVIA, </a:t>
            </a:r>
            <a:r>
              <a:rPr lang="en-US" sz="1800" dirty="0" err="1"/>
              <a:t>ChemAxon</a:t>
            </a:r>
            <a:r>
              <a:rPr lang="en-US" sz="1800" dirty="0"/>
              <a:t>, </a:t>
            </a:r>
            <a:r>
              <a:rPr lang="en-US" sz="1800" dirty="0" err="1"/>
              <a:t>NextMove</a:t>
            </a:r>
            <a:r>
              <a:rPr lang="en-US" sz="1800" dirty="0"/>
              <a:t>, PerkinElmer, </a:t>
            </a:r>
            <a:r>
              <a:rPr lang="en-US" sz="1800" dirty="0" err="1"/>
              <a:t>Scilligence</a:t>
            </a:r>
            <a:r>
              <a:rPr lang="en-US" sz="1800" dirty="0"/>
              <a:t>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Content / Service Providers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800" dirty="0"/>
              <a:t>EBI (</a:t>
            </a:r>
            <a:r>
              <a:rPr lang="en-US" sz="1800" dirty="0" err="1"/>
              <a:t>ChEMBL</a:t>
            </a:r>
            <a:r>
              <a:rPr lang="en-US" sz="1800" dirty="0"/>
              <a:t>), NCBI (PubChem), quattro research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/>
              <a:t>Regulatory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800" dirty="0"/>
              <a:t>Acceptable format in ISO 11238 guidelines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741" y="3090828"/>
            <a:ext cx="1387872" cy="1387872"/>
          </a:xfrm>
          <a:prstGeom prst="rect">
            <a:avLst/>
          </a:prstGeom>
        </p:spPr>
      </p:pic>
      <p:sp>
        <p:nvSpPr>
          <p:cNvPr id="13" name="Freeform 12"/>
          <p:cNvSpPr>
            <a:spLocks/>
          </p:cNvSpPr>
          <p:nvPr/>
        </p:nvSpPr>
        <p:spPr bwMode="auto">
          <a:xfrm>
            <a:off x="7359545" y="2461093"/>
            <a:ext cx="1224136" cy="1259470"/>
          </a:xfrm>
          <a:custGeom>
            <a:avLst/>
            <a:gdLst>
              <a:gd name="T0" fmla="*/ 2419350 w 1524"/>
              <a:gd name="T1" fmla="*/ 1762125 h 1568"/>
              <a:gd name="T2" fmla="*/ 2349500 w 1524"/>
              <a:gd name="T3" fmla="*/ 1574800 h 1568"/>
              <a:gd name="T4" fmla="*/ 2266950 w 1524"/>
              <a:gd name="T5" fmla="*/ 1393825 h 1568"/>
              <a:gd name="T6" fmla="*/ 2171700 w 1524"/>
              <a:gd name="T7" fmla="*/ 1219200 h 1568"/>
              <a:gd name="T8" fmla="*/ 2060575 w 1524"/>
              <a:gd name="T9" fmla="*/ 1057275 h 1568"/>
              <a:gd name="T10" fmla="*/ 1939925 w 1524"/>
              <a:gd name="T11" fmla="*/ 901700 h 1568"/>
              <a:gd name="T12" fmla="*/ 1806575 w 1524"/>
              <a:gd name="T13" fmla="*/ 755650 h 1568"/>
              <a:gd name="T14" fmla="*/ 1663700 w 1524"/>
              <a:gd name="T15" fmla="*/ 622300 h 1568"/>
              <a:gd name="T16" fmla="*/ 1511300 w 1524"/>
              <a:gd name="T17" fmla="*/ 498475 h 1568"/>
              <a:gd name="T18" fmla="*/ 1349375 w 1524"/>
              <a:gd name="T19" fmla="*/ 387350 h 1568"/>
              <a:gd name="T20" fmla="*/ 1177925 w 1524"/>
              <a:gd name="T21" fmla="*/ 288925 h 1568"/>
              <a:gd name="T22" fmla="*/ 996950 w 1524"/>
              <a:gd name="T23" fmla="*/ 203200 h 1568"/>
              <a:gd name="T24" fmla="*/ 809625 w 1524"/>
              <a:gd name="T25" fmla="*/ 133350 h 1568"/>
              <a:gd name="T26" fmla="*/ 615950 w 1524"/>
              <a:gd name="T27" fmla="*/ 76200 h 1568"/>
              <a:gd name="T28" fmla="*/ 415925 w 1524"/>
              <a:gd name="T29" fmla="*/ 34925 h 1568"/>
              <a:gd name="T30" fmla="*/ 209550 w 1524"/>
              <a:gd name="T31" fmla="*/ 9525 h 1568"/>
              <a:gd name="T32" fmla="*/ 0 w 1524"/>
              <a:gd name="T33" fmla="*/ 0 h 1568"/>
              <a:gd name="T34" fmla="*/ 596900 w 1524"/>
              <a:gd name="T35" fmla="*/ 508000 h 1568"/>
              <a:gd name="T36" fmla="*/ 0 w 1524"/>
              <a:gd name="T37" fmla="*/ 1016000 h 1568"/>
              <a:gd name="T38" fmla="*/ 0 w 1524"/>
              <a:gd name="T39" fmla="*/ 1016000 h 1568"/>
              <a:gd name="T40" fmla="*/ 127000 w 1524"/>
              <a:gd name="T41" fmla="*/ 1022350 h 1568"/>
              <a:gd name="T42" fmla="*/ 250825 w 1524"/>
              <a:gd name="T43" fmla="*/ 1038225 h 1568"/>
              <a:gd name="T44" fmla="*/ 371475 w 1524"/>
              <a:gd name="T45" fmla="*/ 1060450 h 1568"/>
              <a:gd name="T46" fmla="*/ 485775 w 1524"/>
              <a:gd name="T47" fmla="*/ 1095375 h 1568"/>
              <a:gd name="T48" fmla="*/ 600075 w 1524"/>
              <a:gd name="T49" fmla="*/ 1139825 h 1568"/>
              <a:gd name="T50" fmla="*/ 708025 w 1524"/>
              <a:gd name="T51" fmla="*/ 1190625 h 1568"/>
              <a:gd name="T52" fmla="*/ 809625 w 1524"/>
              <a:gd name="T53" fmla="*/ 1250950 h 1568"/>
              <a:gd name="T54" fmla="*/ 908050 w 1524"/>
              <a:gd name="T55" fmla="*/ 1317625 h 1568"/>
              <a:gd name="T56" fmla="*/ 1000125 w 1524"/>
              <a:gd name="T57" fmla="*/ 1390650 h 1568"/>
              <a:gd name="T58" fmla="*/ 1085850 w 1524"/>
              <a:gd name="T59" fmla="*/ 1470025 h 1568"/>
              <a:gd name="T60" fmla="*/ 1165225 w 1524"/>
              <a:gd name="T61" fmla="*/ 1558925 h 1568"/>
              <a:gd name="T62" fmla="*/ 1238250 w 1524"/>
              <a:gd name="T63" fmla="*/ 1651000 h 1568"/>
              <a:gd name="T64" fmla="*/ 1304925 w 1524"/>
              <a:gd name="T65" fmla="*/ 1749425 h 1568"/>
              <a:gd name="T66" fmla="*/ 1362075 w 1524"/>
              <a:gd name="T67" fmla="*/ 1854200 h 1568"/>
              <a:gd name="T68" fmla="*/ 1409700 w 1524"/>
              <a:gd name="T69" fmla="*/ 1965325 h 1568"/>
              <a:gd name="T70" fmla="*/ 1450975 w 1524"/>
              <a:gd name="T71" fmla="*/ 2076450 h 1568"/>
              <a:gd name="T72" fmla="*/ 2120900 w 1524"/>
              <a:gd name="T73" fmla="*/ 2489200 h 1568"/>
              <a:gd name="T74" fmla="*/ 2419350 w 1524"/>
              <a:gd name="T75" fmla="*/ 1762125 h 156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524" h="1568">
                <a:moveTo>
                  <a:pt x="1524" y="1110"/>
                </a:moveTo>
                <a:lnTo>
                  <a:pt x="1524" y="1110"/>
                </a:lnTo>
                <a:lnTo>
                  <a:pt x="1504" y="1050"/>
                </a:lnTo>
                <a:lnTo>
                  <a:pt x="1480" y="992"/>
                </a:lnTo>
                <a:lnTo>
                  <a:pt x="1456" y="934"/>
                </a:lnTo>
                <a:lnTo>
                  <a:pt x="1428" y="878"/>
                </a:lnTo>
                <a:lnTo>
                  <a:pt x="1398" y="822"/>
                </a:lnTo>
                <a:lnTo>
                  <a:pt x="1368" y="768"/>
                </a:lnTo>
                <a:lnTo>
                  <a:pt x="1334" y="716"/>
                </a:lnTo>
                <a:lnTo>
                  <a:pt x="1298" y="666"/>
                </a:lnTo>
                <a:lnTo>
                  <a:pt x="1262" y="616"/>
                </a:lnTo>
                <a:lnTo>
                  <a:pt x="1222" y="568"/>
                </a:lnTo>
                <a:lnTo>
                  <a:pt x="1182" y="522"/>
                </a:lnTo>
                <a:lnTo>
                  <a:pt x="1138" y="476"/>
                </a:lnTo>
                <a:lnTo>
                  <a:pt x="1094" y="432"/>
                </a:lnTo>
                <a:lnTo>
                  <a:pt x="1048" y="392"/>
                </a:lnTo>
                <a:lnTo>
                  <a:pt x="1000" y="352"/>
                </a:lnTo>
                <a:lnTo>
                  <a:pt x="952" y="314"/>
                </a:lnTo>
                <a:lnTo>
                  <a:pt x="902" y="278"/>
                </a:lnTo>
                <a:lnTo>
                  <a:pt x="850" y="244"/>
                </a:lnTo>
                <a:lnTo>
                  <a:pt x="796" y="212"/>
                </a:lnTo>
                <a:lnTo>
                  <a:pt x="742" y="182"/>
                </a:lnTo>
                <a:lnTo>
                  <a:pt x="686" y="154"/>
                </a:lnTo>
                <a:lnTo>
                  <a:pt x="628" y="128"/>
                </a:lnTo>
                <a:lnTo>
                  <a:pt x="570" y="104"/>
                </a:lnTo>
                <a:lnTo>
                  <a:pt x="510" y="84"/>
                </a:lnTo>
                <a:lnTo>
                  <a:pt x="450" y="64"/>
                </a:lnTo>
                <a:lnTo>
                  <a:pt x="388" y="48"/>
                </a:lnTo>
                <a:lnTo>
                  <a:pt x="326" y="34"/>
                </a:lnTo>
                <a:lnTo>
                  <a:pt x="262" y="22"/>
                </a:lnTo>
                <a:lnTo>
                  <a:pt x="198" y="12"/>
                </a:lnTo>
                <a:lnTo>
                  <a:pt x="132" y="6"/>
                </a:lnTo>
                <a:lnTo>
                  <a:pt x="66" y="2"/>
                </a:lnTo>
                <a:lnTo>
                  <a:pt x="0" y="0"/>
                </a:lnTo>
                <a:lnTo>
                  <a:pt x="376" y="320"/>
                </a:lnTo>
                <a:lnTo>
                  <a:pt x="188" y="480"/>
                </a:lnTo>
                <a:lnTo>
                  <a:pt x="0" y="640"/>
                </a:lnTo>
                <a:lnTo>
                  <a:pt x="40" y="642"/>
                </a:lnTo>
                <a:lnTo>
                  <a:pt x="80" y="644"/>
                </a:lnTo>
                <a:lnTo>
                  <a:pt x="118" y="648"/>
                </a:lnTo>
                <a:lnTo>
                  <a:pt x="158" y="654"/>
                </a:lnTo>
                <a:lnTo>
                  <a:pt x="196" y="660"/>
                </a:lnTo>
                <a:lnTo>
                  <a:pt x="234" y="668"/>
                </a:lnTo>
                <a:lnTo>
                  <a:pt x="270" y="678"/>
                </a:lnTo>
                <a:lnTo>
                  <a:pt x="306" y="690"/>
                </a:lnTo>
                <a:lnTo>
                  <a:pt x="342" y="704"/>
                </a:lnTo>
                <a:lnTo>
                  <a:pt x="378" y="718"/>
                </a:lnTo>
                <a:lnTo>
                  <a:pt x="412" y="732"/>
                </a:lnTo>
                <a:lnTo>
                  <a:pt x="446" y="750"/>
                </a:lnTo>
                <a:lnTo>
                  <a:pt x="478" y="768"/>
                </a:lnTo>
                <a:lnTo>
                  <a:pt x="510" y="788"/>
                </a:lnTo>
                <a:lnTo>
                  <a:pt x="542" y="808"/>
                </a:lnTo>
                <a:lnTo>
                  <a:pt x="572" y="830"/>
                </a:lnTo>
                <a:lnTo>
                  <a:pt x="602" y="852"/>
                </a:lnTo>
                <a:lnTo>
                  <a:pt x="630" y="876"/>
                </a:lnTo>
                <a:lnTo>
                  <a:pt x="658" y="900"/>
                </a:lnTo>
                <a:lnTo>
                  <a:pt x="684" y="926"/>
                </a:lnTo>
                <a:lnTo>
                  <a:pt x="710" y="954"/>
                </a:lnTo>
                <a:lnTo>
                  <a:pt x="734" y="982"/>
                </a:lnTo>
                <a:lnTo>
                  <a:pt x="758" y="1010"/>
                </a:lnTo>
                <a:lnTo>
                  <a:pt x="780" y="1040"/>
                </a:lnTo>
                <a:lnTo>
                  <a:pt x="802" y="1072"/>
                </a:lnTo>
                <a:lnTo>
                  <a:pt x="822" y="1102"/>
                </a:lnTo>
                <a:lnTo>
                  <a:pt x="840" y="1136"/>
                </a:lnTo>
                <a:lnTo>
                  <a:pt x="858" y="1168"/>
                </a:lnTo>
                <a:lnTo>
                  <a:pt x="874" y="1202"/>
                </a:lnTo>
                <a:lnTo>
                  <a:pt x="888" y="1238"/>
                </a:lnTo>
                <a:lnTo>
                  <a:pt x="902" y="1272"/>
                </a:lnTo>
                <a:lnTo>
                  <a:pt x="914" y="1308"/>
                </a:lnTo>
                <a:lnTo>
                  <a:pt x="1126" y="1438"/>
                </a:lnTo>
                <a:lnTo>
                  <a:pt x="1336" y="1568"/>
                </a:lnTo>
                <a:lnTo>
                  <a:pt x="1430" y="1338"/>
                </a:lnTo>
                <a:lnTo>
                  <a:pt x="1524" y="1110"/>
                </a:lnTo>
                <a:close/>
              </a:path>
            </a:pathLst>
          </a:custGeom>
          <a:solidFill>
            <a:schemeClr val="accent3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6442738" y="4564123"/>
            <a:ext cx="1608084" cy="665077"/>
          </a:xfrm>
          <a:custGeom>
            <a:avLst/>
            <a:gdLst>
              <a:gd name="T0" fmla="*/ 184150 w 2002"/>
              <a:gd name="T1" fmla="*/ 822325 h 828"/>
              <a:gd name="T2" fmla="*/ 352425 w 2002"/>
              <a:gd name="T3" fmla="*/ 936625 h 828"/>
              <a:gd name="T4" fmla="*/ 527050 w 2002"/>
              <a:gd name="T5" fmla="*/ 1031875 h 828"/>
              <a:gd name="T6" fmla="*/ 704850 w 2002"/>
              <a:gd name="T7" fmla="*/ 1117600 h 828"/>
              <a:gd name="T8" fmla="*/ 889000 w 2002"/>
              <a:gd name="T9" fmla="*/ 1184275 h 828"/>
              <a:gd name="T10" fmla="*/ 1079500 w 2002"/>
              <a:gd name="T11" fmla="*/ 1241425 h 828"/>
              <a:gd name="T12" fmla="*/ 1273175 w 2002"/>
              <a:gd name="T13" fmla="*/ 1279525 h 828"/>
              <a:gd name="T14" fmla="*/ 1466850 w 2002"/>
              <a:gd name="T15" fmla="*/ 1304925 h 828"/>
              <a:gd name="T16" fmla="*/ 1663700 w 2002"/>
              <a:gd name="T17" fmla="*/ 1314450 h 828"/>
              <a:gd name="T18" fmla="*/ 1860550 w 2002"/>
              <a:gd name="T19" fmla="*/ 1308100 h 828"/>
              <a:gd name="T20" fmla="*/ 2057400 w 2002"/>
              <a:gd name="T21" fmla="*/ 1285875 h 828"/>
              <a:gd name="T22" fmla="*/ 2254250 w 2002"/>
              <a:gd name="T23" fmla="*/ 1250950 h 828"/>
              <a:gd name="T24" fmla="*/ 2444750 w 2002"/>
              <a:gd name="T25" fmla="*/ 1196975 h 828"/>
              <a:gd name="T26" fmla="*/ 2635250 w 2002"/>
              <a:gd name="T27" fmla="*/ 1130300 h 828"/>
              <a:gd name="T28" fmla="*/ 2822575 w 2002"/>
              <a:gd name="T29" fmla="*/ 1044575 h 828"/>
              <a:gd name="T30" fmla="*/ 3003550 w 2002"/>
              <a:gd name="T31" fmla="*/ 942975 h 828"/>
              <a:gd name="T32" fmla="*/ 3178175 w 2002"/>
              <a:gd name="T33" fmla="*/ 828675 h 828"/>
              <a:gd name="T34" fmla="*/ 2397125 w 2002"/>
              <a:gd name="T35" fmla="*/ 768350 h 828"/>
              <a:gd name="T36" fmla="*/ 2581275 w 2002"/>
              <a:gd name="T37" fmla="*/ 6350 h 828"/>
              <a:gd name="T38" fmla="*/ 2581275 w 2002"/>
              <a:gd name="T39" fmla="*/ 6350 h 828"/>
              <a:gd name="T40" fmla="*/ 2476500 w 2002"/>
              <a:gd name="T41" fmla="*/ 76200 h 828"/>
              <a:gd name="T42" fmla="*/ 2368550 w 2002"/>
              <a:gd name="T43" fmla="*/ 136525 h 828"/>
              <a:gd name="T44" fmla="*/ 2254250 w 2002"/>
              <a:gd name="T45" fmla="*/ 187325 h 828"/>
              <a:gd name="T46" fmla="*/ 2139950 w 2002"/>
              <a:gd name="T47" fmla="*/ 228600 h 828"/>
              <a:gd name="T48" fmla="*/ 2025650 w 2002"/>
              <a:gd name="T49" fmla="*/ 260350 h 828"/>
              <a:gd name="T50" fmla="*/ 1908175 w 2002"/>
              <a:gd name="T51" fmla="*/ 282575 h 828"/>
              <a:gd name="T52" fmla="*/ 1787525 w 2002"/>
              <a:gd name="T53" fmla="*/ 292100 h 828"/>
              <a:gd name="T54" fmla="*/ 1670050 w 2002"/>
              <a:gd name="T55" fmla="*/ 298450 h 828"/>
              <a:gd name="T56" fmla="*/ 1552575 w 2002"/>
              <a:gd name="T57" fmla="*/ 292100 h 828"/>
              <a:gd name="T58" fmla="*/ 1435100 w 2002"/>
              <a:gd name="T59" fmla="*/ 276225 h 828"/>
              <a:gd name="T60" fmla="*/ 1320800 w 2002"/>
              <a:gd name="T61" fmla="*/ 254000 h 828"/>
              <a:gd name="T62" fmla="*/ 1206500 w 2002"/>
              <a:gd name="T63" fmla="*/ 219075 h 828"/>
              <a:gd name="T64" fmla="*/ 1095375 w 2002"/>
              <a:gd name="T65" fmla="*/ 177800 h 828"/>
              <a:gd name="T66" fmla="*/ 987425 w 2002"/>
              <a:gd name="T67" fmla="*/ 127000 h 828"/>
              <a:gd name="T68" fmla="*/ 882650 w 2002"/>
              <a:gd name="T69" fmla="*/ 69850 h 828"/>
              <a:gd name="T70" fmla="*/ 784225 w 2002"/>
              <a:gd name="T71" fmla="*/ 0 h 828"/>
              <a:gd name="T72" fmla="*/ 0 w 2002"/>
              <a:gd name="T73" fmla="*/ 63500 h 828"/>
              <a:gd name="T74" fmla="*/ 184150 w 2002"/>
              <a:gd name="T75" fmla="*/ 822325 h 82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2002" h="828">
                <a:moveTo>
                  <a:pt x="116" y="518"/>
                </a:moveTo>
                <a:lnTo>
                  <a:pt x="116" y="518"/>
                </a:lnTo>
                <a:lnTo>
                  <a:pt x="168" y="556"/>
                </a:lnTo>
                <a:lnTo>
                  <a:pt x="222" y="590"/>
                </a:lnTo>
                <a:lnTo>
                  <a:pt x="276" y="622"/>
                </a:lnTo>
                <a:lnTo>
                  <a:pt x="332" y="650"/>
                </a:lnTo>
                <a:lnTo>
                  <a:pt x="388" y="678"/>
                </a:lnTo>
                <a:lnTo>
                  <a:pt x="444" y="704"/>
                </a:lnTo>
                <a:lnTo>
                  <a:pt x="502" y="726"/>
                </a:lnTo>
                <a:lnTo>
                  <a:pt x="560" y="746"/>
                </a:lnTo>
                <a:lnTo>
                  <a:pt x="620" y="766"/>
                </a:lnTo>
                <a:lnTo>
                  <a:pt x="680" y="782"/>
                </a:lnTo>
                <a:lnTo>
                  <a:pt x="740" y="794"/>
                </a:lnTo>
                <a:lnTo>
                  <a:pt x="802" y="806"/>
                </a:lnTo>
                <a:lnTo>
                  <a:pt x="862" y="814"/>
                </a:lnTo>
                <a:lnTo>
                  <a:pt x="924" y="822"/>
                </a:lnTo>
                <a:lnTo>
                  <a:pt x="986" y="826"/>
                </a:lnTo>
                <a:lnTo>
                  <a:pt x="1048" y="828"/>
                </a:lnTo>
                <a:lnTo>
                  <a:pt x="1110" y="826"/>
                </a:lnTo>
                <a:lnTo>
                  <a:pt x="1172" y="824"/>
                </a:lnTo>
                <a:lnTo>
                  <a:pt x="1234" y="818"/>
                </a:lnTo>
                <a:lnTo>
                  <a:pt x="1296" y="810"/>
                </a:lnTo>
                <a:lnTo>
                  <a:pt x="1358" y="800"/>
                </a:lnTo>
                <a:lnTo>
                  <a:pt x="1420" y="788"/>
                </a:lnTo>
                <a:lnTo>
                  <a:pt x="1480" y="772"/>
                </a:lnTo>
                <a:lnTo>
                  <a:pt x="1540" y="754"/>
                </a:lnTo>
                <a:lnTo>
                  <a:pt x="1600" y="734"/>
                </a:lnTo>
                <a:lnTo>
                  <a:pt x="1660" y="712"/>
                </a:lnTo>
                <a:lnTo>
                  <a:pt x="1720" y="686"/>
                </a:lnTo>
                <a:lnTo>
                  <a:pt x="1778" y="658"/>
                </a:lnTo>
                <a:lnTo>
                  <a:pt x="1836" y="628"/>
                </a:lnTo>
                <a:lnTo>
                  <a:pt x="1892" y="594"/>
                </a:lnTo>
                <a:lnTo>
                  <a:pt x="1948" y="560"/>
                </a:lnTo>
                <a:lnTo>
                  <a:pt x="2002" y="522"/>
                </a:lnTo>
                <a:lnTo>
                  <a:pt x="1510" y="484"/>
                </a:lnTo>
                <a:lnTo>
                  <a:pt x="1568" y="244"/>
                </a:lnTo>
                <a:lnTo>
                  <a:pt x="1626" y="4"/>
                </a:lnTo>
                <a:lnTo>
                  <a:pt x="1592" y="26"/>
                </a:lnTo>
                <a:lnTo>
                  <a:pt x="1560" y="48"/>
                </a:lnTo>
                <a:lnTo>
                  <a:pt x="1526" y="68"/>
                </a:lnTo>
                <a:lnTo>
                  <a:pt x="1492" y="86"/>
                </a:lnTo>
                <a:lnTo>
                  <a:pt x="1456" y="102"/>
                </a:lnTo>
                <a:lnTo>
                  <a:pt x="1420" y="118"/>
                </a:lnTo>
                <a:lnTo>
                  <a:pt x="1384" y="132"/>
                </a:lnTo>
                <a:lnTo>
                  <a:pt x="1348" y="144"/>
                </a:lnTo>
                <a:lnTo>
                  <a:pt x="1312" y="154"/>
                </a:lnTo>
                <a:lnTo>
                  <a:pt x="1276" y="164"/>
                </a:lnTo>
                <a:lnTo>
                  <a:pt x="1238" y="170"/>
                </a:lnTo>
                <a:lnTo>
                  <a:pt x="1202" y="178"/>
                </a:lnTo>
                <a:lnTo>
                  <a:pt x="1164" y="182"/>
                </a:lnTo>
                <a:lnTo>
                  <a:pt x="1126" y="184"/>
                </a:lnTo>
                <a:lnTo>
                  <a:pt x="1090" y="186"/>
                </a:lnTo>
                <a:lnTo>
                  <a:pt x="1052" y="188"/>
                </a:lnTo>
                <a:lnTo>
                  <a:pt x="1016" y="186"/>
                </a:lnTo>
                <a:lnTo>
                  <a:pt x="978" y="184"/>
                </a:lnTo>
                <a:lnTo>
                  <a:pt x="940" y="180"/>
                </a:lnTo>
                <a:lnTo>
                  <a:pt x="904" y="174"/>
                </a:lnTo>
                <a:lnTo>
                  <a:pt x="868" y="168"/>
                </a:lnTo>
                <a:lnTo>
                  <a:pt x="832" y="160"/>
                </a:lnTo>
                <a:lnTo>
                  <a:pt x="796" y="150"/>
                </a:lnTo>
                <a:lnTo>
                  <a:pt x="760" y="138"/>
                </a:lnTo>
                <a:lnTo>
                  <a:pt x="724" y="126"/>
                </a:lnTo>
                <a:lnTo>
                  <a:pt x="690" y="112"/>
                </a:lnTo>
                <a:lnTo>
                  <a:pt x="656" y="98"/>
                </a:lnTo>
                <a:lnTo>
                  <a:pt x="622" y="80"/>
                </a:lnTo>
                <a:lnTo>
                  <a:pt x="588" y="62"/>
                </a:lnTo>
                <a:lnTo>
                  <a:pt x="556" y="44"/>
                </a:lnTo>
                <a:lnTo>
                  <a:pt x="524" y="22"/>
                </a:lnTo>
                <a:lnTo>
                  <a:pt x="494" y="0"/>
                </a:lnTo>
                <a:lnTo>
                  <a:pt x="246" y="20"/>
                </a:lnTo>
                <a:lnTo>
                  <a:pt x="0" y="40"/>
                </a:lnTo>
                <a:lnTo>
                  <a:pt x="58" y="280"/>
                </a:lnTo>
                <a:lnTo>
                  <a:pt x="116" y="518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6019063" y="2452583"/>
            <a:ext cx="1527760" cy="1047416"/>
          </a:xfrm>
          <a:custGeom>
            <a:avLst/>
            <a:gdLst>
              <a:gd name="T0" fmla="*/ 2422525 w 1902"/>
              <a:gd name="T1" fmla="*/ 0 h 1304"/>
              <a:gd name="T2" fmla="*/ 2222500 w 1902"/>
              <a:gd name="T3" fmla="*/ 9525 h 1304"/>
              <a:gd name="T4" fmla="*/ 2025650 w 1902"/>
              <a:gd name="T5" fmla="*/ 31750 h 1304"/>
              <a:gd name="T6" fmla="*/ 1831975 w 1902"/>
              <a:gd name="T7" fmla="*/ 69850 h 1304"/>
              <a:gd name="T8" fmla="*/ 1641475 w 1902"/>
              <a:gd name="T9" fmla="*/ 120650 h 1304"/>
              <a:gd name="T10" fmla="*/ 1457325 w 1902"/>
              <a:gd name="T11" fmla="*/ 190500 h 1304"/>
              <a:gd name="T12" fmla="*/ 1276350 w 1902"/>
              <a:gd name="T13" fmla="*/ 269875 h 1304"/>
              <a:gd name="T14" fmla="*/ 1104900 w 1902"/>
              <a:gd name="T15" fmla="*/ 365125 h 1304"/>
              <a:gd name="T16" fmla="*/ 939800 w 1902"/>
              <a:gd name="T17" fmla="*/ 473075 h 1304"/>
              <a:gd name="T18" fmla="*/ 784225 w 1902"/>
              <a:gd name="T19" fmla="*/ 593725 h 1304"/>
              <a:gd name="T20" fmla="*/ 638175 w 1902"/>
              <a:gd name="T21" fmla="*/ 727075 h 1304"/>
              <a:gd name="T22" fmla="*/ 501650 w 1902"/>
              <a:gd name="T23" fmla="*/ 869950 h 1304"/>
              <a:gd name="T24" fmla="*/ 374650 w 1902"/>
              <a:gd name="T25" fmla="*/ 1028700 h 1304"/>
              <a:gd name="T26" fmla="*/ 260350 w 1902"/>
              <a:gd name="T27" fmla="*/ 1193800 h 1304"/>
              <a:gd name="T28" fmla="*/ 161925 w 1902"/>
              <a:gd name="T29" fmla="*/ 1371600 h 1304"/>
              <a:gd name="T30" fmla="*/ 73025 w 1902"/>
              <a:gd name="T31" fmla="*/ 1558925 h 1304"/>
              <a:gd name="T32" fmla="*/ 0 w 1902"/>
              <a:gd name="T33" fmla="*/ 1755775 h 1304"/>
              <a:gd name="T34" fmla="*/ 666750 w 1902"/>
              <a:gd name="T35" fmla="*/ 1346200 h 1304"/>
              <a:gd name="T36" fmla="*/ 965200 w 1902"/>
              <a:gd name="T37" fmla="*/ 2070100 h 1304"/>
              <a:gd name="T38" fmla="*/ 965200 w 1902"/>
              <a:gd name="T39" fmla="*/ 2070100 h 1304"/>
              <a:gd name="T40" fmla="*/ 1009650 w 1902"/>
              <a:gd name="T41" fmla="*/ 1952625 h 1304"/>
              <a:gd name="T42" fmla="*/ 1063625 w 1902"/>
              <a:gd name="T43" fmla="*/ 1838325 h 1304"/>
              <a:gd name="T44" fmla="*/ 1123950 w 1902"/>
              <a:gd name="T45" fmla="*/ 1733550 h 1304"/>
              <a:gd name="T46" fmla="*/ 1190625 w 1902"/>
              <a:gd name="T47" fmla="*/ 1631950 h 1304"/>
              <a:gd name="T48" fmla="*/ 1266825 w 1902"/>
              <a:gd name="T49" fmla="*/ 1539875 h 1304"/>
              <a:gd name="T50" fmla="*/ 1349375 w 1902"/>
              <a:gd name="T51" fmla="*/ 1450975 h 1304"/>
              <a:gd name="T52" fmla="*/ 1438275 w 1902"/>
              <a:gd name="T53" fmla="*/ 1371600 h 1304"/>
              <a:gd name="T54" fmla="*/ 1530350 w 1902"/>
              <a:gd name="T55" fmla="*/ 1298575 h 1304"/>
              <a:gd name="T56" fmla="*/ 1631950 w 1902"/>
              <a:gd name="T57" fmla="*/ 1235075 h 1304"/>
              <a:gd name="T58" fmla="*/ 1733550 w 1902"/>
              <a:gd name="T59" fmla="*/ 1177925 h 1304"/>
              <a:gd name="T60" fmla="*/ 1841500 w 1902"/>
              <a:gd name="T61" fmla="*/ 1130300 h 1304"/>
              <a:gd name="T62" fmla="*/ 1952625 w 1902"/>
              <a:gd name="T63" fmla="*/ 1089025 h 1304"/>
              <a:gd name="T64" fmla="*/ 2066925 w 1902"/>
              <a:gd name="T65" fmla="*/ 1057275 h 1304"/>
              <a:gd name="T66" fmla="*/ 2184400 w 1902"/>
              <a:gd name="T67" fmla="*/ 1035050 h 1304"/>
              <a:gd name="T68" fmla="*/ 2301875 w 1902"/>
              <a:gd name="T69" fmla="*/ 1022350 h 1304"/>
              <a:gd name="T70" fmla="*/ 2422525 w 1902"/>
              <a:gd name="T71" fmla="*/ 1016000 h 1304"/>
              <a:gd name="T72" fmla="*/ 3019425 w 1902"/>
              <a:gd name="T73" fmla="*/ 508000 h 1304"/>
              <a:gd name="T74" fmla="*/ 2422525 w 1902"/>
              <a:gd name="T75" fmla="*/ 0 h 1304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902" h="1304">
                <a:moveTo>
                  <a:pt x="1526" y="0"/>
                </a:moveTo>
                <a:lnTo>
                  <a:pt x="1526" y="0"/>
                </a:lnTo>
                <a:lnTo>
                  <a:pt x="1464" y="2"/>
                </a:lnTo>
                <a:lnTo>
                  <a:pt x="1400" y="6"/>
                </a:lnTo>
                <a:lnTo>
                  <a:pt x="1338" y="12"/>
                </a:lnTo>
                <a:lnTo>
                  <a:pt x="1276" y="20"/>
                </a:lnTo>
                <a:lnTo>
                  <a:pt x="1214" y="30"/>
                </a:lnTo>
                <a:lnTo>
                  <a:pt x="1154" y="44"/>
                </a:lnTo>
                <a:lnTo>
                  <a:pt x="1094" y="60"/>
                </a:lnTo>
                <a:lnTo>
                  <a:pt x="1034" y="76"/>
                </a:lnTo>
                <a:lnTo>
                  <a:pt x="974" y="96"/>
                </a:lnTo>
                <a:lnTo>
                  <a:pt x="918" y="120"/>
                </a:lnTo>
                <a:lnTo>
                  <a:pt x="860" y="144"/>
                </a:lnTo>
                <a:lnTo>
                  <a:pt x="804" y="170"/>
                </a:lnTo>
                <a:lnTo>
                  <a:pt x="750" y="200"/>
                </a:lnTo>
                <a:lnTo>
                  <a:pt x="696" y="230"/>
                </a:lnTo>
                <a:lnTo>
                  <a:pt x="644" y="264"/>
                </a:lnTo>
                <a:lnTo>
                  <a:pt x="592" y="298"/>
                </a:lnTo>
                <a:lnTo>
                  <a:pt x="542" y="336"/>
                </a:lnTo>
                <a:lnTo>
                  <a:pt x="494" y="374"/>
                </a:lnTo>
                <a:lnTo>
                  <a:pt x="448" y="416"/>
                </a:lnTo>
                <a:lnTo>
                  <a:pt x="402" y="458"/>
                </a:lnTo>
                <a:lnTo>
                  <a:pt x="358" y="502"/>
                </a:lnTo>
                <a:lnTo>
                  <a:pt x="316" y="548"/>
                </a:lnTo>
                <a:lnTo>
                  <a:pt x="276" y="598"/>
                </a:lnTo>
                <a:lnTo>
                  <a:pt x="236" y="648"/>
                </a:lnTo>
                <a:lnTo>
                  <a:pt x="200" y="698"/>
                </a:lnTo>
                <a:lnTo>
                  <a:pt x="164" y="752"/>
                </a:lnTo>
                <a:lnTo>
                  <a:pt x="132" y="808"/>
                </a:lnTo>
                <a:lnTo>
                  <a:pt x="102" y="864"/>
                </a:lnTo>
                <a:lnTo>
                  <a:pt x="72" y="922"/>
                </a:lnTo>
                <a:lnTo>
                  <a:pt x="46" y="982"/>
                </a:lnTo>
                <a:lnTo>
                  <a:pt x="22" y="1044"/>
                </a:lnTo>
                <a:lnTo>
                  <a:pt x="0" y="1106"/>
                </a:lnTo>
                <a:lnTo>
                  <a:pt x="420" y="848"/>
                </a:lnTo>
                <a:lnTo>
                  <a:pt x="514" y="1076"/>
                </a:lnTo>
                <a:lnTo>
                  <a:pt x="608" y="1304"/>
                </a:lnTo>
                <a:lnTo>
                  <a:pt x="622" y="1266"/>
                </a:lnTo>
                <a:lnTo>
                  <a:pt x="636" y="1230"/>
                </a:lnTo>
                <a:lnTo>
                  <a:pt x="652" y="1194"/>
                </a:lnTo>
                <a:lnTo>
                  <a:pt x="670" y="1158"/>
                </a:lnTo>
                <a:lnTo>
                  <a:pt x="688" y="1124"/>
                </a:lnTo>
                <a:lnTo>
                  <a:pt x="708" y="1092"/>
                </a:lnTo>
                <a:lnTo>
                  <a:pt x="728" y="1060"/>
                </a:lnTo>
                <a:lnTo>
                  <a:pt x="750" y="1028"/>
                </a:lnTo>
                <a:lnTo>
                  <a:pt x="774" y="998"/>
                </a:lnTo>
                <a:lnTo>
                  <a:pt x="798" y="970"/>
                </a:lnTo>
                <a:lnTo>
                  <a:pt x="824" y="942"/>
                </a:lnTo>
                <a:lnTo>
                  <a:pt x="850" y="914"/>
                </a:lnTo>
                <a:lnTo>
                  <a:pt x="878" y="888"/>
                </a:lnTo>
                <a:lnTo>
                  <a:pt x="906" y="864"/>
                </a:lnTo>
                <a:lnTo>
                  <a:pt x="934" y="840"/>
                </a:lnTo>
                <a:lnTo>
                  <a:pt x="964" y="818"/>
                </a:lnTo>
                <a:lnTo>
                  <a:pt x="996" y="798"/>
                </a:lnTo>
                <a:lnTo>
                  <a:pt x="1028" y="778"/>
                </a:lnTo>
                <a:lnTo>
                  <a:pt x="1060" y="760"/>
                </a:lnTo>
                <a:lnTo>
                  <a:pt x="1092" y="742"/>
                </a:lnTo>
                <a:lnTo>
                  <a:pt x="1126" y="726"/>
                </a:lnTo>
                <a:lnTo>
                  <a:pt x="1160" y="712"/>
                </a:lnTo>
                <a:lnTo>
                  <a:pt x="1194" y="698"/>
                </a:lnTo>
                <a:lnTo>
                  <a:pt x="1230" y="686"/>
                </a:lnTo>
                <a:lnTo>
                  <a:pt x="1266" y="676"/>
                </a:lnTo>
                <a:lnTo>
                  <a:pt x="1302" y="666"/>
                </a:lnTo>
                <a:lnTo>
                  <a:pt x="1338" y="658"/>
                </a:lnTo>
                <a:lnTo>
                  <a:pt x="1376" y="652"/>
                </a:lnTo>
                <a:lnTo>
                  <a:pt x="1414" y="646"/>
                </a:lnTo>
                <a:lnTo>
                  <a:pt x="1450" y="644"/>
                </a:lnTo>
                <a:lnTo>
                  <a:pt x="1488" y="642"/>
                </a:lnTo>
                <a:lnTo>
                  <a:pt x="1526" y="640"/>
                </a:lnTo>
                <a:lnTo>
                  <a:pt x="1714" y="480"/>
                </a:lnTo>
                <a:lnTo>
                  <a:pt x="1902" y="320"/>
                </a:lnTo>
                <a:lnTo>
                  <a:pt x="1714" y="160"/>
                </a:lnTo>
                <a:lnTo>
                  <a:pt x="1526" y="0"/>
                </a:lnTo>
                <a:close/>
              </a:path>
            </a:pathLst>
          </a:custGeom>
          <a:solidFill>
            <a:schemeClr val="tx2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21052" y="3248427"/>
            <a:ext cx="832155" cy="1648235"/>
          </a:xfrm>
          <a:custGeom>
            <a:avLst/>
            <a:gdLst>
              <a:gd name="T0" fmla="*/ 127000 w 1036"/>
              <a:gd name="T1" fmla="*/ 412750 h 2052"/>
              <a:gd name="T2" fmla="*/ 73025 w 1036"/>
              <a:gd name="T3" fmla="*/ 603250 h 2052"/>
              <a:gd name="T4" fmla="*/ 34925 w 1036"/>
              <a:gd name="T5" fmla="*/ 800100 h 2052"/>
              <a:gd name="T6" fmla="*/ 9525 w 1036"/>
              <a:gd name="T7" fmla="*/ 996950 h 2052"/>
              <a:gd name="T8" fmla="*/ 0 w 1036"/>
              <a:gd name="T9" fmla="*/ 1193800 h 2052"/>
              <a:gd name="T10" fmla="*/ 9525 w 1036"/>
              <a:gd name="T11" fmla="*/ 1390650 h 2052"/>
              <a:gd name="T12" fmla="*/ 31750 w 1036"/>
              <a:gd name="T13" fmla="*/ 1584325 h 2052"/>
              <a:gd name="T14" fmla="*/ 66675 w 1036"/>
              <a:gd name="T15" fmla="*/ 1778000 h 2052"/>
              <a:gd name="T16" fmla="*/ 117475 w 1036"/>
              <a:gd name="T17" fmla="*/ 1968500 h 2052"/>
              <a:gd name="T18" fmla="*/ 184150 w 1036"/>
              <a:gd name="T19" fmla="*/ 2152650 h 2052"/>
              <a:gd name="T20" fmla="*/ 266700 w 1036"/>
              <a:gd name="T21" fmla="*/ 2333625 h 2052"/>
              <a:gd name="T22" fmla="*/ 361950 w 1036"/>
              <a:gd name="T23" fmla="*/ 2508250 h 2052"/>
              <a:gd name="T24" fmla="*/ 469900 w 1036"/>
              <a:gd name="T25" fmla="*/ 2676525 h 2052"/>
              <a:gd name="T26" fmla="*/ 593725 w 1036"/>
              <a:gd name="T27" fmla="*/ 2835275 h 2052"/>
              <a:gd name="T28" fmla="*/ 733425 w 1036"/>
              <a:gd name="T29" fmla="*/ 2987675 h 2052"/>
              <a:gd name="T30" fmla="*/ 882650 w 1036"/>
              <a:gd name="T31" fmla="*/ 3127375 h 2052"/>
              <a:gd name="T32" fmla="*/ 1047750 w 1036"/>
              <a:gd name="T33" fmla="*/ 3257550 h 2052"/>
              <a:gd name="T34" fmla="*/ 863600 w 1036"/>
              <a:gd name="T35" fmla="*/ 2498725 h 2052"/>
              <a:gd name="T36" fmla="*/ 1644650 w 1036"/>
              <a:gd name="T37" fmla="*/ 2438400 h 2052"/>
              <a:gd name="T38" fmla="*/ 1644650 w 1036"/>
              <a:gd name="T39" fmla="*/ 2438400 h 2052"/>
              <a:gd name="T40" fmla="*/ 1546225 w 1036"/>
              <a:gd name="T41" fmla="*/ 2359025 h 2052"/>
              <a:gd name="T42" fmla="*/ 1457325 w 1036"/>
              <a:gd name="T43" fmla="*/ 2273300 h 2052"/>
              <a:gd name="T44" fmla="*/ 1374775 w 1036"/>
              <a:gd name="T45" fmla="*/ 2184400 h 2052"/>
              <a:gd name="T46" fmla="*/ 1298575 w 1036"/>
              <a:gd name="T47" fmla="*/ 2085975 h 2052"/>
              <a:gd name="T48" fmla="*/ 1231900 w 1036"/>
              <a:gd name="T49" fmla="*/ 1987550 h 2052"/>
              <a:gd name="T50" fmla="*/ 1174750 w 1036"/>
              <a:gd name="T51" fmla="*/ 1882775 h 2052"/>
              <a:gd name="T52" fmla="*/ 1127125 w 1036"/>
              <a:gd name="T53" fmla="*/ 1771650 h 2052"/>
              <a:gd name="T54" fmla="*/ 1089025 w 1036"/>
              <a:gd name="T55" fmla="*/ 1660525 h 2052"/>
              <a:gd name="T56" fmla="*/ 1057275 w 1036"/>
              <a:gd name="T57" fmla="*/ 1546225 h 2052"/>
              <a:gd name="T58" fmla="*/ 1035050 w 1036"/>
              <a:gd name="T59" fmla="*/ 1431925 h 2052"/>
              <a:gd name="T60" fmla="*/ 1022350 w 1036"/>
              <a:gd name="T61" fmla="*/ 1314450 h 2052"/>
              <a:gd name="T62" fmla="*/ 1016000 w 1036"/>
              <a:gd name="T63" fmla="*/ 1196975 h 2052"/>
              <a:gd name="T64" fmla="*/ 1022350 w 1036"/>
              <a:gd name="T65" fmla="*/ 1076325 h 2052"/>
              <a:gd name="T66" fmla="*/ 1038225 w 1036"/>
              <a:gd name="T67" fmla="*/ 958850 h 2052"/>
              <a:gd name="T68" fmla="*/ 1060450 w 1036"/>
              <a:gd name="T69" fmla="*/ 841375 h 2052"/>
              <a:gd name="T70" fmla="*/ 1095375 w 1036"/>
              <a:gd name="T71" fmla="*/ 727075 h 2052"/>
              <a:gd name="T72" fmla="*/ 793750 w 1036"/>
              <a:gd name="T73" fmla="*/ 0 h 2052"/>
              <a:gd name="T74" fmla="*/ 127000 w 1036"/>
              <a:gd name="T75" fmla="*/ 412750 h 205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036" h="2052">
                <a:moveTo>
                  <a:pt x="80" y="260"/>
                </a:moveTo>
                <a:lnTo>
                  <a:pt x="80" y="260"/>
                </a:lnTo>
                <a:lnTo>
                  <a:pt x="62" y="320"/>
                </a:lnTo>
                <a:lnTo>
                  <a:pt x="46" y="380"/>
                </a:lnTo>
                <a:lnTo>
                  <a:pt x="32" y="442"/>
                </a:lnTo>
                <a:lnTo>
                  <a:pt x="22" y="504"/>
                </a:lnTo>
                <a:lnTo>
                  <a:pt x="12" y="566"/>
                </a:lnTo>
                <a:lnTo>
                  <a:pt x="6" y="628"/>
                </a:lnTo>
                <a:lnTo>
                  <a:pt x="2" y="690"/>
                </a:lnTo>
                <a:lnTo>
                  <a:pt x="0" y="752"/>
                </a:lnTo>
                <a:lnTo>
                  <a:pt x="2" y="814"/>
                </a:lnTo>
                <a:lnTo>
                  <a:pt x="6" y="876"/>
                </a:lnTo>
                <a:lnTo>
                  <a:pt x="10" y="938"/>
                </a:lnTo>
                <a:lnTo>
                  <a:pt x="20" y="998"/>
                </a:lnTo>
                <a:lnTo>
                  <a:pt x="30" y="1060"/>
                </a:lnTo>
                <a:lnTo>
                  <a:pt x="42" y="1120"/>
                </a:lnTo>
                <a:lnTo>
                  <a:pt x="58" y="1180"/>
                </a:lnTo>
                <a:lnTo>
                  <a:pt x="74" y="1240"/>
                </a:lnTo>
                <a:lnTo>
                  <a:pt x="94" y="1298"/>
                </a:lnTo>
                <a:lnTo>
                  <a:pt x="116" y="1356"/>
                </a:lnTo>
                <a:lnTo>
                  <a:pt x="142" y="1414"/>
                </a:lnTo>
                <a:lnTo>
                  <a:pt x="168" y="1470"/>
                </a:lnTo>
                <a:lnTo>
                  <a:pt x="196" y="1526"/>
                </a:lnTo>
                <a:lnTo>
                  <a:pt x="228" y="1580"/>
                </a:lnTo>
                <a:lnTo>
                  <a:pt x="262" y="1634"/>
                </a:lnTo>
                <a:lnTo>
                  <a:pt x="296" y="1686"/>
                </a:lnTo>
                <a:lnTo>
                  <a:pt x="334" y="1738"/>
                </a:lnTo>
                <a:lnTo>
                  <a:pt x="374" y="1786"/>
                </a:lnTo>
                <a:lnTo>
                  <a:pt x="418" y="1836"/>
                </a:lnTo>
                <a:lnTo>
                  <a:pt x="462" y="1882"/>
                </a:lnTo>
                <a:lnTo>
                  <a:pt x="508" y="1928"/>
                </a:lnTo>
                <a:lnTo>
                  <a:pt x="556" y="1970"/>
                </a:lnTo>
                <a:lnTo>
                  <a:pt x="608" y="2012"/>
                </a:lnTo>
                <a:lnTo>
                  <a:pt x="660" y="2052"/>
                </a:lnTo>
                <a:lnTo>
                  <a:pt x="544" y="1574"/>
                </a:lnTo>
                <a:lnTo>
                  <a:pt x="790" y="1554"/>
                </a:lnTo>
                <a:lnTo>
                  <a:pt x="1036" y="1536"/>
                </a:lnTo>
                <a:lnTo>
                  <a:pt x="1006" y="1512"/>
                </a:lnTo>
                <a:lnTo>
                  <a:pt x="974" y="1486"/>
                </a:lnTo>
                <a:lnTo>
                  <a:pt x="946" y="1460"/>
                </a:lnTo>
                <a:lnTo>
                  <a:pt x="918" y="1432"/>
                </a:lnTo>
                <a:lnTo>
                  <a:pt x="890" y="1404"/>
                </a:lnTo>
                <a:lnTo>
                  <a:pt x="866" y="1376"/>
                </a:lnTo>
                <a:lnTo>
                  <a:pt x="842" y="1346"/>
                </a:lnTo>
                <a:lnTo>
                  <a:pt x="818" y="1314"/>
                </a:lnTo>
                <a:lnTo>
                  <a:pt x="796" y="1284"/>
                </a:lnTo>
                <a:lnTo>
                  <a:pt x="776" y="1252"/>
                </a:lnTo>
                <a:lnTo>
                  <a:pt x="758" y="1218"/>
                </a:lnTo>
                <a:lnTo>
                  <a:pt x="740" y="1186"/>
                </a:lnTo>
                <a:lnTo>
                  <a:pt x="724" y="1152"/>
                </a:lnTo>
                <a:lnTo>
                  <a:pt x="710" y="1116"/>
                </a:lnTo>
                <a:lnTo>
                  <a:pt x="698" y="1082"/>
                </a:lnTo>
                <a:lnTo>
                  <a:pt x="686" y="1046"/>
                </a:lnTo>
                <a:lnTo>
                  <a:pt x="674" y="1010"/>
                </a:lnTo>
                <a:lnTo>
                  <a:pt x="666" y="974"/>
                </a:lnTo>
                <a:lnTo>
                  <a:pt x="658" y="938"/>
                </a:lnTo>
                <a:lnTo>
                  <a:pt x="652" y="902"/>
                </a:lnTo>
                <a:lnTo>
                  <a:pt x="646" y="864"/>
                </a:lnTo>
                <a:lnTo>
                  <a:pt x="644" y="828"/>
                </a:lnTo>
                <a:lnTo>
                  <a:pt x="642" y="790"/>
                </a:lnTo>
                <a:lnTo>
                  <a:pt x="640" y="754"/>
                </a:lnTo>
                <a:lnTo>
                  <a:pt x="642" y="716"/>
                </a:lnTo>
                <a:lnTo>
                  <a:pt x="644" y="678"/>
                </a:lnTo>
                <a:lnTo>
                  <a:pt x="648" y="642"/>
                </a:lnTo>
                <a:lnTo>
                  <a:pt x="654" y="604"/>
                </a:lnTo>
                <a:lnTo>
                  <a:pt x="660" y="568"/>
                </a:lnTo>
                <a:lnTo>
                  <a:pt x="668" y="530"/>
                </a:lnTo>
                <a:lnTo>
                  <a:pt x="678" y="494"/>
                </a:lnTo>
                <a:lnTo>
                  <a:pt x="690" y="458"/>
                </a:lnTo>
                <a:lnTo>
                  <a:pt x="594" y="228"/>
                </a:lnTo>
                <a:lnTo>
                  <a:pt x="500" y="0"/>
                </a:lnTo>
                <a:lnTo>
                  <a:pt x="290" y="130"/>
                </a:lnTo>
                <a:lnTo>
                  <a:pt x="80" y="260"/>
                </a:lnTo>
                <a:close/>
              </a:path>
            </a:pathLst>
          </a:custGeom>
          <a:solidFill>
            <a:schemeClr val="accent2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7740352" y="3478124"/>
            <a:ext cx="928544" cy="1439394"/>
          </a:xfrm>
          <a:custGeom>
            <a:avLst/>
            <a:gdLst>
              <a:gd name="T0" fmla="*/ 781050 w 1156"/>
              <a:gd name="T1" fmla="*/ 2844800 h 1792"/>
              <a:gd name="T2" fmla="*/ 939800 w 1156"/>
              <a:gd name="T3" fmla="*/ 2720975 h 1792"/>
              <a:gd name="T4" fmla="*/ 1085850 w 1156"/>
              <a:gd name="T5" fmla="*/ 2587625 h 1792"/>
              <a:gd name="T6" fmla="*/ 1222375 w 1156"/>
              <a:gd name="T7" fmla="*/ 2441575 h 1792"/>
              <a:gd name="T8" fmla="*/ 1343025 w 1156"/>
              <a:gd name="T9" fmla="*/ 2286000 h 1792"/>
              <a:gd name="T10" fmla="*/ 1454150 w 1156"/>
              <a:gd name="T11" fmla="*/ 2124075 h 1792"/>
              <a:gd name="T12" fmla="*/ 1549400 w 1156"/>
              <a:gd name="T13" fmla="*/ 1952625 h 1792"/>
              <a:gd name="T14" fmla="*/ 1635125 w 1156"/>
              <a:gd name="T15" fmla="*/ 1774825 h 1792"/>
              <a:gd name="T16" fmla="*/ 1704975 w 1156"/>
              <a:gd name="T17" fmla="*/ 1590675 h 1792"/>
              <a:gd name="T18" fmla="*/ 1758950 w 1156"/>
              <a:gd name="T19" fmla="*/ 1403350 h 1792"/>
              <a:gd name="T20" fmla="*/ 1800225 w 1156"/>
              <a:gd name="T21" fmla="*/ 1209675 h 1792"/>
              <a:gd name="T22" fmla="*/ 1825625 w 1156"/>
              <a:gd name="T23" fmla="*/ 1009650 h 1792"/>
              <a:gd name="T24" fmla="*/ 1835150 w 1156"/>
              <a:gd name="T25" fmla="*/ 809625 h 1792"/>
              <a:gd name="T26" fmla="*/ 1828800 w 1156"/>
              <a:gd name="T27" fmla="*/ 609600 h 1792"/>
              <a:gd name="T28" fmla="*/ 1806575 w 1156"/>
              <a:gd name="T29" fmla="*/ 406400 h 1792"/>
              <a:gd name="T30" fmla="*/ 1768475 w 1156"/>
              <a:gd name="T31" fmla="*/ 203200 h 1792"/>
              <a:gd name="T32" fmla="*/ 1711325 w 1156"/>
              <a:gd name="T33" fmla="*/ 0 h 1792"/>
              <a:gd name="T34" fmla="*/ 1412875 w 1156"/>
              <a:gd name="T35" fmla="*/ 723900 h 1792"/>
              <a:gd name="T36" fmla="*/ 746125 w 1156"/>
              <a:gd name="T37" fmla="*/ 314325 h 1792"/>
              <a:gd name="T38" fmla="*/ 742950 w 1156"/>
              <a:gd name="T39" fmla="*/ 314325 h 1792"/>
              <a:gd name="T40" fmla="*/ 777875 w 1156"/>
              <a:gd name="T41" fmla="*/ 434975 h 1792"/>
              <a:gd name="T42" fmla="*/ 803275 w 1156"/>
              <a:gd name="T43" fmla="*/ 558800 h 1792"/>
              <a:gd name="T44" fmla="*/ 815975 w 1156"/>
              <a:gd name="T45" fmla="*/ 679450 h 1792"/>
              <a:gd name="T46" fmla="*/ 819150 w 1156"/>
              <a:gd name="T47" fmla="*/ 800100 h 1792"/>
              <a:gd name="T48" fmla="*/ 812800 w 1156"/>
              <a:gd name="T49" fmla="*/ 920750 h 1792"/>
              <a:gd name="T50" fmla="*/ 796925 w 1156"/>
              <a:gd name="T51" fmla="*/ 1041400 h 1792"/>
              <a:gd name="T52" fmla="*/ 774700 w 1156"/>
              <a:gd name="T53" fmla="*/ 1155700 h 1792"/>
              <a:gd name="T54" fmla="*/ 739775 w 1156"/>
              <a:gd name="T55" fmla="*/ 1270000 h 1792"/>
              <a:gd name="T56" fmla="*/ 698500 w 1156"/>
              <a:gd name="T57" fmla="*/ 1381125 h 1792"/>
              <a:gd name="T58" fmla="*/ 647700 w 1156"/>
              <a:gd name="T59" fmla="*/ 1489075 h 1792"/>
              <a:gd name="T60" fmla="*/ 590550 w 1156"/>
              <a:gd name="T61" fmla="*/ 1590675 h 1792"/>
              <a:gd name="T62" fmla="*/ 523875 w 1156"/>
              <a:gd name="T63" fmla="*/ 1689100 h 1792"/>
              <a:gd name="T64" fmla="*/ 447675 w 1156"/>
              <a:gd name="T65" fmla="*/ 1781175 h 1792"/>
              <a:gd name="T66" fmla="*/ 368300 w 1156"/>
              <a:gd name="T67" fmla="*/ 1866900 h 1792"/>
              <a:gd name="T68" fmla="*/ 279400 w 1156"/>
              <a:gd name="T69" fmla="*/ 1949450 h 1792"/>
              <a:gd name="T70" fmla="*/ 184150 w 1156"/>
              <a:gd name="T71" fmla="*/ 2022475 h 1792"/>
              <a:gd name="T72" fmla="*/ 0 w 1156"/>
              <a:gd name="T73" fmla="*/ 2787650 h 1792"/>
              <a:gd name="T74" fmla="*/ 781050 w 1156"/>
              <a:gd name="T75" fmla="*/ 2844800 h 179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156" h="1792">
                <a:moveTo>
                  <a:pt x="492" y="1792"/>
                </a:moveTo>
                <a:lnTo>
                  <a:pt x="492" y="1792"/>
                </a:lnTo>
                <a:lnTo>
                  <a:pt x="544" y="1754"/>
                </a:lnTo>
                <a:lnTo>
                  <a:pt x="592" y="1714"/>
                </a:lnTo>
                <a:lnTo>
                  <a:pt x="640" y="1672"/>
                </a:lnTo>
                <a:lnTo>
                  <a:pt x="684" y="1630"/>
                </a:lnTo>
                <a:lnTo>
                  <a:pt x="728" y="1584"/>
                </a:lnTo>
                <a:lnTo>
                  <a:pt x="770" y="1538"/>
                </a:lnTo>
                <a:lnTo>
                  <a:pt x="808" y="1490"/>
                </a:lnTo>
                <a:lnTo>
                  <a:pt x="846" y="1440"/>
                </a:lnTo>
                <a:lnTo>
                  <a:pt x="882" y="1390"/>
                </a:lnTo>
                <a:lnTo>
                  <a:pt x="916" y="1338"/>
                </a:lnTo>
                <a:lnTo>
                  <a:pt x="948" y="1284"/>
                </a:lnTo>
                <a:lnTo>
                  <a:pt x="976" y="1230"/>
                </a:lnTo>
                <a:lnTo>
                  <a:pt x="1004" y="1174"/>
                </a:lnTo>
                <a:lnTo>
                  <a:pt x="1030" y="1118"/>
                </a:lnTo>
                <a:lnTo>
                  <a:pt x="1052" y="1060"/>
                </a:lnTo>
                <a:lnTo>
                  <a:pt x="1074" y="1002"/>
                </a:lnTo>
                <a:lnTo>
                  <a:pt x="1092" y="944"/>
                </a:lnTo>
                <a:lnTo>
                  <a:pt x="1108" y="884"/>
                </a:lnTo>
                <a:lnTo>
                  <a:pt x="1122" y="822"/>
                </a:lnTo>
                <a:lnTo>
                  <a:pt x="1134" y="762"/>
                </a:lnTo>
                <a:lnTo>
                  <a:pt x="1144" y="700"/>
                </a:lnTo>
                <a:lnTo>
                  <a:pt x="1150" y="636"/>
                </a:lnTo>
                <a:lnTo>
                  <a:pt x="1154" y="574"/>
                </a:lnTo>
                <a:lnTo>
                  <a:pt x="1156" y="510"/>
                </a:lnTo>
                <a:lnTo>
                  <a:pt x="1156" y="448"/>
                </a:lnTo>
                <a:lnTo>
                  <a:pt x="1152" y="384"/>
                </a:lnTo>
                <a:lnTo>
                  <a:pt x="1146" y="320"/>
                </a:lnTo>
                <a:lnTo>
                  <a:pt x="1138" y="256"/>
                </a:lnTo>
                <a:lnTo>
                  <a:pt x="1126" y="192"/>
                </a:lnTo>
                <a:lnTo>
                  <a:pt x="1114" y="128"/>
                </a:lnTo>
                <a:lnTo>
                  <a:pt x="1096" y="64"/>
                </a:lnTo>
                <a:lnTo>
                  <a:pt x="1078" y="0"/>
                </a:lnTo>
                <a:lnTo>
                  <a:pt x="890" y="456"/>
                </a:lnTo>
                <a:lnTo>
                  <a:pt x="680" y="328"/>
                </a:lnTo>
                <a:lnTo>
                  <a:pt x="470" y="198"/>
                </a:lnTo>
                <a:lnTo>
                  <a:pt x="468" y="198"/>
                </a:lnTo>
                <a:lnTo>
                  <a:pt x="480" y="236"/>
                </a:lnTo>
                <a:lnTo>
                  <a:pt x="490" y="274"/>
                </a:lnTo>
                <a:lnTo>
                  <a:pt x="498" y="314"/>
                </a:lnTo>
                <a:lnTo>
                  <a:pt x="506" y="352"/>
                </a:lnTo>
                <a:lnTo>
                  <a:pt x="510" y="390"/>
                </a:lnTo>
                <a:lnTo>
                  <a:pt x="514" y="428"/>
                </a:lnTo>
                <a:lnTo>
                  <a:pt x="516" y="466"/>
                </a:lnTo>
                <a:lnTo>
                  <a:pt x="516" y="504"/>
                </a:lnTo>
                <a:lnTo>
                  <a:pt x="514" y="542"/>
                </a:lnTo>
                <a:lnTo>
                  <a:pt x="512" y="580"/>
                </a:lnTo>
                <a:lnTo>
                  <a:pt x="508" y="618"/>
                </a:lnTo>
                <a:lnTo>
                  <a:pt x="502" y="656"/>
                </a:lnTo>
                <a:lnTo>
                  <a:pt x="496" y="692"/>
                </a:lnTo>
                <a:lnTo>
                  <a:pt x="488" y="728"/>
                </a:lnTo>
                <a:lnTo>
                  <a:pt x="478" y="764"/>
                </a:lnTo>
                <a:lnTo>
                  <a:pt x="466" y="800"/>
                </a:lnTo>
                <a:lnTo>
                  <a:pt x="454" y="836"/>
                </a:lnTo>
                <a:lnTo>
                  <a:pt x="440" y="870"/>
                </a:lnTo>
                <a:lnTo>
                  <a:pt x="424" y="904"/>
                </a:lnTo>
                <a:lnTo>
                  <a:pt x="408" y="938"/>
                </a:lnTo>
                <a:lnTo>
                  <a:pt x="390" y="970"/>
                </a:lnTo>
                <a:lnTo>
                  <a:pt x="372" y="1002"/>
                </a:lnTo>
                <a:lnTo>
                  <a:pt x="350" y="1032"/>
                </a:lnTo>
                <a:lnTo>
                  <a:pt x="330" y="1064"/>
                </a:lnTo>
                <a:lnTo>
                  <a:pt x="306" y="1094"/>
                </a:lnTo>
                <a:lnTo>
                  <a:pt x="282" y="1122"/>
                </a:lnTo>
                <a:lnTo>
                  <a:pt x="258" y="1150"/>
                </a:lnTo>
                <a:lnTo>
                  <a:pt x="232" y="1176"/>
                </a:lnTo>
                <a:lnTo>
                  <a:pt x="204" y="1202"/>
                </a:lnTo>
                <a:lnTo>
                  <a:pt x="176" y="1228"/>
                </a:lnTo>
                <a:lnTo>
                  <a:pt x="146" y="1252"/>
                </a:lnTo>
                <a:lnTo>
                  <a:pt x="116" y="1274"/>
                </a:lnTo>
                <a:lnTo>
                  <a:pt x="58" y="1516"/>
                </a:lnTo>
                <a:lnTo>
                  <a:pt x="0" y="1756"/>
                </a:lnTo>
                <a:lnTo>
                  <a:pt x="246" y="1774"/>
                </a:lnTo>
                <a:lnTo>
                  <a:pt x="492" y="1792"/>
                </a:lnTo>
                <a:close/>
              </a:path>
            </a:pathLst>
          </a:custGeom>
          <a:solidFill>
            <a:schemeClr val="accent4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0518"/>
      </p:ext>
    </p:extLst>
  </p:cSld>
  <p:clrMapOvr>
    <a:masterClrMapping/>
  </p:clrMapOvr>
  <p:transition advTm="67365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24602" y="245738"/>
            <a:ext cx="7067128" cy="707886"/>
          </a:xfrm>
        </p:spPr>
        <p:txBody>
          <a:bodyPr/>
          <a:lstStyle/>
          <a:p>
            <a:pPr eaLnBrk="1" hangingPunct="1"/>
            <a:r>
              <a:rPr lang="en-US" dirty="0"/>
              <a:t>On-line information</a:t>
            </a:r>
          </a:p>
        </p:txBody>
      </p:sp>
      <p:sp>
        <p:nvSpPr>
          <p:cNvPr id="12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25</a:t>
            </a:fld>
            <a:endParaRPr lang="en-US" sz="1200" dirty="0">
              <a:latin typeface="Arial"/>
              <a:cs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325" y="1164716"/>
            <a:ext cx="3742054" cy="2832893"/>
          </a:xfrm>
          <a:prstGeom prst="rect">
            <a:avLst/>
          </a:prstGeom>
          <a:ln>
            <a:solidFill>
              <a:srgbClr val="666E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1BFD945-4B6C-40B5-B83B-CADF4A9C1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63" y="4147962"/>
            <a:ext cx="4832185" cy="267672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820411B-7930-4D72-8699-E23911D9AAA6}"/>
              </a:ext>
            </a:extLst>
          </p:cNvPr>
          <p:cNvSpPr/>
          <p:nvPr/>
        </p:nvSpPr>
        <p:spPr>
          <a:xfrm>
            <a:off x="424602" y="2778062"/>
            <a:ext cx="375143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4C5156"/>
                </a:solidFill>
                <a:latin typeface="+mn-lt"/>
                <a:hlinkClick r:id="rId5"/>
              </a:rPr>
              <a:t>https://github.com/PistoiaHELM</a:t>
            </a:r>
            <a:endParaRPr lang="en-US" dirty="0">
              <a:solidFill>
                <a:srgbClr val="4C5156"/>
              </a:solidFill>
              <a:latin typeface="+mn-lt"/>
            </a:endParaRPr>
          </a:p>
          <a:p>
            <a:pPr algn="ctr"/>
            <a:r>
              <a:rPr lang="en-US" sz="2400" b="1" dirty="0">
                <a:solidFill>
                  <a:srgbClr val="4C5156"/>
                </a:solidFill>
              </a:rPr>
              <a:t>Permissive MIT license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6AD1B0A7-D913-4584-834F-F3746FFBAAED}"/>
              </a:ext>
            </a:extLst>
          </p:cNvPr>
          <p:cNvSpPr txBox="1">
            <a:spLocks/>
          </p:cNvSpPr>
          <p:nvPr/>
        </p:nvSpPr>
        <p:spPr>
          <a:xfrm>
            <a:off x="101089" y="6096564"/>
            <a:ext cx="3528392" cy="5800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lang="en-US" sz="2800" b="1" dirty="0">
              <a:solidFill>
                <a:srgbClr val="4C5156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61C1ADF-BF9A-4E5B-9DB3-B1A7C4D0AAA6}"/>
              </a:ext>
            </a:extLst>
          </p:cNvPr>
          <p:cNvGrpSpPr/>
          <p:nvPr/>
        </p:nvGrpSpPr>
        <p:grpSpPr>
          <a:xfrm>
            <a:off x="1581924" y="1509937"/>
            <a:ext cx="1440160" cy="1159982"/>
            <a:chOff x="6398386" y="1484784"/>
            <a:chExt cx="1800898" cy="147859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5164819-9A45-4454-8FD0-1DBD857CE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04248" y="1484784"/>
              <a:ext cx="980728" cy="98072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341FFC1-1562-4C49-9572-8C4D02E3C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8386" y="2492896"/>
              <a:ext cx="1800898" cy="470485"/>
            </a:xfrm>
            <a:prstGeom prst="rect">
              <a:avLst/>
            </a:prstGeom>
          </p:spPr>
        </p:pic>
      </p:grp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4C326665-141D-4B59-AB46-F7BD2FD0E5B7}"/>
              </a:ext>
            </a:extLst>
          </p:cNvPr>
          <p:cNvSpPr txBox="1">
            <a:spLocks/>
          </p:cNvSpPr>
          <p:nvPr/>
        </p:nvSpPr>
        <p:spPr>
          <a:xfrm>
            <a:off x="5513895" y="4936412"/>
            <a:ext cx="2044604" cy="1660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Wiki contains</a:t>
            </a:r>
          </a:p>
          <a:p>
            <a:r>
              <a:rPr lang="en-US" sz="1600" dirty="0"/>
              <a:t>Specifications</a:t>
            </a:r>
          </a:p>
          <a:p>
            <a:r>
              <a:rPr lang="en-US" sz="1600" dirty="0"/>
              <a:t>User guides</a:t>
            </a:r>
          </a:p>
          <a:p>
            <a:r>
              <a:rPr lang="en-US" sz="1600" dirty="0"/>
              <a:t>Presentations</a:t>
            </a:r>
          </a:p>
          <a:p>
            <a:r>
              <a:rPr lang="en-US" sz="1600" dirty="0"/>
              <a:t>Links to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5E7F68-92B1-4BE8-B970-6C6414AC70EC}"/>
              </a:ext>
            </a:extLst>
          </p:cNvPr>
          <p:cNvSpPr/>
          <p:nvPr/>
        </p:nvSpPr>
        <p:spPr>
          <a:xfrm>
            <a:off x="4753866" y="801618"/>
            <a:ext cx="20960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www.OpenHelm.org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C229EC-0911-45FE-ACFB-CA5939C1B8D9}"/>
              </a:ext>
            </a:extLst>
          </p:cNvPr>
          <p:cNvSpPr/>
          <p:nvPr/>
        </p:nvSpPr>
        <p:spPr>
          <a:xfrm>
            <a:off x="7735644" y="1726830"/>
            <a:ext cx="419664" cy="445458"/>
          </a:xfrm>
          <a:prstGeom prst="ellipse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906086-EB12-4399-9F19-BB99F1546886}"/>
              </a:ext>
            </a:extLst>
          </p:cNvPr>
          <p:cNvCxnSpPr>
            <a:cxnSpLocks/>
            <a:endCxn id="5" idx="3"/>
          </p:cNvCxnSpPr>
          <p:nvPr/>
        </p:nvCxnSpPr>
        <p:spPr>
          <a:xfrm flipV="1">
            <a:off x="4668233" y="2107052"/>
            <a:ext cx="3128869" cy="2891496"/>
          </a:xfrm>
          <a:prstGeom prst="line">
            <a:avLst/>
          </a:prstGeom>
          <a:ln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136484"/>
      </p:ext>
    </p:extLst>
  </p:cSld>
  <p:clrMapOvr>
    <a:masterClrMapping/>
  </p:clrMapOvr>
  <p:transition advTm="4755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34248-B524-447E-AA36-BBAB0520AF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What would Dalton do next?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8777B4-04D7-4FA0-B2A8-6CDE9ED281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B2C50A-785E-4377-A86D-83324F04C1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830D6DC-2021-4B01-AB29-2102469A0E7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415077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8"/>
    </mc:Choice>
    <mc:Fallback xmlns="">
      <p:transition spd="slow" advTm="848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352" y="188640"/>
            <a:ext cx="8435280" cy="707886"/>
          </a:xfrm>
        </p:spPr>
        <p:txBody>
          <a:bodyPr/>
          <a:lstStyle/>
          <a:p>
            <a:r>
              <a:rPr lang="en-GB" dirty="0"/>
              <a:t>Monomer naming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331" y="1700808"/>
            <a:ext cx="7848872" cy="44930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Monomers are identified by convention. </a:t>
            </a:r>
          </a:p>
          <a:p>
            <a:r>
              <a:rPr lang="en-GB" sz="1600" dirty="0"/>
              <a:t>Natural monomers are limited in number and observed in plants and animals.</a:t>
            </a:r>
          </a:p>
          <a:p>
            <a:r>
              <a:rPr lang="en-GB" sz="1600" dirty="0"/>
              <a:t>Unnatural monomers, are whatever is convenient for synthetic biology. 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2000" dirty="0"/>
              <a:t>HELM allows the user to define whatever monomer they like and enables organisations to exchange them, however consistency makes everyone’s life easier. 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2000" dirty="0"/>
              <a:t>Existing nucleotide conventions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IUPAC rules on biochemical nomenclature, Abbreviations and Symbols for Nucleic Acids, Polynucleotides and their Constituents </a:t>
            </a:r>
            <a:endParaRPr lang="en-GB" sz="1200" dirty="0"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GB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465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536"/>
    </mc:Choice>
    <mc:Fallback xmlns="">
      <p:transition spd="slow" advTm="8153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352" y="188640"/>
            <a:ext cx="8435280" cy="707886"/>
          </a:xfrm>
        </p:spPr>
        <p:txBody>
          <a:bodyPr/>
          <a:lstStyle/>
          <a:p>
            <a:r>
              <a:rPr lang="en-GB" dirty="0"/>
              <a:t>Monomer naming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352" y="896526"/>
            <a:ext cx="8538120" cy="2945456"/>
          </a:xfrm>
        </p:spPr>
        <p:txBody>
          <a:bodyPr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20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 Peptide monomers</a:t>
            </a:r>
            <a:endParaRPr lang="en-GB" sz="2000" dirty="0"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GB" sz="1600" dirty="0"/>
              <a:t>IUPAC peptide and amino acid nomenclature </a:t>
            </a:r>
          </a:p>
          <a:p>
            <a:pPr lvl="1"/>
            <a:r>
              <a:rPr lang="en-GB" sz="1400" dirty="0"/>
              <a:t>Good for D, L amino acids, but does not give much guidance for anything more complex</a:t>
            </a:r>
          </a:p>
          <a:p>
            <a:pPr>
              <a:buFont typeface="+mj-lt"/>
              <a:buAutoNum type="arabicPeriod"/>
            </a:pPr>
            <a:r>
              <a:rPr lang="en-GB" sz="1600" dirty="0"/>
              <a:t>INSDC </a:t>
            </a:r>
          </a:p>
          <a:p>
            <a:pPr lvl="1"/>
            <a:r>
              <a:rPr lang="en-GB" sz="1400" dirty="0"/>
              <a:t>has a nice table of amino acids and modified ones that use </a:t>
            </a:r>
            <a:r>
              <a:rPr lang="en-GB" sz="1400" dirty="0" err="1"/>
              <a:t>MeGly</a:t>
            </a:r>
            <a:r>
              <a:rPr lang="en-GB" sz="1400" dirty="0"/>
              <a:t> for N-</a:t>
            </a:r>
            <a:r>
              <a:rPr lang="en-GB" sz="1400" dirty="0" err="1"/>
              <a:t>methylglycine</a:t>
            </a:r>
            <a:r>
              <a:rPr lang="en-GB" sz="1400" dirty="0"/>
              <a:t> (consortium includes EMBL and GenBank) 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/>
              <a:t>Consistent naming conventions are in short supply. 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In the absence of anything else – people will make stuff up.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DE6BEC-00E0-4EAD-8B16-A14C901D9F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56"/>
          <a:stretch/>
        </p:blipFill>
        <p:spPr>
          <a:xfrm>
            <a:off x="395535" y="3645024"/>
            <a:ext cx="5352287" cy="29353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7E5B487-DFAC-4DEC-94EC-493DBA056601}"/>
              </a:ext>
            </a:extLst>
          </p:cNvPr>
          <p:cNvSpPr/>
          <p:nvPr/>
        </p:nvSpPr>
        <p:spPr>
          <a:xfrm>
            <a:off x="5870386" y="4624942"/>
            <a:ext cx="2559214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Guidance from serious academic bodies would be helpful. </a:t>
            </a:r>
          </a:p>
        </p:txBody>
      </p:sp>
    </p:spTree>
    <p:extLst>
      <p:ext uri="{BB962C8B-B14F-4D97-AF65-F5344CB8AC3E}">
        <p14:creationId xmlns:p14="http://schemas.microsoft.com/office/powerpoint/2010/main" val="217024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59"/>
    </mc:Choice>
    <mc:Fallback xmlns="">
      <p:transition spd="slow" advTm="9659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352" y="188640"/>
            <a:ext cx="6305872" cy="707886"/>
          </a:xfrm>
          <a:solidFill>
            <a:schemeClr val="bg1"/>
          </a:solidFill>
        </p:spPr>
        <p:txBody>
          <a:bodyPr/>
          <a:lstStyle/>
          <a:p>
            <a:r>
              <a:rPr lang="en-GB" dirty="0"/>
              <a:t>Ambiguity – a challenge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59" y="1772816"/>
            <a:ext cx="7842705" cy="4320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HELM has made a start, but we are only now building tools to use in ‘real-life’ and may find further areas to work on. 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HELM2 can’t be converted into small molecule formats such as </a:t>
            </a:r>
            <a:r>
              <a:rPr lang="en-GB" sz="1800" dirty="0" err="1"/>
              <a:t>molfiles</a:t>
            </a:r>
            <a:r>
              <a:rPr lang="en-GB" sz="1800" dirty="0"/>
              <a:t>, SMILES and InChI as they can’t handle ambiguity.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InChI are interested in looking at ambiguity and the InChI positional isomers group could be a key enabler</a:t>
            </a:r>
          </a:p>
          <a:p>
            <a:r>
              <a:rPr lang="en-GB" sz="1800" dirty="0"/>
              <a:t>Shameless plug – this group is looking for new members to help with this work</a:t>
            </a:r>
          </a:p>
          <a:p>
            <a:endParaRPr lang="en-GB" sz="1800" dirty="0"/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071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67"/>
    </mc:Choice>
    <mc:Fallback xmlns="">
      <p:transition spd="slow" advTm="62567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6156176" y="1196752"/>
            <a:ext cx="2376264" cy="2520280"/>
          </a:xfrm>
          <a:ln>
            <a:solidFill>
              <a:srgbClr val="3366FF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50000"/>
                  </a:schemeClr>
                </a:solidFill>
              </a:rPr>
              <a:t>Pfizer Team</a:t>
            </a:r>
            <a:endParaRPr lang="en-US" sz="1400" b="1" u="sng" dirty="0">
              <a:solidFill>
                <a:schemeClr val="tx1">
                  <a:lumMod val="50000"/>
                </a:schemeClr>
              </a:solidFill>
            </a:endParaRP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Peter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Henstock</a:t>
            </a: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David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Klatte</a:t>
            </a: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Christine Lawrence</a:t>
            </a: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Frank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Loganzo</a:t>
            </a: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Hongli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 Li</a:t>
            </a: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Sergio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Rotstein</a:t>
            </a: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Simone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Sciabola</a:t>
            </a: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Rob Stanton</a:t>
            </a: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Nathan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</a:rPr>
              <a:t>Tumey</a:t>
            </a: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Simon Xi</a:t>
            </a: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Tianhong Zhang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536" y="1196752"/>
            <a:ext cx="5184576" cy="5047536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Leadership</a:t>
            </a:r>
            <a:endParaRPr lang="en-US" sz="1400" dirty="0">
              <a:solidFill>
                <a:schemeClr val="tx1">
                  <a:lumMod val="50000"/>
                </a:schemeClr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Sergio Rotstein (Pfizer) –  Project Lead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Claire Bellamy (Pistoia Alliance) – Project Manager</a:t>
            </a:r>
          </a:p>
          <a:p>
            <a:r>
              <a:rPr lang="en-US" sz="1400" b="1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Active Team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Jan Holst Jensen (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Chembiofusion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Stefan Klostermann (Roche)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Roland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Knispel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 (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ChemAxon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Jeff Milton (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Ionis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Sven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Neumeyer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 (Novartis)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Matthias Nolte (BMS)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Yohann Potier (Novartis)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Joann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Precott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-Roy (Novartis)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Eric Swayze (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Ionis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Markus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Weisser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 (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quattro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Tianhong Zhang (Pfizer)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Steering Committee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Margret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Assfalg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 (Roche)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David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Nirschl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 (BMS)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Ranjeeva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Ramasinghe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 (GSK) 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Sergio Rotstein (Pfizer)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Eric Swayze (</a:t>
            </a: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Ionis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John Wise (Pistoia Alliance)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Quan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Arial"/>
                <a:cs typeface="Arial"/>
              </a:rPr>
              <a:t> Yang (Novartis)</a:t>
            </a:r>
            <a:endParaRPr lang="en-US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30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2091863"/>
      </p:ext>
    </p:extLst>
  </p:cSld>
  <p:clrMapOvr>
    <a:masterClrMapping/>
  </p:clrMapOvr>
  <p:transition advTm="45371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48786" y="1412776"/>
            <a:ext cx="3244406" cy="29945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31188" y="5672526"/>
            <a:ext cx="30443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solidFill>
                  <a:srgbClr val="4C5156"/>
                </a:solidFill>
              </a:rPr>
              <a:t>www.OpenHelm.org</a:t>
            </a:r>
            <a:br>
              <a:rPr lang="en-US" sz="2000" dirty="0">
                <a:solidFill>
                  <a:srgbClr val="4C5156"/>
                </a:solidFill>
              </a:rPr>
            </a:br>
            <a:r>
              <a:rPr lang="en-US" sz="2000" dirty="0" err="1">
                <a:solidFill>
                  <a:srgbClr val="4C5156"/>
                </a:solidFill>
              </a:rPr>
              <a:t>info@openhelm.org</a:t>
            </a:r>
            <a:endParaRPr lang="en-US" sz="2000" dirty="0">
              <a:solidFill>
                <a:srgbClr val="4C5156"/>
              </a:solidFill>
            </a:endParaRPr>
          </a:p>
        </p:txBody>
      </p:sp>
      <p:pic>
        <p:nvPicPr>
          <p:cNvPr id="7" name="Picture 6" descr="HELM_logo_full_rgb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5664921"/>
            <a:ext cx="2448272" cy="803239"/>
          </a:xfrm>
          <a:prstGeom prst="rect">
            <a:avLst/>
          </a:prstGeom>
        </p:spPr>
      </p:pic>
      <p:sp>
        <p:nvSpPr>
          <p:cNvPr id="8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31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1340582"/>
      </p:ext>
    </p:extLst>
  </p:cSld>
  <p:clrMapOvr>
    <a:masterClrMapping/>
  </p:clrMapOvr>
  <p:transition advTm="8352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Claire.Bellamy@pistoiaalliance.org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8711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"/>
    </mc:Choice>
    <mc:Fallback xmlns="">
      <p:transition spd="slow" advTm="455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Backup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67413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9"/>
    </mc:Choice>
    <mc:Fallback xmlns="">
      <p:transition spd="slow" advTm="599"/>
    </mc:Fallback>
  </mc:AlternateContent>
</p:sld>
</file>

<file path=ppt/theme/theme1.xml><?xml version="1.0" encoding="utf-8"?>
<a:theme xmlns:a="http://schemas.openxmlformats.org/drawingml/2006/main" name="Pistoia Alliance">
  <a:themeElements>
    <a:clrScheme name="Pistoia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5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6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1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Pistoia Alliance Theme">
  <a:themeElements>
    <a:clrScheme name="Pistoia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2016_11_08 HELM Project Team Meeting</Template>
  <TotalTime>10202</TotalTime>
  <Words>4473</Words>
  <Application>Microsoft Office PowerPoint</Application>
  <PresentationFormat>On-screen Show (4:3)</PresentationFormat>
  <Paragraphs>371</Paragraphs>
  <Slides>33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33</vt:i4>
      </vt:variant>
    </vt:vector>
  </HeadingPairs>
  <TitlesOfParts>
    <vt:vector size="48" baseType="lpstr">
      <vt:lpstr>MS Mincho</vt:lpstr>
      <vt:lpstr>MS PGothic</vt:lpstr>
      <vt:lpstr>MS PGothic</vt:lpstr>
      <vt:lpstr>Arial</vt:lpstr>
      <vt:lpstr>Calibri</vt:lpstr>
      <vt:lpstr>Consolas</vt:lpstr>
      <vt:lpstr>Open Sans Light</vt:lpstr>
      <vt:lpstr>Times New Roman</vt:lpstr>
      <vt:lpstr>Trebuchet MS</vt:lpstr>
      <vt:lpstr>Pistoia Alliance</vt:lpstr>
      <vt:lpstr>Pistoia Content Theme</vt:lpstr>
      <vt:lpstr>5_Pistoia Content Theme</vt:lpstr>
      <vt:lpstr>6_Pistoia Content Theme</vt:lpstr>
      <vt:lpstr>1_Pistoia Content Theme</vt:lpstr>
      <vt:lpstr>Pistoia Alliance Theme</vt:lpstr>
      <vt:lpstr>HELM: Setting the standard for biomolecular information exchange</vt:lpstr>
      <vt:lpstr>Contents</vt:lpstr>
      <vt:lpstr>Why is biomolecular representation an issue? </vt:lpstr>
      <vt:lpstr>Why Now? Best selling pharmaceuticals 2015</vt:lpstr>
      <vt:lpstr>So what is the problem?</vt:lpstr>
      <vt:lpstr>Biomolecules - Stuck in the middle…</vt:lpstr>
      <vt:lpstr>Mipomersen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Notation format</vt:lpstr>
      <vt:lpstr>More examples</vt:lpstr>
      <vt:lpstr>HELM…</vt:lpstr>
      <vt:lpstr>So… mission completed?</vt:lpstr>
      <vt:lpstr>Monomer Ambiguity</vt:lpstr>
      <vt:lpstr>Other Ambiguity Types</vt:lpstr>
      <vt:lpstr>Ambiguity - Kadcyla</vt:lpstr>
      <vt:lpstr>HELM notation - Kadcyla</vt:lpstr>
      <vt:lpstr>HELM in practice</vt:lpstr>
      <vt:lpstr>HELM Project</vt:lpstr>
      <vt:lpstr>HELM Open Source Tools</vt:lpstr>
      <vt:lpstr>HELM Antibody Editor (HAbE)</vt:lpstr>
      <vt:lpstr>The HELM Ecosystem</vt:lpstr>
      <vt:lpstr>On-line information</vt:lpstr>
      <vt:lpstr>What would Dalton do next?</vt:lpstr>
      <vt:lpstr>Monomer naming</vt:lpstr>
      <vt:lpstr>Monomer naming</vt:lpstr>
      <vt:lpstr>Ambiguity – a challenge </vt:lpstr>
      <vt:lpstr>Acknowledgements</vt:lpstr>
      <vt:lpstr>PowerPoint Presentation</vt:lpstr>
      <vt:lpstr>PowerPoint Presentation</vt:lpstr>
      <vt:lpstr>Backup slides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Pistoia Alliance HELM Project</dc:title>
  <dc:creator>Claire Bellamy</dc:creator>
  <cp:lastModifiedBy>Claire Bellamy</cp:lastModifiedBy>
  <cp:revision>224</cp:revision>
  <cp:lastPrinted>2017-03-19T21:10:56Z</cp:lastPrinted>
  <dcterms:created xsi:type="dcterms:W3CDTF">2016-11-21T10:54:48Z</dcterms:created>
  <dcterms:modified xsi:type="dcterms:W3CDTF">2017-06-22T12:21:22Z</dcterms:modified>
</cp:coreProperties>
</file>